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0–1-daqiqa (1 daq)</a:t>
            </a:r>
          </a:p>
          <a:p/>
          <a:p>
            <a:r>
              <a:t>Salomlashing. Bugun kompyuter ichida nima borligini va u qanday ishlashini o'rganamiz. Oxirida ikkita kompyuterning xususiyatlariga qarab, qaysi biri kuchliroq ekanini sabab bilan ayta olasiz.</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1–3-daqiqa (2 daq)</a:t>
            </a:r>
          </a:p>
          <a:p/>
          <a:p>
            <a:r>
              <a:t>Bir-ikki o'quvchidan taxminini eshiting: "yangi", "qimmat", "xotirasi katta". Hamma javobda bir oz haqiqat bor. Bugun aniq sabablarini topamiz: protsessor, RAM va xotira. Dars oxirida shu savolga qaytamiz.</a:t>
            </a:r>
          </a:p>
          <a:p/>
          <a:p>
            <a:r>
              <a:t>Talabalarga 30–60 soniya o'ylab, taxmin aytish imkonini bering. Javobni hozir aytmang.</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3–5-daqiqa (2 daq) · 4 ta bosish</a:t>
            </a:r>
          </a:p>
          <a:p/>
          <a:p>
            <a:r>
              <a:t>Bugungi to'rtta maqsadni o'qib chiqing. Eng muhimi oxirgisi: ikki kompyuterni taqqoslab, sabab bilan javob berish. Dars davomida buning uchun kerakli hamma narsani birma-bir o'rganamiz.</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5–5.5-daqiqa (0.5 daq)</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5.5–8-daqiqa (2.5 daq)</a:t>
            </a:r>
          </a:p>
          <a:p/>
          <a:p>
            <a:r>
              <a:t>Har bir turni bitta jumla bilan ayting va o'quvchilardan misol so'rang. Server odatda ko'rinmaydi: u maxsus xonada turadi va internet orqali ishlaydi. Maktab sayti ham serverda turadi. Hammasining ichida bir xil qismlar bor, hozir shuni ko'ramiz.</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8–10.5-daqiqa (2.5 daq) · 4 ta bosish</a:t>
            </a:r>
          </a:p>
          <a:p/>
          <a:p>
            <a:r>
              <a:t>Brauzerda maktab saytining manzilini yozganingizda telefon (mijoz) serverga so'rov yuboradi. Server saytni topadi va javob sifatida sahifani qaytaradi. Server ham oddiy kompyuter, lekin boshqa kompyuterlar unga murojaat qiladi. Mijoz va server tushunchasini o'tgan darslarda ko'rgan edik, bu yerda uni kompyuter turi sifatida eslaymiz.</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10.5–13.5-daqiqa (3 daq) · 8 ta bosish</a:t>
            </a:r>
          </a:p>
          <a:p/>
          <a:p>
            <a:r>
              <a:t>Serverning vazifasi boshqacha, shuning uchun uning tuzilishi ham boshqacha: u to'xtamasdan ishlashi kerak, chunki sayt har qanday vaqtda ochilishi lozim. Monitor unga kerak emas: unga boshqa kompyuterlar orqali ulanishadi. Ichida esa o'sha qismlar bor: protsessor, RAM va xotira, faqat kuchliroq va ko'proq.</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13.5–16.5-daqiqa (3 daq) · 1 ta bosish</a:t>
            </a:r>
          </a:p>
          <a:p/>
          <a:p/>
          <a:p>
            <a:r>
              <a:t>Peer instruction: 1) har kim alohida ovoz beradi (qo'l ko'tarish). 2) To'g'ri javob 30–70% bo'lsa, 2 daqiqa yonidagi bilan muhokama (“sherigingizni ishontiring”), keyin qayta ovoz. 70% dan ko'p bo'lsa, qisqa tushuntirib davom eting; 30% dan kam bo'lsa, qayta tushuntiring. 3) Bosib javobni oching.</a:t>
            </a:r>
          </a:p>
          <a:p>
            <a:r>
              <a:t>Noto'g'ri variantlar nega jalb qiladi: Smartfon, planshet va noutbuk bir odam uchun mo'ljallangan. Ularni tanlagan o'quvchi "kuchli kompyuter" bilan "ko'p odamga xizmat qiladigan kompyuter"ni adashtirgan.</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16.5–19-daqiqa (2.5 daq) · 4 ta bosish</a:t>
            </a:r>
          </a:p>
          <a:p/>
          <a:p>
            <a:r>
              <a:t>Kiritish (Input): kompyuterga ma'lumot beramiz. Ishlov (Processing): protsessor ma'lumot ustida ish bajaradi. Saqlash (Storage): natija xotirada turadi. Chiqarish (Output): natijani ko'ramiz yoki eshitamiz. CPU, ya'ni protsessor, haqida birozdan keyin batafsil gaplashamiz. Hozircha uni "ishlovchi qism" deb biling.</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19–21-daqiqa (2 daq) · 4 ta bosish</a:t>
            </a:r>
          </a:p>
          <a:p/>
          <a:p>
            <a:r>
              <a:t>Rasmga olganda kamera yorug'likni ma'lumotga aylantiradi, protsessor uni rasmga aylantiradi, rasm xotiraga yoziladi va ekranda ko'rinadi. Bu bir soniyadan kam vaqt oladi. O'quvchilardan boshqa misol so'rang: masalan, kalkulyatorda 5 + 3 ni hisoblash.</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21–24-daqiqa (3 daq) · 8 ta bosish</a:t>
            </a:r>
          </a:p>
          <a:p/>
          <a:p>
            <a:r>
              <a:t>Kiritish qurilmasi kompyuterga ma'lumot beradi, chiqarish qurilmasi kompyuterdan ma'lumot oladi. Sensorli ekran ikkalasi: barmoq bilan bosamiz (kiritish) va rasmni ko'ramiz (chiqarish). Qurilmalarni o'quvchilar nomlasin, siz qaysi guruhga kirishini so'rang.</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24–27-daqiqa (3 daq) · 1 ta bosish</a:t>
            </a:r>
          </a:p>
          <a:p/>
          <a:p/>
          <a:p>
            <a:r>
              <a:t>Peer instruction: 1) har kim alohida ovoz beradi (qo'l ko'tarish). 2) To'g'ri javob 30–70% bo'lsa, 2 daqiqa yonidagi bilan muhokama (“sherigingizni ishontiring”), keyin qayta ovoz. 70% dan ko'p bo'lsa, qisqa tushuntirib davom eting; 30% dan kam bo'lsa, qayta tushuntiring. 3) Bosib javobni oching.</a:t>
            </a:r>
          </a:p>
          <a:p>
            <a:r>
              <a:t>Noto'g'ri variantlar nega jalb qiladi: "Faqat chiqarish": ekranni faqat ko'rish uchun deb o'ylash. "Faqat kiritish": bosishni ko'rib, tasvirni unutish. "Saqlash": ekran ma'lumotni saqlamaydi, faqat ko'rsatadi.</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27–27.5-daqiqa (0.5 daq)</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27.5–30-daqiqa (2.5 daq) · 4 ta bosish</a:t>
            </a:r>
          </a:p>
          <a:p/>
          <a:p>
            <a:r>
              <a:t>Bu xarita: hozir har bir qismni birma-bir ko'ramiz. Avval protsessor, uning ikkita ko'rsatkichi (GHz va yadro), keyin RAM va xotira. Oxirida hammasini birga o'qib, kompyuterlarni taqqoslaymiz.</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30–32.5-daqiqa (2.5 daq) · 3 ta bosish</a:t>
            </a:r>
          </a:p>
          <a:p/>
          <a:p>
            <a:r>
              <a:t>Odam miyasi tanani boshqargani kabi, protsessor kompyuterni boshqaradi. Dasturdagi har bir buyruqni u bajaradi: hisoblash, solishtirish, ma'lumotni bir joydan ikkinchisiga uzatish. Protsessor qanchalik kuchli bo'lsa, shuncha tez ishlaydi. Keyingi slaydlarda kuchini nima belgilashini ko'ramiz.</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32.5–35-daqiqa (2.5 daq) · 3 ta bosish</a:t>
            </a:r>
          </a:p>
          <a:p/>
          <a:p>
            <a:r>
              <a:t>Intel va AMD ikki alohida kompaniya, ikkalasi ham protsessor ishlab chiqaradi. Nomidagi raqam kattaroq bo'lsa, protsessor odatda kuchliroq. Lekin bir xil avlod ichida taqqoslang: eski avlod i5 yangi avlod i3 dan sekin bo'lishi mumkin. Shuning uchun faqat raqamga qarab hukm qilmang.</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35–37.5-daqiqa (2.5 daq) · 4 ta bosish</a:t>
            </a:r>
          </a:p>
          <a:p/>
          <a:p>
            <a:r>
              <a:t>Protsessor ichida ko'rinmas soat bor. U juda tez tik-tik qiladi va har tik-tikda protsessor kichik qadam qo'yadi. Rasmiy nomi "takt", lekin siz "tik-tik" deb tushuntiring. GHz, ya'ni gigagerts, shu tik-tiklar sonini ko'rsatadi. Bitta ishni, masalan, katta faylni ochishni, katta GHz tezlashtiradi.</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37.5–40-daqiqa (2.5 daq) · 3 ta bosish</a:t>
            </a:r>
          </a:p>
          <a:p/>
          <a:p>
            <a:r>
              <a:t>Do'konda bitta kassa bo'lsa, hamma navbatda turadi. To'rtta kassa bo'lsa, to'rt kishi bir vaqtda xizmat oladi. Yadro ham shunday: u protsessor ichidagi ishchi. Brauzer, musiqa va hujjat bir vaqtda ochiq bo'lsa, ko'p yadro hammasiga yetib boradi.</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40–43-daqiqa (3 daq) · 1 ta bosish</a:t>
            </a:r>
          </a:p>
          <a:p/>
          <a:p/>
          <a:p>
            <a:r>
              <a:t>Peer instruction: 1) har kim alohida ovoz beradi (qo'l ko'tarish). 2) To'g'ri javob 30–70% bo'lsa, 2 daqiqa yonidagi bilan muhokama (“sherigingizni ishontiring”), keyin qayta ovoz. 70% dan ko'p bo'lsa, qisqa tushuntirib davom eting; 30% dan kam bo'lsa, qayta tushuntiring. 3) Bosib javobni oching.</a:t>
            </a:r>
          </a:p>
          <a:p>
            <a:r>
              <a:t>Noto'g'ri variantlar nega jalb qiladi: "A": "GHz katta bo'lsa, doim tezroq" degan keng tarqalgan xato. GHz bitta ishni tezlashtiradi, lekin ko'p ishni bir vaqtda bajarish uchun yadro kerak.</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43–45.5-daqiqa (2.5 daq) · 3 ta bosish</a:t>
            </a:r>
          </a:p>
          <a:p/>
          <a:p>
            <a:r>
              <a:t>RAM tezkor xotira. Ish stoliga hozir ishlatayotgan narsangizni qo'yasiz. Stol kichik, lekin hamma narsa qo'l ostida. Shkafga hamma narsani saqlaysiz: u katta, lekin kerakli narsani olish ko'proq vaqt oladi. Elektr o'chganda stoldagi hamma narsa tozalanadi, shkafdagisi qoladi.</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45.5–48-daqiqa (2.5 daq) · 4 ta bosish</a:t>
            </a:r>
          </a:p>
          <a:p/>
          <a:p>
            <a:r>
              <a:t>Dastur fayli xotirada (shkafda) turadi. Siz uni ochganingizda u RAM'ga (ish stoliga) ko'chiriladi, chunki protsessor juda tez ishlaydi, xotira esa undan sekinroq. Protsessor RAM'dagi nusxa bilan ishlaydi va natijani ekranda ko'rasiz. Shuning uchun RAM ko'p bo'lsa, ko'p dastur bir vaqtda ochiq tura oladi.</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48–51-daqiqa (3 daq) · 1 ta bosish</a:t>
            </a:r>
          </a:p>
          <a:p/>
          <a:p/>
          <a:p>
            <a:r>
              <a:t>Peer instruction: 1) har kim alohida ovoz beradi (qo'l ko'tarish). 2) To'g'ri javob 30–70% bo'lsa, 2 daqiqa yonidagi bilan muhokama (“sherigingizni ishontiring”), keyin qayta ovoz. 70% dan ko'p bo'lsa, qisqa tushuntirib davom eting; 30% dan kam bo'lsa, qayta tushuntiring. 3) Bosib javobni oching.</a:t>
            </a:r>
          </a:p>
          <a:p>
            <a:r>
              <a:t>Noto'g'ri variantlar nega jalb qiladi: "Butun SSD tozalanadi": xotira doimiy, undagi fayllar qoladi. "Hech narsa yo'qolmaydi": saqlanmagan hujjat hali xotiraga yozilmagan, u faqat RAM'da edi.</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51–52.5-daqiqa (1.5 daq) · 2 ta bosish</a:t>
            </a:r>
          </a:p>
          <a:p/>
          <a:p>
            <a:r>
              <a:t>Ikkalasi ham fayllarni doimiy saqlaydi. Farqi tezlikda: SSD'li kompyuter tez yoqiladi va dasturlar tez ochiladi. Zamonaviy noutbuklarning ko'pchiligida SSD bor. Ularning ichki tuzilishini va boshqa farqlarini 4-mavzuda ko'ramiz.</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52.5–54-daqiqa (1.5 daq) · 3 ta bosish</a:t>
            </a:r>
          </a:p>
          <a:p/>
          <a:p>
            <a:r>
              <a:t>Bu dastur tashqarisidagi qo'shimcha ma'lumot, qisqa ayting. GPU o'yin va videoda minglab nuqtani bir vaqtda hisoblaydi. Oddiy ishda protsessorning ichidagi GPU yetadi. O'yin va montaj uchun alohida kartani olishadi.</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54–54.5-daqiqa (0.5 daq)</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54.5–56.5-daqiqa (2 daq) · 1 ta bosish</a:t>
            </a:r>
          </a:p>
          <a:p/>
          <a:p>
            <a:r>
              <a:t>Do'konda yoki saytda kompyuter tavsifini ko'rganingizda aynan shu to'rttasini qidiring. GB gigabayt, TB terabayt. Bir terabayt 1024 gigabayt: bu o'lchov birliklarini o'tgan darsda ko'rgan edik. Ular qancha katta bo'lsa, kompyuter shuncha ko'p narsani sig'diradi.</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56.5–59-daqiqa (2.5 daq) · 2 ta bosish</a:t>
            </a:r>
          </a:p>
          <a:p/>
          <a:p>
            <a:r>
              <a:t>Bu qiymatlar taxminiy, kompyuter ishlab chiqaruvchilarining tavsiyalari. Maqsad: hozirgi dasturlar ilgarigidan ko'p resurs talab qiladi. Besh yil oldingi kompyuter bugungi vazifalar uchun sekin bo'lishi mumkin. Shuning uchun kompyuter olishdan oldin xususiyatlarini o'qiy olish muhim.</a:t>
            </a:r>
          </a:p>
          <a:p/>
          <a:p>
            <a:r>
              <a:t>Manba: HP, How much RAM do I need (2026); taxminiy qiymatlar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59–61.5-daqiqa (2.5 daq) · 2 ta bosish</a:t>
            </a:r>
          </a:p>
          <a:p/>
          <a:p>
            <a:r>
              <a:t>Zanjir eng zaif halqasi darajasida mustahkam bo'ladi. Kompyuter ham shunday: protsessor kuchli bo'lsa ham, RAM 4 GB bo'lsa, ko'p dastur ochilganda kompyuter sekinlashadi. Shuning uchun kompyuter tanlaganda faqat bitta ko'rsatkichga emas, hammasiga qarang.</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61.5–64.5-daqiqa (3 daq) · 8 ta bosish</a:t>
            </a:r>
          </a:p>
          <a:p/>
          <a:p>
            <a:r>
              <a:t>Hammasi birga ko'rinsin. B'da protsessor kuchliroq, RAM to'rt baravar ko'p, xotira to'rt baravar katta. Aynan shunday javob bering: "B kuchliroq, chunki protsessori kuchliroq va RAM'i ko'p". Sabab har doim raqamlar bilan aytiladi.</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64.5–66-daqiqa (1.5 daq)</a:t>
            </a:r>
          </a:p>
          <a:p/>
          <a:p>
            <a:r>
              <a:t>Jadvalni birga o'qing. Hozir juftlikda ishlaysiz: uch odamga uch kompyuter tanlaysiz. Odamlar: maktab o'quvchisi (matn, brauzer), ofis xodimi (ko'p dastur bir vaqtda), video muharriri (og'ir montaj).</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66–74-daqiqa (8 daq)</a:t>
            </a:r>
          </a:p>
          <a:p/>
          <a:p>
            <a:r>
              <a:t>Juftliklarni aylanib chiqing. Agar o'quvchi faqat "Z eng yaxshi" desa, so'rang: "O'quvchiga u nima uchun kerak?". Muhimi: eng kuchli emas, vazifaga mos kompyuterni tanlash. Oxirida bir-ikki juftlikdan javobini eshiting.</a:t>
            </a:r>
          </a:p>
          <a:p/>
          <a:p>
            <a:r>
              <a:t>Qatorlar orasida yurib, ekranlarga qarang. Vaqtning yarmida qiynalayotganlarga maslahatni ko'rsating.</a:t>
            </a:r>
          </a:p>
          <a:p>
            <a:r>
              <a:t>Maslahat: Kutilgan javob: o'quvchi uchun X yoki Y (matn va brauzer uchun 4 GB yetmasligi mumkin, 8 GB dan boshlang), ofis xodimi uchun Y (16 GB, 6 yadro), video muharriri uchun Z (32 GB, 8 yadro). Z o'quvchiga shart emas, chunki oddiy ish uchun 8 GB RAM yetadi; qimmat xususiyat ortiqcha.</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74–76-daqiqa (2 daq) · 4 ta bosish</a:t>
            </a:r>
          </a:p>
          <a:p/>
          <a:p>
            <a:r>
              <a:t>Har bir fikrni bitta jumla bilan takrorlang va o'quvchilardan so'rang. Boshidagi savolga qayting: bir telefon tez, boshqasi sekin, chunki protsessori, RAM'i va xotirasi turlicha. Endi buni raqamlar bilan tushuntira olasiz.</a:t>
            </a:r>
          </a:p>
          <a:p/>
          <a:p>
            <a:r>
              <a:t>Vaqt bo'lsa, har bir bandni ochishdan oldin talabalardan aytib berishni so'rang.</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76–78-daqiqa (2 daq)</a:t>
            </a:r>
          </a:p>
          <a:p/>
          <a:p>
            <a:r>
              <a:t>Javoblarni qog'ozga yozdiring. Birinchi savol: kamera (kiritish), protsessor (ishlov), xotira (saqlash), ekran (chiqarish). Ikkinchisi: B, chunki protsessori kuchliroq va RAM'i to'rt baravar ko'p.</a:t>
            </a:r>
          </a:p>
          <a:p/>
          <a:p>
            <a:r>
              <a:t>Javoblarni yig'ib oling; keyingi darsdan oldin o'qing va darsni eng ko'p uchragan bo'shliqdan boshlang.</a:t>
            </a:r>
          </a:p>
          <a:p/>
          <a:p>
            <a:r>
              <a:t>Manba: Dastur: Computer Science Foundation, 8-sinf (2026)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Course"/>
          <p:cNvSpPr txBox="1"/>
          <p:nvPr/>
        </p:nvSpPr>
        <p:spPr>
          <a:xfrm>
            <a:off x="640080" y="1371600"/>
            <a:ext cx="10911535" cy="457200"/>
          </a:xfrm>
          <a:prstGeom prst="rect">
            <a:avLst/>
          </a:prstGeom>
          <a:noFill/>
        </p:spPr>
        <p:txBody>
          <a:bodyPr wrap="square" anchor="t" lIns="0" rIns="0" tIns="0" bIns="0">
            <a:noAutofit/>
          </a:bodyPr>
          <a:lstStyle/>
          <a:p>
            <a:pPr algn="l">
              <a:lnSpc>
                <a:spcPct val="115000"/>
              </a:lnSpc>
              <a:spcBef>
                <a:spcPts val="0"/>
              </a:spcBef>
              <a:spcAft>
                <a:spcPts val="0"/>
              </a:spcAft>
            </a:pPr>
            <a:r>
              <a:rPr sz="1800" b="1" i="0">
                <a:solidFill>
                  <a:srgbClr val="FFC20E"/>
                </a:solidFill>
                <a:latin typeface="Courier New"/>
              </a:rPr>
              <a:t>COMPUTER SCIENCE FOUNDATION · AXV</a:t>
            </a:r>
          </a:p>
        </p:txBody>
      </p:sp>
      <p:sp>
        <p:nvSpPr>
          <p:cNvPr id="3" name="Title"/>
          <p:cNvSpPr txBox="1"/>
          <p:nvPr/>
        </p:nvSpPr>
        <p:spPr>
          <a:xfrm>
            <a:off x="640080" y="1965960"/>
            <a:ext cx="10911535" cy="2103120"/>
          </a:xfrm>
          <a:prstGeom prst="rect">
            <a:avLst/>
          </a:prstGeom>
          <a:noFill/>
        </p:spPr>
        <p:txBody>
          <a:bodyPr wrap="square" anchor="t" lIns="0" rIns="0" tIns="0" bIns="0">
            <a:noAutofit/>
          </a:bodyPr>
          <a:lstStyle/>
          <a:p>
            <a:pPr algn="l">
              <a:lnSpc>
                <a:spcPct val="100000"/>
              </a:lnSpc>
              <a:spcBef>
                <a:spcPts val="0"/>
              </a:spcBef>
              <a:spcAft>
                <a:spcPts val="0"/>
              </a:spcAft>
            </a:pPr>
            <a:r>
              <a:rPr sz="5600" b="1" i="0">
                <a:solidFill>
                  <a:srgbClr val="FFFFFF"/>
                </a:solidFill>
                <a:latin typeface="Arial"/>
              </a:rPr>
              <a:t>Zamonaviy kompyuterlar va ularning arxitekturasi</a:t>
            </a:r>
          </a:p>
        </p:txBody>
      </p:sp>
      <p:sp>
        <p:nvSpPr>
          <p:cNvPr id="4" name="Subtitle"/>
          <p:cNvSpPr txBox="1"/>
          <p:nvPr/>
        </p:nvSpPr>
        <p:spPr>
          <a:xfrm>
            <a:off x="640080" y="4160520"/>
            <a:ext cx="10911535" cy="54864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C3CCDA"/>
                </a:solidFill>
                <a:latin typeface="Arial"/>
              </a:rPr>
              <a:t>1-mavzu · I bob: Kompyuter savodxonligi va arxitekturasi</a:t>
            </a:r>
          </a:p>
        </p:txBody>
      </p:sp>
      <p:sp>
        <p:nvSpPr>
          <p:cNvPr id="5" name="Lecturer"/>
          <p:cNvSpPr txBox="1"/>
          <p:nvPr/>
        </p:nvSpPr>
        <p:spPr>
          <a:xfrm>
            <a:off x="640080" y="5760720"/>
            <a:ext cx="10911535" cy="411480"/>
          </a:xfrm>
          <a:prstGeom prst="rect">
            <a:avLst/>
          </a:prstGeom>
          <a:noFill/>
        </p:spPr>
        <p:txBody>
          <a:bodyPr wrap="square" anchor="t" lIns="0" rIns="0" tIns="0" bIns="0">
            <a:noAutofit/>
          </a:bodyPr>
          <a:lstStyle/>
          <a:p>
            <a:pPr algn="l">
              <a:lnSpc>
                <a:spcPct val="115000"/>
              </a:lnSpc>
              <a:spcBef>
                <a:spcPts val="0"/>
              </a:spcBef>
              <a:spcAft>
                <a:spcPts val="0"/>
              </a:spcAft>
            </a:pPr>
            <a:r>
              <a:rPr sz="1800" b="0" i="0">
                <a:solidFill>
                  <a:srgbClr val="C3CCDA"/>
                </a:solidFill>
                <a:latin typeface="Arial"/>
              </a:rPr>
              <a:t>mentor I. J. Husainov · Muhammad al-Xorazmiy vorislari · 8-sinf · 2026-2027</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MUAMMO</a:t>
            </a:r>
          </a:p>
        </p:txBody>
      </p:sp>
      <p:sp>
        <p:nvSpPr>
          <p:cNvPr id="3" name="Hook question"/>
          <p:cNvSpPr txBox="1"/>
          <p:nvPr/>
        </p:nvSpPr>
        <p:spPr>
          <a:xfrm>
            <a:off x="640080" y="914400"/>
            <a:ext cx="10911535" cy="2011680"/>
          </a:xfrm>
          <a:prstGeom prst="rect">
            <a:avLst/>
          </a:prstGeom>
          <a:noFill/>
        </p:spPr>
        <p:txBody>
          <a:bodyPr wrap="square" anchor="t" lIns="0" rIns="0" tIns="0" bIns="0">
            <a:noAutofit/>
          </a:bodyPr>
          <a:lstStyle/>
          <a:p>
            <a:pPr algn="l">
              <a:lnSpc>
                <a:spcPct val="110000"/>
              </a:lnSpc>
              <a:spcBef>
                <a:spcPts val="0"/>
              </a:spcBef>
              <a:spcAft>
                <a:spcPts val="0"/>
              </a:spcAft>
            </a:pPr>
            <a:r>
              <a:rPr sz="4000" b="1" i="0">
                <a:solidFill>
                  <a:srgbClr val="111111"/>
                </a:solidFill>
                <a:latin typeface="Arial"/>
              </a:rPr>
              <a:t>Telefoningiz ham kompyuter. Nega bitta telefon tez ishlaydi, boshqasi esa sekin?</a:t>
            </a:r>
          </a:p>
        </p:txBody>
      </p:sp>
      <p:pic>
        <p:nvPicPr>
          <p:cNvPr id="4" name="Figure img1" descr="Beshta kompyuter: stol kompyuteri, noutbuk, planshet, smartfon va server"/>
          <p:cNvPicPr>
            <a:picLocks noChangeAspect="1"/>
          </p:cNvPicPr>
          <p:nvPr/>
        </p:nvPicPr>
        <p:blipFill>
          <a:blip r:embed="rId2"/>
          <a:stretch>
            <a:fillRect/>
          </a:stretch>
        </p:blipFill>
        <p:spPr>
          <a:xfrm>
            <a:off x="735648" y="3108960"/>
            <a:ext cx="10720397" cy="2971800"/>
          </a:xfrm>
          <a:prstGeom prst="rect">
            <a:avLst/>
          </a:prstGeom>
        </p:spPr>
      </p:pic>
      <p:sp>
        <p:nvSpPr>
          <p:cNvPr id="5"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BUGUN</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Bugun nimani o'rganamiz</a:t>
            </a:r>
          </a:p>
        </p:txBody>
      </p:sp>
      <p:sp>
        <p:nvSpPr>
          <p:cNvPr id="4" name="Number 1"/>
          <p:cNvSpPr txBox="1"/>
          <p:nvPr/>
        </p:nvSpPr>
        <p:spPr>
          <a:xfrm>
            <a:off x="640080" y="2148840"/>
            <a:ext cx="822960" cy="982980"/>
          </a:xfrm>
          <a:prstGeom prst="rect">
            <a:avLst/>
          </a:prstGeom>
          <a:noFill/>
        </p:spPr>
        <p:txBody>
          <a:bodyPr wrap="square" anchor="t" lIns="0" rIns="0" tIns="0" bIns="0">
            <a:noAutofit/>
          </a:bodyPr>
          <a:lstStyle/>
          <a:p>
            <a:pPr algn="l">
              <a:lnSpc>
                <a:spcPct val="115000"/>
              </a:lnSpc>
              <a:spcBef>
                <a:spcPts val="0"/>
              </a:spcBef>
              <a:spcAft>
                <a:spcPts val="0"/>
              </a:spcAft>
            </a:pPr>
            <a:r>
              <a:rPr sz="3000" b="1" i="0">
                <a:solidFill>
                  <a:srgbClr val="0052CC"/>
                </a:solidFill>
                <a:latin typeface="Courier New"/>
              </a:rPr>
              <a:t>01</a:t>
            </a:r>
          </a:p>
        </p:txBody>
      </p:sp>
      <p:sp>
        <p:nvSpPr>
          <p:cNvPr id="5" name="Item 1"/>
          <p:cNvSpPr txBox="1"/>
          <p:nvPr/>
        </p:nvSpPr>
        <p:spPr>
          <a:xfrm>
            <a:off x="1645920" y="2185416"/>
            <a:ext cx="9905695" cy="982980"/>
          </a:xfrm>
          <a:prstGeom prst="rect">
            <a:avLst/>
          </a:prstGeom>
          <a:noFill/>
        </p:spPr>
        <p:txBody>
          <a:bodyPr wrap="square" anchor="t" lIns="0" rIns="0" tIns="0" bIns="0">
            <a:noAutofit/>
          </a:bodyPr>
          <a:lstStyle/>
          <a:p>
            <a:pPr algn="l">
              <a:lnSpc>
                <a:spcPct val="110000"/>
              </a:lnSpc>
              <a:spcBef>
                <a:spcPts val="0"/>
              </a:spcBef>
              <a:spcAft>
                <a:spcPts val="0"/>
              </a:spcAft>
            </a:pPr>
            <a:r>
              <a:rPr sz="2600" b="0" i="0">
                <a:solidFill>
                  <a:srgbClr val="111111"/>
                </a:solidFill>
                <a:latin typeface="Arial"/>
              </a:rPr>
              <a:t>Kompyuter turlarini </a:t>
            </a:r>
            <a:r>
              <a:rPr sz="2600" b="1" i="0">
                <a:solidFill>
                  <a:srgbClr val="111111"/>
                </a:solidFill>
                <a:latin typeface="Arial"/>
              </a:rPr>
              <a:t>sanab bera oladi</a:t>
            </a:r>
            <a:r>
              <a:rPr sz="2600" b="0" i="0">
                <a:solidFill>
                  <a:srgbClr val="111111"/>
                </a:solidFill>
                <a:latin typeface="Arial"/>
              </a:rPr>
              <a:t> va vazifasini ayta oladi</a:t>
            </a:r>
          </a:p>
        </p:txBody>
      </p:sp>
      <p:sp>
        <p:nvSpPr>
          <p:cNvPr id="6" name="Number 2"/>
          <p:cNvSpPr txBox="1"/>
          <p:nvPr/>
        </p:nvSpPr>
        <p:spPr>
          <a:xfrm>
            <a:off x="640080" y="3131820"/>
            <a:ext cx="822960" cy="982980"/>
          </a:xfrm>
          <a:prstGeom prst="rect">
            <a:avLst/>
          </a:prstGeom>
          <a:noFill/>
        </p:spPr>
        <p:txBody>
          <a:bodyPr wrap="square" anchor="t" lIns="0" rIns="0" tIns="0" bIns="0">
            <a:noAutofit/>
          </a:bodyPr>
          <a:lstStyle/>
          <a:p>
            <a:pPr algn="l">
              <a:lnSpc>
                <a:spcPct val="115000"/>
              </a:lnSpc>
              <a:spcBef>
                <a:spcPts val="0"/>
              </a:spcBef>
              <a:spcAft>
                <a:spcPts val="0"/>
              </a:spcAft>
            </a:pPr>
            <a:r>
              <a:rPr sz="3000" b="1" i="0">
                <a:solidFill>
                  <a:srgbClr val="0052CC"/>
                </a:solidFill>
                <a:latin typeface="Courier New"/>
              </a:rPr>
              <a:t>02</a:t>
            </a:r>
          </a:p>
        </p:txBody>
      </p:sp>
      <p:sp>
        <p:nvSpPr>
          <p:cNvPr id="7" name="Item 2"/>
          <p:cNvSpPr txBox="1"/>
          <p:nvPr/>
        </p:nvSpPr>
        <p:spPr>
          <a:xfrm>
            <a:off x="1645920" y="3168396"/>
            <a:ext cx="9905695" cy="982980"/>
          </a:xfrm>
          <a:prstGeom prst="rect">
            <a:avLst/>
          </a:prstGeom>
          <a:noFill/>
        </p:spPr>
        <p:txBody>
          <a:bodyPr wrap="square" anchor="t" lIns="0" rIns="0" tIns="0" bIns="0">
            <a:noAutofit/>
          </a:bodyPr>
          <a:lstStyle/>
          <a:p>
            <a:pPr algn="l">
              <a:lnSpc>
                <a:spcPct val="110000"/>
              </a:lnSpc>
              <a:spcBef>
                <a:spcPts val="0"/>
              </a:spcBef>
              <a:spcAft>
                <a:spcPts val="0"/>
              </a:spcAft>
            </a:pPr>
            <a:r>
              <a:rPr sz="2600" b="0" i="0">
                <a:solidFill>
                  <a:srgbClr val="111111"/>
                </a:solidFill>
                <a:latin typeface="Arial"/>
              </a:rPr>
              <a:t>Kiritish, ishlov, saqlash, chiqarish qadamlarini misolda </a:t>
            </a:r>
            <a:r>
              <a:rPr sz="2600" b="1" i="0">
                <a:solidFill>
                  <a:srgbClr val="111111"/>
                </a:solidFill>
                <a:latin typeface="Arial"/>
              </a:rPr>
              <a:t>tushuntira oladi</a:t>
            </a:r>
          </a:p>
        </p:txBody>
      </p:sp>
      <p:sp>
        <p:nvSpPr>
          <p:cNvPr id="8" name="Number 3"/>
          <p:cNvSpPr txBox="1"/>
          <p:nvPr/>
        </p:nvSpPr>
        <p:spPr>
          <a:xfrm>
            <a:off x="640080" y="4114800"/>
            <a:ext cx="822960" cy="982980"/>
          </a:xfrm>
          <a:prstGeom prst="rect">
            <a:avLst/>
          </a:prstGeom>
          <a:noFill/>
        </p:spPr>
        <p:txBody>
          <a:bodyPr wrap="square" anchor="t" lIns="0" rIns="0" tIns="0" bIns="0">
            <a:noAutofit/>
          </a:bodyPr>
          <a:lstStyle/>
          <a:p>
            <a:pPr algn="l">
              <a:lnSpc>
                <a:spcPct val="115000"/>
              </a:lnSpc>
              <a:spcBef>
                <a:spcPts val="0"/>
              </a:spcBef>
              <a:spcAft>
                <a:spcPts val="0"/>
              </a:spcAft>
            </a:pPr>
            <a:r>
              <a:rPr sz="3000" b="1" i="0">
                <a:solidFill>
                  <a:srgbClr val="0052CC"/>
                </a:solidFill>
                <a:latin typeface="Courier New"/>
              </a:rPr>
              <a:t>03</a:t>
            </a:r>
          </a:p>
        </p:txBody>
      </p:sp>
      <p:sp>
        <p:nvSpPr>
          <p:cNvPr id="9" name="Item 3"/>
          <p:cNvSpPr txBox="1"/>
          <p:nvPr/>
        </p:nvSpPr>
        <p:spPr>
          <a:xfrm>
            <a:off x="1645920" y="4151376"/>
            <a:ext cx="9905695" cy="982980"/>
          </a:xfrm>
          <a:prstGeom prst="rect">
            <a:avLst/>
          </a:prstGeom>
          <a:noFill/>
        </p:spPr>
        <p:txBody>
          <a:bodyPr wrap="square" anchor="t" lIns="0" rIns="0" tIns="0" bIns="0">
            <a:noAutofit/>
          </a:bodyPr>
          <a:lstStyle/>
          <a:p>
            <a:pPr algn="l">
              <a:lnSpc>
                <a:spcPct val="110000"/>
              </a:lnSpc>
              <a:spcBef>
                <a:spcPts val="0"/>
              </a:spcBef>
              <a:spcAft>
                <a:spcPts val="0"/>
              </a:spcAft>
            </a:pPr>
            <a:r>
              <a:rPr sz="2600" b="0" i="0">
                <a:solidFill>
                  <a:srgbClr val="111111"/>
                </a:solidFill>
                <a:latin typeface="Arial"/>
              </a:rPr>
              <a:t>Protsessor, RAM va xotira vazifasini </a:t>
            </a:r>
            <a:r>
              <a:rPr sz="2600" b="1" i="0">
                <a:solidFill>
                  <a:srgbClr val="111111"/>
                </a:solidFill>
                <a:latin typeface="Arial"/>
              </a:rPr>
              <a:t>farqlay oladi</a:t>
            </a:r>
          </a:p>
        </p:txBody>
      </p:sp>
      <p:sp>
        <p:nvSpPr>
          <p:cNvPr id="10" name="Number 4"/>
          <p:cNvSpPr txBox="1"/>
          <p:nvPr/>
        </p:nvSpPr>
        <p:spPr>
          <a:xfrm>
            <a:off x="640080" y="5097780"/>
            <a:ext cx="822960" cy="982980"/>
          </a:xfrm>
          <a:prstGeom prst="rect">
            <a:avLst/>
          </a:prstGeom>
          <a:noFill/>
        </p:spPr>
        <p:txBody>
          <a:bodyPr wrap="square" anchor="t" lIns="0" rIns="0" tIns="0" bIns="0">
            <a:noAutofit/>
          </a:bodyPr>
          <a:lstStyle/>
          <a:p>
            <a:pPr algn="l">
              <a:lnSpc>
                <a:spcPct val="115000"/>
              </a:lnSpc>
              <a:spcBef>
                <a:spcPts val="0"/>
              </a:spcBef>
              <a:spcAft>
                <a:spcPts val="0"/>
              </a:spcAft>
            </a:pPr>
            <a:r>
              <a:rPr sz="3000" b="1" i="0">
                <a:solidFill>
                  <a:srgbClr val="0052CC"/>
                </a:solidFill>
                <a:latin typeface="Courier New"/>
              </a:rPr>
              <a:t>04</a:t>
            </a:r>
          </a:p>
        </p:txBody>
      </p:sp>
      <p:sp>
        <p:nvSpPr>
          <p:cNvPr id="11" name="Item 4"/>
          <p:cNvSpPr txBox="1"/>
          <p:nvPr/>
        </p:nvSpPr>
        <p:spPr>
          <a:xfrm>
            <a:off x="1645920" y="5134356"/>
            <a:ext cx="9905695" cy="982980"/>
          </a:xfrm>
          <a:prstGeom prst="rect">
            <a:avLst/>
          </a:prstGeom>
          <a:noFill/>
        </p:spPr>
        <p:txBody>
          <a:bodyPr wrap="square" anchor="t" lIns="0" rIns="0" tIns="0" bIns="0">
            <a:noAutofit/>
          </a:bodyPr>
          <a:lstStyle/>
          <a:p>
            <a:pPr algn="l">
              <a:lnSpc>
                <a:spcPct val="110000"/>
              </a:lnSpc>
              <a:spcBef>
                <a:spcPts val="0"/>
              </a:spcBef>
              <a:spcAft>
                <a:spcPts val="0"/>
              </a:spcAft>
            </a:pPr>
            <a:r>
              <a:rPr sz="2600" b="0" i="0">
                <a:solidFill>
                  <a:srgbClr val="111111"/>
                </a:solidFill>
                <a:latin typeface="Arial"/>
              </a:rPr>
              <a:t>Ikki kompyuterni xususiyatlari bo'yicha </a:t>
            </a:r>
            <a:r>
              <a:rPr sz="2600" b="1" i="0">
                <a:solidFill>
                  <a:srgbClr val="111111"/>
                </a:solidFill>
                <a:latin typeface="Arial"/>
              </a:rPr>
              <a:t>taqqoslay oladi</a:t>
            </a:r>
            <a:r>
              <a:rPr sz="2600" b="0" i="0">
                <a:solidFill>
                  <a:srgbClr val="111111"/>
                </a:solidFill>
                <a:latin typeface="Arial"/>
              </a:rPr>
              <a:t> va sabab keltira oladi</a:t>
            </a:r>
          </a:p>
        </p:txBody>
      </p:sp>
      <p:sp>
        <p:nvSpPr>
          <p:cNvPr id="12"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Section number"/>
          <p:cNvSpPr txBox="1"/>
          <p:nvPr/>
        </p:nvSpPr>
        <p:spPr>
          <a:xfrm>
            <a:off x="640080" y="1828800"/>
            <a:ext cx="2743200" cy="1188720"/>
          </a:xfrm>
          <a:prstGeom prst="rect">
            <a:avLst/>
          </a:prstGeom>
          <a:noFill/>
        </p:spPr>
        <p:txBody>
          <a:bodyPr wrap="square" anchor="t" lIns="0" rIns="0" tIns="0" bIns="0">
            <a:noAutofit/>
          </a:bodyPr>
          <a:lstStyle/>
          <a:p>
            <a:pPr algn="l">
              <a:lnSpc>
                <a:spcPct val="115000"/>
              </a:lnSpc>
              <a:spcBef>
                <a:spcPts val="0"/>
              </a:spcBef>
              <a:spcAft>
                <a:spcPts val="0"/>
              </a:spcAft>
            </a:pPr>
            <a:r>
              <a:rPr sz="8000" b="1" i="0">
                <a:solidFill>
                  <a:srgbClr val="FFC20E"/>
                </a:solidFill>
                <a:latin typeface="Courier New"/>
              </a:rPr>
              <a:t>01</a:t>
            </a:r>
          </a:p>
        </p:txBody>
      </p:sp>
      <p:sp>
        <p:nvSpPr>
          <p:cNvPr id="3" name="Section title"/>
          <p:cNvSpPr txBox="1"/>
          <p:nvPr/>
        </p:nvSpPr>
        <p:spPr>
          <a:xfrm>
            <a:off x="640080" y="3154680"/>
            <a:ext cx="10911535" cy="1737360"/>
          </a:xfrm>
          <a:prstGeom prst="rect">
            <a:avLst/>
          </a:prstGeom>
          <a:noFill/>
        </p:spPr>
        <p:txBody>
          <a:bodyPr wrap="square" anchor="t" lIns="0" rIns="0" tIns="0" bIns="0">
            <a:noAutofit/>
          </a:bodyPr>
          <a:lstStyle/>
          <a:p>
            <a:pPr algn="l">
              <a:lnSpc>
                <a:spcPct val="100000"/>
              </a:lnSpc>
              <a:spcBef>
                <a:spcPts val="0"/>
              </a:spcBef>
              <a:spcAft>
                <a:spcPts val="0"/>
              </a:spcAft>
            </a:pPr>
            <a:r>
              <a:rPr sz="4800" b="1" i="0">
                <a:solidFill>
                  <a:srgbClr val="FFFFFF"/>
                </a:solidFill>
                <a:latin typeface="Arial"/>
              </a:rPr>
              <a:t>Kompyuter turlari va ishlash tamoyili</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KOMPYUTER TURLARI VA ISHLASH TAMOYILI</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Kompyuterlar turlicha, lekin hammasi bir xil ishlaydi</a:t>
            </a:r>
          </a:p>
        </p:txBody>
      </p:sp>
      <p:graphicFrame>
        <p:nvGraphicFramePr>
          <p:cNvPr id="4" name="Table"/>
          <p:cNvGraphicFramePr>
            <a:graphicFrameLocks noGrp="1"/>
          </p:cNvGraphicFramePr>
          <p:nvPr/>
        </p:nvGraphicFramePr>
        <p:xfrm>
          <a:off x="640080" y="2148840"/>
          <a:ext cx="10911535" cy="3840480"/>
        </p:xfrm>
        <a:graphic>
          <a:graphicData uri="http://schemas.openxmlformats.org/drawingml/2006/table">
            <a:tbl>
              <a:tblPr firstRow="1" bandRow="1">
                <a:tableStyleId>{5C22544A-7EE6-4342-B048-85BDC9FD1C3A}</a:tableStyleId>
              </a:tblPr>
              <a:tblGrid>
                <a:gridCol w="5455767"/>
                <a:gridCol w="5455768"/>
              </a:tblGrid>
              <a:tr h="640080">
                <a:tc>
                  <a:txBody>
                    <a:bodyPr wrap="square" anchor="t" lIns="109728" rIns="109728" tIns="27432" bIns="27432">
                      <a:noAutofit/>
                    </a:bodyPr>
                    <a:lstStyle/>
                    <a:p>
                      <a:pPr algn="l">
                        <a:lnSpc>
                          <a:spcPct val="115000"/>
                        </a:lnSpc>
                        <a:spcBef>
                          <a:spcPts val="0"/>
                        </a:spcBef>
                        <a:spcAft>
                          <a:spcPts val="0"/>
                        </a:spcAft>
                      </a:pPr>
                      <a:r>
                        <a:rPr sz="2200" b="1" i="0">
                          <a:solidFill>
                            <a:srgbClr val="FFFFFF"/>
                          </a:solidFill>
                          <a:latin typeface="Arial"/>
                        </a:rPr>
                        <a:t>Kompyuter</a:t>
                      </a:r>
                    </a:p>
                  </a:txBody>
                  <a:tcPr anchor="ctr">
                    <a:solidFill>
                      <a:srgbClr val="0052CC"/>
                    </a:solidFill>
                  </a:tcPr>
                </a:tc>
                <a:tc>
                  <a:txBody>
                    <a:bodyPr wrap="square" anchor="t" lIns="109728" rIns="109728" tIns="27432" bIns="27432">
                      <a:noAutofit/>
                    </a:bodyPr>
                    <a:lstStyle/>
                    <a:p>
                      <a:pPr algn="l">
                        <a:lnSpc>
                          <a:spcPct val="115000"/>
                        </a:lnSpc>
                        <a:spcBef>
                          <a:spcPts val="0"/>
                        </a:spcBef>
                        <a:spcAft>
                          <a:spcPts val="0"/>
                        </a:spcAft>
                      </a:pPr>
                      <a:r>
                        <a:rPr sz="2200" b="1" i="0">
                          <a:solidFill>
                            <a:srgbClr val="FFFFFF"/>
                          </a:solidFill>
                          <a:latin typeface="Arial"/>
                        </a:rPr>
                        <a:t>Qayerda ishlatiladi</a:t>
                      </a:r>
                    </a:p>
                  </a:txBody>
                  <a:tcPr anchor="ctr">
                    <a:solidFill>
                      <a:srgbClr val="0052CC"/>
                    </a:solidFill>
                  </a:tcPr>
                </a:tc>
              </a:tr>
              <a:tr h="640080">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Desktop (stol kompyuteri)</a:t>
                      </a:r>
                    </a:p>
                  </a:txBody>
                  <a:tcPr anchor="ctr">
                    <a:solidFill>
                      <a:srgbClr val="FFFFFF"/>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Uyda, ofisda; joyida turadi</a:t>
                      </a:r>
                    </a:p>
                  </a:txBody>
                  <a:tcPr anchor="ctr">
                    <a:solidFill>
                      <a:srgbClr val="FFFFFF"/>
                    </a:solidFill>
                  </a:tcPr>
                </a:tc>
              </a:tr>
              <a:tr h="640080">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Laptop (noutbuk)</a:t>
                      </a:r>
                    </a:p>
                  </a:txBody>
                  <a:tcPr anchor="ctr">
                    <a:solidFill>
                      <a:srgbClr val="EEF2F7"/>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O'qish va ish; olib yurish mumkin</a:t>
                      </a:r>
                    </a:p>
                  </a:txBody>
                  <a:tcPr anchor="ctr">
                    <a:solidFill>
                      <a:srgbClr val="EEF2F7"/>
                    </a:solidFill>
                  </a:tcPr>
                </a:tc>
              </a:tr>
              <a:tr h="640080">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Planshet</a:t>
                      </a:r>
                    </a:p>
                  </a:txBody>
                  <a:tcPr anchor="ctr">
                    <a:solidFill>
                      <a:srgbClr val="FFFFFF"/>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O'qish, video, chizish</a:t>
                      </a:r>
                    </a:p>
                  </a:txBody>
                  <a:tcPr anchor="ctr">
                    <a:solidFill>
                      <a:srgbClr val="FFFFFF"/>
                    </a:solidFill>
                  </a:tcPr>
                </a:tc>
              </a:tr>
              <a:tr h="640080">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Smartfon</a:t>
                      </a:r>
                    </a:p>
                  </a:txBody>
                  <a:tcPr anchor="ctr">
                    <a:solidFill>
                      <a:srgbClr val="EEF2F7"/>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Qo'ng'iroq, internet, kamera; cho'ntakda</a:t>
                      </a:r>
                    </a:p>
                  </a:txBody>
                  <a:tcPr anchor="ctr">
                    <a:solidFill>
                      <a:srgbClr val="EEF2F7"/>
                    </a:solidFill>
                  </a:tcPr>
                </a:tc>
              </a:tr>
              <a:tr h="640080">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Server</a:t>
                      </a:r>
                    </a:p>
                  </a:txBody>
                  <a:tcPr anchor="ctr">
                    <a:solidFill>
                      <a:srgbClr val="FFFFFF"/>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Saytlar va ma'lumotlarni minglab odamga beradi</a:t>
                      </a:r>
                    </a:p>
                  </a:txBody>
                  <a:tcPr anchor="ctr">
                    <a:solidFill>
                      <a:srgbClr val="FFFFFF"/>
                    </a:solidFill>
                  </a:tcPr>
                </a:tc>
              </a:tr>
            </a:tbl>
          </a:graphicData>
        </a:graphic>
      </p:graphicFrame>
      <p:sp>
        <p:nvSpPr>
          <p:cNvPr id="5"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6"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5</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KOMPYUTER TURLARI VA ISHLASH TAMOYILI</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Server boshqa kompyuterlarga so'rov bo'yicha xizmat qiladigan kompyuter</a:t>
            </a:r>
          </a:p>
        </p:txBody>
      </p:sp>
      <p:sp>
        <p:nvSpPr>
          <p:cNvPr id="4" name="Term 1"/>
          <p:cNvSpPr txBox="1"/>
          <p:nvPr/>
        </p:nvSpPr>
        <p:spPr>
          <a:xfrm>
            <a:off x="640080" y="2148840"/>
            <a:ext cx="3840480"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Mijoz</a:t>
            </a:r>
          </a:p>
        </p:txBody>
      </p:sp>
      <p:sp>
        <p:nvSpPr>
          <p:cNvPr id="5" name="Meaning 1"/>
          <p:cNvSpPr txBox="1"/>
          <p:nvPr/>
        </p:nvSpPr>
        <p:spPr>
          <a:xfrm>
            <a:off x="4754880" y="2167128"/>
            <a:ext cx="6796735"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so'rov yuboradigan qurilma: telefon, noutbuk</a:t>
            </a:r>
          </a:p>
        </p:txBody>
      </p:sp>
      <p:sp>
        <p:nvSpPr>
          <p:cNvPr id="6" name="Term 2"/>
          <p:cNvSpPr txBox="1"/>
          <p:nvPr/>
        </p:nvSpPr>
        <p:spPr>
          <a:xfrm>
            <a:off x="640080" y="3017520"/>
            <a:ext cx="3840480"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Server</a:t>
            </a:r>
          </a:p>
        </p:txBody>
      </p:sp>
      <p:sp>
        <p:nvSpPr>
          <p:cNvPr id="7" name="Meaning 2"/>
          <p:cNvSpPr txBox="1"/>
          <p:nvPr/>
        </p:nvSpPr>
        <p:spPr>
          <a:xfrm>
            <a:off x="4754880" y="3035808"/>
            <a:ext cx="6796735"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so'rovni qabul qilib, javob beradigan kompyuter</a:t>
            </a:r>
          </a:p>
        </p:txBody>
      </p:sp>
      <p:sp>
        <p:nvSpPr>
          <p:cNvPr id="8" name="Term 3"/>
          <p:cNvSpPr txBox="1"/>
          <p:nvPr/>
        </p:nvSpPr>
        <p:spPr>
          <a:xfrm>
            <a:off x="640080" y="3886200"/>
            <a:ext cx="3840480"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So'rov</a:t>
            </a:r>
          </a:p>
        </p:txBody>
      </p:sp>
      <p:sp>
        <p:nvSpPr>
          <p:cNvPr id="9" name="Meaning 3"/>
          <p:cNvSpPr txBox="1"/>
          <p:nvPr/>
        </p:nvSpPr>
        <p:spPr>
          <a:xfrm>
            <a:off x="4754880" y="3904487"/>
            <a:ext cx="6796735"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"maktab saytini oching" degan talab</a:t>
            </a:r>
          </a:p>
        </p:txBody>
      </p:sp>
      <p:sp>
        <p:nvSpPr>
          <p:cNvPr id="10" name="Term 4"/>
          <p:cNvSpPr txBox="1"/>
          <p:nvPr/>
        </p:nvSpPr>
        <p:spPr>
          <a:xfrm>
            <a:off x="640080" y="4754879"/>
            <a:ext cx="3840480"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Javob</a:t>
            </a:r>
          </a:p>
        </p:txBody>
      </p:sp>
      <p:sp>
        <p:nvSpPr>
          <p:cNvPr id="11" name="Meaning 4"/>
          <p:cNvSpPr txBox="1"/>
          <p:nvPr/>
        </p:nvSpPr>
        <p:spPr>
          <a:xfrm>
            <a:off x="4754880" y="4773167"/>
            <a:ext cx="6796735"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server yuborgan sahifa, fayl yoki xabar</a:t>
            </a:r>
          </a:p>
        </p:txBody>
      </p:sp>
      <p:sp>
        <p:nvSpPr>
          <p:cNvPr id="12"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13"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KOMPYUTER TURLARI VA ISHLASH TAMOYILI</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Server oddiy kompyuterdan ko'p odamga kunu-tun xizmat qilishi bilan farq qiladi</a:t>
            </a:r>
          </a:p>
        </p:txBody>
      </p:sp>
      <p:sp>
        <p:nvSpPr>
          <p:cNvPr id="4" name="left column"/>
          <p:cNvSpPr/>
          <p:nvPr/>
        </p:nvSpPr>
        <p:spPr>
          <a:xfrm>
            <a:off x="640080" y="2148840"/>
            <a:ext cx="5227167" cy="3931920"/>
          </a:xfrm>
          <a:prstGeom prst="roundRect">
            <a:avLst>
              <a:gd name="adj" fmla="val 4000"/>
            </a:avLst>
          </a:prstGeom>
          <a:solidFill>
            <a:srgbClr val="EEF2F7"/>
          </a:solidFill>
          <a:ln>
            <a:noFill/>
          </a:ln>
        </p:spPr>
        <p:txBody>
          <a:bodyPr rtlCol="0" anchor="ctr"/>
          <a:lstStyle/>
          <a:p>
            <a:pPr algn="ctr"/>
          </a:p>
        </p:txBody>
      </p:sp>
      <p:sp>
        <p:nvSpPr>
          <p:cNvPr id="5" name="left title"/>
          <p:cNvSpPr txBox="1"/>
          <p:nvPr/>
        </p:nvSpPr>
        <p:spPr>
          <a:xfrm>
            <a:off x="914400" y="2331720"/>
            <a:ext cx="4678527" cy="548640"/>
          </a:xfrm>
          <a:prstGeom prst="rect">
            <a:avLst/>
          </a:prstGeom>
          <a:noFill/>
        </p:spPr>
        <p:txBody>
          <a:bodyPr wrap="square" anchor="t" lIns="0" rIns="0" tIns="0" bIns="0">
            <a:noAutofit/>
          </a:bodyPr>
          <a:lstStyle/>
          <a:p>
            <a:pPr algn="l">
              <a:lnSpc>
                <a:spcPct val="115000"/>
              </a:lnSpc>
              <a:spcBef>
                <a:spcPts val="0"/>
              </a:spcBef>
              <a:spcAft>
                <a:spcPts val="0"/>
              </a:spcAft>
            </a:pPr>
            <a:r>
              <a:rPr sz="2600" b="1" i="0">
                <a:solidFill>
                  <a:srgbClr val="0052CC"/>
                </a:solidFill>
                <a:latin typeface="Arial"/>
              </a:rPr>
              <a:t>Oddiy kompyuter</a:t>
            </a:r>
          </a:p>
        </p:txBody>
      </p:sp>
      <p:sp>
        <p:nvSpPr>
          <p:cNvPr id="6" name="Points"/>
          <p:cNvSpPr txBox="1"/>
          <p:nvPr/>
        </p:nvSpPr>
        <p:spPr>
          <a:xfrm>
            <a:off x="914400" y="3017520"/>
            <a:ext cx="4678527" cy="2880360"/>
          </a:xfrm>
          <a:prstGeom prst="rect">
            <a:avLst/>
          </a:prstGeom>
          <a:noFill/>
        </p:spPr>
        <p:txBody>
          <a:bodyPr wrap="square" anchor="t" lIns="45720" rIns="45720" tIns="27432" bIns="27432">
            <a:noAutofit/>
          </a:bodyPr>
          <a:lstStyle/>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Bitta odam ishlatadi</a:t>
            </a:r>
          </a:p>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Kerak bo'lganda yoqiladi</a:t>
            </a:r>
          </a:p>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Monitor va klaviatura bor</a:t>
            </a:r>
          </a:p>
        </p:txBody>
      </p:sp>
      <p:sp>
        <p:nvSpPr>
          <p:cNvPr id="7" name="right column"/>
          <p:cNvSpPr/>
          <p:nvPr/>
        </p:nvSpPr>
        <p:spPr>
          <a:xfrm>
            <a:off x="6324447" y="2148840"/>
            <a:ext cx="5227167" cy="3931920"/>
          </a:xfrm>
          <a:prstGeom prst="roundRect">
            <a:avLst>
              <a:gd name="adj" fmla="val 4000"/>
            </a:avLst>
          </a:prstGeom>
          <a:solidFill>
            <a:srgbClr val="EEF2F7"/>
          </a:solidFill>
          <a:ln>
            <a:noFill/>
          </a:ln>
        </p:spPr>
        <p:txBody>
          <a:bodyPr rtlCol="0" anchor="ctr"/>
          <a:lstStyle/>
          <a:p>
            <a:pPr algn="ctr"/>
          </a:p>
        </p:txBody>
      </p:sp>
      <p:sp>
        <p:nvSpPr>
          <p:cNvPr id="8" name="right title"/>
          <p:cNvSpPr txBox="1"/>
          <p:nvPr/>
        </p:nvSpPr>
        <p:spPr>
          <a:xfrm>
            <a:off x="6598767" y="2331720"/>
            <a:ext cx="4678527" cy="548640"/>
          </a:xfrm>
          <a:prstGeom prst="rect">
            <a:avLst/>
          </a:prstGeom>
          <a:noFill/>
        </p:spPr>
        <p:txBody>
          <a:bodyPr wrap="square" anchor="t" lIns="0" rIns="0" tIns="0" bIns="0">
            <a:noAutofit/>
          </a:bodyPr>
          <a:lstStyle/>
          <a:p>
            <a:pPr algn="l">
              <a:lnSpc>
                <a:spcPct val="115000"/>
              </a:lnSpc>
              <a:spcBef>
                <a:spcPts val="0"/>
              </a:spcBef>
              <a:spcAft>
                <a:spcPts val="0"/>
              </a:spcAft>
            </a:pPr>
            <a:r>
              <a:rPr sz="2600" b="1" i="0">
                <a:solidFill>
                  <a:srgbClr val="0052CC"/>
                </a:solidFill>
                <a:latin typeface="Arial"/>
              </a:rPr>
              <a:t>Server</a:t>
            </a:r>
          </a:p>
        </p:txBody>
      </p:sp>
      <p:sp>
        <p:nvSpPr>
          <p:cNvPr id="9" name="Points"/>
          <p:cNvSpPr txBox="1"/>
          <p:nvPr/>
        </p:nvSpPr>
        <p:spPr>
          <a:xfrm>
            <a:off x="6598767" y="3017520"/>
            <a:ext cx="4678527" cy="2880360"/>
          </a:xfrm>
          <a:prstGeom prst="rect">
            <a:avLst/>
          </a:prstGeom>
          <a:noFill/>
        </p:spPr>
        <p:txBody>
          <a:bodyPr wrap="square" anchor="t" lIns="45720" rIns="45720" tIns="27432" bIns="27432">
            <a:noAutofit/>
          </a:bodyPr>
          <a:lstStyle/>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Minglab odamga xizmat qiladi</a:t>
            </a:r>
          </a:p>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Kunu-tun ishlaydi</a:t>
            </a:r>
          </a:p>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Ko'pincha monitorsiz, maxsus xonada</a:t>
            </a:r>
          </a:p>
        </p:txBody>
      </p:sp>
      <p:sp>
        <p:nvSpPr>
          <p:cNvPr id="10"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11"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7</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400"/>
                                        <p:tgtEl>
                                          <p:spTgt spid="6">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fade">
                                      <p:cBhvr>
                                        <p:cTn id="20" dur="400"/>
                                        <p:tgtEl>
                                          <p:spTgt spid="6">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xEl>
                                              <p:pRg st="2" end="2"/>
                                            </p:txEl>
                                          </p:spTgt>
                                        </p:tgtEl>
                                        <p:attrNameLst>
                                          <p:attrName>style.visibility</p:attrName>
                                        </p:attrNameLst>
                                      </p:cBhvr>
                                      <p:to>
                                        <p:strVal val="visible"/>
                                      </p:to>
                                    </p:set>
                                    <p:animEffect transition="in" filter="fade">
                                      <p:cBhvr>
                                        <p:cTn id="25" dur="400"/>
                                        <p:tgtEl>
                                          <p:spTgt spid="6">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400"/>
                                        <p:tgtEl>
                                          <p:spTgt spid="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4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xEl>
                                              <p:pRg st="0" end="0"/>
                                            </p:txEl>
                                          </p:spTgt>
                                        </p:tgtEl>
                                        <p:attrNameLst>
                                          <p:attrName>style.visibility</p:attrName>
                                        </p:attrNameLst>
                                      </p:cBhvr>
                                      <p:to>
                                        <p:strVal val="visible"/>
                                      </p:to>
                                    </p:set>
                                    <p:animEffect transition="in" filter="fade">
                                      <p:cBhvr>
                                        <p:cTn id="38" dur="400"/>
                                        <p:tgtEl>
                                          <p:spTgt spid="9">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9">
                                            <p:txEl>
                                              <p:pRg st="1" end="1"/>
                                            </p:txEl>
                                          </p:spTgt>
                                        </p:tgtEl>
                                        <p:attrNameLst>
                                          <p:attrName>style.visibility</p:attrName>
                                        </p:attrNameLst>
                                      </p:cBhvr>
                                      <p:to>
                                        <p:strVal val="visible"/>
                                      </p:to>
                                    </p:set>
                                    <p:animEffect transition="in" filter="fade">
                                      <p:cBhvr>
                                        <p:cTn id="43" dur="400"/>
                                        <p:tgtEl>
                                          <p:spTgt spid="9">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9">
                                            <p:txEl>
                                              <p:pRg st="2" end="2"/>
                                            </p:txEl>
                                          </p:spTgt>
                                        </p:tgtEl>
                                        <p:attrNameLst>
                                          <p:attrName>style.visibility</p:attrName>
                                        </p:attrNameLst>
                                      </p:cBhvr>
                                      <p:to>
                                        <p:strVal val="visible"/>
                                      </p:to>
                                    </p:set>
                                    <p:animEffect transition="in" filter="fade">
                                      <p:cBhvr>
                                        <p:cTn id="48" dur="4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build="p"/>
      <p:bldP spid="7" grpId="0" animBg="1"/>
      <p:bldP spid="8" grpId="0" animBg="1"/>
      <p:bldP spid="9" grpId="0" build="p"/>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SAVOL · O'YLAB KO'RING</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Qaysi kompyuter bir vaqtda minglab odamga sayt va ma'lumot beradi?</a:t>
            </a:r>
          </a:p>
        </p:txBody>
      </p:sp>
      <p:sp>
        <p:nvSpPr>
          <p:cNvPr id="4" name="Choice A"/>
          <p:cNvSpPr/>
          <p:nvPr/>
        </p:nvSpPr>
        <p:spPr>
          <a:xfrm>
            <a:off x="640080" y="2148840"/>
            <a:ext cx="5318607" cy="1188720"/>
          </a:xfrm>
          <a:prstGeom prst="roundRect">
            <a:avLst>
              <a:gd name="adj" fmla="val 8000"/>
            </a:avLst>
          </a:prstGeom>
          <a:solidFill>
            <a:srgbClr val="EEF2F7"/>
          </a:solidFill>
          <a:ln>
            <a:noFill/>
          </a:ln>
        </p:spPr>
        <p:txBody>
          <a:bodyPr rtlCol="0" anchor="ctr"/>
          <a:lstStyle/>
          <a:p>
            <a:pPr algn="ctr"/>
          </a:p>
        </p:txBody>
      </p:sp>
      <p:sp>
        <p:nvSpPr>
          <p:cNvPr id="5" name="TextBox 4"/>
          <p:cNvSpPr txBox="1"/>
          <p:nvPr/>
        </p:nvSpPr>
        <p:spPr>
          <a:xfrm>
            <a:off x="868680" y="214884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A</a:t>
            </a:r>
          </a:p>
        </p:txBody>
      </p:sp>
      <p:sp>
        <p:nvSpPr>
          <p:cNvPr id="6" name="TextBox 5"/>
          <p:cNvSpPr txBox="1"/>
          <p:nvPr/>
        </p:nvSpPr>
        <p:spPr>
          <a:xfrm>
            <a:off x="1508760" y="214884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Smartfon</a:t>
            </a:r>
          </a:p>
        </p:txBody>
      </p:sp>
      <p:sp>
        <p:nvSpPr>
          <p:cNvPr id="7" name="Choice B"/>
          <p:cNvSpPr/>
          <p:nvPr/>
        </p:nvSpPr>
        <p:spPr>
          <a:xfrm>
            <a:off x="6233007" y="2148840"/>
            <a:ext cx="5318607" cy="1188720"/>
          </a:xfrm>
          <a:prstGeom prst="roundRect">
            <a:avLst>
              <a:gd name="adj" fmla="val 8000"/>
            </a:avLst>
          </a:prstGeom>
          <a:solidFill>
            <a:srgbClr val="EEF2F7"/>
          </a:solidFill>
          <a:ln>
            <a:noFill/>
          </a:ln>
        </p:spPr>
        <p:txBody>
          <a:bodyPr rtlCol="0" anchor="ctr"/>
          <a:lstStyle/>
          <a:p>
            <a:pPr algn="ctr"/>
          </a:p>
        </p:txBody>
      </p:sp>
      <p:sp>
        <p:nvSpPr>
          <p:cNvPr id="8" name="TextBox 7"/>
          <p:cNvSpPr txBox="1"/>
          <p:nvPr/>
        </p:nvSpPr>
        <p:spPr>
          <a:xfrm>
            <a:off x="6461607" y="214884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B</a:t>
            </a:r>
          </a:p>
        </p:txBody>
      </p:sp>
      <p:sp>
        <p:nvSpPr>
          <p:cNvPr id="9" name="TextBox 8"/>
          <p:cNvSpPr txBox="1"/>
          <p:nvPr/>
        </p:nvSpPr>
        <p:spPr>
          <a:xfrm>
            <a:off x="7101687" y="214884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Planshet</a:t>
            </a:r>
          </a:p>
        </p:txBody>
      </p:sp>
      <p:sp>
        <p:nvSpPr>
          <p:cNvPr id="10" name="Choice C"/>
          <p:cNvSpPr/>
          <p:nvPr/>
        </p:nvSpPr>
        <p:spPr>
          <a:xfrm>
            <a:off x="640080" y="3611880"/>
            <a:ext cx="5318607" cy="1188720"/>
          </a:xfrm>
          <a:prstGeom prst="roundRect">
            <a:avLst>
              <a:gd name="adj" fmla="val 8000"/>
            </a:avLst>
          </a:prstGeom>
          <a:solidFill>
            <a:srgbClr val="EEF2F7"/>
          </a:solidFill>
          <a:ln>
            <a:noFill/>
          </a:ln>
        </p:spPr>
        <p:txBody>
          <a:bodyPr rtlCol="0" anchor="ctr"/>
          <a:lstStyle/>
          <a:p>
            <a:pPr algn="ctr"/>
          </a:p>
        </p:txBody>
      </p:sp>
      <p:sp>
        <p:nvSpPr>
          <p:cNvPr id="11" name="TextBox 10"/>
          <p:cNvSpPr txBox="1"/>
          <p:nvPr/>
        </p:nvSpPr>
        <p:spPr>
          <a:xfrm>
            <a:off x="868680" y="361188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C</a:t>
            </a:r>
          </a:p>
        </p:txBody>
      </p:sp>
      <p:sp>
        <p:nvSpPr>
          <p:cNvPr id="12" name="TextBox 11"/>
          <p:cNvSpPr txBox="1"/>
          <p:nvPr/>
        </p:nvSpPr>
        <p:spPr>
          <a:xfrm>
            <a:off x="1508760" y="361188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Server</a:t>
            </a:r>
          </a:p>
        </p:txBody>
      </p:sp>
      <p:sp>
        <p:nvSpPr>
          <p:cNvPr id="13" name="Correct answer"/>
          <p:cNvSpPr/>
          <p:nvPr/>
        </p:nvSpPr>
        <p:spPr>
          <a:xfrm>
            <a:off x="603503" y="3575304"/>
            <a:ext cx="5391759" cy="1261872"/>
          </a:xfrm>
          <a:prstGeom prst="roundRect">
            <a:avLst>
              <a:gd name="adj" fmla="val 8000"/>
            </a:avLst>
          </a:prstGeom>
          <a:solidFill>
            <a:srgbClr val="0052CC">
              <a:alpha val="18000"/>
            </a:srgbClr>
          </a:solidFill>
          <a:ln w="50800">
            <a:solidFill>
              <a:srgbClr val="0052CC"/>
            </a:solidFill>
          </a:ln>
        </p:spPr>
        <p:txBody>
          <a:bodyPr rtlCol="0" anchor="ctr"/>
          <a:lstStyle/>
          <a:p>
            <a:pPr algn="ctr"/>
          </a:p>
        </p:txBody>
      </p:sp>
      <p:sp>
        <p:nvSpPr>
          <p:cNvPr id="14" name="Choice D"/>
          <p:cNvSpPr/>
          <p:nvPr/>
        </p:nvSpPr>
        <p:spPr>
          <a:xfrm>
            <a:off x="6233007" y="3611880"/>
            <a:ext cx="5318607" cy="1188720"/>
          </a:xfrm>
          <a:prstGeom prst="roundRect">
            <a:avLst>
              <a:gd name="adj" fmla="val 8000"/>
            </a:avLst>
          </a:prstGeom>
          <a:solidFill>
            <a:srgbClr val="EEF2F7"/>
          </a:solidFill>
          <a:ln>
            <a:noFill/>
          </a:ln>
        </p:spPr>
        <p:txBody>
          <a:bodyPr rtlCol="0" anchor="ctr"/>
          <a:lstStyle/>
          <a:p>
            <a:pPr algn="ctr"/>
          </a:p>
        </p:txBody>
      </p:sp>
      <p:sp>
        <p:nvSpPr>
          <p:cNvPr id="15" name="TextBox 14"/>
          <p:cNvSpPr txBox="1"/>
          <p:nvPr/>
        </p:nvSpPr>
        <p:spPr>
          <a:xfrm>
            <a:off x="6461607" y="361188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D</a:t>
            </a:r>
          </a:p>
        </p:txBody>
      </p:sp>
      <p:sp>
        <p:nvSpPr>
          <p:cNvPr id="16" name="TextBox 15"/>
          <p:cNvSpPr txBox="1"/>
          <p:nvPr/>
        </p:nvSpPr>
        <p:spPr>
          <a:xfrm>
            <a:off x="7101687" y="361188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Noutbuk</a:t>
            </a:r>
          </a:p>
        </p:txBody>
      </p:sp>
      <p:sp>
        <p:nvSpPr>
          <p:cNvPr id="17" name="Explanation"/>
          <p:cNvSpPr txBox="1"/>
          <p:nvPr/>
        </p:nvSpPr>
        <p:spPr>
          <a:xfrm>
            <a:off x="640080" y="5074920"/>
            <a:ext cx="10911535" cy="1005839"/>
          </a:xfrm>
          <a:prstGeom prst="rect">
            <a:avLst/>
          </a:prstGeom>
          <a:noFill/>
        </p:spPr>
        <p:txBody>
          <a:bodyPr wrap="square" anchor="t" lIns="0" rIns="0" tIns="0" bIns="0">
            <a:noAutofit/>
          </a:bodyPr>
          <a:lstStyle/>
          <a:p>
            <a:pPr algn="l">
              <a:lnSpc>
                <a:spcPct val="115000"/>
              </a:lnSpc>
              <a:spcBef>
                <a:spcPts val="0"/>
              </a:spcBef>
              <a:spcAft>
                <a:spcPts val="0"/>
              </a:spcAft>
            </a:pPr>
            <a:r>
              <a:rPr sz="2200" b="1" i="0">
                <a:solidFill>
                  <a:srgbClr val="111111"/>
                </a:solidFill>
                <a:latin typeface="Arial"/>
              </a:rPr>
              <a:t>Javob:</a:t>
            </a:r>
            <a:r>
              <a:rPr sz="2200" b="0" i="0">
                <a:solidFill>
                  <a:srgbClr val="111111"/>
                </a:solidFill>
                <a:latin typeface="Arial"/>
              </a:rPr>
              <a:t> Server ko'p foydalanuvchiga xizmat qilish uchun yaratilgan.</a:t>
            </a:r>
          </a:p>
        </p:txBody>
      </p:sp>
      <p:sp>
        <p:nvSpPr>
          <p:cNvPr id="18"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19"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KOMPYUTER TURLARI VA ISHLASH TAMOYILI</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Har qanday kompyuter to'rt qadamni bajaradi: kiritish, ishlov, saqlash, chiqarish</a:t>
            </a:r>
          </a:p>
        </p:txBody>
      </p:sp>
      <p:sp>
        <p:nvSpPr>
          <p:cNvPr id="4" name="Flow box 1"/>
          <p:cNvSpPr/>
          <p:nvPr/>
        </p:nvSpPr>
        <p:spPr>
          <a:xfrm>
            <a:off x="640080" y="3246120"/>
            <a:ext cx="2350693" cy="1280160"/>
          </a:xfrm>
          <a:prstGeom prst="roundRect">
            <a:avLst>
              <a:gd name="adj" fmla="val 12000"/>
            </a:avLst>
          </a:prstGeom>
          <a:solidFill>
            <a:srgbClr val="EEF2F7"/>
          </a:solidFill>
          <a:ln>
            <a:noFill/>
          </a:ln>
        </p:spPr>
        <p:txBody>
          <a:bodyPr rtlCol="0" anchor="ctr" wrap="square" lIns="73152" rIns="73152" tIns="36576" bIns="36576">
            <a:noAutofit/>
          </a:bodyPr>
          <a:lstStyle/>
          <a:p>
            <a:pPr algn="ctr">
              <a:lnSpc>
                <a:spcPct val="115000"/>
              </a:lnSpc>
              <a:spcBef>
                <a:spcPts val="0"/>
              </a:spcBef>
              <a:spcAft>
                <a:spcPts val="0"/>
              </a:spcAft>
            </a:pPr>
            <a:r>
              <a:rPr sz="2600" b="1" i="0">
                <a:solidFill>
                  <a:srgbClr val="111111"/>
                </a:solidFill>
                <a:latin typeface="Arial"/>
              </a:rPr>
              <a:t>Klaviatura</a:t>
            </a:r>
          </a:p>
        </p:txBody>
      </p:sp>
      <p:sp>
        <p:nvSpPr>
          <p:cNvPr id="5" name="Flow label 1"/>
          <p:cNvSpPr txBox="1"/>
          <p:nvPr/>
        </p:nvSpPr>
        <p:spPr>
          <a:xfrm>
            <a:off x="640080" y="4636008"/>
            <a:ext cx="2350693" cy="457200"/>
          </a:xfrm>
          <a:prstGeom prst="rect">
            <a:avLst/>
          </a:prstGeom>
          <a:noFill/>
        </p:spPr>
        <p:txBody>
          <a:bodyPr wrap="square" anchor="t" lIns="0" rIns="0" tIns="0" bIns="0">
            <a:noAutofit/>
          </a:bodyPr>
          <a:lstStyle/>
          <a:p>
            <a:pPr algn="ctr">
              <a:lnSpc>
                <a:spcPct val="115000"/>
              </a:lnSpc>
              <a:spcBef>
                <a:spcPts val="0"/>
              </a:spcBef>
              <a:spcAft>
                <a:spcPts val="0"/>
              </a:spcAft>
            </a:pPr>
            <a:r>
              <a:rPr sz="1800" b="0" i="0">
                <a:solidFill>
                  <a:srgbClr val="4B5563"/>
                </a:solidFill>
                <a:latin typeface="Arial"/>
              </a:rPr>
              <a:t>kiritish</a:t>
            </a:r>
          </a:p>
        </p:txBody>
      </p:sp>
      <p:sp>
        <p:nvSpPr>
          <p:cNvPr id="6" name="Arrow 1"/>
          <p:cNvSpPr/>
          <p:nvPr/>
        </p:nvSpPr>
        <p:spPr>
          <a:xfrm>
            <a:off x="3082213" y="3721608"/>
            <a:ext cx="320040" cy="329184"/>
          </a:xfrm>
          <a:prstGeom prst="rightArrow">
            <a:avLst/>
          </a:prstGeom>
          <a:solidFill>
            <a:srgbClr val="4B5563"/>
          </a:solidFill>
          <a:ln>
            <a:noFill/>
          </a:ln>
        </p:spPr>
        <p:txBody>
          <a:bodyPr rtlCol="0" anchor="ctr"/>
          <a:lstStyle/>
          <a:p>
            <a:pPr algn="ctr"/>
          </a:p>
        </p:txBody>
      </p:sp>
      <p:sp>
        <p:nvSpPr>
          <p:cNvPr id="7" name="Flow box 2"/>
          <p:cNvSpPr/>
          <p:nvPr/>
        </p:nvSpPr>
        <p:spPr>
          <a:xfrm>
            <a:off x="3493693" y="3246120"/>
            <a:ext cx="2350693" cy="1280160"/>
          </a:xfrm>
          <a:prstGeom prst="roundRect">
            <a:avLst>
              <a:gd name="adj" fmla="val 12000"/>
            </a:avLst>
          </a:prstGeom>
          <a:solidFill>
            <a:srgbClr val="EEF2F7"/>
          </a:solidFill>
          <a:ln>
            <a:noFill/>
          </a:ln>
        </p:spPr>
        <p:txBody>
          <a:bodyPr rtlCol="0" anchor="ctr" wrap="square" lIns="73152" rIns="73152" tIns="36576" bIns="36576">
            <a:noAutofit/>
          </a:bodyPr>
          <a:lstStyle/>
          <a:p>
            <a:pPr algn="ctr">
              <a:lnSpc>
                <a:spcPct val="115000"/>
              </a:lnSpc>
              <a:spcBef>
                <a:spcPts val="0"/>
              </a:spcBef>
              <a:spcAft>
                <a:spcPts val="0"/>
              </a:spcAft>
            </a:pPr>
            <a:r>
              <a:rPr sz="2600" b="1" i="0">
                <a:solidFill>
                  <a:srgbClr val="111111"/>
                </a:solidFill>
                <a:latin typeface="Arial"/>
              </a:rPr>
              <a:t>CPU</a:t>
            </a:r>
          </a:p>
        </p:txBody>
      </p:sp>
      <p:sp>
        <p:nvSpPr>
          <p:cNvPr id="8" name="Flow label 2"/>
          <p:cNvSpPr txBox="1"/>
          <p:nvPr/>
        </p:nvSpPr>
        <p:spPr>
          <a:xfrm>
            <a:off x="3493693" y="4636008"/>
            <a:ext cx="2350693" cy="457200"/>
          </a:xfrm>
          <a:prstGeom prst="rect">
            <a:avLst/>
          </a:prstGeom>
          <a:noFill/>
        </p:spPr>
        <p:txBody>
          <a:bodyPr wrap="square" anchor="t" lIns="0" rIns="0" tIns="0" bIns="0">
            <a:noAutofit/>
          </a:bodyPr>
          <a:lstStyle/>
          <a:p>
            <a:pPr algn="ctr">
              <a:lnSpc>
                <a:spcPct val="115000"/>
              </a:lnSpc>
              <a:spcBef>
                <a:spcPts val="0"/>
              </a:spcBef>
              <a:spcAft>
                <a:spcPts val="0"/>
              </a:spcAft>
            </a:pPr>
            <a:r>
              <a:rPr sz="1800" b="0" i="0">
                <a:solidFill>
                  <a:srgbClr val="4B5563"/>
                </a:solidFill>
                <a:latin typeface="Arial"/>
              </a:rPr>
              <a:t>ishlov</a:t>
            </a:r>
          </a:p>
        </p:txBody>
      </p:sp>
      <p:sp>
        <p:nvSpPr>
          <p:cNvPr id="9" name="Arrow 2"/>
          <p:cNvSpPr/>
          <p:nvPr/>
        </p:nvSpPr>
        <p:spPr>
          <a:xfrm>
            <a:off x="5935827" y="3721608"/>
            <a:ext cx="320040" cy="329184"/>
          </a:xfrm>
          <a:prstGeom prst="rightArrow">
            <a:avLst/>
          </a:prstGeom>
          <a:solidFill>
            <a:srgbClr val="4B5563"/>
          </a:solidFill>
          <a:ln>
            <a:noFill/>
          </a:ln>
        </p:spPr>
        <p:txBody>
          <a:bodyPr rtlCol="0" anchor="ctr"/>
          <a:lstStyle/>
          <a:p>
            <a:pPr algn="ctr"/>
          </a:p>
        </p:txBody>
      </p:sp>
      <p:sp>
        <p:nvSpPr>
          <p:cNvPr id="10" name="Flow box 3"/>
          <p:cNvSpPr/>
          <p:nvPr/>
        </p:nvSpPr>
        <p:spPr>
          <a:xfrm>
            <a:off x="6347307" y="3246120"/>
            <a:ext cx="2350693" cy="1280160"/>
          </a:xfrm>
          <a:prstGeom prst="roundRect">
            <a:avLst>
              <a:gd name="adj" fmla="val 12000"/>
            </a:avLst>
          </a:prstGeom>
          <a:solidFill>
            <a:srgbClr val="EEF2F7"/>
          </a:solidFill>
          <a:ln>
            <a:noFill/>
          </a:ln>
        </p:spPr>
        <p:txBody>
          <a:bodyPr rtlCol="0" anchor="ctr" wrap="square" lIns="73152" rIns="73152" tIns="36576" bIns="36576">
            <a:noAutofit/>
          </a:bodyPr>
          <a:lstStyle/>
          <a:p>
            <a:pPr algn="ctr">
              <a:lnSpc>
                <a:spcPct val="115000"/>
              </a:lnSpc>
              <a:spcBef>
                <a:spcPts val="0"/>
              </a:spcBef>
              <a:spcAft>
                <a:spcPts val="0"/>
              </a:spcAft>
            </a:pPr>
            <a:r>
              <a:rPr sz="2600" b="1" i="0">
                <a:solidFill>
                  <a:srgbClr val="111111"/>
                </a:solidFill>
                <a:latin typeface="Arial"/>
              </a:rPr>
              <a:t>RAM / xotira</a:t>
            </a:r>
          </a:p>
        </p:txBody>
      </p:sp>
      <p:sp>
        <p:nvSpPr>
          <p:cNvPr id="11" name="Flow label 3"/>
          <p:cNvSpPr txBox="1"/>
          <p:nvPr/>
        </p:nvSpPr>
        <p:spPr>
          <a:xfrm>
            <a:off x="6347307" y="4636008"/>
            <a:ext cx="2350693" cy="457200"/>
          </a:xfrm>
          <a:prstGeom prst="rect">
            <a:avLst/>
          </a:prstGeom>
          <a:noFill/>
        </p:spPr>
        <p:txBody>
          <a:bodyPr wrap="square" anchor="t" lIns="0" rIns="0" tIns="0" bIns="0">
            <a:noAutofit/>
          </a:bodyPr>
          <a:lstStyle/>
          <a:p>
            <a:pPr algn="ctr">
              <a:lnSpc>
                <a:spcPct val="115000"/>
              </a:lnSpc>
              <a:spcBef>
                <a:spcPts val="0"/>
              </a:spcBef>
              <a:spcAft>
                <a:spcPts val="0"/>
              </a:spcAft>
            </a:pPr>
            <a:r>
              <a:rPr sz="1800" b="0" i="0">
                <a:solidFill>
                  <a:srgbClr val="4B5563"/>
                </a:solidFill>
                <a:latin typeface="Arial"/>
              </a:rPr>
              <a:t>saqlash</a:t>
            </a:r>
          </a:p>
        </p:txBody>
      </p:sp>
      <p:sp>
        <p:nvSpPr>
          <p:cNvPr id="12" name="Arrow 3"/>
          <p:cNvSpPr/>
          <p:nvPr/>
        </p:nvSpPr>
        <p:spPr>
          <a:xfrm>
            <a:off x="8789441" y="3721608"/>
            <a:ext cx="320040" cy="329184"/>
          </a:xfrm>
          <a:prstGeom prst="rightArrow">
            <a:avLst/>
          </a:prstGeom>
          <a:solidFill>
            <a:srgbClr val="4B5563"/>
          </a:solidFill>
          <a:ln>
            <a:noFill/>
          </a:ln>
        </p:spPr>
        <p:txBody>
          <a:bodyPr rtlCol="0" anchor="ctr"/>
          <a:lstStyle/>
          <a:p>
            <a:pPr algn="ctr"/>
          </a:p>
        </p:txBody>
      </p:sp>
      <p:sp>
        <p:nvSpPr>
          <p:cNvPr id="13" name="Flow box 4"/>
          <p:cNvSpPr/>
          <p:nvPr/>
        </p:nvSpPr>
        <p:spPr>
          <a:xfrm>
            <a:off x="9200921" y="3246120"/>
            <a:ext cx="2350693" cy="1280160"/>
          </a:xfrm>
          <a:prstGeom prst="roundRect">
            <a:avLst>
              <a:gd name="adj" fmla="val 12000"/>
            </a:avLst>
          </a:prstGeom>
          <a:solidFill>
            <a:srgbClr val="0052CC"/>
          </a:solidFill>
          <a:ln>
            <a:noFill/>
          </a:ln>
        </p:spPr>
        <p:txBody>
          <a:bodyPr rtlCol="0" anchor="ctr" wrap="square" lIns="73152" rIns="73152" tIns="36576" bIns="36576">
            <a:noAutofit/>
          </a:bodyPr>
          <a:lstStyle/>
          <a:p>
            <a:pPr algn="ctr">
              <a:lnSpc>
                <a:spcPct val="115000"/>
              </a:lnSpc>
              <a:spcBef>
                <a:spcPts val="0"/>
              </a:spcBef>
              <a:spcAft>
                <a:spcPts val="0"/>
              </a:spcAft>
            </a:pPr>
            <a:r>
              <a:rPr sz="2600" b="1" i="0">
                <a:solidFill>
                  <a:srgbClr val="FFFFFF"/>
                </a:solidFill>
                <a:latin typeface="Arial"/>
              </a:rPr>
              <a:t>Monitor</a:t>
            </a:r>
          </a:p>
        </p:txBody>
      </p:sp>
      <p:sp>
        <p:nvSpPr>
          <p:cNvPr id="14" name="Flow label 4"/>
          <p:cNvSpPr txBox="1"/>
          <p:nvPr/>
        </p:nvSpPr>
        <p:spPr>
          <a:xfrm>
            <a:off x="9200921" y="4636008"/>
            <a:ext cx="2350693" cy="457200"/>
          </a:xfrm>
          <a:prstGeom prst="rect">
            <a:avLst/>
          </a:prstGeom>
          <a:noFill/>
        </p:spPr>
        <p:txBody>
          <a:bodyPr wrap="square" anchor="t" lIns="0" rIns="0" tIns="0" bIns="0">
            <a:noAutofit/>
          </a:bodyPr>
          <a:lstStyle/>
          <a:p>
            <a:pPr algn="ctr">
              <a:lnSpc>
                <a:spcPct val="115000"/>
              </a:lnSpc>
              <a:spcBef>
                <a:spcPts val="0"/>
              </a:spcBef>
              <a:spcAft>
                <a:spcPts val="0"/>
              </a:spcAft>
            </a:pPr>
            <a:r>
              <a:rPr sz="1800" b="0" i="0">
                <a:solidFill>
                  <a:srgbClr val="4B5563"/>
                </a:solidFill>
                <a:latin typeface="Arial"/>
              </a:rPr>
              <a:t>chiqarish</a:t>
            </a:r>
          </a:p>
        </p:txBody>
      </p:sp>
      <p:sp>
        <p:nvSpPr>
          <p:cNvPr id="15"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16"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9</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0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400"/>
                                        <p:tgtEl>
                                          <p:spTgt spid="1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4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KOMPYUTER TURLARI VA ISHLASH TAMOYILI</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Telefonda rasmga olish ham shu to'rt qadamdan o'tadi</a:t>
            </a:r>
          </a:p>
        </p:txBody>
      </p:sp>
      <p:sp>
        <p:nvSpPr>
          <p:cNvPr id="4" name="Flow box 1"/>
          <p:cNvSpPr/>
          <p:nvPr/>
        </p:nvSpPr>
        <p:spPr>
          <a:xfrm>
            <a:off x="640080" y="3246120"/>
            <a:ext cx="2350693" cy="1280160"/>
          </a:xfrm>
          <a:prstGeom prst="roundRect">
            <a:avLst>
              <a:gd name="adj" fmla="val 12000"/>
            </a:avLst>
          </a:prstGeom>
          <a:solidFill>
            <a:srgbClr val="EEF2F7"/>
          </a:solidFill>
          <a:ln>
            <a:noFill/>
          </a:ln>
        </p:spPr>
        <p:txBody>
          <a:bodyPr rtlCol="0" anchor="ctr" wrap="square" lIns="73152" rIns="73152" tIns="36576" bIns="36576">
            <a:noAutofit/>
          </a:bodyPr>
          <a:lstStyle/>
          <a:p>
            <a:pPr algn="ctr">
              <a:lnSpc>
                <a:spcPct val="115000"/>
              </a:lnSpc>
              <a:spcBef>
                <a:spcPts val="0"/>
              </a:spcBef>
              <a:spcAft>
                <a:spcPts val="0"/>
              </a:spcAft>
            </a:pPr>
            <a:r>
              <a:rPr sz="2600" b="1" i="0">
                <a:solidFill>
                  <a:srgbClr val="111111"/>
                </a:solidFill>
                <a:latin typeface="Arial"/>
              </a:rPr>
              <a:t>Kamera</a:t>
            </a:r>
          </a:p>
        </p:txBody>
      </p:sp>
      <p:sp>
        <p:nvSpPr>
          <p:cNvPr id="5" name="Flow label 1"/>
          <p:cNvSpPr txBox="1"/>
          <p:nvPr/>
        </p:nvSpPr>
        <p:spPr>
          <a:xfrm>
            <a:off x="640080" y="4636008"/>
            <a:ext cx="2350693" cy="457200"/>
          </a:xfrm>
          <a:prstGeom prst="rect">
            <a:avLst/>
          </a:prstGeom>
          <a:noFill/>
        </p:spPr>
        <p:txBody>
          <a:bodyPr wrap="square" anchor="t" lIns="0" rIns="0" tIns="0" bIns="0">
            <a:noAutofit/>
          </a:bodyPr>
          <a:lstStyle/>
          <a:p>
            <a:pPr algn="ctr">
              <a:lnSpc>
                <a:spcPct val="115000"/>
              </a:lnSpc>
              <a:spcBef>
                <a:spcPts val="0"/>
              </a:spcBef>
              <a:spcAft>
                <a:spcPts val="0"/>
              </a:spcAft>
            </a:pPr>
            <a:r>
              <a:rPr sz="1800" b="0" i="0">
                <a:solidFill>
                  <a:srgbClr val="4B5563"/>
                </a:solidFill>
                <a:latin typeface="Arial"/>
              </a:rPr>
              <a:t>kiritish</a:t>
            </a:r>
          </a:p>
        </p:txBody>
      </p:sp>
      <p:sp>
        <p:nvSpPr>
          <p:cNvPr id="6" name="Arrow 1"/>
          <p:cNvSpPr/>
          <p:nvPr/>
        </p:nvSpPr>
        <p:spPr>
          <a:xfrm>
            <a:off x="3082213" y="3721608"/>
            <a:ext cx="320040" cy="329184"/>
          </a:xfrm>
          <a:prstGeom prst="rightArrow">
            <a:avLst/>
          </a:prstGeom>
          <a:solidFill>
            <a:srgbClr val="4B5563"/>
          </a:solidFill>
          <a:ln>
            <a:noFill/>
          </a:ln>
        </p:spPr>
        <p:txBody>
          <a:bodyPr rtlCol="0" anchor="ctr"/>
          <a:lstStyle/>
          <a:p>
            <a:pPr algn="ctr"/>
          </a:p>
        </p:txBody>
      </p:sp>
      <p:sp>
        <p:nvSpPr>
          <p:cNvPr id="7" name="Flow box 2"/>
          <p:cNvSpPr/>
          <p:nvPr/>
        </p:nvSpPr>
        <p:spPr>
          <a:xfrm>
            <a:off x="3493693" y="3246120"/>
            <a:ext cx="2350693" cy="1280160"/>
          </a:xfrm>
          <a:prstGeom prst="roundRect">
            <a:avLst>
              <a:gd name="adj" fmla="val 12000"/>
            </a:avLst>
          </a:prstGeom>
          <a:solidFill>
            <a:srgbClr val="EEF2F7"/>
          </a:solidFill>
          <a:ln>
            <a:noFill/>
          </a:ln>
        </p:spPr>
        <p:txBody>
          <a:bodyPr rtlCol="0" anchor="ctr" wrap="square" lIns="73152" rIns="73152" tIns="36576" bIns="36576">
            <a:noAutofit/>
          </a:bodyPr>
          <a:lstStyle/>
          <a:p>
            <a:pPr algn="ctr">
              <a:lnSpc>
                <a:spcPct val="115000"/>
              </a:lnSpc>
              <a:spcBef>
                <a:spcPts val="0"/>
              </a:spcBef>
              <a:spcAft>
                <a:spcPts val="0"/>
              </a:spcAft>
            </a:pPr>
            <a:r>
              <a:rPr sz="2600" b="1" i="0">
                <a:solidFill>
                  <a:srgbClr val="111111"/>
                </a:solidFill>
                <a:latin typeface="Arial"/>
              </a:rPr>
              <a:t>CPU</a:t>
            </a:r>
          </a:p>
        </p:txBody>
      </p:sp>
      <p:sp>
        <p:nvSpPr>
          <p:cNvPr id="8" name="Flow label 2"/>
          <p:cNvSpPr txBox="1"/>
          <p:nvPr/>
        </p:nvSpPr>
        <p:spPr>
          <a:xfrm>
            <a:off x="3493693" y="4636008"/>
            <a:ext cx="2350693" cy="457200"/>
          </a:xfrm>
          <a:prstGeom prst="rect">
            <a:avLst/>
          </a:prstGeom>
          <a:noFill/>
        </p:spPr>
        <p:txBody>
          <a:bodyPr wrap="square" anchor="t" lIns="0" rIns="0" tIns="0" bIns="0">
            <a:noAutofit/>
          </a:bodyPr>
          <a:lstStyle/>
          <a:p>
            <a:pPr algn="ctr">
              <a:lnSpc>
                <a:spcPct val="115000"/>
              </a:lnSpc>
              <a:spcBef>
                <a:spcPts val="0"/>
              </a:spcBef>
              <a:spcAft>
                <a:spcPts val="0"/>
              </a:spcAft>
            </a:pPr>
            <a:r>
              <a:rPr sz="1800" b="0" i="0">
                <a:solidFill>
                  <a:srgbClr val="4B5563"/>
                </a:solidFill>
                <a:latin typeface="Arial"/>
              </a:rPr>
              <a:t>ishlov</a:t>
            </a:r>
          </a:p>
        </p:txBody>
      </p:sp>
      <p:sp>
        <p:nvSpPr>
          <p:cNvPr id="9" name="Arrow 2"/>
          <p:cNvSpPr/>
          <p:nvPr/>
        </p:nvSpPr>
        <p:spPr>
          <a:xfrm>
            <a:off x="5935827" y="3721608"/>
            <a:ext cx="320040" cy="329184"/>
          </a:xfrm>
          <a:prstGeom prst="rightArrow">
            <a:avLst/>
          </a:prstGeom>
          <a:solidFill>
            <a:srgbClr val="4B5563"/>
          </a:solidFill>
          <a:ln>
            <a:noFill/>
          </a:ln>
        </p:spPr>
        <p:txBody>
          <a:bodyPr rtlCol="0" anchor="ctr"/>
          <a:lstStyle/>
          <a:p>
            <a:pPr algn="ctr"/>
          </a:p>
        </p:txBody>
      </p:sp>
      <p:sp>
        <p:nvSpPr>
          <p:cNvPr id="10" name="Flow box 3"/>
          <p:cNvSpPr/>
          <p:nvPr/>
        </p:nvSpPr>
        <p:spPr>
          <a:xfrm>
            <a:off x="6347307" y="3246120"/>
            <a:ext cx="2350693" cy="1280160"/>
          </a:xfrm>
          <a:prstGeom prst="roundRect">
            <a:avLst>
              <a:gd name="adj" fmla="val 12000"/>
            </a:avLst>
          </a:prstGeom>
          <a:solidFill>
            <a:srgbClr val="EEF2F7"/>
          </a:solidFill>
          <a:ln>
            <a:noFill/>
          </a:ln>
        </p:spPr>
        <p:txBody>
          <a:bodyPr rtlCol="0" anchor="ctr" wrap="square" lIns="73152" rIns="73152" tIns="36576" bIns="36576">
            <a:noAutofit/>
          </a:bodyPr>
          <a:lstStyle/>
          <a:p>
            <a:pPr algn="ctr">
              <a:lnSpc>
                <a:spcPct val="115000"/>
              </a:lnSpc>
              <a:spcBef>
                <a:spcPts val="0"/>
              </a:spcBef>
              <a:spcAft>
                <a:spcPts val="0"/>
              </a:spcAft>
            </a:pPr>
            <a:r>
              <a:rPr sz="2600" b="1" i="0">
                <a:solidFill>
                  <a:srgbClr val="111111"/>
                </a:solidFill>
                <a:latin typeface="Arial"/>
              </a:rPr>
              <a:t>Xotira</a:t>
            </a:r>
          </a:p>
        </p:txBody>
      </p:sp>
      <p:sp>
        <p:nvSpPr>
          <p:cNvPr id="11" name="Flow label 3"/>
          <p:cNvSpPr txBox="1"/>
          <p:nvPr/>
        </p:nvSpPr>
        <p:spPr>
          <a:xfrm>
            <a:off x="6347307" y="4636008"/>
            <a:ext cx="2350693" cy="457200"/>
          </a:xfrm>
          <a:prstGeom prst="rect">
            <a:avLst/>
          </a:prstGeom>
          <a:noFill/>
        </p:spPr>
        <p:txBody>
          <a:bodyPr wrap="square" anchor="t" lIns="0" rIns="0" tIns="0" bIns="0">
            <a:noAutofit/>
          </a:bodyPr>
          <a:lstStyle/>
          <a:p>
            <a:pPr algn="ctr">
              <a:lnSpc>
                <a:spcPct val="115000"/>
              </a:lnSpc>
              <a:spcBef>
                <a:spcPts val="0"/>
              </a:spcBef>
              <a:spcAft>
                <a:spcPts val="0"/>
              </a:spcAft>
            </a:pPr>
            <a:r>
              <a:rPr sz="1800" b="0" i="0">
                <a:solidFill>
                  <a:srgbClr val="4B5563"/>
                </a:solidFill>
                <a:latin typeface="Arial"/>
              </a:rPr>
              <a:t>saqlash</a:t>
            </a:r>
          </a:p>
        </p:txBody>
      </p:sp>
      <p:sp>
        <p:nvSpPr>
          <p:cNvPr id="12" name="Arrow 3"/>
          <p:cNvSpPr/>
          <p:nvPr/>
        </p:nvSpPr>
        <p:spPr>
          <a:xfrm>
            <a:off x="8789441" y="3721608"/>
            <a:ext cx="320040" cy="329184"/>
          </a:xfrm>
          <a:prstGeom prst="rightArrow">
            <a:avLst/>
          </a:prstGeom>
          <a:solidFill>
            <a:srgbClr val="4B5563"/>
          </a:solidFill>
          <a:ln>
            <a:noFill/>
          </a:ln>
        </p:spPr>
        <p:txBody>
          <a:bodyPr rtlCol="0" anchor="ctr"/>
          <a:lstStyle/>
          <a:p>
            <a:pPr algn="ctr"/>
          </a:p>
        </p:txBody>
      </p:sp>
      <p:sp>
        <p:nvSpPr>
          <p:cNvPr id="13" name="Flow box 4"/>
          <p:cNvSpPr/>
          <p:nvPr/>
        </p:nvSpPr>
        <p:spPr>
          <a:xfrm>
            <a:off x="9200921" y="3246120"/>
            <a:ext cx="2350693" cy="1280160"/>
          </a:xfrm>
          <a:prstGeom prst="roundRect">
            <a:avLst>
              <a:gd name="adj" fmla="val 12000"/>
            </a:avLst>
          </a:prstGeom>
          <a:solidFill>
            <a:srgbClr val="0052CC"/>
          </a:solidFill>
          <a:ln>
            <a:noFill/>
          </a:ln>
        </p:spPr>
        <p:txBody>
          <a:bodyPr rtlCol="0" anchor="ctr" wrap="square" lIns="73152" rIns="73152" tIns="36576" bIns="36576">
            <a:noAutofit/>
          </a:bodyPr>
          <a:lstStyle/>
          <a:p>
            <a:pPr algn="ctr">
              <a:lnSpc>
                <a:spcPct val="115000"/>
              </a:lnSpc>
              <a:spcBef>
                <a:spcPts val="0"/>
              </a:spcBef>
              <a:spcAft>
                <a:spcPts val="0"/>
              </a:spcAft>
            </a:pPr>
            <a:r>
              <a:rPr sz="2600" b="1" i="0">
                <a:solidFill>
                  <a:srgbClr val="FFFFFF"/>
                </a:solidFill>
                <a:latin typeface="Arial"/>
              </a:rPr>
              <a:t>Ekran</a:t>
            </a:r>
          </a:p>
        </p:txBody>
      </p:sp>
      <p:sp>
        <p:nvSpPr>
          <p:cNvPr id="14" name="Flow label 4"/>
          <p:cNvSpPr txBox="1"/>
          <p:nvPr/>
        </p:nvSpPr>
        <p:spPr>
          <a:xfrm>
            <a:off x="9200921" y="4636008"/>
            <a:ext cx="2350693" cy="457200"/>
          </a:xfrm>
          <a:prstGeom prst="rect">
            <a:avLst/>
          </a:prstGeom>
          <a:noFill/>
        </p:spPr>
        <p:txBody>
          <a:bodyPr wrap="square" anchor="t" lIns="0" rIns="0" tIns="0" bIns="0">
            <a:noAutofit/>
          </a:bodyPr>
          <a:lstStyle/>
          <a:p>
            <a:pPr algn="ctr">
              <a:lnSpc>
                <a:spcPct val="115000"/>
              </a:lnSpc>
              <a:spcBef>
                <a:spcPts val="0"/>
              </a:spcBef>
              <a:spcAft>
                <a:spcPts val="0"/>
              </a:spcAft>
            </a:pPr>
            <a:r>
              <a:rPr sz="1800" b="0" i="0">
                <a:solidFill>
                  <a:srgbClr val="4B5563"/>
                </a:solidFill>
                <a:latin typeface="Arial"/>
              </a:rPr>
              <a:t>chiqarish</a:t>
            </a:r>
          </a:p>
        </p:txBody>
      </p:sp>
      <p:sp>
        <p:nvSpPr>
          <p:cNvPr id="15"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16"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10</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0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400"/>
                                        <p:tgtEl>
                                          <p:spTgt spid="1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4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KOMPYUTER TURLARI VA ISHLASH TAMOYILI</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Qurilmalar kiritish yoki chiqarish uchun, sensorli ekran esa ikkalasi uchun</a:t>
            </a:r>
          </a:p>
        </p:txBody>
      </p:sp>
      <p:sp>
        <p:nvSpPr>
          <p:cNvPr id="4" name="left column"/>
          <p:cNvSpPr/>
          <p:nvPr/>
        </p:nvSpPr>
        <p:spPr>
          <a:xfrm>
            <a:off x="640080" y="2148840"/>
            <a:ext cx="5227167" cy="3931920"/>
          </a:xfrm>
          <a:prstGeom prst="roundRect">
            <a:avLst>
              <a:gd name="adj" fmla="val 4000"/>
            </a:avLst>
          </a:prstGeom>
          <a:solidFill>
            <a:srgbClr val="EEF2F7"/>
          </a:solidFill>
          <a:ln>
            <a:noFill/>
          </a:ln>
        </p:spPr>
        <p:txBody>
          <a:bodyPr rtlCol="0" anchor="ctr"/>
          <a:lstStyle/>
          <a:p>
            <a:pPr algn="ctr"/>
          </a:p>
        </p:txBody>
      </p:sp>
      <p:sp>
        <p:nvSpPr>
          <p:cNvPr id="5" name="left title"/>
          <p:cNvSpPr txBox="1"/>
          <p:nvPr/>
        </p:nvSpPr>
        <p:spPr>
          <a:xfrm>
            <a:off x="914400" y="2331720"/>
            <a:ext cx="4678527" cy="548640"/>
          </a:xfrm>
          <a:prstGeom prst="rect">
            <a:avLst/>
          </a:prstGeom>
          <a:noFill/>
        </p:spPr>
        <p:txBody>
          <a:bodyPr wrap="square" anchor="t" lIns="0" rIns="0" tIns="0" bIns="0">
            <a:noAutofit/>
          </a:bodyPr>
          <a:lstStyle/>
          <a:p>
            <a:pPr algn="l">
              <a:lnSpc>
                <a:spcPct val="115000"/>
              </a:lnSpc>
              <a:spcBef>
                <a:spcPts val="0"/>
              </a:spcBef>
              <a:spcAft>
                <a:spcPts val="0"/>
              </a:spcAft>
            </a:pPr>
            <a:r>
              <a:rPr sz="2600" b="1" i="0">
                <a:solidFill>
                  <a:srgbClr val="0052CC"/>
                </a:solidFill>
                <a:latin typeface="Arial"/>
              </a:rPr>
              <a:t>Kiritish qurilmalari</a:t>
            </a:r>
          </a:p>
        </p:txBody>
      </p:sp>
      <p:sp>
        <p:nvSpPr>
          <p:cNvPr id="6" name="Points"/>
          <p:cNvSpPr txBox="1"/>
          <p:nvPr/>
        </p:nvSpPr>
        <p:spPr>
          <a:xfrm>
            <a:off x="914400" y="3017520"/>
            <a:ext cx="4678527" cy="2880360"/>
          </a:xfrm>
          <a:prstGeom prst="rect">
            <a:avLst/>
          </a:prstGeom>
          <a:noFill/>
        </p:spPr>
        <p:txBody>
          <a:bodyPr wrap="square" anchor="t" lIns="45720" rIns="45720" tIns="27432" bIns="27432">
            <a:noAutofit/>
          </a:bodyPr>
          <a:lstStyle/>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Klaviatura, sichqoncha</a:t>
            </a:r>
          </a:p>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Mikrofon, kamera</a:t>
            </a:r>
          </a:p>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Skaner</a:t>
            </a:r>
          </a:p>
        </p:txBody>
      </p:sp>
      <p:sp>
        <p:nvSpPr>
          <p:cNvPr id="7" name="right column"/>
          <p:cNvSpPr/>
          <p:nvPr/>
        </p:nvSpPr>
        <p:spPr>
          <a:xfrm>
            <a:off x="6324447" y="2148840"/>
            <a:ext cx="5227167" cy="3931920"/>
          </a:xfrm>
          <a:prstGeom prst="roundRect">
            <a:avLst>
              <a:gd name="adj" fmla="val 4000"/>
            </a:avLst>
          </a:prstGeom>
          <a:solidFill>
            <a:srgbClr val="EEF2F7"/>
          </a:solidFill>
          <a:ln>
            <a:noFill/>
          </a:ln>
        </p:spPr>
        <p:txBody>
          <a:bodyPr rtlCol="0" anchor="ctr"/>
          <a:lstStyle/>
          <a:p>
            <a:pPr algn="ctr"/>
          </a:p>
        </p:txBody>
      </p:sp>
      <p:sp>
        <p:nvSpPr>
          <p:cNvPr id="8" name="right title"/>
          <p:cNvSpPr txBox="1"/>
          <p:nvPr/>
        </p:nvSpPr>
        <p:spPr>
          <a:xfrm>
            <a:off x="6598767" y="2331720"/>
            <a:ext cx="4678527" cy="548640"/>
          </a:xfrm>
          <a:prstGeom prst="rect">
            <a:avLst/>
          </a:prstGeom>
          <a:noFill/>
        </p:spPr>
        <p:txBody>
          <a:bodyPr wrap="square" anchor="t" lIns="0" rIns="0" tIns="0" bIns="0">
            <a:noAutofit/>
          </a:bodyPr>
          <a:lstStyle/>
          <a:p>
            <a:pPr algn="l">
              <a:lnSpc>
                <a:spcPct val="115000"/>
              </a:lnSpc>
              <a:spcBef>
                <a:spcPts val="0"/>
              </a:spcBef>
              <a:spcAft>
                <a:spcPts val="0"/>
              </a:spcAft>
            </a:pPr>
            <a:r>
              <a:rPr sz="2600" b="1" i="0">
                <a:solidFill>
                  <a:srgbClr val="0052CC"/>
                </a:solidFill>
                <a:latin typeface="Arial"/>
              </a:rPr>
              <a:t>Chiqarish qurilmalari</a:t>
            </a:r>
          </a:p>
        </p:txBody>
      </p:sp>
      <p:sp>
        <p:nvSpPr>
          <p:cNvPr id="9" name="Points"/>
          <p:cNvSpPr txBox="1"/>
          <p:nvPr/>
        </p:nvSpPr>
        <p:spPr>
          <a:xfrm>
            <a:off x="6598767" y="3017520"/>
            <a:ext cx="4678527" cy="2880360"/>
          </a:xfrm>
          <a:prstGeom prst="rect">
            <a:avLst/>
          </a:prstGeom>
          <a:noFill/>
        </p:spPr>
        <p:txBody>
          <a:bodyPr wrap="square" anchor="t" lIns="45720" rIns="45720" tIns="27432" bIns="27432">
            <a:noAutofit/>
          </a:bodyPr>
          <a:lstStyle/>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Monitor, kolonka</a:t>
            </a:r>
          </a:p>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Printer, proyektor</a:t>
            </a:r>
          </a:p>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Sensorli ekran: ikkalasi ham</a:t>
            </a:r>
          </a:p>
        </p:txBody>
      </p:sp>
      <p:sp>
        <p:nvSpPr>
          <p:cNvPr id="10"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11"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11</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400"/>
                                        <p:tgtEl>
                                          <p:spTgt spid="6">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fade">
                                      <p:cBhvr>
                                        <p:cTn id="20" dur="400"/>
                                        <p:tgtEl>
                                          <p:spTgt spid="6">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xEl>
                                              <p:pRg st="2" end="2"/>
                                            </p:txEl>
                                          </p:spTgt>
                                        </p:tgtEl>
                                        <p:attrNameLst>
                                          <p:attrName>style.visibility</p:attrName>
                                        </p:attrNameLst>
                                      </p:cBhvr>
                                      <p:to>
                                        <p:strVal val="visible"/>
                                      </p:to>
                                    </p:set>
                                    <p:animEffect transition="in" filter="fade">
                                      <p:cBhvr>
                                        <p:cTn id="25" dur="400"/>
                                        <p:tgtEl>
                                          <p:spTgt spid="6">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400"/>
                                        <p:tgtEl>
                                          <p:spTgt spid="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4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xEl>
                                              <p:pRg st="0" end="0"/>
                                            </p:txEl>
                                          </p:spTgt>
                                        </p:tgtEl>
                                        <p:attrNameLst>
                                          <p:attrName>style.visibility</p:attrName>
                                        </p:attrNameLst>
                                      </p:cBhvr>
                                      <p:to>
                                        <p:strVal val="visible"/>
                                      </p:to>
                                    </p:set>
                                    <p:animEffect transition="in" filter="fade">
                                      <p:cBhvr>
                                        <p:cTn id="38" dur="400"/>
                                        <p:tgtEl>
                                          <p:spTgt spid="9">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9">
                                            <p:txEl>
                                              <p:pRg st="1" end="1"/>
                                            </p:txEl>
                                          </p:spTgt>
                                        </p:tgtEl>
                                        <p:attrNameLst>
                                          <p:attrName>style.visibility</p:attrName>
                                        </p:attrNameLst>
                                      </p:cBhvr>
                                      <p:to>
                                        <p:strVal val="visible"/>
                                      </p:to>
                                    </p:set>
                                    <p:animEffect transition="in" filter="fade">
                                      <p:cBhvr>
                                        <p:cTn id="43" dur="400"/>
                                        <p:tgtEl>
                                          <p:spTgt spid="9">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9">
                                            <p:txEl>
                                              <p:pRg st="2" end="2"/>
                                            </p:txEl>
                                          </p:spTgt>
                                        </p:tgtEl>
                                        <p:attrNameLst>
                                          <p:attrName>style.visibility</p:attrName>
                                        </p:attrNameLst>
                                      </p:cBhvr>
                                      <p:to>
                                        <p:strVal val="visible"/>
                                      </p:to>
                                    </p:set>
                                    <p:animEffect transition="in" filter="fade">
                                      <p:cBhvr>
                                        <p:cTn id="48" dur="4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build="p"/>
      <p:bldP spid="7" grpId="0" animBg="1"/>
      <p:bldP spid="8" grpId="0" animBg="1"/>
      <p:bldP spid="9" grpId="0" build="p"/>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SAVOL · O'YLAB KO'RING</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Sensorli ekran (touchscreen) qaysi qurilma?</a:t>
            </a:r>
          </a:p>
        </p:txBody>
      </p:sp>
      <p:sp>
        <p:nvSpPr>
          <p:cNvPr id="4" name="Choice A"/>
          <p:cNvSpPr/>
          <p:nvPr/>
        </p:nvSpPr>
        <p:spPr>
          <a:xfrm>
            <a:off x="640080" y="2148840"/>
            <a:ext cx="5318607" cy="1188720"/>
          </a:xfrm>
          <a:prstGeom prst="roundRect">
            <a:avLst>
              <a:gd name="adj" fmla="val 8000"/>
            </a:avLst>
          </a:prstGeom>
          <a:solidFill>
            <a:srgbClr val="EEF2F7"/>
          </a:solidFill>
          <a:ln>
            <a:noFill/>
          </a:ln>
        </p:spPr>
        <p:txBody>
          <a:bodyPr rtlCol="0" anchor="ctr"/>
          <a:lstStyle/>
          <a:p>
            <a:pPr algn="ctr"/>
          </a:p>
        </p:txBody>
      </p:sp>
      <p:sp>
        <p:nvSpPr>
          <p:cNvPr id="5" name="TextBox 4"/>
          <p:cNvSpPr txBox="1"/>
          <p:nvPr/>
        </p:nvSpPr>
        <p:spPr>
          <a:xfrm>
            <a:off x="868680" y="214884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A</a:t>
            </a:r>
          </a:p>
        </p:txBody>
      </p:sp>
      <p:sp>
        <p:nvSpPr>
          <p:cNvPr id="6" name="TextBox 5"/>
          <p:cNvSpPr txBox="1"/>
          <p:nvPr/>
        </p:nvSpPr>
        <p:spPr>
          <a:xfrm>
            <a:off x="1508760" y="214884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Faqat kiritish</a:t>
            </a:r>
          </a:p>
        </p:txBody>
      </p:sp>
      <p:sp>
        <p:nvSpPr>
          <p:cNvPr id="7" name="Choice B"/>
          <p:cNvSpPr/>
          <p:nvPr/>
        </p:nvSpPr>
        <p:spPr>
          <a:xfrm>
            <a:off x="6233007" y="2148840"/>
            <a:ext cx="5318607" cy="1188720"/>
          </a:xfrm>
          <a:prstGeom prst="roundRect">
            <a:avLst>
              <a:gd name="adj" fmla="val 8000"/>
            </a:avLst>
          </a:prstGeom>
          <a:solidFill>
            <a:srgbClr val="EEF2F7"/>
          </a:solidFill>
          <a:ln>
            <a:noFill/>
          </a:ln>
        </p:spPr>
        <p:txBody>
          <a:bodyPr rtlCol="0" anchor="ctr"/>
          <a:lstStyle/>
          <a:p>
            <a:pPr algn="ctr"/>
          </a:p>
        </p:txBody>
      </p:sp>
      <p:sp>
        <p:nvSpPr>
          <p:cNvPr id="8" name="TextBox 7"/>
          <p:cNvSpPr txBox="1"/>
          <p:nvPr/>
        </p:nvSpPr>
        <p:spPr>
          <a:xfrm>
            <a:off x="6461607" y="214884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B</a:t>
            </a:r>
          </a:p>
        </p:txBody>
      </p:sp>
      <p:sp>
        <p:nvSpPr>
          <p:cNvPr id="9" name="TextBox 8"/>
          <p:cNvSpPr txBox="1"/>
          <p:nvPr/>
        </p:nvSpPr>
        <p:spPr>
          <a:xfrm>
            <a:off x="7101687" y="214884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Faqat chiqarish</a:t>
            </a:r>
          </a:p>
        </p:txBody>
      </p:sp>
      <p:sp>
        <p:nvSpPr>
          <p:cNvPr id="10" name="Choice C"/>
          <p:cNvSpPr/>
          <p:nvPr/>
        </p:nvSpPr>
        <p:spPr>
          <a:xfrm>
            <a:off x="640080" y="3611880"/>
            <a:ext cx="5318607" cy="1188720"/>
          </a:xfrm>
          <a:prstGeom prst="roundRect">
            <a:avLst>
              <a:gd name="adj" fmla="val 8000"/>
            </a:avLst>
          </a:prstGeom>
          <a:solidFill>
            <a:srgbClr val="EEF2F7"/>
          </a:solidFill>
          <a:ln>
            <a:noFill/>
          </a:ln>
        </p:spPr>
        <p:txBody>
          <a:bodyPr rtlCol="0" anchor="ctr"/>
          <a:lstStyle/>
          <a:p>
            <a:pPr algn="ctr"/>
          </a:p>
        </p:txBody>
      </p:sp>
      <p:sp>
        <p:nvSpPr>
          <p:cNvPr id="11" name="TextBox 10"/>
          <p:cNvSpPr txBox="1"/>
          <p:nvPr/>
        </p:nvSpPr>
        <p:spPr>
          <a:xfrm>
            <a:off x="868680" y="361188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C</a:t>
            </a:r>
          </a:p>
        </p:txBody>
      </p:sp>
      <p:sp>
        <p:nvSpPr>
          <p:cNvPr id="12" name="TextBox 11"/>
          <p:cNvSpPr txBox="1"/>
          <p:nvPr/>
        </p:nvSpPr>
        <p:spPr>
          <a:xfrm>
            <a:off x="1508760" y="361188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Ham kiritish, ham chiqarish</a:t>
            </a:r>
          </a:p>
        </p:txBody>
      </p:sp>
      <p:sp>
        <p:nvSpPr>
          <p:cNvPr id="13" name="Correct answer"/>
          <p:cNvSpPr/>
          <p:nvPr/>
        </p:nvSpPr>
        <p:spPr>
          <a:xfrm>
            <a:off x="603503" y="3575304"/>
            <a:ext cx="5391759" cy="1261872"/>
          </a:xfrm>
          <a:prstGeom prst="roundRect">
            <a:avLst>
              <a:gd name="adj" fmla="val 8000"/>
            </a:avLst>
          </a:prstGeom>
          <a:solidFill>
            <a:srgbClr val="0052CC">
              <a:alpha val="18000"/>
            </a:srgbClr>
          </a:solidFill>
          <a:ln w="50800">
            <a:solidFill>
              <a:srgbClr val="0052CC"/>
            </a:solidFill>
          </a:ln>
        </p:spPr>
        <p:txBody>
          <a:bodyPr rtlCol="0" anchor="ctr"/>
          <a:lstStyle/>
          <a:p>
            <a:pPr algn="ctr"/>
          </a:p>
        </p:txBody>
      </p:sp>
      <p:sp>
        <p:nvSpPr>
          <p:cNvPr id="14" name="Choice D"/>
          <p:cNvSpPr/>
          <p:nvPr/>
        </p:nvSpPr>
        <p:spPr>
          <a:xfrm>
            <a:off x="6233007" y="3611880"/>
            <a:ext cx="5318607" cy="1188720"/>
          </a:xfrm>
          <a:prstGeom prst="roundRect">
            <a:avLst>
              <a:gd name="adj" fmla="val 8000"/>
            </a:avLst>
          </a:prstGeom>
          <a:solidFill>
            <a:srgbClr val="EEF2F7"/>
          </a:solidFill>
          <a:ln>
            <a:noFill/>
          </a:ln>
        </p:spPr>
        <p:txBody>
          <a:bodyPr rtlCol="0" anchor="ctr"/>
          <a:lstStyle/>
          <a:p>
            <a:pPr algn="ctr"/>
          </a:p>
        </p:txBody>
      </p:sp>
      <p:sp>
        <p:nvSpPr>
          <p:cNvPr id="15" name="TextBox 14"/>
          <p:cNvSpPr txBox="1"/>
          <p:nvPr/>
        </p:nvSpPr>
        <p:spPr>
          <a:xfrm>
            <a:off x="6461607" y="361188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D</a:t>
            </a:r>
          </a:p>
        </p:txBody>
      </p:sp>
      <p:sp>
        <p:nvSpPr>
          <p:cNvPr id="16" name="TextBox 15"/>
          <p:cNvSpPr txBox="1"/>
          <p:nvPr/>
        </p:nvSpPr>
        <p:spPr>
          <a:xfrm>
            <a:off x="7101687" y="361188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Saqlash qurilmasi</a:t>
            </a:r>
          </a:p>
        </p:txBody>
      </p:sp>
      <p:sp>
        <p:nvSpPr>
          <p:cNvPr id="17" name="Explanation"/>
          <p:cNvSpPr txBox="1"/>
          <p:nvPr/>
        </p:nvSpPr>
        <p:spPr>
          <a:xfrm>
            <a:off x="640080" y="5074920"/>
            <a:ext cx="10911535" cy="1005839"/>
          </a:xfrm>
          <a:prstGeom prst="rect">
            <a:avLst/>
          </a:prstGeom>
          <a:noFill/>
        </p:spPr>
        <p:txBody>
          <a:bodyPr wrap="square" anchor="t" lIns="0" rIns="0" tIns="0" bIns="0">
            <a:noAutofit/>
          </a:bodyPr>
          <a:lstStyle/>
          <a:p>
            <a:pPr algn="l">
              <a:lnSpc>
                <a:spcPct val="115000"/>
              </a:lnSpc>
              <a:spcBef>
                <a:spcPts val="0"/>
              </a:spcBef>
              <a:spcAft>
                <a:spcPts val="0"/>
              </a:spcAft>
            </a:pPr>
            <a:r>
              <a:rPr sz="2200" b="1" i="0">
                <a:solidFill>
                  <a:srgbClr val="111111"/>
                </a:solidFill>
                <a:latin typeface="Arial"/>
              </a:rPr>
              <a:t>Javob:</a:t>
            </a:r>
            <a:r>
              <a:rPr sz="2200" b="0" i="0">
                <a:solidFill>
                  <a:srgbClr val="111111"/>
                </a:solidFill>
                <a:latin typeface="Arial"/>
              </a:rPr>
              <a:t> Barmoq bilan bosamiz (kiritish) va tasvirni ko'ramiz (chiqarish).</a:t>
            </a:r>
          </a:p>
        </p:txBody>
      </p:sp>
      <p:sp>
        <p:nvSpPr>
          <p:cNvPr id="18"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19"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12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Section number"/>
          <p:cNvSpPr txBox="1"/>
          <p:nvPr/>
        </p:nvSpPr>
        <p:spPr>
          <a:xfrm>
            <a:off x="640080" y="1828800"/>
            <a:ext cx="2743200" cy="1188720"/>
          </a:xfrm>
          <a:prstGeom prst="rect">
            <a:avLst/>
          </a:prstGeom>
          <a:noFill/>
        </p:spPr>
        <p:txBody>
          <a:bodyPr wrap="square" anchor="t" lIns="0" rIns="0" tIns="0" bIns="0">
            <a:noAutofit/>
          </a:bodyPr>
          <a:lstStyle/>
          <a:p>
            <a:pPr algn="l">
              <a:lnSpc>
                <a:spcPct val="115000"/>
              </a:lnSpc>
              <a:spcBef>
                <a:spcPts val="0"/>
              </a:spcBef>
              <a:spcAft>
                <a:spcPts val="0"/>
              </a:spcAft>
            </a:pPr>
            <a:r>
              <a:rPr sz="8000" b="1" i="0">
                <a:solidFill>
                  <a:srgbClr val="FFC20E"/>
                </a:solidFill>
                <a:latin typeface="Courier New"/>
              </a:rPr>
              <a:t>02</a:t>
            </a:r>
          </a:p>
        </p:txBody>
      </p:sp>
      <p:sp>
        <p:nvSpPr>
          <p:cNvPr id="3" name="Section title"/>
          <p:cNvSpPr txBox="1"/>
          <p:nvPr/>
        </p:nvSpPr>
        <p:spPr>
          <a:xfrm>
            <a:off x="640080" y="3154680"/>
            <a:ext cx="10911535" cy="1737360"/>
          </a:xfrm>
          <a:prstGeom prst="rect">
            <a:avLst/>
          </a:prstGeom>
          <a:noFill/>
        </p:spPr>
        <p:txBody>
          <a:bodyPr wrap="square" anchor="t" lIns="0" rIns="0" tIns="0" bIns="0">
            <a:noAutofit/>
          </a:bodyPr>
          <a:lstStyle/>
          <a:p>
            <a:pPr algn="l">
              <a:lnSpc>
                <a:spcPct val="100000"/>
              </a:lnSpc>
              <a:spcBef>
                <a:spcPts val="0"/>
              </a:spcBef>
              <a:spcAft>
                <a:spcPts val="0"/>
              </a:spcAft>
            </a:pPr>
            <a:r>
              <a:rPr sz="4800" b="1" i="0">
                <a:solidFill>
                  <a:srgbClr val="FFFFFF"/>
                </a:solidFill>
                <a:latin typeface="Arial"/>
              </a:rPr>
              <a:t>Asosiy qismlar: protsessor, RAM, xotira</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ASOSIY QISMLAR: PROTSESSOR, RAM, XOTIRA</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Kompyuter bir nechta qismdan iborat va ular birga ishlaydi</a:t>
            </a:r>
          </a:p>
        </p:txBody>
      </p:sp>
      <p:sp>
        <p:nvSpPr>
          <p:cNvPr id="4" name="Points"/>
          <p:cNvSpPr txBox="1"/>
          <p:nvPr/>
        </p:nvSpPr>
        <p:spPr>
          <a:xfrm>
            <a:off x="640080" y="2148840"/>
            <a:ext cx="4146383" cy="3931920"/>
          </a:xfrm>
          <a:prstGeom prst="rect">
            <a:avLst/>
          </a:prstGeom>
          <a:noFill/>
        </p:spPr>
        <p:txBody>
          <a:bodyPr wrap="square" anchor="t" lIns="45720" rIns="45720" tIns="27432" bIns="27432">
            <a:noAutofit/>
          </a:bodyPr>
          <a:lstStyle/>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Protsessor (CPU): ishlov beradi</a:t>
            </a:r>
          </a:p>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RAM: tez, vaqtinchalik xotira</a:t>
            </a:r>
          </a:p>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SSD yoki HDD: doimiy xotira</a:t>
            </a:r>
          </a:p>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Monitor, klaviatura: chiqarish va kiritish</a:t>
            </a:r>
          </a:p>
        </p:txBody>
      </p:sp>
      <p:pic>
        <p:nvPicPr>
          <p:cNvPr id="5" name="Figure img6" descr="Kompyuter qismlari doira shaklida: protsessor, RAM, SSD, monitor, klaviatura"/>
          <p:cNvPicPr>
            <a:picLocks noChangeAspect="1"/>
          </p:cNvPicPr>
          <p:nvPr/>
        </p:nvPicPr>
        <p:blipFill>
          <a:blip r:embed="rId2"/>
          <a:stretch>
            <a:fillRect/>
          </a:stretch>
        </p:blipFill>
        <p:spPr>
          <a:xfrm>
            <a:off x="5644875" y="2148840"/>
            <a:ext cx="5414086" cy="3931920"/>
          </a:xfrm>
          <a:prstGeom prst="rect">
            <a:avLst/>
          </a:prstGeom>
        </p:spPr>
      </p:pic>
      <p:sp>
        <p:nvSpPr>
          <p:cNvPr id="6"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7"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14</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4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4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4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4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ASOSIY QISMLAR: PROTSESSOR, RAM, XOTIRA</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Protsessor (CPU) kompyuterning miyasi: u hamma buyruqni bajaradi</a:t>
            </a:r>
          </a:p>
        </p:txBody>
      </p:sp>
      <p:sp>
        <p:nvSpPr>
          <p:cNvPr id="4" name="Points"/>
          <p:cNvSpPr txBox="1"/>
          <p:nvPr/>
        </p:nvSpPr>
        <p:spPr>
          <a:xfrm>
            <a:off x="640080" y="2148840"/>
            <a:ext cx="4146383" cy="3931920"/>
          </a:xfrm>
          <a:prstGeom prst="rect">
            <a:avLst/>
          </a:prstGeom>
          <a:noFill/>
        </p:spPr>
        <p:txBody>
          <a:bodyPr wrap="square" anchor="t" lIns="45720" rIns="45720" tIns="27432" bIns="27432">
            <a:noAutofit/>
          </a:bodyPr>
          <a:lstStyle/>
          <a:p>
            <a:pPr algn="l" marL="384048" indent="-384048">
              <a:lnSpc>
                <a:spcPct val="115000"/>
              </a:lnSpc>
              <a:spcBef>
                <a:spcPts val="0"/>
              </a:spcBef>
              <a:spcAft>
                <a:spcPts val="1400"/>
              </a:spcAft>
              <a:buClr>
                <a:srgbClr val="0052CC"/>
              </a:buClr>
              <a:buFont typeface="Arial"/>
              <a:buChar char="•"/>
            </a:pPr>
            <a:r>
              <a:rPr sz="2300" b="0" i="0">
                <a:solidFill>
                  <a:srgbClr val="111111"/>
                </a:solidFill>
                <a:latin typeface="Arial"/>
              </a:rPr>
              <a:t>CPU: Central Processing Unit, markaziy ishlov qurilmasi</a:t>
            </a:r>
          </a:p>
          <a:p>
            <a:pPr algn="l" marL="384048" indent="-384048">
              <a:lnSpc>
                <a:spcPct val="115000"/>
              </a:lnSpc>
              <a:spcBef>
                <a:spcPts val="0"/>
              </a:spcBef>
              <a:spcAft>
                <a:spcPts val="1400"/>
              </a:spcAft>
              <a:buClr>
                <a:srgbClr val="0052CC"/>
              </a:buClr>
              <a:buFont typeface="Arial"/>
              <a:buChar char="•"/>
            </a:pPr>
            <a:r>
              <a:rPr sz="2300" b="0" i="0">
                <a:solidFill>
                  <a:srgbClr val="111111"/>
                </a:solidFill>
                <a:latin typeface="Arial"/>
              </a:rPr>
              <a:t>Hisoblaydi, solishtiradi va ma'lumotni qismlarga uzatadi</a:t>
            </a:r>
          </a:p>
          <a:p>
            <a:pPr algn="l" marL="384048" indent="-384048">
              <a:lnSpc>
                <a:spcPct val="115000"/>
              </a:lnSpc>
              <a:spcBef>
                <a:spcPts val="0"/>
              </a:spcBef>
              <a:spcAft>
                <a:spcPts val="1400"/>
              </a:spcAft>
              <a:buClr>
                <a:srgbClr val="0052CC"/>
              </a:buClr>
              <a:buFont typeface="Arial"/>
              <a:buChar char="•"/>
            </a:pPr>
            <a:r>
              <a:rPr sz="2300" b="0" i="0">
                <a:solidFill>
                  <a:srgbClr val="111111"/>
                </a:solidFill>
                <a:latin typeface="Arial"/>
              </a:rPr>
              <a:t>Qismlarning ishini boshqaradi</a:t>
            </a:r>
          </a:p>
        </p:txBody>
      </p:sp>
      <p:pic>
        <p:nvPicPr>
          <p:cNvPr id="5" name="Figure img2" descr="Miya shaklidagi protsessor chipi va elektron yo'llar"/>
          <p:cNvPicPr>
            <a:picLocks noChangeAspect="1"/>
          </p:cNvPicPr>
          <p:nvPr/>
        </p:nvPicPr>
        <p:blipFill>
          <a:blip r:embed="rId2"/>
          <a:stretch>
            <a:fillRect/>
          </a:stretch>
        </p:blipFill>
        <p:spPr>
          <a:xfrm>
            <a:off x="5665998" y="2148840"/>
            <a:ext cx="5371840" cy="3931920"/>
          </a:xfrm>
          <a:prstGeom prst="rect">
            <a:avLst/>
          </a:prstGeom>
        </p:spPr>
      </p:pic>
      <p:sp>
        <p:nvSpPr>
          <p:cNvPr id="6"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7"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15</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4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4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4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ASOSIY QISMLAR: PROTSESSOR, RAM, XOTIRA</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Protsessor nomidagi raqam odatda uning kuchini ko'rsatadi</a:t>
            </a:r>
          </a:p>
        </p:txBody>
      </p:sp>
      <p:sp>
        <p:nvSpPr>
          <p:cNvPr id="4" name="Term 1"/>
          <p:cNvSpPr txBox="1"/>
          <p:nvPr/>
        </p:nvSpPr>
        <p:spPr>
          <a:xfrm>
            <a:off x="640080" y="2148840"/>
            <a:ext cx="3840480"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Intel Core</a:t>
            </a:r>
          </a:p>
        </p:txBody>
      </p:sp>
      <p:sp>
        <p:nvSpPr>
          <p:cNvPr id="5" name="Meaning 1"/>
          <p:cNvSpPr txBox="1"/>
          <p:nvPr/>
        </p:nvSpPr>
        <p:spPr>
          <a:xfrm>
            <a:off x="4754880" y="2167128"/>
            <a:ext cx="6796735"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i3, i5, i7: raqam kattaroq bo'lsa, odatda kuchliroq</a:t>
            </a:r>
          </a:p>
        </p:txBody>
      </p:sp>
      <p:sp>
        <p:nvSpPr>
          <p:cNvPr id="6" name="Term 2"/>
          <p:cNvSpPr txBox="1"/>
          <p:nvPr/>
        </p:nvSpPr>
        <p:spPr>
          <a:xfrm>
            <a:off x="640080" y="3017520"/>
            <a:ext cx="3840480"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AMD Ryzen</a:t>
            </a:r>
          </a:p>
        </p:txBody>
      </p:sp>
      <p:sp>
        <p:nvSpPr>
          <p:cNvPr id="7" name="Meaning 2"/>
          <p:cNvSpPr txBox="1"/>
          <p:nvPr/>
        </p:nvSpPr>
        <p:spPr>
          <a:xfrm>
            <a:off x="4754880" y="3035808"/>
            <a:ext cx="6796735"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3, 5, 7: xuddi shunday</a:t>
            </a:r>
          </a:p>
        </p:txBody>
      </p:sp>
      <p:sp>
        <p:nvSpPr>
          <p:cNvPr id="8" name="Term 3"/>
          <p:cNvSpPr txBox="1"/>
          <p:nvPr/>
        </p:nvSpPr>
        <p:spPr>
          <a:xfrm>
            <a:off x="640080" y="3886200"/>
            <a:ext cx="3840480"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Avlod</a:t>
            </a:r>
          </a:p>
        </p:txBody>
      </p:sp>
      <p:sp>
        <p:nvSpPr>
          <p:cNvPr id="9" name="Meaning 3"/>
          <p:cNvSpPr txBox="1"/>
          <p:nvPr/>
        </p:nvSpPr>
        <p:spPr>
          <a:xfrm>
            <a:off x="4754880" y="3904487"/>
            <a:ext cx="6796735"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ishlab chiqarilgan yil guruhi; yangi avlod odatda tezroq</a:t>
            </a:r>
          </a:p>
        </p:txBody>
      </p:sp>
      <p:sp>
        <p:nvSpPr>
          <p:cNvPr id="10"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11"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16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ASOSIY QISMLAR: PROTSESSOR, RAM, XOTIRA</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GHz protsessor bir sekundda necha milliard marta tik-tik qilishini bildiradi</a:t>
            </a:r>
          </a:p>
        </p:txBody>
      </p:sp>
      <p:sp>
        <p:nvSpPr>
          <p:cNvPr id="4" name="Points"/>
          <p:cNvSpPr txBox="1"/>
          <p:nvPr/>
        </p:nvSpPr>
        <p:spPr>
          <a:xfrm>
            <a:off x="640080" y="2148840"/>
            <a:ext cx="4146383" cy="3931920"/>
          </a:xfrm>
          <a:prstGeom prst="rect">
            <a:avLst/>
          </a:prstGeom>
          <a:noFill/>
        </p:spPr>
        <p:txBody>
          <a:bodyPr wrap="square" anchor="t" lIns="45720" rIns="45720" tIns="27432" bIns="27432">
            <a:noAutofit/>
          </a:bodyPr>
          <a:lstStyle/>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Giga (G) milliard degani</a:t>
            </a:r>
          </a:p>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2 GHz: sekundiga 2 milliard tik-tik</a:t>
            </a:r>
          </a:p>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4 GHz: sekundiga 4 milliard tik-tik</a:t>
            </a:r>
          </a:p>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GHz katta bo'lsa, bitta ish tezroq bajariladi</a:t>
            </a:r>
          </a:p>
        </p:txBody>
      </p:sp>
      <p:pic>
        <p:nvPicPr>
          <p:cNvPr id="5" name="Figure img3" descr="Protsessor va metronom: bir xil ritmda ishlaydi"/>
          <p:cNvPicPr>
            <a:picLocks noChangeAspect="1"/>
          </p:cNvPicPr>
          <p:nvPr/>
        </p:nvPicPr>
        <p:blipFill>
          <a:blip r:embed="rId2"/>
          <a:stretch>
            <a:fillRect/>
          </a:stretch>
        </p:blipFill>
        <p:spPr>
          <a:xfrm>
            <a:off x="5152223" y="2780433"/>
            <a:ext cx="6399391" cy="2668733"/>
          </a:xfrm>
          <a:prstGeom prst="rect">
            <a:avLst/>
          </a:prstGeom>
        </p:spPr>
      </p:pic>
      <p:sp>
        <p:nvSpPr>
          <p:cNvPr id="6"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7"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17</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4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4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4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4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ASOSIY QISMLAR: PROTSESSOR, RAM, XOTIRA</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Yadro protsessor ichidagi ishchi: yadro ko'p bo'lsa, ishlar bir vaqtda bajariladi</a:t>
            </a:r>
          </a:p>
        </p:txBody>
      </p:sp>
      <p:sp>
        <p:nvSpPr>
          <p:cNvPr id="4" name="Points"/>
          <p:cNvSpPr txBox="1"/>
          <p:nvPr/>
        </p:nvSpPr>
        <p:spPr>
          <a:xfrm>
            <a:off x="640080" y="2148840"/>
            <a:ext cx="4146383" cy="3931920"/>
          </a:xfrm>
          <a:prstGeom prst="rect">
            <a:avLst/>
          </a:prstGeom>
          <a:noFill/>
        </p:spPr>
        <p:txBody>
          <a:bodyPr wrap="square" anchor="t" lIns="45720" rIns="45720" tIns="27432" bIns="27432">
            <a:noAutofit/>
          </a:bodyPr>
          <a:lstStyle/>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1 kassa: uzun navbat. 4 kassa: navbat qisqa</a:t>
            </a:r>
          </a:p>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1 yadro bir vaqtda 1 ta ish bajaradi</a:t>
            </a:r>
          </a:p>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4 yadro bir vaqtda 4 ta ish bajaradi</a:t>
            </a:r>
          </a:p>
        </p:txBody>
      </p:sp>
      <p:pic>
        <p:nvPicPr>
          <p:cNvPr id="5" name="Figure img4" descr="Chapda bitta kassa va uzun navbat, o'ngda to'rtta kassa va qisqa navbatlar"/>
          <p:cNvPicPr>
            <a:picLocks noChangeAspect="1"/>
          </p:cNvPicPr>
          <p:nvPr/>
        </p:nvPicPr>
        <p:blipFill>
          <a:blip r:embed="rId2"/>
          <a:stretch>
            <a:fillRect/>
          </a:stretch>
        </p:blipFill>
        <p:spPr>
          <a:xfrm>
            <a:off x="5152223" y="3045045"/>
            <a:ext cx="6399391" cy="2139509"/>
          </a:xfrm>
          <a:prstGeom prst="rect">
            <a:avLst/>
          </a:prstGeom>
        </p:spPr>
      </p:pic>
      <p:sp>
        <p:nvSpPr>
          <p:cNvPr id="6"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7"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18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4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4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4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SAVOL · O'YLAB KO'RING</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A: 4 GHz, 2 yadro. B: 3 GHz, 8 yadro. Ko'p ishga qaysi biri yaxshi?</a:t>
            </a:r>
          </a:p>
        </p:txBody>
      </p:sp>
      <p:sp>
        <p:nvSpPr>
          <p:cNvPr id="4" name="Choice A"/>
          <p:cNvSpPr/>
          <p:nvPr/>
        </p:nvSpPr>
        <p:spPr>
          <a:xfrm>
            <a:off x="640080" y="2148840"/>
            <a:ext cx="5318607" cy="1188720"/>
          </a:xfrm>
          <a:prstGeom prst="roundRect">
            <a:avLst>
              <a:gd name="adj" fmla="val 8000"/>
            </a:avLst>
          </a:prstGeom>
          <a:solidFill>
            <a:srgbClr val="EEF2F7"/>
          </a:solidFill>
          <a:ln>
            <a:noFill/>
          </a:ln>
        </p:spPr>
        <p:txBody>
          <a:bodyPr rtlCol="0" anchor="ctr"/>
          <a:lstStyle/>
          <a:p>
            <a:pPr algn="ctr"/>
          </a:p>
        </p:txBody>
      </p:sp>
      <p:sp>
        <p:nvSpPr>
          <p:cNvPr id="5" name="TextBox 4"/>
          <p:cNvSpPr txBox="1"/>
          <p:nvPr/>
        </p:nvSpPr>
        <p:spPr>
          <a:xfrm>
            <a:off x="868680" y="214884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A</a:t>
            </a:r>
          </a:p>
        </p:txBody>
      </p:sp>
      <p:sp>
        <p:nvSpPr>
          <p:cNvPr id="6" name="TextBox 5"/>
          <p:cNvSpPr txBox="1"/>
          <p:nvPr/>
        </p:nvSpPr>
        <p:spPr>
          <a:xfrm>
            <a:off x="1508760" y="214884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A, chunki GHz katta</a:t>
            </a:r>
          </a:p>
        </p:txBody>
      </p:sp>
      <p:sp>
        <p:nvSpPr>
          <p:cNvPr id="7" name="Choice B"/>
          <p:cNvSpPr/>
          <p:nvPr/>
        </p:nvSpPr>
        <p:spPr>
          <a:xfrm>
            <a:off x="6233007" y="2148840"/>
            <a:ext cx="5318607" cy="1188720"/>
          </a:xfrm>
          <a:prstGeom prst="roundRect">
            <a:avLst>
              <a:gd name="adj" fmla="val 8000"/>
            </a:avLst>
          </a:prstGeom>
          <a:solidFill>
            <a:srgbClr val="EEF2F7"/>
          </a:solidFill>
          <a:ln>
            <a:noFill/>
          </a:ln>
        </p:spPr>
        <p:txBody>
          <a:bodyPr rtlCol="0" anchor="ctr"/>
          <a:lstStyle/>
          <a:p>
            <a:pPr algn="ctr"/>
          </a:p>
        </p:txBody>
      </p:sp>
      <p:sp>
        <p:nvSpPr>
          <p:cNvPr id="8" name="TextBox 7"/>
          <p:cNvSpPr txBox="1"/>
          <p:nvPr/>
        </p:nvSpPr>
        <p:spPr>
          <a:xfrm>
            <a:off x="6461607" y="214884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B</a:t>
            </a:r>
          </a:p>
        </p:txBody>
      </p:sp>
      <p:sp>
        <p:nvSpPr>
          <p:cNvPr id="9" name="TextBox 8"/>
          <p:cNvSpPr txBox="1"/>
          <p:nvPr/>
        </p:nvSpPr>
        <p:spPr>
          <a:xfrm>
            <a:off x="7101687" y="214884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B, chunki yadro ko'p</a:t>
            </a:r>
          </a:p>
        </p:txBody>
      </p:sp>
      <p:sp>
        <p:nvSpPr>
          <p:cNvPr id="10" name="Correct answer"/>
          <p:cNvSpPr/>
          <p:nvPr/>
        </p:nvSpPr>
        <p:spPr>
          <a:xfrm>
            <a:off x="6196431" y="2112264"/>
            <a:ext cx="5391759" cy="1261872"/>
          </a:xfrm>
          <a:prstGeom prst="roundRect">
            <a:avLst>
              <a:gd name="adj" fmla="val 8000"/>
            </a:avLst>
          </a:prstGeom>
          <a:solidFill>
            <a:srgbClr val="0052CC">
              <a:alpha val="18000"/>
            </a:srgbClr>
          </a:solidFill>
          <a:ln w="50800">
            <a:solidFill>
              <a:srgbClr val="0052CC"/>
            </a:solidFill>
          </a:ln>
        </p:spPr>
        <p:txBody>
          <a:bodyPr rtlCol="0" anchor="ctr"/>
          <a:lstStyle/>
          <a:p>
            <a:pPr algn="ctr"/>
          </a:p>
        </p:txBody>
      </p:sp>
      <p:sp>
        <p:nvSpPr>
          <p:cNvPr id="11" name="Choice C"/>
          <p:cNvSpPr/>
          <p:nvPr/>
        </p:nvSpPr>
        <p:spPr>
          <a:xfrm>
            <a:off x="640080" y="3611880"/>
            <a:ext cx="5318607" cy="1188720"/>
          </a:xfrm>
          <a:prstGeom prst="roundRect">
            <a:avLst>
              <a:gd name="adj" fmla="val 8000"/>
            </a:avLst>
          </a:prstGeom>
          <a:solidFill>
            <a:srgbClr val="EEF2F7"/>
          </a:solidFill>
          <a:ln>
            <a:noFill/>
          </a:ln>
        </p:spPr>
        <p:txBody>
          <a:bodyPr rtlCol="0" anchor="ctr"/>
          <a:lstStyle/>
          <a:p>
            <a:pPr algn="ctr"/>
          </a:p>
        </p:txBody>
      </p:sp>
      <p:sp>
        <p:nvSpPr>
          <p:cNvPr id="12" name="TextBox 11"/>
          <p:cNvSpPr txBox="1"/>
          <p:nvPr/>
        </p:nvSpPr>
        <p:spPr>
          <a:xfrm>
            <a:off x="868680" y="361188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C</a:t>
            </a:r>
          </a:p>
        </p:txBody>
      </p:sp>
      <p:sp>
        <p:nvSpPr>
          <p:cNvPr id="13" name="TextBox 12"/>
          <p:cNvSpPr txBox="1"/>
          <p:nvPr/>
        </p:nvSpPr>
        <p:spPr>
          <a:xfrm>
            <a:off x="1508760" y="361188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Ikkalasi bir xil</a:t>
            </a:r>
          </a:p>
        </p:txBody>
      </p:sp>
      <p:sp>
        <p:nvSpPr>
          <p:cNvPr id="14" name="Choice D"/>
          <p:cNvSpPr/>
          <p:nvPr/>
        </p:nvSpPr>
        <p:spPr>
          <a:xfrm>
            <a:off x="6233007" y="3611880"/>
            <a:ext cx="5318607" cy="1188720"/>
          </a:xfrm>
          <a:prstGeom prst="roundRect">
            <a:avLst>
              <a:gd name="adj" fmla="val 8000"/>
            </a:avLst>
          </a:prstGeom>
          <a:solidFill>
            <a:srgbClr val="EEF2F7"/>
          </a:solidFill>
          <a:ln>
            <a:noFill/>
          </a:ln>
        </p:spPr>
        <p:txBody>
          <a:bodyPr rtlCol="0" anchor="ctr"/>
          <a:lstStyle/>
          <a:p>
            <a:pPr algn="ctr"/>
          </a:p>
        </p:txBody>
      </p:sp>
      <p:sp>
        <p:nvSpPr>
          <p:cNvPr id="15" name="TextBox 14"/>
          <p:cNvSpPr txBox="1"/>
          <p:nvPr/>
        </p:nvSpPr>
        <p:spPr>
          <a:xfrm>
            <a:off x="6461607" y="361188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D</a:t>
            </a:r>
          </a:p>
        </p:txBody>
      </p:sp>
      <p:sp>
        <p:nvSpPr>
          <p:cNvPr id="16" name="TextBox 15"/>
          <p:cNvSpPr txBox="1"/>
          <p:nvPr/>
        </p:nvSpPr>
        <p:spPr>
          <a:xfrm>
            <a:off x="7101687" y="361188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Aytib bo'lmaydi</a:t>
            </a:r>
          </a:p>
        </p:txBody>
      </p:sp>
      <p:sp>
        <p:nvSpPr>
          <p:cNvPr id="17" name="Explanation"/>
          <p:cNvSpPr txBox="1"/>
          <p:nvPr/>
        </p:nvSpPr>
        <p:spPr>
          <a:xfrm>
            <a:off x="640080" y="5074920"/>
            <a:ext cx="10911535" cy="1005839"/>
          </a:xfrm>
          <a:prstGeom prst="rect">
            <a:avLst/>
          </a:prstGeom>
          <a:noFill/>
        </p:spPr>
        <p:txBody>
          <a:bodyPr wrap="square" anchor="t" lIns="0" rIns="0" tIns="0" bIns="0">
            <a:noAutofit/>
          </a:bodyPr>
          <a:lstStyle/>
          <a:p>
            <a:pPr algn="l">
              <a:lnSpc>
                <a:spcPct val="115000"/>
              </a:lnSpc>
              <a:spcBef>
                <a:spcPts val="0"/>
              </a:spcBef>
              <a:spcAft>
                <a:spcPts val="0"/>
              </a:spcAft>
            </a:pPr>
            <a:r>
              <a:rPr sz="2200" b="1" i="0">
                <a:solidFill>
                  <a:srgbClr val="111111"/>
                </a:solidFill>
                <a:latin typeface="Arial"/>
              </a:rPr>
              <a:t>Javob:</a:t>
            </a:r>
            <a:r>
              <a:rPr sz="2200" b="0" i="0">
                <a:solidFill>
                  <a:srgbClr val="111111"/>
                </a:solidFill>
                <a:latin typeface="Arial"/>
              </a:rPr>
              <a:t> Ko'p ishni bir vaqtda bajarish uchun yadro soni muhimroq.</a:t>
            </a:r>
          </a:p>
        </p:txBody>
      </p:sp>
      <p:sp>
        <p:nvSpPr>
          <p:cNvPr id="18"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19"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19</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7"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ASOSIY QISMLAR: PROTSESSOR, RAM, XOTIRA</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RAM ish stoli, xotira esa shkaf: biri tez, biri doimiy</a:t>
            </a:r>
          </a:p>
        </p:txBody>
      </p:sp>
      <p:sp>
        <p:nvSpPr>
          <p:cNvPr id="4" name="Points"/>
          <p:cNvSpPr txBox="1"/>
          <p:nvPr/>
        </p:nvSpPr>
        <p:spPr>
          <a:xfrm>
            <a:off x="640080" y="2148840"/>
            <a:ext cx="4146383" cy="3931920"/>
          </a:xfrm>
          <a:prstGeom prst="rect">
            <a:avLst/>
          </a:prstGeom>
          <a:noFill/>
        </p:spPr>
        <p:txBody>
          <a:bodyPr wrap="square" anchor="t" lIns="45720" rIns="45720" tIns="27432" bIns="27432">
            <a:noAutofit/>
          </a:bodyPr>
          <a:lstStyle/>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RAM (ish stoli): juda tez, hozirgi ishlar shu yerda</a:t>
            </a:r>
          </a:p>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RAM elektr o'chsa tozalanadi</a:t>
            </a:r>
          </a:p>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Xotira (shkaf): sekinroq, fayllar doimiy saqlanadi</a:t>
            </a:r>
          </a:p>
        </p:txBody>
      </p:sp>
      <p:pic>
        <p:nvPicPr>
          <p:cNvPr id="5" name="Figure img5" descr="Ish stoli va fayllar uchun shkaf"/>
          <p:cNvPicPr>
            <a:picLocks noChangeAspect="1"/>
          </p:cNvPicPr>
          <p:nvPr/>
        </p:nvPicPr>
        <p:blipFill>
          <a:blip r:embed="rId2"/>
          <a:stretch>
            <a:fillRect/>
          </a:stretch>
        </p:blipFill>
        <p:spPr>
          <a:xfrm>
            <a:off x="5152223" y="2234094"/>
            <a:ext cx="6399391" cy="3761411"/>
          </a:xfrm>
          <a:prstGeom prst="rect">
            <a:avLst/>
          </a:prstGeom>
        </p:spPr>
      </p:pic>
      <p:sp>
        <p:nvSpPr>
          <p:cNvPr id="6"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7"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20</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4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4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4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ASOSIY QISMLAR: PROTSESSOR, RAM, XOTIRA</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Dastur ochilganda xotiradan RAM'ga ko'chadi, protsessor RAM bilan ishlaydi</a:t>
            </a:r>
          </a:p>
        </p:txBody>
      </p:sp>
      <p:sp>
        <p:nvSpPr>
          <p:cNvPr id="4" name="Flow box 1"/>
          <p:cNvSpPr/>
          <p:nvPr/>
        </p:nvSpPr>
        <p:spPr>
          <a:xfrm>
            <a:off x="640080" y="3246120"/>
            <a:ext cx="2350693" cy="1280160"/>
          </a:xfrm>
          <a:prstGeom prst="roundRect">
            <a:avLst>
              <a:gd name="adj" fmla="val 12000"/>
            </a:avLst>
          </a:prstGeom>
          <a:solidFill>
            <a:srgbClr val="EEF2F7"/>
          </a:solidFill>
          <a:ln>
            <a:noFill/>
          </a:ln>
        </p:spPr>
        <p:txBody>
          <a:bodyPr rtlCol="0" anchor="ctr" wrap="square" lIns="73152" rIns="73152" tIns="36576" bIns="36576">
            <a:noAutofit/>
          </a:bodyPr>
          <a:lstStyle/>
          <a:p>
            <a:pPr algn="ctr">
              <a:lnSpc>
                <a:spcPct val="115000"/>
              </a:lnSpc>
              <a:spcBef>
                <a:spcPts val="0"/>
              </a:spcBef>
              <a:spcAft>
                <a:spcPts val="0"/>
              </a:spcAft>
            </a:pPr>
            <a:r>
              <a:rPr sz="2600" b="1" i="0">
                <a:solidFill>
                  <a:srgbClr val="111111"/>
                </a:solidFill>
                <a:latin typeface="Arial"/>
              </a:rPr>
              <a:t>SSD (xotira)</a:t>
            </a:r>
          </a:p>
        </p:txBody>
      </p:sp>
      <p:sp>
        <p:nvSpPr>
          <p:cNvPr id="5" name="Flow label 1"/>
          <p:cNvSpPr txBox="1"/>
          <p:nvPr/>
        </p:nvSpPr>
        <p:spPr>
          <a:xfrm>
            <a:off x="640080" y="4636008"/>
            <a:ext cx="2350693" cy="457200"/>
          </a:xfrm>
          <a:prstGeom prst="rect">
            <a:avLst/>
          </a:prstGeom>
          <a:noFill/>
        </p:spPr>
        <p:txBody>
          <a:bodyPr wrap="square" anchor="t" lIns="0" rIns="0" tIns="0" bIns="0">
            <a:noAutofit/>
          </a:bodyPr>
          <a:lstStyle/>
          <a:p>
            <a:pPr algn="ctr">
              <a:lnSpc>
                <a:spcPct val="115000"/>
              </a:lnSpc>
              <a:spcBef>
                <a:spcPts val="0"/>
              </a:spcBef>
              <a:spcAft>
                <a:spcPts val="0"/>
              </a:spcAft>
            </a:pPr>
            <a:r>
              <a:rPr sz="1800" b="0" i="0">
                <a:solidFill>
                  <a:srgbClr val="4B5563"/>
                </a:solidFill>
                <a:latin typeface="Arial"/>
              </a:rPr>
              <a:t>saqlanadi</a:t>
            </a:r>
          </a:p>
        </p:txBody>
      </p:sp>
      <p:sp>
        <p:nvSpPr>
          <p:cNvPr id="6" name="Arrow 1"/>
          <p:cNvSpPr/>
          <p:nvPr/>
        </p:nvSpPr>
        <p:spPr>
          <a:xfrm>
            <a:off x="3082213" y="3721608"/>
            <a:ext cx="320040" cy="329184"/>
          </a:xfrm>
          <a:prstGeom prst="rightArrow">
            <a:avLst/>
          </a:prstGeom>
          <a:solidFill>
            <a:srgbClr val="4B5563"/>
          </a:solidFill>
          <a:ln>
            <a:noFill/>
          </a:ln>
        </p:spPr>
        <p:txBody>
          <a:bodyPr rtlCol="0" anchor="ctr"/>
          <a:lstStyle/>
          <a:p>
            <a:pPr algn="ctr"/>
          </a:p>
        </p:txBody>
      </p:sp>
      <p:sp>
        <p:nvSpPr>
          <p:cNvPr id="7" name="Flow box 2"/>
          <p:cNvSpPr/>
          <p:nvPr/>
        </p:nvSpPr>
        <p:spPr>
          <a:xfrm>
            <a:off x="3493693" y="3246120"/>
            <a:ext cx="2350693" cy="1280160"/>
          </a:xfrm>
          <a:prstGeom prst="roundRect">
            <a:avLst>
              <a:gd name="adj" fmla="val 12000"/>
            </a:avLst>
          </a:prstGeom>
          <a:solidFill>
            <a:srgbClr val="EEF2F7"/>
          </a:solidFill>
          <a:ln>
            <a:noFill/>
          </a:ln>
        </p:spPr>
        <p:txBody>
          <a:bodyPr rtlCol="0" anchor="ctr" wrap="square" lIns="73152" rIns="73152" tIns="36576" bIns="36576">
            <a:noAutofit/>
          </a:bodyPr>
          <a:lstStyle/>
          <a:p>
            <a:pPr algn="ctr">
              <a:lnSpc>
                <a:spcPct val="115000"/>
              </a:lnSpc>
              <a:spcBef>
                <a:spcPts val="0"/>
              </a:spcBef>
              <a:spcAft>
                <a:spcPts val="0"/>
              </a:spcAft>
            </a:pPr>
            <a:r>
              <a:rPr sz="2600" b="1" i="0">
                <a:solidFill>
                  <a:srgbClr val="111111"/>
                </a:solidFill>
                <a:latin typeface="Arial"/>
              </a:rPr>
              <a:t>RAM</a:t>
            </a:r>
          </a:p>
        </p:txBody>
      </p:sp>
      <p:sp>
        <p:nvSpPr>
          <p:cNvPr id="8" name="Flow label 2"/>
          <p:cNvSpPr txBox="1"/>
          <p:nvPr/>
        </p:nvSpPr>
        <p:spPr>
          <a:xfrm>
            <a:off x="3493693" y="4636008"/>
            <a:ext cx="2350693" cy="457200"/>
          </a:xfrm>
          <a:prstGeom prst="rect">
            <a:avLst/>
          </a:prstGeom>
          <a:noFill/>
        </p:spPr>
        <p:txBody>
          <a:bodyPr wrap="square" anchor="t" lIns="0" rIns="0" tIns="0" bIns="0">
            <a:noAutofit/>
          </a:bodyPr>
          <a:lstStyle/>
          <a:p>
            <a:pPr algn="ctr">
              <a:lnSpc>
                <a:spcPct val="115000"/>
              </a:lnSpc>
              <a:spcBef>
                <a:spcPts val="0"/>
              </a:spcBef>
              <a:spcAft>
                <a:spcPts val="0"/>
              </a:spcAft>
            </a:pPr>
            <a:r>
              <a:rPr sz="1800" b="0" i="0">
                <a:solidFill>
                  <a:srgbClr val="4B5563"/>
                </a:solidFill>
                <a:latin typeface="Arial"/>
              </a:rPr>
              <a:t>yuklanadi</a:t>
            </a:r>
          </a:p>
        </p:txBody>
      </p:sp>
      <p:sp>
        <p:nvSpPr>
          <p:cNvPr id="9" name="Arrow 2"/>
          <p:cNvSpPr/>
          <p:nvPr/>
        </p:nvSpPr>
        <p:spPr>
          <a:xfrm>
            <a:off x="5935827" y="3721608"/>
            <a:ext cx="320040" cy="329184"/>
          </a:xfrm>
          <a:prstGeom prst="rightArrow">
            <a:avLst/>
          </a:prstGeom>
          <a:solidFill>
            <a:srgbClr val="4B5563"/>
          </a:solidFill>
          <a:ln>
            <a:noFill/>
          </a:ln>
        </p:spPr>
        <p:txBody>
          <a:bodyPr rtlCol="0" anchor="ctr"/>
          <a:lstStyle/>
          <a:p>
            <a:pPr algn="ctr"/>
          </a:p>
        </p:txBody>
      </p:sp>
      <p:sp>
        <p:nvSpPr>
          <p:cNvPr id="10" name="Flow box 3"/>
          <p:cNvSpPr/>
          <p:nvPr/>
        </p:nvSpPr>
        <p:spPr>
          <a:xfrm>
            <a:off x="6347307" y="3246120"/>
            <a:ext cx="2350693" cy="1280160"/>
          </a:xfrm>
          <a:prstGeom prst="roundRect">
            <a:avLst>
              <a:gd name="adj" fmla="val 12000"/>
            </a:avLst>
          </a:prstGeom>
          <a:solidFill>
            <a:srgbClr val="EEF2F7"/>
          </a:solidFill>
          <a:ln>
            <a:noFill/>
          </a:ln>
        </p:spPr>
        <p:txBody>
          <a:bodyPr rtlCol="0" anchor="ctr" wrap="square" lIns="73152" rIns="73152" tIns="36576" bIns="36576">
            <a:noAutofit/>
          </a:bodyPr>
          <a:lstStyle/>
          <a:p>
            <a:pPr algn="ctr">
              <a:lnSpc>
                <a:spcPct val="115000"/>
              </a:lnSpc>
              <a:spcBef>
                <a:spcPts val="0"/>
              </a:spcBef>
              <a:spcAft>
                <a:spcPts val="0"/>
              </a:spcAft>
            </a:pPr>
            <a:r>
              <a:rPr sz="2600" b="1" i="0">
                <a:solidFill>
                  <a:srgbClr val="111111"/>
                </a:solidFill>
                <a:latin typeface="Arial"/>
              </a:rPr>
              <a:t>CPU</a:t>
            </a:r>
          </a:p>
        </p:txBody>
      </p:sp>
      <p:sp>
        <p:nvSpPr>
          <p:cNvPr id="11" name="Flow label 3"/>
          <p:cNvSpPr txBox="1"/>
          <p:nvPr/>
        </p:nvSpPr>
        <p:spPr>
          <a:xfrm>
            <a:off x="6347307" y="4636008"/>
            <a:ext cx="2350693" cy="457200"/>
          </a:xfrm>
          <a:prstGeom prst="rect">
            <a:avLst/>
          </a:prstGeom>
          <a:noFill/>
        </p:spPr>
        <p:txBody>
          <a:bodyPr wrap="square" anchor="t" lIns="0" rIns="0" tIns="0" bIns="0">
            <a:noAutofit/>
          </a:bodyPr>
          <a:lstStyle/>
          <a:p>
            <a:pPr algn="ctr">
              <a:lnSpc>
                <a:spcPct val="115000"/>
              </a:lnSpc>
              <a:spcBef>
                <a:spcPts val="0"/>
              </a:spcBef>
              <a:spcAft>
                <a:spcPts val="0"/>
              </a:spcAft>
            </a:pPr>
            <a:r>
              <a:rPr sz="1800" b="0" i="0">
                <a:solidFill>
                  <a:srgbClr val="4B5563"/>
                </a:solidFill>
                <a:latin typeface="Arial"/>
              </a:rPr>
              <a:t>hisoblaydi</a:t>
            </a:r>
          </a:p>
        </p:txBody>
      </p:sp>
      <p:sp>
        <p:nvSpPr>
          <p:cNvPr id="12" name="Arrow 3"/>
          <p:cNvSpPr/>
          <p:nvPr/>
        </p:nvSpPr>
        <p:spPr>
          <a:xfrm>
            <a:off x="8789441" y="3721608"/>
            <a:ext cx="320040" cy="329184"/>
          </a:xfrm>
          <a:prstGeom prst="rightArrow">
            <a:avLst/>
          </a:prstGeom>
          <a:solidFill>
            <a:srgbClr val="4B5563"/>
          </a:solidFill>
          <a:ln>
            <a:noFill/>
          </a:ln>
        </p:spPr>
        <p:txBody>
          <a:bodyPr rtlCol="0" anchor="ctr"/>
          <a:lstStyle/>
          <a:p>
            <a:pPr algn="ctr"/>
          </a:p>
        </p:txBody>
      </p:sp>
      <p:sp>
        <p:nvSpPr>
          <p:cNvPr id="13" name="Flow box 4"/>
          <p:cNvSpPr/>
          <p:nvPr/>
        </p:nvSpPr>
        <p:spPr>
          <a:xfrm>
            <a:off x="9200921" y="3246120"/>
            <a:ext cx="2350693" cy="1280160"/>
          </a:xfrm>
          <a:prstGeom prst="roundRect">
            <a:avLst>
              <a:gd name="adj" fmla="val 12000"/>
            </a:avLst>
          </a:prstGeom>
          <a:solidFill>
            <a:srgbClr val="0052CC"/>
          </a:solidFill>
          <a:ln>
            <a:noFill/>
          </a:ln>
        </p:spPr>
        <p:txBody>
          <a:bodyPr rtlCol="0" anchor="ctr" wrap="square" lIns="73152" rIns="73152" tIns="36576" bIns="36576">
            <a:noAutofit/>
          </a:bodyPr>
          <a:lstStyle/>
          <a:p>
            <a:pPr algn="ctr">
              <a:lnSpc>
                <a:spcPct val="115000"/>
              </a:lnSpc>
              <a:spcBef>
                <a:spcPts val="0"/>
              </a:spcBef>
              <a:spcAft>
                <a:spcPts val="0"/>
              </a:spcAft>
            </a:pPr>
            <a:r>
              <a:rPr sz="2600" b="1" i="0">
                <a:solidFill>
                  <a:srgbClr val="FFFFFF"/>
                </a:solidFill>
                <a:latin typeface="Arial"/>
              </a:rPr>
              <a:t>Ekran</a:t>
            </a:r>
          </a:p>
        </p:txBody>
      </p:sp>
      <p:sp>
        <p:nvSpPr>
          <p:cNvPr id="14" name="Flow label 4"/>
          <p:cNvSpPr txBox="1"/>
          <p:nvPr/>
        </p:nvSpPr>
        <p:spPr>
          <a:xfrm>
            <a:off x="9200921" y="4636008"/>
            <a:ext cx="2350693" cy="457200"/>
          </a:xfrm>
          <a:prstGeom prst="rect">
            <a:avLst/>
          </a:prstGeom>
          <a:noFill/>
        </p:spPr>
        <p:txBody>
          <a:bodyPr wrap="square" anchor="t" lIns="0" rIns="0" tIns="0" bIns="0">
            <a:noAutofit/>
          </a:bodyPr>
          <a:lstStyle/>
          <a:p>
            <a:pPr algn="ctr">
              <a:lnSpc>
                <a:spcPct val="115000"/>
              </a:lnSpc>
              <a:spcBef>
                <a:spcPts val="0"/>
              </a:spcBef>
              <a:spcAft>
                <a:spcPts val="0"/>
              </a:spcAft>
            </a:pPr>
            <a:r>
              <a:rPr sz="1800" b="0" i="0">
                <a:solidFill>
                  <a:srgbClr val="4B5563"/>
                </a:solidFill>
                <a:latin typeface="Arial"/>
              </a:rPr>
              <a:t>ko'rsatadi</a:t>
            </a:r>
          </a:p>
        </p:txBody>
      </p:sp>
      <p:sp>
        <p:nvSpPr>
          <p:cNvPr id="15"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16"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21</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0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400"/>
                                        <p:tgtEl>
                                          <p:spTgt spid="1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4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SAVOL · O'YLAB KO'RING</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Hujjat saqlanmagan holda kompyuterning elektri o'chdi. Nima yo'qoladi?</a:t>
            </a:r>
          </a:p>
        </p:txBody>
      </p:sp>
      <p:sp>
        <p:nvSpPr>
          <p:cNvPr id="4" name="Choice A"/>
          <p:cNvSpPr/>
          <p:nvPr/>
        </p:nvSpPr>
        <p:spPr>
          <a:xfrm>
            <a:off x="640080" y="2148840"/>
            <a:ext cx="5318607" cy="1188720"/>
          </a:xfrm>
          <a:prstGeom prst="roundRect">
            <a:avLst>
              <a:gd name="adj" fmla="val 8000"/>
            </a:avLst>
          </a:prstGeom>
          <a:solidFill>
            <a:srgbClr val="EEF2F7"/>
          </a:solidFill>
          <a:ln>
            <a:noFill/>
          </a:ln>
        </p:spPr>
        <p:txBody>
          <a:bodyPr rtlCol="0" anchor="ctr"/>
          <a:lstStyle/>
          <a:p>
            <a:pPr algn="ctr"/>
          </a:p>
        </p:txBody>
      </p:sp>
      <p:sp>
        <p:nvSpPr>
          <p:cNvPr id="5" name="TextBox 4"/>
          <p:cNvSpPr txBox="1"/>
          <p:nvPr/>
        </p:nvSpPr>
        <p:spPr>
          <a:xfrm>
            <a:off x="868680" y="214884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A</a:t>
            </a:r>
          </a:p>
        </p:txBody>
      </p:sp>
      <p:sp>
        <p:nvSpPr>
          <p:cNvPr id="6" name="TextBox 5"/>
          <p:cNvSpPr txBox="1"/>
          <p:nvPr/>
        </p:nvSpPr>
        <p:spPr>
          <a:xfrm>
            <a:off x="1508760" y="214884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Butun SSD tozalanadi</a:t>
            </a:r>
          </a:p>
        </p:txBody>
      </p:sp>
      <p:sp>
        <p:nvSpPr>
          <p:cNvPr id="7" name="Choice B"/>
          <p:cNvSpPr/>
          <p:nvPr/>
        </p:nvSpPr>
        <p:spPr>
          <a:xfrm>
            <a:off x="6233007" y="2148840"/>
            <a:ext cx="5318607" cy="1188720"/>
          </a:xfrm>
          <a:prstGeom prst="roundRect">
            <a:avLst>
              <a:gd name="adj" fmla="val 8000"/>
            </a:avLst>
          </a:prstGeom>
          <a:solidFill>
            <a:srgbClr val="EEF2F7"/>
          </a:solidFill>
          <a:ln>
            <a:noFill/>
          </a:ln>
        </p:spPr>
        <p:txBody>
          <a:bodyPr rtlCol="0" anchor="ctr"/>
          <a:lstStyle/>
          <a:p>
            <a:pPr algn="ctr"/>
          </a:p>
        </p:txBody>
      </p:sp>
      <p:sp>
        <p:nvSpPr>
          <p:cNvPr id="8" name="TextBox 7"/>
          <p:cNvSpPr txBox="1"/>
          <p:nvPr/>
        </p:nvSpPr>
        <p:spPr>
          <a:xfrm>
            <a:off x="6461607" y="214884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B</a:t>
            </a:r>
          </a:p>
        </p:txBody>
      </p:sp>
      <p:sp>
        <p:nvSpPr>
          <p:cNvPr id="9" name="TextBox 8"/>
          <p:cNvSpPr txBox="1"/>
          <p:nvPr/>
        </p:nvSpPr>
        <p:spPr>
          <a:xfrm>
            <a:off x="7101687" y="214884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RAM'dagi saqlanmagan ish yo'qoladi</a:t>
            </a:r>
          </a:p>
        </p:txBody>
      </p:sp>
      <p:sp>
        <p:nvSpPr>
          <p:cNvPr id="10" name="Correct answer"/>
          <p:cNvSpPr/>
          <p:nvPr/>
        </p:nvSpPr>
        <p:spPr>
          <a:xfrm>
            <a:off x="6196431" y="2112264"/>
            <a:ext cx="5391759" cy="1261872"/>
          </a:xfrm>
          <a:prstGeom prst="roundRect">
            <a:avLst>
              <a:gd name="adj" fmla="val 8000"/>
            </a:avLst>
          </a:prstGeom>
          <a:solidFill>
            <a:srgbClr val="0052CC">
              <a:alpha val="18000"/>
            </a:srgbClr>
          </a:solidFill>
          <a:ln w="50800">
            <a:solidFill>
              <a:srgbClr val="0052CC"/>
            </a:solidFill>
          </a:ln>
        </p:spPr>
        <p:txBody>
          <a:bodyPr rtlCol="0" anchor="ctr"/>
          <a:lstStyle/>
          <a:p>
            <a:pPr algn="ctr"/>
          </a:p>
        </p:txBody>
      </p:sp>
      <p:sp>
        <p:nvSpPr>
          <p:cNvPr id="11" name="Choice C"/>
          <p:cNvSpPr/>
          <p:nvPr/>
        </p:nvSpPr>
        <p:spPr>
          <a:xfrm>
            <a:off x="640080" y="3611880"/>
            <a:ext cx="5318607" cy="1188720"/>
          </a:xfrm>
          <a:prstGeom prst="roundRect">
            <a:avLst>
              <a:gd name="adj" fmla="val 8000"/>
            </a:avLst>
          </a:prstGeom>
          <a:solidFill>
            <a:srgbClr val="EEF2F7"/>
          </a:solidFill>
          <a:ln>
            <a:noFill/>
          </a:ln>
        </p:spPr>
        <p:txBody>
          <a:bodyPr rtlCol="0" anchor="ctr"/>
          <a:lstStyle/>
          <a:p>
            <a:pPr algn="ctr"/>
          </a:p>
        </p:txBody>
      </p:sp>
      <p:sp>
        <p:nvSpPr>
          <p:cNvPr id="12" name="TextBox 11"/>
          <p:cNvSpPr txBox="1"/>
          <p:nvPr/>
        </p:nvSpPr>
        <p:spPr>
          <a:xfrm>
            <a:off x="868680" y="361188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C</a:t>
            </a:r>
          </a:p>
        </p:txBody>
      </p:sp>
      <p:sp>
        <p:nvSpPr>
          <p:cNvPr id="13" name="TextBox 12"/>
          <p:cNvSpPr txBox="1"/>
          <p:nvPr/>
        </p:nvSpPr>
        <p:spPr>
          <a:xfrm>
            <a:off x="1508760" y="361188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Protsessor buziladi</a:t>
            </a:r>
          </a:p>
        </p:txBody>
      </p:sp>
      <p:sp>
        <p:nvSpPr>
          <p:cNvPr id="14" name="Choice D"/>
          <p:cNvSpPr/>
          <p:nvPr/>
        </p:nvSpPr>
        <p:spPr>
          <a:xfrm>
            <a:off x="6233007" y="3611880"/>
            <a:ext cx="5318607" cy="1188720"/>
          </a:xfrm>
          <a:prstGeom prst="roundRect">
            <a:avLst>
              <a:gd name="adj" fmla="val 8000"/>
            </a:avLst>
          </a:prstGeom>
          <a:solidFill>
            <a:srgbClr val="EEF2F7"/>
          </a:solidFill>
          <a:ln>
            <a:noFill/>
          </a:ln>
        </p:spPr>
        <p:txBody>
          <a:bodyPr rtlCol="0" anchor="ctr"/>
          <a:lstStyle/>
          <a:p>
            <a:pPr algn="ctr"/>
          </a:p>
        </p:txBody>
      </p:sp>
      <p:sp>
        <p:nvSpPr>
          <p:cNvPr id="15" name="TextBox 14"/>
          <p:cNvSpPr txBox="1"/>
          <p:nvPr/>
        </p:nvSpPr>
        <p:spPr>
          <a:xfrm>
            <a:off x="6461607" y="3611880"/>
            <a:ext cx="640080" cy="1188720"/>
          </a:xfrm>
          <a:prstGeom prst="rect">
            <a:avLst/>
          </a:prstGeom>
          <a:noFill/>
        </p:spPr>
        <p:txBody>
          <a:bodyPr wrap="square" anchor="ctr" lIns="0" rIns="0" tIns="0" bIns="0">
            <a:noAutofit/>
          </a:bodyPr>
          <a:lstStyle/>
          <a:p>
            <a:pPr algn="l">
              <a:lnSpc>
                <a:spcPct val="115000"/>
              </a:lnSpc>
              <a:spcBef>
                <a:spcPts val="0"/>
              </a:spcBef>
              <a:spcAft>
                <a:spcPts val="0"/>
              </a:spcAft>
            </a:pPr>
            <a:r>
              <a:rPr sz="3000" b="1" i="0">
                <a:solidFill>
                  <a:srgbClr val="0052CC"/>
                </a:solidFill>
                <a:latin typeface="Courier New"/>
              </a:rPr>
              <a:t>D</a:t>
            </a:r>
          </a:p>
        </p:txBody>
      </p:sp>
      <p:sp>
        <p:nvSpPr>
          <p:cNvPr id="16" name="TextBox 15"/>
          <p:cNvSpPr txBox="1"/>
          <p:nvPr/>
        </p:nvSpPr>
        <p:spPr>
          <a:xfrm>
            <a:off x="7101687" y="3611880"/>
            <a:ext cx="4267047" cy="1188720"/>
          </a:xfrm>
          <a:prstGeom prst="rect">
            <a:avLst/>
          </a:prstGeom>
          <a:noFill/>
        </p:spPr>
        <p:txBody>
          <a:bodyPr wrap="square" anchor="ctr" lIns="0" rIns="0" tIns="0" bIns="0">
            <a:noAutofit/>
          </a:bodyPr>
          <a:lstStyle/>
          <a:p>
            <a:pPr algn="l">
              <a:lnSpc>
                <a:spcPct val="115000"/>
              </a:lnSpc>
              <a:spcBef>
                <a:spcPts val="0"/>
              </a:spcBef>
              <a:spcAft>
                <a:spcPts val="0"/>
              </a:spcAft>
            </a:pPr>
            <a:r>
              <a:rPr sz="2400" b="0" i="0">
                <a:solidFill>
                  <a:srgbClr val="111111"/>
                </a:solidFill>
                <a:latin typeface="Arial"/>
              </a:rPr>
              <a:t>Hech narsa yo'qolmaydi</a:t>
            </a:r>
          </a:p>
        </p:txBody>
      </p:sp>
      <p:sp>
        <p:nvSpPr>
          <p:cNvPr id="17" name="Explanation"/>
          <p:cNvSpPr txBox="1"/>
          <p:nvPr/>
        </p:nvSpPr>
        <p:spPr>
          <a:xfrm>
            <a:off x="640080" y="5074920"/>
            <a:ext cx="10911535" cy="1005839"/>
          </a:xfrm>
          <a:prstGeom prst="rect">
            <a:avLst/>
          </a:prstGeom>
          <a:noFill/>
        </p:spPr>
        <p:txBody>
          <a:bodyPr wrap="square" anchor="t" lIns="0" rIns="0" tIns="0" bIns="0">
            <a:noAutofit/>
          </a:bodyPr>
          <a:lstStyle/>
          <a:p>
            <a:pPr algn="l">
              <a:lnSpc>
                <a:spcPct val="115000"/>
              </a:lnSpc>
              <a:spcBef>
                <a:spcPts val="0"/>
              </a:spcBef>
              <a:spcAft>
                <a:spcPts val="0"/>
              </a:spcAft>
            </a:pPr>
            <a:r>
              <a:rPr sz="2200" b="1" i="0">
                <a:solidFill>
                  <a:srgbClr val="111111"/>
                </a:solidFill>
                <a:latin typeface="Arial"/>
              </a:rPr>
              <a:t>Javob:</a:t>
            </a:r>
            <a:r>
              <a:rPr sz="2200" b="0" i="0">
                <a:solidFill>
                  <a:srgbClr val="111111"/>
                </a:solidFill>
                <a:latin typeface="Arial"/>
              </a:rPr>
              <a:t> RAM vaqtinchalik xotira: elektr o'chsa, ichidagi saqlanmagan ish yo'qoladi.</a:t>
            </a:r>
          </a:p>
        </p:txBody>
      </p:sp>
      <p:sp>
        <p:nvSpPr>
          <p:cNvPr id="18"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19"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7"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ASOSIY QISMLAR: PROTSESSOR, RAM, XOTIRA</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SSD odatda HDD'dan tezroq</a:t>
            </a:r>
          </a:p>
        </p:txBody>
      </p:sp>
      <p:sp>
        <p:nvSpPr>
          <p:cNvPr id="4" name="Term 1"/>
          <p:cNvSpPr txBox="1"/>
          <p:nvPr/>
        </p:nvSpPr>
        <p:spPr>
          <a:xfrm>
            <a:off x="640080" y="2148840"/>
            <a:ext cx="3840480"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SSD</a:t>
            </a:r>
          </a:p>
        </p:txBody>
      </p:sp>
      <p:sp>
        <p:nvSpPr>
          <p:cNvPr id="5" name="Meaning 1"/>
          <p:cNvSpPr txBox="1"/>
          <p:nvPr/>
        </p:nvSpPr>
        <p:spPr>
          <a:xfrm>
            <a:off x="4754880" y="2167128"/>
            <a:ext cx="6796735"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zamonaviy xotira turi; tez ishlaydi</a:t>
            </a:r>
          </a:p>
        </p:txBody>
      </p:sp>
      <p:sp>
        <p:nvSpPr>
          <p:cNvPr id="6" name="Term 2"/>
          <p:cNvSpPr txBox="1"/>
          <p:nvPr/>
        </p:nvSpPr>
        <p:spPr>
          <a:xfrm>
            <a:off x="640080" y="3017520"/>
            <a:ext cx="3840480"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HDD</a:t>
            </a:r>
          </a:p>
        </p:txBody>
      </p:sp>
      <p:sp>
        <p:nvSpPr>
          <p:cNvPr id="7" name="Meaning 2"/>
          <p:cNvSpPr txBox="1"/>
          <p:nvPr/>
        </p:nvSpPr>
        <p:spPr>
          <a:xfrm>
            <a:off x="4754880" y="3035808"/>
            <a:ext cx="6796735"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eskiroq xotira turi; odatda sekinroq</a:t>
            </a:r>
          </a:p>
        </p:txBody>
      </p:sp>
      <p:sp>
        <p:nvSpPr>
          <p:cNvPr id="8"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9"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ASOSIY QISMLAR: PROTSESSOR, RAM, XOTIRA</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GPU rasm va video uchun alohida protsessor (qo'shimcha)</a:t>
            </a:r>
          </a:p>
        </p:txBody>
      </p:sp>
      <p:sp>
        <p:nvSpPr>
          <p:cNvPr id="4" name="Term 1"/>
          <p:cNvSpPr txBox="1"/>
          <p:nvPr/>
        </p:nvSpPr>
        <p:spPr>
          <a:xfrm>
            <a:off x="640080" y="2148840"/>
            <a:ext cx="3840480"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GPU</a:t>
            </a:r>
          </a:p>
        </p:txBody>
      </p:sp>
      <p:sp>
        <p:nvSpPr>
          <p:cNvPr id="5" name="Meaning 1"/>
          <p:cNvSpPr txBox="1"/>
          <p:nvPr/>
        </p:nvSpPr>
        <p:spPr>
          <a:xfrm>
            <a:off x="4754880" y="2167128"/>
            <a:ext cx="6796735"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grafik protsessor; tasvir, o'yin va video bilan ishlaydi</a:t>
            </a:r>
          </a:p>
        </p:txBody>
      </p:sp>
      <p:sp>
        <p:nvSpPr>
          <p:cNvPr id="6" name="Term 2"/>
          <p:cNvSpPr txBox="1"/>
          <p:nvPr/>
        </p:nvSpPr>
        <p:spPr>
          <a:xfrm>
            <a:off x="640080" y="3017520"/>
            <a:ext cx="3840480"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Integrated</a:t>
            </a:r>
          </a:p>
        </p:txBody>
      </p:sp>
      <p:sp>
        <p:nvSpPr>
          <p:cNvPr id="7" name="Meaning 2"/>
          <p:cNvSpPr txBox="1"/>
          <p:nvPr/>
        </p:nvSpPr>
        <p:spPr>
          <a:xfrm>
            <a:off x="4754880" y="3035808"/>
            <a:ext cx="6796735"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protsessor ichida; oddiy ishga yetadi</a:t>
            </a:r>
          </a:p>
        </p:txBody>
      </p:sp>
      <p:sp>
        <p:nvSpPr>
          <p:cNvPr id="8" name="Term 3"/>
          <p:cNvSpPr txBox="1"/>
          <p:nvPr/>
        </p:nvSpPr>
        <p:spPr>
          <a:xfrm>
            <a:off x="640080" y="3886200"/>
            <a:ext cx="3840480"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0052CC"/>
                </a:solidFill>
                <a:latin typeface="Courier New"/>
              </a:rPr>
              <a:t>Dedicated</a:t>
            </a:r>
          </a:p>
        </p:txBody>
      </p:sp>
      <p:sp>
        <p:nvSpPr>
          <p:cNvPr id="9" name="Meaning 3"/>
          <p:cNvSpPr txBox="1"/>
          <p:nvPr/>
        </p:nvSpPr>
        <p:spPr>
          <a:xfrm>
            <a:off x="4754880" y="3904487"/>
            <a:ext cx="6796735" cy="868680"/>
          </a:xfrm>
          <a:prstGeom prst="rect">
            <a:avLst/>
          </a:prstGeom>
          <a:noFill/>
        </p:spPr>
        <p:txBody>
          <a:bodyPr wrap="square" anchor="t" lIns="0" rIns="0" tIns="0" bIns="0">
            <a:noAutofit/>
          </a:bodyPr>
          <a:lstStyle/>
          <a:p>
            <a:pPr algn="l">
              <a:lnSpc>
                <a:spcPct val="115000"/>
              </a:lnSpc>
              <a:spcBef>
                <a:spcPts val="0"/>
              </a:spcBef>
              <a:spcAft>
                <a:spcPts val="0"/>
              </a:spcAft>
            </a:pPr>
            <a:r>
              <a:rPr sz="2400" b="0" i="0">
                <a:solidFill>
                  <a:srgbClr val="111111"/>
                </a:solidFill>
                <a:latin typeface="Arial"/>
              </a:rPr>
              <a:t>alohida karta; o'yin va video montaj uchun</a:t>
            </a:r>
          </a:p>
        </p:txBody>
      </p:sp>
      <p:sp>
        <p:nvSpPr>
          <p:cNvPr id="10"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11"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24</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Section number"/>
          <p:cNvSpPr txBox="1"/>
          <p:nvPr/>
        </p:nvSpPr>
        <p:spPr>
          <a:xfrm>
            <a:off x="640080" y="1828800"/>
            <a:ext cx="2743200" cy="1188720"/>
          </a:xfrm>
          <a:prstGeom prst="rect">
            <a:avLst/>
          </a:prstGeom>
          <a:noFill/>
        </p:spPr>
        <p:txBody>
          <a:bodyPr wrap="square" anchor="t" lIns="0" rIns="0" tIns="0" bIns="0">
            <a:noAutofit/>
          </a:bodyPr>
          <a:lstStyle/>
          <a:p>
            <a:pPr algn="l">
              <a:lnSpc>
                <a:spcPct val="115000"/>
              </a:lnSpc>
              <a:spcBef>
                <a:spcPts val="0"/>
              </a:spcBef>
              <a:spcAft>
                <a:spcPts val="0"/>
              </a:spcAft>
            </a:pPr>
            <a:r>
              <a:rPr sz="8000" b="1" i="0">
                <a:solidFill>
                  <a:srgbClr val="FFC20E"/>
                </a:solidFill>
                <a:latin typeface="Courier New"/>
              </a:rPr>
              <a:t>03</a:t>
            </a:r>
          </a:p>
        </p:txBody>
      </p:sp>
      <p:sp>
        <p:nvSpPr>
          <p:cNvPr id="3" name="Section title"/>
          <p:cNvSpPr txBox="1"/>
          <p:nvPr/>
        </p:nvSpPr>
        <p:spPr>
          <a:xfrm>
            <a:off x="640080" y="3154680"/>
            <a:ext cx="10911535" cy="1737360"/>
          </a:xfrm>
          <a:prstGeom prst="rect">
            <a:avLst/>
          </a:prstGeom>
          <a:noFill/>
        </p:spPr>
        <p:txBody>
          <a:bodyPr wrap="square" anchor="t" lIns="0" rIns="0" tIns="0" bIns="0">
            <a:noAutofit/>
          </a:bodyPr>
          <a:lstStyle/>
          <a:p>
            <a:pPr algn="l">
              <a:lnSpc>
                <a:spcPct val="100000"/>
              </a:lnSpc>
              <a:spcBef>
                <a:spcPts val="0"/>
              </a:spcBef>
              <a:spcAft>
                <a:spcPts val="0"/>
              </a:spcAft>
            </a:pPr>
            <a:r>
              <a:rPr sz="4800" b="1" i="0">
                <a:solidFill>
                  <a:srgbClr val="FFFFFF"/>
                </a:solidFill>
                <a:latin typeface="Arial"/>
              </a:rPr>
              <a:t>Xususiyatlarni o'qish va taqqoslash</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XUSUSIYATLARNI O'QISH VA TAQQOSLASH</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Texnik xususiyatlar to'rtta o'lchamda yoziladi</a:t>
            </a:r>
          </a:p>
        </p:txBody>
      </p:sp>
      <p:sp>
        <p:nvSpPr>
          <p:cNvPr id="4" name="Points"/>
          <p:cNvSpPr txBox="1"/>
          <p:nvPr/>
        </p:nvSpPr>
        <p:spPr>
          <a:xfrm>
            <a:off x="640080" y="2148840"/>
            <a:ext cx="4146383" cy="3931920"/>
          </a:xfrm>
          <a:prstGeom prst="rect">
            <a:avLst/>
          </a:prstGeom>
          <a:noFill/>
        </p:spPr>
        <p:txBody>
          <a:bodyPr wrap="square" anchor="t" lIns="45720" rIns="45720" tIns="27432" bIns="27432">
            <a:noAutofit/>
          </a:bodyPr>
          <a:lstStyle/>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1 TB = 1024 GB</a:t>
            </a:r>
          </a:p>
        </p:txBody>
      </p:sp>
      <p:graphicFrame>
        <p:nvGraphicFramePr>
          <p:cNvPr id="5" name="Table"/>
          <p:cNvGraphicFramePr>
            <a:graphicFrameLocks noGrp="1"/>
          </p:cNvGraphicFramePr>
          <p:nvPr/>
        </p:nvGraphicFramePr>
        <p:xfrm>
          <a:off x="5152223" y="2148840"/>
          <a:ext cx="6399391" cy="3200400"/>
        </p:xfrm>
        <a:graphic>
          <a:graphicData uri="http://schemas.openxmlformats.org/drawingml/2006/table">
            <a:tbl>
              <a:tblPr firstRow="1" bandRow="1">
                <a:tableStyleId>{5C22544A-7EE6-4342-B048-85BDC9FD1C3A}</a:tableStyleId>
              </a:tblPr>
              <a:tblGrid>
                <a:gridCol w="2133130"/>
                <a:gridCol w="2133130"/>
                <a:gridCol w="2133131"/>
              </a:tblGrid>
              <a:tr h="640080">
                <a:tc>
                  <a:txBody>
                    <a:bodyPr wrap="square" anchor="t" lIns="109728" rIns="109728" tIns="27432" bIns="27432">
                      <a:noAutofit/>
                    </a:bodyPr>
                    <a:lstStyle/>
                    <a:p>
                      <a:pPr algn="l">
                        <a:lnSpc>
                          <a:spcPct val="115000"/>
                        </a:lnSpc>
                        <a:spcBef>
                          <a:spcPts val="0"/>
                        </a:spcBef>
                        <a:spcAft>
                          <a:spcPts val="0"/>
                        </a:spcAft>
                      </a:pPr>
                      <a:r>
                        <a:rPr sz="2200" b="1" i="0">
                          <a:solidFill>
                            <a:srgbClr val="FFFFFF"/>
                          </a:solidFill>
                          <a:latin typeface="Arial"/>
                        </a:rPr>
                        <a:t>Xususiyat</a:t>
                      </a:r>
                    </a:p>
                  </a:txBody>
                  <a:tcPr anchor="ctr">
                    <a:solidFill>
                      <a:srgbClr val="0052CC"/>
                    </a:solidFill>
                  </a:tcPr>
                </a:tc>
                <a:tc>
                  <a:txBody>
                    <a:bodyPr wrap="square" anchor="t" lIns="109728" rIns="109728" tIns="27432" bIns="27432">
                      <a:noAutofit/>
                    </a:bodyPr>
                    <a:lstStyle/>
                    <a:p>
                      <a:pPr algn="l">
                        <a:lnSpc>
                          <a:spcPct val="115000"/>
                        </a:lnSpc>
                        <a:spcBef>
                          <a:spcPts val="0"/>
                        </a:spcBef>
                        <a:spcAft>
                          <a:spcPts val="0"/>
                        </a:spcAft>
                      </a:pPr>
                      <a:r>
                        <a:rPr sz="2200" b="1" i="0">
                          <a:solidFill>
                            <a:srgbClr val="FFFFFF"/>
                          </a:solidFill>
                          <a:latin typeface="Arial"/>
                        </a:rPr>
                        <a:t>Birlik</a:t>
                      </a:r>
                    </a:p>
                  </a:txBody>
                  <a:tcPr anchor="ctr">
                    <a:solidFill>
                      <a:srgbClr val="0052CC"/>
                    </a:solidFill>
                  </a:tcPr>
                </a:tc>
                <a:tc>
                  <a:txBody>
                    <a:bodyPr wrap="square" anchor="t" lIns="109728" rIns="109728" tIns="27432" bIns="27432">
                      <a:noAutofit/>
                    </a:bodyPr>
                    <a:lstStyle/>
                    <a:p>
                      <a:pPr algn="l">
                        <a:lnSpc>
                          <a:spcPct val="115000"/>
                        </a:lnSpc>
                        <a:spcBef>
                          <a:spcPts val="0"/>
                        </a:spcBef>
                        <a:spcAft>
                          <a:spcPts val="0"/>
                        </a:spcAft>
                      </a:pPr>
                      <a:r>
                        <a:rPr sz="2200" b="1" i="0">
                          <a:solidFill>
                            <a:srgbClr val="FFFFFF"/>
                          </a:solidFill>
                          <a:latin typeface="Arial"/>
                        </a:rPr>
                        <a:t>Misol</a:t>
                      </a:r>
                    </a:p>
                  </a:txBody>
                  <a:tcPr anchor="ctr">
                    <a:solidFill>
                      <a:srgbClr val="0052CC"/>
                    </a:solidFill>
                  </a:tcPr>
                </a:tc>
              </a:tr>
              <a:tr h="640080">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Protsessor tezligi</a:t>
                      </a:r>
                    </a:p>
                  </a:txBody>
                  <a:tcPr anchor="ctr">
                    <a:solidFill>
                      <a:srgbClr val="FFFFFF"/>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GHz</a:t>
                      </a:r>
                    </a:p>
                  </a:txBody>
                  <a:tcPr anchor="ctr">
                    <a:solidFill>
                      <a:srgbClr val="FFFFFF"/>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3.5 GHz</a:t>
                      </a:r>
                    </a:p>
                  </a:txBody>
                  <a:tcPr anchor="ctr">
                    <a:solidFill>
                      <a:srgbClr val="FFFFFF"/>
                    </a:solidFill>
                  </a:tcPr>
                </a:tc>
              </a:tr>
              <a:tr h="640080">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Yadro soni</a:t>
                      </a:r>
                    </a:p>
                  </a:txBody>
                  <a:tcPr anchor="ctr">
                    <a:solidFill>
                      <a:srgbClr val="EEF2F7"/>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ta</a:t>
                      </a:r>
                    </a:p>
                  </a:txBody>
                  <a:tcPr anchor="ctr">
                    <a:solidFill>
                      <a:srgbClr val="EEF2F7"/>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8 yadro</a:t>
                      </a:r>
                    </a:p>
                  </a:txBody>
                  <a:tcPr anchor="ctr">
                    <a:solidFill>
                      <a:srgbClr val="EEF2F7"/>
                    </a:solidFill>
                  </a:tcPr>
                </a:tc>
              </a:tr>
              <a:tr h="640080">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RAM</a:t>
                      </a:r>
                    </a:p>
                  </a:txBody>
                  <a:tcPr anchor="ctr">
                    <a:solidFill>
                      <a:srgbClr val="FFFFFF"/>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GB</a:t>
                      </a:r>
                    </a:p>
                  </a:txBody>
                  <a:tcPr anchor="ctr">
                    <a:solidFill>
                      <a:srgbClr val="FFFFFF"/>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16 GB</a:t>
                      </a:r>
                    </a:p>
                  </a:txBody>
                  <a:tcPr anchor="ctr">
                    <a:solidFill>
                      <a:srgbClr val="FFFFFF"/>
                    </a:solidFill>
                  </a:tcPr>
                </a:tc>
              </a:tr>
              <a:tr h="640080">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Xotira</a:t>
                      </a:r>
                    </a:p>
                  </a:txBody>
                  <a:tcPr anchor="ctr">
                    <a:solidFill>
                      <a:srgbClr val="EEF2F7"/>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GB yoki TB</a:t>
                      </a:r>
                    </a:p>
                  </a:txBody>
                  <a:tcPr anchor="ctr">
                    <a:solidFill>
                      <a:srgbClr val="EEF2F7"/>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512 GB, 1 TB</a:t>
                      </a:r>
                    </a:p>
                  </a:txBody>
                  <a:tcPr anchor="ctr">
                    <a:solidFill>
                      <a:srgbClr val="EEF2F7"/>
                    </a:solidFill>
                  </a:tcPr>
                </a:tc>
              </a:tr>
            </a:tbl>
          </a:graphicData>
        </a:graphic>
      </p:graphicFrame>
      <p:sp>
        <p:nvSpPr>
          <p:cNvPr id="6"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7"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4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XUSUSIYATLARNI O'QISH VA TAQQOSLASH</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Zamonaviy dasturlar kuchli kompyuter talab qiladi, shuning uchun xususiyatni bilish muhim</a:t>
            </a:r>
          </a:p>
        </p:txBody>
      </p:sp>
      <p:sp>
        <p:nvSpPr>
          <p:cNvPr id="4" name="Points"/>
          <p:cNvSpPr txBox="1"/>
          <p:nvPr/>
        </p:nvSpPr>
        <p:spPr>
          <a:xfrm>
            <a:off x="640080" y="2148840"/>
            <a:ext cx="4146383" cy="3931920"/>
          </a:xfrm>
          <a:prstGeom prst="rect">
            <a:avLst/>
          </a:prstGeom>
          <a:noFill/>
        </p:spPr>
        <p:txBody>
          <a:bodyPr wrap="square" anchor="t" lIns="45720" rIns="45720" tIns="27432" bIns="27432">
            <a:noAutofit/>
          </a:bodyPr>
          <a:lstStyle/>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Brauzerda ko'p oyna ochilsa, RAM tez to'ladi</a:t>
            </a:r>
          </a:p>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O'yin, video va sun'iy intellekt ko'p RAM va kuchli protsessor istaydi</a:t>
            </a:r>
          </a:p>
        </p:txBody>
      </p:sp>
      <p:graphicFrame>
        <p:nvGraphicFramePr>
          <p:cNvPr id="5" name="Table"/>
          <p:cNvGraphicFramePr>
            <a:graphicFrameLocks noGrp="1"/>
          </p:cNvGraphicFramePr>
          <p:nvPr/>
        </p:nvGraphicFramePr>
        <p:xfrm>
          <a:off x="5152223" y="2148840"/>
          <a:ext cx="6399391" cy="2560320"/>
        </p:xfrm>
        <a:graphic>
          <a:graphicData uri="http://schemas.openxmlformats.org/drawingml/2006/table">
            <a:tbl>
              <a:tblPr firstRow="1" bandRow="1">
                <a:tableStyleId>{5C22544A-7EE6-4342-B048-85BDC9FD1C3A}</a:tableStyleId>
              </a:tblPr>
              <a:tblGrid>
                <a:gridCol w="3199695"/>
                <a:gridCol w="3199696"/>
              </a:tblGrid>
              <a:tr h="640080">
                <a:tc>
                  <a:txBody>
                    <a:bodyPr wrap="square" anchor="t" lIns="109728" rIns="109728" tIns="27432" bIns="27432">
                      <a:noAutofit/>
                    </a:bodyPr>
                    <a:lstStyle/>
                    <a:p>
                      <a:pPr algn="l">
                        <a:lnSpc>
                          <a:spcPct val="115000"/>
                        </a:lnSpc>
                        <a:spcBef>
                          <a:spcPts val="0"/>
                        </a:spcBef>
                        <a:spcAft>
                          <a:spcPts val="0"/>
                        </a:spcAft>
                      </a:pPr>
                      <a:r>
                        <a:rPr sz="2200" b="1" i="0">
                          <a:solidFill>
                            <a:srgbClr val="FFFFFF"/>
                          </a:solidFill>
                          <a:latin typeface="Arial"/>
                        </a:rPr>
                        <a:t>Ish turi</a:t>
                      </a:r>
                    </a:p>
                  </a:txBody>
                  <a:tcPr anchor="ctr">
                    <a:solidFill>
                      <a:srgbClr val="0052CC"/>
                    </a:solidFill>
                  </a:tcPr>
                </a:tc>
                <a:tc>
                  <a:txBody>
                    <a:bodyPr wrap="square" anchor="t" lIns="109728" rIns="109728" tIns="27432" bIns="27432">
                      <a:noAutofit/>
                    </a:bodyPr>
                    <a:lstStyle/>
                    <a:p>
                      <a:pPr algn="l">
                        <a:lnSpc>
                          <a:spcPct val="115000"/>
                        </a:lnSpc>
                        <a:spcBef>
                          <a:spcPts val="0"/>
                        </a:spcBef>
                        <a:spcAft>
                          <a:spcPts val="0"/>
                        </a:spcAft>
                      </a:pPr>
                      <a:r>
                        <a:rPr sz="2200" b="1" i="0">
                          <a:solidFill>
                            <a:srgbClr val="FFFFFF"/>
                          </a:solidFill>
                          <a:latin typeface="Arial"/>
                        </a:rPr>
                        <a:t>RAM (taxminan)</a:t>
                      </a:r>
                    </a:p>
                  </a:txBody>
                  <a:tcPr anchor="ctr">
                    <a:solidFill>
                      <a:srgbClr val="0052CC"/>
                    </a:solidFill>
                  </a:tcPr>
                </a:tc>
              </a:tr>
              <a:tr h="640080">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Oddiy ish: matn, brauzer</a:t>
                      </a:r>
                    </a:p>
                  </a:txBody>
                  <a:tcPr anchor="ctr">
                    <a:solidFill>
                      <a:srgbClr val="FFFFFF"/>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8 GB</a:t>
                      </a:r>
                    </a:p>
                  </a:txBody>
                  <a:tcPr anchor="ctr">
                    <a:solidFill>
                      <a:srgbClr val="FFFFFF"/>
                    </a:solidFill>
                  </a:tcPr>
                </a:tc>
              </a:tr>
              <a:tr h="640080">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Ko'p dastur bir vaqtda</a:t>
                      </a:r>
                    </a:p>
                  </a:txBody>
                  <a:tcPr anchor="ctr">
                    <a:solidFill>
                      <a:srgbClr val="EEF2F7"/>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16 GB</a:t>
                      </a:r>
                    </a:p>
                  </a:txBody>
                  <a:tcPr anchor="ctr">
                    <a:solidFill>
                      <a:srgbClr val="EEF2F7"/>
                    </a:solidFill>
                  </a:tcPr>
                </a:tc>
              </a:tr>
              <a:tr h="640080">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Montaj, o'yin, sun'iy intellekt</a:t>
                      </a:r>
                    </a:p>
                  </a:txBody>
                  <a:tcPr anchor="ctr">
                    <a:solidFill>
                      <a:srgbClr val="FFFFFF"/>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32 GB</a:t>
                      </a:r>
                    </a:p>
                  </a:txBody>
                  <a:tcPr anchor="ctr">
                    <a:solidFill>
                      <a:srgbClr val="FFFFFF"/>
                    </a:solidFill>
                  </a:tcPr>
                </a:tc>
              </a:tr>
            </a:tbl>
          </a:graphicData>
        </a:graphic>
      </p:graphicFrame>
      <p:sp>
        <p:nvSpPr>
          <p:cNvPr id="6"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HP, How much RAM do I need (2026); taxminiy qiymatlar</a:t>
            </a:r>
          </a:p>
        </p:txBody>
      </p:sp>
      <p:sp>
        <p:nvSpPr>
          <p:cNvPr id="7"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27</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4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4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XUSUSIYATLARNI O'QISH VA TAQQOSLASH</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Kompyuter ko'pincha eng kuchsiz qismi darajasida ishlaydi</a:t>
            </a:r>
          </a:p>
        </p:txBody>
      </p:sp>
      <p:sp>
        <p:nvSpPr>
          <p:cNvPr id="4" name="Points"/>
          <p:cNvSpPr txBox="1"/>
          <p:nvPr/>
        </p:nvSpPr>
        <p:spPr>
          <a:xfrm>
            <a:off x="640080" y="2148840"/>
            <a:ext cx="4146383" cy="3931920"/>
          </a:xfrm>
          <a:prstGeom prst="rect">
            <a:avLst/>
          </a:prstGeom>
          <a:noFill/>
        </p:spPr>
        <p:txBody>
          <a:bodyPr wrap="square" anchor="t" lIns="45720" rIns="45720" tIns="27432" bIns="27432">
            <a:noAutofit/>
          </a:bodyPr>
          <a:lstStyle/>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Bitta kuchli qism butun kompyuterni tezlashtirmaydi</a:t>
            </a:r>
          </a:p>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Qismlar bir-biriga mos bo'lishi kerak</a:t>
            </a:r>
          </a:p>
        </p:txBody>
      </p:sp>
      <p:graphicFrame>
        <p:nvGraphicFramePr>
          <p:cNvPr id="5" name="Table"/>
          <p:cNvGraphicFramePr>
            <a:graphicFrameLocks noGrp="1"/>
          </p:cNvGraphicFramePr>
          <p:nvPr/>
        </p:nvGraphicFramePr>
        <p:xfrm>
          <a:off x="5152223" y="2148840"/>
          <a:ext cx="6399391" cy="1920240"/>
        </p:xfrm>
        <a:graphic>
          <a:graphicData uri="http://schemas.openxmlformats.org/drawingml/2006/table">
            <a:tbl>
              <a:tblPr firstRow="1" bandRow="1">
                <a:tableStyleId>{5C22544A-7EE6-4342-B048-85BDC9FD1C3A}</a:tableStyleId>
              </a:tblPr>
              <a:tblGrid>
                <a:gridCol w="1599847"/>
                <a:gridCol w="1599847"/>
                <a:gridCol w="1599847"/>
                <a:gridCol w="1599850"/>
              </a:tblGrid>
              <a:tr h="640080">
                <a:tc>
                  <a:txBody>
                    <a:bodyPr wrap="square" anchor="t" lIns="109728" rIns="109728" tIns="27432" bIns="27432">
                      <a:noAutofit/>
                    </a:bodyPr>
                    <a:lstStyle/>
                    <a:p>
                      <a:pPr algn="l">
                        <a:lnSpc>
                          <a:spcPct val="115000"/>
                        </a:lnSpc>
                        <a:spcBef>
                          <a:spcPts val="0"/>
                        </a:spcBef>
                        <a:spcAft>
                          <a:spcPts val="0"/>
                        </a:spcAft>
                      </a:pPr>
                    </a:p>
                  </a:txBody>
                  <a:tcPr anchor="ctr">
                    <a:solidFill>
                      <a:srgbClr val="0052CC"/>
                    </a:solidFill>
                  </a:tcPr>
                </a:tc>
                <a:tc>
                  <a:txBody>
                    <a:bodyPr wrap="square" anchor="t" lIns="109728" rIns="109728" tIns="27432" bIns="27432">
                      <a:noAutofit/>
                    </a:bodyPr>
                    <a:lstStyle/>
                    <a:p>
                      <a:pPr algn="l">
                        <a:lnSpc>
                          <a:spcPct val="115000"/>
                        </a:lnSpc>
                        <a:spcBef>
                          <a:spcPts val="0"/>
                        </a:spcBef>
                        <a:spcAft>
                          <a:spcPts val="0"/>
                        </a:spcAft>
                      </a:pPr>
                      <a:r>
                        <a:rPr sz="2200" b="1" i="0">
                          <a:solidFill>
                            <a:srgbClr val="FFFFFF"/>
                          </a:solidFill>
                          <a:latin typeface="Arial"/>
                        </a:rPr>
                        <a:t>CPU</a:t>
                      </a:r>
                    </a:p>
                  </a:txBody>
                  <a:tcPr anchor="ctr">
                    <a:solidFill>
                      <a:srgbClr val="0052CC"/>
                    </a:solidFill>
                  </a:tcPr>
                </a:tc>
                <a:tc>
                  <a:txBody>
                    <a:bodyPr wrap="square" anchor="t" lIns="109728" rIns="109728" tIns="27432" bIns="27432">
                      <a:noAutofit/>
                    </a:bodyPr>
                    <a:lstStyle/>
                    <a:p>
                      <a:pPr algn="l">
                        <a:lnSpc>
                          <a:spcPct val="115000"/>
                        </a:lnSpc>
                        <a:spcBef>
                          <a:spcPts val="0"/>
                        </a:spcBef>
                        <a:spcAft>
                          <a:spcPts val="0"/>
                        </a:spcAft>
                      </a:pPr>
                      <a:r>
                        <a:rPr sz="2200" b="1" i="0">
                          <a:solidFill>
                            <a:srgbClr val="FFFFFF"/>
                          </a:solidFill>
                          <a:latin typeface="Arial"/>
                        </a:rPr>
                        <a:t>RAM</a:t>
                      </a:r>
                    </a:p>
                  </a:txBody>
                  <a:tcPr anchor="ctr">
                    <a:solidFill>
                      <a:srgbClr val="0052CC"/>
                    </a:solidFill>
                  </a:tcPr>
                </a:tc>
                <a:tc>
                  <a:txBody>
                    <a:bodyPr wrap="square" anchor="t" lIns="109728" rIns="109728" tIns="27432" bIns="27432">
                      <a:noAutofit/>
                    </a:bodyPr>
                    <a:lstStyle/>
                    <a:p>
                      <a:pPr algn="l">
                        <a:lnSpc>
                          <a:spcPct val="115000"/>
                        </a:lnSpc>
                        <a:spcBef>
                          <a:spcPts val="0"/>
                        </a:spcBef>
                        <a:spcAft>
                          <a:spcPts val="0"/>
                        </a:spcAft>
                      </a:pPr>
                      <a:r>
                        <a:rPr sz="2200" b="1" i="0">
                          <a:solidFill>
                            <a:srgbClr val="FFFFFF"/>
                          </a:solidFill>
                          <a:latin typeface="Arial"/>
                        </a:rPr>
                        <a:t>Natija</a:t>
                      </a:r>
                    </a:p>
                  </a:txBody>
                  <a:tcPr anchor="ctr">
                    <a:solidFill>
                      <a:srgbClr val="0052CC"/>
                    </a:solidFill>
                  </a:tcPr>
                </a:tc>
              </a:tr>
              <a:tr h="640080">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P</a:t>
                      </a:r>
                    </a:p>
                  </a:txBody>
                  <a:tcPr anchor="ctr">
                    <a:solidFill>
                      <a:srgbClr val="FFFFFF"/>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i7</a:t>
                      </a:r>
                    </a:p>
                  </a:txBody>
                  <a:tcPr anchor="ctr">
                    <a:solidFill>
                      <a:srgbClr val="FFFFFF"/>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4 GB</a:t>
                      </a:r>
                    </a:p>
                  </a:txBody>
                  <a:tcPr anchor="ctr">
                    <a:solidFill>
                      <a:srgbClr val="FFFFFF"/>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Sekin</a:t>
                      </a:r>
                    </a:p>
                  </a:txBody>
                  <a:tcPr anchor="ctr">
                    <a:solidFill>
                      <a:srgbClr val="FFFFFF"/>
                    </a:solidFill>
                  </a:tcPr>
                </a:tc>
              </a:tr>
              <a:tr h="640080">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Q</a:t>
                      </a:r>
                    </a:p>
                  </a:txBody>
                  <a:tcPr anchor="ctr">
                    <a:solidFill>
                      <a:srgbClr val="EEF2F7"/>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i5</a:t>
                      </a:r>
                    </a:p>
                  </a:txBody>
                  <a:tcPr anchor="ctr">
                    <a:solidFill>
                      <a:srgbClr val="EEF2F7"/>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16 GB</a:t>
                      </a:r>
                    </a:p>
                  </a:txBody>
                  <a:tcPr anchor="ctr">
                    <a:solidFill>
                      <a:srgbClr val="EEF2F7"/>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Tez</a:t>
                      </a:r>
                    </a:p>
                  </a:txBody>
                  <a:tcPr anchor="ctr">
                    <a:solidFill>
                      <a:srgbClr val="EEF2F7"/>
                    </a:solidFill>
                  </a:tcPr>
                </a:tc>
              </a:tr>
            </a:tbl>
          </a:graphicData>
        </a:graphic>
      </p:graphicFrame>
      <p:sp>
        <p:nvSpPr>
          <p:cNvPr id="6"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7"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4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4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XUSUSIYATLARNI O'QISH VA TAQQOSLASH</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Laptop B Laptop A'dan har uchala ko'rsatkichda kuchli</a:t>
            </a:r>
          </a:p>
        </p:txBody>
      </p:sp>
      <p:sp>
        <p:nvSpPr>
          <p:cNvPr id="4" name="left column"/>
          <p:cNvSpPr/>
          <p:nvPr/>
        </p:nvSpPr>
        <p:spPr>
          <a:xfrm>
            <a:off x="640080" y="2148840"/>
            <a:ext cx="5227167" cy="3931920"/>
          </a:xfrm>
          <a:prstGeom prst="roundRect">
            <a:avLst>
              <a:gd name="adj" fmla="val 4000"/>
            </a:avLst>
          </a:prstGeom>
          <a:solidFill>
            <a:srgbClr val="EEF2F7"/>
          </a:solidFill>
          <a:ln>
            <a:noFill/>
          </a:ln>
        </p:spPr>
        <p:txBody>
          <a:bodyPr rtlCol="0" anchor="ctr"/>
          <a:lstStyle/>
          <a:p>
            <a:pPr algn="ctr"/>
          </a:p>
        </p:txBody>
      </p:sp>
      <p:sp>
        <p:nvSpPr>
          <p:cNvPr id="5" name="left title"/>
          <p:cNvSpPr txBox="1"/>
          <p:nvPr/>
        </p:nvSpPr>
        <p:spPr>
          <a:xfrm>
            <a:off x="914400" y="2331720"/>
            <a:ext cx="4678527" cy="548640"/>
          </a:xfrm>
          <a:prstGeom prst="rect">
            <a:avLst/>
          </a:prstGeom>
          <a:noFill/>
        </p:spPr>
        <p:txBody>
          <a:bodyPr wrap="square" anchor="t" lIns="0" rIns="0" tIns="0" bIns="0">
            <a:noAutofit/>
          </a:bodyPr>
          <a:lstStyle/>
          <a:p>
            <a:pPr algn="l">
              <a:lnSpc>
                <a:spcPct val="115000"/>
              </a:lnSpc>
              <a:spcBef>
                <a:spcPts val="0"/>
              </a:spcBef>
              <a:spcAft>
                <a:spcPts val="0"/>
              </a:spcAft>
            </a:pPr>
            <a:r>
              <a:rPr sz="2600" b="1" i="0">
                <a:solidFill>
                  <a:srgbClr val="0052CC"/>
                </a:solidFill>
                <a:latin typeface="Arial"/>
              </a:rPr>
              <a:t>Laptop A</a:t>
            </a:r>
          </a:p>
        </p:txBody>
      </p:sp>
      <p:sp>
        <p:nvSpPr>
          <p:cNvPr id="6" name="Points"/>
          <p:cNvSpPr txBox="1"/>
          <p:nvPr/>
        </p:nvSpPr>
        <p:spPr>
          <a:xfrm>
            <a:off x="914400" y="3017520"/>
            <a:ext cx="4678527" cy="2880360"/>
          </a:xfrm>
          <a:prstGeom prst="rect">
            <a:avLst/>
          </a:prstGeom>
          <a:noFill/>
        </p:spPr>
        <p:txBody>
          <a:bodyPr wrap="square" anchor="t" lIns="45720" rIns="45720" tIns="27432" bIns="27432">
            <a:noAutofit/>
          </a:bodyPr>
          <a:lstStyle/>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Core i3</a:t>
            </a:r>
          </a:p>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4 GB RAM</a:t>
            </a:r>
          </a:p>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128 GB SSD</a:t>
            </a:r>
          </a:p>
        </p:txBody>
      </p:sp>
      <p:sp>
        <p:nvSpPr>
          <p:cNvPr id="7" name="right column"/>
          <p:cNvSpPr/>
          <p:nvPr/>
        </p:nvSpPr>
        <p:spPr>
          <a:xfrm>
            <a:off x="6324447" y="2148840"/>
            <a:ext cx="5227167" cy="3931920"/>
          </a:xfrm>
          <a:prstGeom prst="roundRect">
            <a:avLst>
              <a:gd name="adj" fmla="val 4000"/>
            </a:avLst>
          </a:prstGeom>
          <a:solidFill>
            <a:srgbClr val="EEF2F7"/>
          </a:solidFill>
          <a:ln>
            <a:noFill/>
          </a:ln>
        </p:spPr>
        <p:txBody>
          <a:bodyPr rtlCol="0" anchor="ctr"/>
          <a:lstStyle/>
          <a:p>
            <a:pPr algn="ctr"/>
          </a:p>
        </p:txBody>
      </p:sp>
      <p:sp>
        <p:nvSpPr>
          <p:cNvPr id="8" name="right title"/>
          <p:cNvSpPr txBox="1"/>
          <p:nvPr/>
        </p:nvSpPr>
        <p:spPr>
          <a:xfrm>
            <a:off x="6598767" y="2331720"/>
            <a:ext cx="4678527" cy="548640"/>
          </a:xfrm>
          <a:prstGeom prst="rect">
            <a:avLst/>
          </a:prstGeom>
          <a:noFill/>
        </p:spPr>
        <p:txBody>
          <a:bodyPr wrap="square" anchor="t" lIns="0" rIns="0" tIns="0" bIns="0">
            <a:noAutofit/>
          </a:bodyPr>
          <a:lstStyle/>
          <a:p>
            <a:pPr algn="l">
              <a:lnSpc>
                <a:spcPct val="115000"/>
              </a:lnSpc>
              <a:spcBef>
                <a:spcPts val="0"/>
              </a:spcBef>
              <a:spcAft>
                <a:spcPts val="0"/>
              </a:spcAft>
            </a:pPr>
            <a:r>
              <a:rPr sz="2600" b="1" i="0">
                <a:solidFill>
                  <a:srgbClr val="0052CC"/>
                </a:solidFill>
                <a:latin typeface="Arial"/>
              </a:rPr>
              <a:t>Laptop B</a:t>
            </a:r>
          </a:p>
        </p:txBody>
      </p:sp>
      <p:sp>
        <p:nvSpPr>
          <p:cNvPr id="9" name="Points"/>
          <p:cNvSpPr txBox="1"/>
          <p:nvPr/>
        </p:nvSpPr>
        <p:spPr>
          <a:xfrm>
            <a:off x="6598767" y="3017520"/>
            <a:ext cx="4678527" cy="2880360"/>
          </a:xfrm>
          <a:prstGeom prst="rect">
            <a:avLst/>
          </a:prstGeom>
          <a:noFill/>
        </p:spPr>
        <p:txBody>
          <a:bodyPr wrap="square" anchor="t" lIns="45720" rIns="45720" tIns="27432" bIns="27432">
            <a:noAutofit/>
          </a:bodyPr>
          <a:lstStyle/>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Core i5</a:t>
            </a:r>
          </a:p>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16 GB RAM</a:t>
            </a:r>
          </a:p>
          <a:p>
            <a:pPr algn="l" marL="384048" indent="-384048">
              <a:lnSpc>
                <a:spcPct val="115000"/>
              </a:lnSpc>
              <a:spcBef>
                <a:spcPts val="0"/>
              </a:spcBef>
              <a:spcAft>
                <a:spcPts val="1400"/>
              </a:spcAft>
              <a:buClr>
                <a:srgbClr val="0052CC"/>
              </a:buClr>
              <a:buFont typeface="Arial"/>
              <a:buChar char="•"/>
            </a:pPr>
            <a:r>
              <a:rPr sz="2400" b="0" i="0">
                <a:solidFill>
                  <a:srgbClr val="111111"/>
                </a:solidFill>
                <a:latin typeface="Arial"/>
              </a:rPr>
              <a:t>512 GB SSD</a:t>
            </a:r>
          </a:p>
        </p:txBody>
      </p:sp>
      <p:sp>
        <p:nvSpPr>
          <p:cNvPr id="10"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11"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29</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400"/>
                                        <p:tgtEl>
                                          <p:spTgt spid="6">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fade">
                                      <p:cBhvr>
                                        <p:cTn id="20" dur="400"/>
                                        <p:tgtEl>
                                          <p:spTgt spid="6">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xEl>
                                              <p:pRg st="2" end="2"/>
                                            </p:txEl>
                                          </p:spTgt>
                                        </p:tgtEl>
                                        <p:attrNameLst>
                                          <p:attrName>style.visibility</p:attrName>
                                        </p:attrNameLst>
                                      </p:cBhvr>
                                      <p:to>
                                        <p:strVal val="visible"/>
                                      </p:to>
                                    </p:set>
                                    <p:animEffect transition="in" filter="fade">
                                      <p:cBhvr>
                                        <p:cTn id="25" dur="400"/>
                                        <p:tgtEl>
                                          <p:spTgt spid="6">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400"/>
                                        <p:tgtEl>
                                          <p:spTgt spid="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4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xEl>
                                              <p:pRg st="0" end="0"/>
                                            </p:txEl>
                                          </p:spTgt>
                                        </p:tgtEl>
                                        <p:attrNameLst>
                                          <p:attrName>style.visibility</p:attrName>
                                        </p:attrNameLst>
                                      </p:cBhvr>
                                      <p:to>
                                        <p:strVal val="visible"/>
                                      </p:to>
                                    </p:set>
                                    <p:animEffect transition="in" filter="fade">
                                      <p:cBhvr>
                                        <p:cTn id="38" dur="400"/>
                                        <p:tgtEl>
                                          <p:spTgt spid="9">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9">
                                            <p:txEl>
                                              <p:pRg st="1" end="1"/>
                                            </p:txEl>
                                          </p:spTgt>
                                        </p:tgtEl>
                                        <p:attrNameLst>
                                          <p:attrName>style.visibility</p:attrName>
                                        </p:attrNameLst>
                                      </p:cBhvr>
                                      <p:to>
                                        <p:strVal val="visible"/>
                                      </p:to>
                                    </p:set>
                                    <p:animEffect transition="in" filter="fade">
                                      <p:cBhvr>
                                        <p:cTn id="43" dur="400"/>
                                        <p:tgtEl>
                                          <p:spTgt spid="9">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9">
                                            <p:txEl>
                                              <p:pRg st="2" end="2"/>
                                            </p:txEl>
                                          </p:spTgt>
                                        </p:tgtEl>
                                        <p:attrNameLst>
                                          <p:attrName>style.visibility</p:attrName>
                                        </p:attrNameLst>
                                      </p:cBhvr>
                                      <p:to>
                                        <p:strVal val="visible"/>
                                      </p:to>
                                    </p:set>
                                    <p:animEffect transition="in" filter="fade">
                                      <p:cBhvr>
                                        <p:cTn id="48" dur="4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build="p"/>
      <p:bldP spid="7" grpId="0" animBg="1"/>
      <p:bldP spid="8" grpId="0" animBg="1"/>
      <p:bldP spid="9" grpId="0" build="p"/>
    </p:bld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XUSUSIYATLARNI O'QISH VA TAQQOSLASH</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Uch kompyuter bor, endi har biriga o'z egasini topamiz</a:t>
            </a:r>
          </a:p>
        </p:txBody>
      </p:sp>
      <p:graphicFrame>
        <p:nvGraphicFramePr>
          <p:cNvPr id="4" name="Table"/>
          <p:cNvGraphicFramePr>
            <a:graphicFrameLocks noGrp="1"/>
          </p:cNvGraphicFramePr>
          <p:nvPr/>
        </p:nvGraphicFramePr>
        <p:xfrm>
          <a:off x="640080" y="2148840"/>
          <a:ext cx="10911535" cy="2560320"/>
        </p:xfrm>
        <a:graphic>
          <a:graphicData uri="http://schemas.openxmlformats.org/drawingml/2006/table">
            <a:tbl>
              <a:tblPr firstRow="1" bandRow="1">
                <a:tableStyleId>{5C22544A-7EE6-4342-B048-85BDC9FD1C3A}</a:tableStyleId>
              </a:tblPr>
              <a:tblGrid>
                <a:gridCol w="2182307"/>
                <a:gridCol w="2182307"/>
                <a:gridCol w="2182307"/>
                <a:gridCol w="2182307"/>
                <a:gridCol w="2182307"/>
              </a:tblGrid>
              <a:tr h="640080">
                <a:tc>
                  <a:txBody>
                    <a:bodyPr wrap="square" anchor="t" lIns="109728" rIns="109728" tIns="27432" bIns="27432">
                      <a:noAutofit/>
                    </a:bodyPr>
                    <a:lstStyle/>
                    <a:p>
                      <a:pPr algn="l">
                        <a:lnSpc>
                          <a:spcPct val="115000"/>
                        </a:lnSpc>
                        <a:spcBef>
                          <a:spcPts val="0"/>
                        </a:spcBef>
                        <a:spcAft>
                          <a:spcPts val="0"/>
                        </a:spcAft>
                      </a:pPr>
                    </a:p>
                  </a:txBody>
                  <a:tcPr anchor="ctr">
                    <a:solidFill>
                      <a:srgbClr val="0052CC"/>
                    </a:solidFill>
                  </a:tcPr>
                </a:tc>
                <a:tc>
                  <a:txBody>
                    <a:bodyPr wrap="square" anchor="t" lIns="109728" rIns="109728" tIns="27432" bIns="27432">
                      <a:noAutofit/>
                    </a:bodyPr>
                    <a:lstStyle/>
                    <a:p>
                      <a:pPr algn="l">
                        <a:lnSpc>
                          <a:spcPct val="115000"/>
                        </a:lnSpc>
                        <a:spcBef>
                          <a:spcPts val="0"/>
                        </a:spcBef>
                        <a:spcAft>
                          <a:spcPts val="0"/>
                        </a:spcAft>
                      </a:pPr>
                      <a:r>
                        <a:rPr sz="2200" b="1" i="0">
                          <a:solidFill>
                            <a:srgbClr val="FFFFFF"/>
                          </a:solidFill>
                          <a:latin typeface="Arial"/>
                        </a:rPr>
                        <a:t>Protsessor</a:t>
                      </a:r>
                    </a:p>
                  </a:txBody>
                  <a:tcPr anchor="ctr">
                    <a:solidFill>
                      <a:srgbClr val="0052CC"/>
                    </a:solidFill>
                  </a:tcPr>
                </a:tc>
                <a:tc>
                  <a:txBody>
                    <a:bodyPr wrap="square" anchor="t" lIns="109728" rIns="109728" tIns="27432" bIns="27432">
                      <a:noAutofit/>
                    </a:bodyPr>
                    <a:lstStyle/>
                    <a:p>
                      <a:pPr algn="l">
                        <a:lnSpc>
                          <a:spcPct val="115000"/>
                        </a:lnSpc>
                        <a:spcBef>
                          <a:spcPts val="0"/>
                        </a:spcBef>
                        <a:spcAft>
                          <a:spcPts val="0"/>
                        </a:spcAft>
                      </a:pPr>
                      <a:r>
                        <a:rPr sz="2200" b="1" i="0">
                          <a:solidFill>
                            <a:srgbClr val="FFFFFF"/>
                          </a:solidFill>
                          <a:latin typeface="Arial"/>
                        </a:rPr>
                        <a:t>Yadro</a:t>
                      </a:r>
                    </a:p>
                  </a:txBody>
                  <a:tcPr anchor="ctr">
                    <a:solidFill>
                      <a:srgbClr val="0052CC"/>
                    </a:solidFill>
                  </a:tcPr>
                </a:tc>
                <a:tc>
                  <a:txBody>
                    <a:bodyPr wrap="square" anchor="t" lIns="109728" rIns="109728" tIns="27432" bIns="27432">
                      <a:noAutofit/>
                    </a:bodyPr>
                    <a:lstStyle/>
                    <a:p>
                      <a:pPr algn="l">
                        <a:lnSpc>
                          <a:spcPct val="115000"/>
                        </a:lnSpc>
                        <a:spcBef>
                          <a:spcPts val="0"/>
                        </a:spcBef>
                        <a:spcAft>
                          <a:spcPts val="0"/>
                        </a:spcAft>
                      </a:pPr>
                      <a:r>
                        <a:rPr sz="2200" b="1" i="0">
                          <a:solidFill>
                            <a:srgbClr val="FFFFFF"/>
                          </a:solidFill>
                          <a:latin typeface="Arial"/>
                        </a:rPr>
                        <a:t>RAM</a:t>
                      </a:r>
                    </a:p>
                  </a:txBody>
                  <a:tcPr anchor="ctr">
                    <a:solidFill>
                      <a:srgbClr val="0052CC"/>
                    </a:solidFill>
                  </a:tcPr>
                </a:tc>
                <a:tc>
                  <a:txBody>
                    <a:bodyPr wrap="square" anchor="t" lIns="109728" rIns="109728" tIns="27432" bIns="27432">
                      <a:noAutofit/>
                    </a:bodyPr>
                    <a:lstStyle/>
                    <a:p>
                      <a:pPr algn="l">
                        <a:lnSpc>
                          <a:spcPct val="115000"/>
                        </a:lnSpc>
                        <a:spcBef>
                          <a:spcPts val="0"/>
                        </a:spcBef>
                        <a:spcAft>
                          <a:spcPts val="0"/>
                        </a:spcAft>
                      </a:pPr>
                      <a:r>
                        <a:rPr sz="2200" b="1" i="0">
                          <a:solidFill>
                            <a:srgbClr val="FFFFFF"/>
                          </a:solidFill>
                          <a:latin typeface="Arial"/>
                        </a:rPr>
                        <a:t>Xotira</a:t>
                      </a:r>
                    </a:p>
                  </a:txBody>
                  <a:tcPr anchor="ctr">
                    <a:solidFill>
                      <a:srgbClr val="0052CC"/>
                    </a:solidFill>
                  </a:tcPr>
                </a:tc>
              </a:tr>
              <a:tr h="640080">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X</a:t>
                      </a:r>
                    </a:p>
                  </a:txBody>
                  <a:tcPr anchor="ctr">
                    <a:solidFill>
                      <a:srgbClr val="FFFFFF"/>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Core i3</a:t>
                      </a:r>
                    </a:p>
                  </a:txBody>
                  <a:tcPr anchor="ctr">
                    <a:solidFill>
                      <a:srgbClr val="FFFFFF"/>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2</a:t>
                      </a:r>
                    </a:p>
                  </a:txBody>
                  <a:tcPr anchor="ctr">
                    <a:solidFill>
                      <a:srgbClr val="FFFFFF"/>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4 GB</a:t>
                      </a:r>
                    </a:p>
                  </a:txBody>
                  <a:tcPr anchor="ctr">
                    <a:solidFill>
                      <a:srgbClr val="FFFFFF"/>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128 GB SSD</a:t>
                      </a:r>
                    </a:p>
                  </a:txBody>
                  <a:tcPr anchor="ctr">
                    <a:solidFill>
                      <a:srgbClr val="FFFFFF"/>
                    </a:solidFill>
                  </a:tcPr>
                </a:tc>
              </a:tr>
              <a:tr h="640080">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Y</a:t>
                      </a:r>
                    </a:p>
                  </a:txBody>
                  <a:tcPr anchor="ctr">
                    <a:solidFill>
                      <a:srgbClr val="EEF2F7"/>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Core i5</a:t>
                      </a:r>
                    </a:p>
                  </a:txBody>
                  <a:tcPr anchor="ctr">
                    <a:solidFill>
                      <a:srgbClr val="EEF2F7"/>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6</a:t>
                      </a:r>
                    </a:p>
                  </a:txBody>
                  <a:tcPr anchor="ctr">
                    <a:solidFill>
                      <a:srgbClr val="EEF2F7"/>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16 GB</a:t>
                      </a:r>
                    </a:p>
                  </a:txBody>
                  <a:tcPr anchor="ctr">
                    <a:solidFill>
                      <a:srgbClr val="EEF2F7"/>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512 GB SSD</a:t>
                      </a:r>
                    </a:p>
                  </a:txBody>
                  <a:tcPr anchor="ctr">
                    <a:solidFill>
                      <a:srgbClr val="EEF2F7"/>
                    </a:solidFill>
                  </a:tcPr>
                </a:tc>
              </a:tr>
              <a:tr h="640080">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Z</a:t>
                      </a:r>
                    </a:p>
                  </a:txBody>
                  <a:tcPr anchor="ctr">
                    <a:solidFill>
                      <a:srgbClr val="FFFFFF"/>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Core i7</a:t>
                      </a:r>
                    </a:p>
                  </a:txBody>
                  <a:tcPr anchor="ctr">
                    <a:solidFill>
                      <a:srgbClr val="FFFFFF"/>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8</a:t>
                      </a:r>
                    </a:p>
                  </a:txBody>
                  <a:tcPr anchor="ctr">
                    <a:solidFill>
                      <a:srgbClr val="FFFFFF"/>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32 GB</a:t>
                      </a:r>
                    </a:p>
                  </a:txBody>
                  <a:tcPr anchor="ctr">
                    <a:solidFill>
                      <a:srgbClr val="FFFFFF"/>
                    </a:solidFill>
                  </a:tcPr>
                </a:tc>
                <a:tc>
                  <a:txBody>
                    <a:bodyPr wrap="square" anchor="t" lIns="109728" rIns="109728" tIns="27432" bIns="27432">
                      <a:noAutofit/>
                    </a:bodyPr>
                    <a:lstStyle/>
                    <a:p>
                      <a:pPr algn="l">
                        <a:lnSpc>
                          <a:spcPct val="115000"/>
                        </a:lnSpc>
                        <a:spcBef>
                          <a:spcPts val="0"/>
                        </a:spcBef>
                        <a:spcAft>
                          <a:spcPts val="0"/>
                        </a:spcAft>
                      </a:pPr>
                      <a:r>
                        <a:rPr sz="2200" b="0" i="0">
                          <a:solidFill>
                            <a:srgbClr val="111111"/>
                          </a:solidFill>
                          <a:latin typeface="Arial"/>
                        </a:rPr>
                        <a:t>1 TB SSD</a:t>
                      </a:r>
                    </a:p>
                  </a:txBody>
                  <a:tcPr anchor="ctr">
                    <a:solidFill>
                      <a:srgbClr val="FFFFFF"/>
                    </a:solidFill>
                  </a:tcPr>
                </a:tc>
              </a:tr>
            </a:tbl>
          </a:graphicData>
        </a:graphic>
      </p:graphicFrame>
      <p:sp>
        <p:nvSpPr>
          <p:cNvPr id="5" name="Source"/>
          <p:cNvSpPr txBox="1"/>
          <p:nvPr/>
        </p:nvSpPr>
        <p:spPr>
          <a:xfrm>
            <a:off x="640080" y="6382512"/>
            <a:ext cx="9814255" cy="292608"/>
          </a:xfrm>
          <a:prstGeom prst="rect">
            <a:avLst/>
          </a:prstGeom>
          <a:noFill/>
        </p:spPr>
        <p:txBody>
          <a:bodyPr wrap="square" anchor="t" lIns="0" rIns="0" tIns="0" bIns="0">
            <a:noAutofit/>
          </a:bodyPr>
          <a:lstStyle/>
          <a:p>
            <a:pPr algn="l">
              <a:lnSpc>
                <a:spcPct val="115000"/>
              </a:lnSpc>
              <a:spcBef>
                <a:spcPts val="0"/>
              </a:spcBef>
              <a:spcAft>
                <a:spcPts val="0"/>
              </a:spcAft>
            </a:pPr>
            <a:r>
              <a:rPr sz="1200" b="0" i="0">
                <a:solidFill>
                  <a:srgbClr val="4B5563"/>
                </a:solidFill>
                <a:latin typeface="Arial"/>
              </a:rPr>
              <a:t>Manba: Dastur: Computer Science Foundation, 8-sinf (2026)</a:t>
            </a:r>
          </a:p>
        </p:txBody>
      </p:sp>
      <p:sp>
        <p:nvSpPr>
          <p:cNvPr id="6"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30</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F4C3A"/>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FFC20E"/>
                </a:solidFill>
                <a:latin typeface="Courier New"/>
              </a:rPr>
              <a:t>NAVBAT SIZDA · JUFTLIKDA</a:t>
            </a:r>
          </a:p>
        </p:txBody>
      </p:sp>
      <p:sp>
        <p:nvSpPr>
          <p:cNvPr id="3" name="Headline"/>
          <p:cNvSpPr txBox="1"/>
          <p:nvPr/>
        </p:nvSpPr>
        <p:spPr>
          <a:xfrm>
            <a:off x="640080" y="749808"/>
            <a:ext cx="8899855" cy="1234440"/>
          </a:xfrm>
          <a:prstGeom prst="rect">
            <a:avLst/>
          </a:prstGeom>
          <a:noFill/>
        </p:spPr>
        <p:txBody>
          <a:bodyPr wrap="square" anchor="t" lIns="0" rIns="0" tIns="0" bIns="0">
            <a:noAutofit/>
          </a:bodyPr>
          <a:lstStyle/>
          <a:p>
            <a:pPr algn="l">
              <a:lnSpc>
                <a:spcPct val="105000"/>
              </a:lnSpc>
              <a:spcBef>
                <a:spcPts val="0"/>
              </a:spcBef>
              <a:spcAft>
                <a:spcPts val="0"/>
              </a:spcAft>
            </a:pPr>
            <a:r>
              <a:rPr sz="3600" b="1" i="0">
                <a:solidFill>
                  <a:srgbClr val="FFFFFF"/>
                </a:solidFill>
                <a:latin typeface="Arial"/>
              </a:rPr>
              <a:t>Uch odamga uch kompyuter tanlang</a:t>
            </a:r>
          </a:p>
        </p:txBody>
      </p:sp>
      <p:sp>
        <p:nvSpPr>
          <p:cNvPr id="4" name="Chip"/>
          <p:cNvSpPr/>
          <p:nvPr/>
        </p:nvSpPr>
        <p:spPr>
          <a:xfrm>
            <a:off x="9997135" y="795528"/>
            <a:ext cx="969264" cy="402336"/>
          </a:xfrm>
          <a:prstGeom prst="roundRect">
            <a:avLst>
              <a:gd name="adj" fmla="val 50000"/>
            </a:avLst>
          </a:prstGeom>
          <a:solidFill>
            <a:srgbClr val="FFC20E"/>
          </a:solidFill>
          <a:ln>
            <a:noFill/>
          </a:ln>
        </p:spPr>
        <p:txBody>
          <a:bodyPr rtlCol="0" anchor="ctr" wrap="square" lIns="45720" rIns="45720" tIns="0" bIns="0">
            <a:noAutofit/>
          </a:bodyPr>
          <a:lstStyle/>
          <a:p>
            <a:pPr algn="ctr">
              <a:lnSpc>
                <a:spcPct val="115000"/>
              </a:lnSpc>
              <a:spcBef>
                <a:spcPts val="0"/>
              </a:spcBef>
              <a:spcAft>
                <a:spcPts val="0"/>
              </a:spcAft>
            </a:pPr>
            <a:r>
              <a:rPr sz="1500" b="1" i="0">
                <a:solidFill>
                  <a:srgbClr val="111111"/>
                </a:solidFill>
                <a:latin typeface="Courier New"/>
              </a:rPr>
              <a:t>8 DAQ</a:t>
            </a:r>
          </a:p>
        </p:txBody>
      </p:sp>
      <p:sp>
        <p:nvSpPr>
          <p:cNvPr id="5" name="Steps"/>
          <p:cNvSpPr txBox="1"/>
          <p:nvPr/>
        </p:nvSpPr>
        <p:spPr>
          <a:xfrm>
            <a:off x="640080" y="2148840"/>
            <a:ext cx="10911535" cy="3931920"/>
          </a:xfrm>
          <a:prstGeom prst="rect">
            <a:avLst/>
          </a:prstGeom>
          <a:noFill/>
        </p:spPr>
        <p:txBody>
          <a:bodyPr wrap="square" anchor="t" lIns="45720" rIns="45720" tIns="27432" bIns="27432">
            <a:noAutofit/>
          </a:bodyPr>
          <a:lstStyle/>
          <a:p>
            <a:pPr algn="l" marL="457200" indent="-457200">
              <a:lnSpc>
                <a:spcPct val="115000"/>
              </a:lnSpc>
              <a:spcBef>
                <a:spcPts val="0"/>
              </a:spcBef>
              <a:spcAft>
                <a:spcPts val="1200"/>
              </a:spcAft>
              <a:buClr>
                <a:srgbClr val="FFC20E"/>
              </a:buClr>
              <a:buFont typeface="Arial"/>
              <a:buAutoNum type="arabicPeriod"/>
            </a:pPr>
            <a:r>
              <a:rPr sz="2600" b="0" i="0">
                <a:solidFill>
                  <a:srgbClr val="FFFFFF"/>
                </a:solidFill>
                <a:latin typeface="Arial"/>
              </a:rPr>
              <a:t>Maktab o'quvchisi, ofis xodimi va video muharriri uchun bittadan kompyuter tanlang</a:t>
            </a:r>
          </a:p>
          <a:p>
            <a:pPr algn="l" marL="457200" indent="-457200">
              <a:lnSpc>
                <a:spcPct val="115000"/>
              </a:lnSpc>
              <a:spcBef>
                <a:spcPts val="0"/>
              </a:spcBef>
              <a:spcAft>
                <a:spcPts val="1200"/>
              </a:spcAft>
              <a:buClr>
                <a:srgbClr val="FFC20E"/>
              </a:buClr>
              <a:buFont typeface="Arial"/>
              <a:buAutoNum type="arabicPeriod"/>
            </a:pPr>
            <a:r>
              <a:rPr sz="2600" b="0" i="0">
                <a:solidFill>
                  <a:srgbClr val="FFFFFF"/>
                </a:solidFill>
                <a:latin typeface="Arial"/>
              </a:rPr>
              <a:t>Har biriga sabab ayting: RAM va yadro soni bilan</a:t>
            </a:r>
          </a:p>
          <a:p>
            <a:pPr algn="l" marL="457200" indent="-457200">
              <a:lnSpc>
                <a:spcPct val="115000"/>
              </a:lnSpc>
              <a:spcBef>
                <a:spcPts val="0"/>
              </a:spcBef>
              <a:spcAft>
                <a:spcPts val="1200"/>
              </a:spcAft>
              <a:buClr>
                <a:srgbClr val="FFC20E"/>
              </a:buClr>
              <a:buFont typeface="Arial"/>
              <a:buAutoNum type="arabicPeriod"/>
            </a:pPr>
            <a:r>
              <a:rPr sz="2600" b="0" i="0">
                <a:solidFill>
                  <a:srgbClr val="FFFFFF"/>
                </a:solidFill>
                <a:latin typeface="Arial"/>
              </a:rPr>
              <a:t>Savol: nega o'quvchiga Z kompyuter shart emas?</a:t>
            </a:r>
          </a:p>
        </p:txBody>
      </p:sp>
      <p:sp>
        <p:nvSpPr>
          <p:cNvPr id="6"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C3CCDA"/>
                </a:solidFill>
                <a:latin typeface="Arial"/>
              </a:rPr>
              <a:t>31</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XULOSA</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Nimani eslab qolish kerak</a:t>
            </a:r>
          </a:p>
        </p:txBody>
      </p:sp>
      <p:sp>
        <p:nvSpPr>
          <p:cNvPr id="4" name="Number 1"/>
          <p:cNvSpPr txBox="1"/>
          <p:nvPr/>
        </p:nvSpPr>
        <p:spPr>
          <a:xfrm>
            <a:off x="640080" y="2148840"/>
            <a:ext cx="822960" cy="982980"/>
          </a:xfrm>
          <a:prstGeom prst="rect">
            <a:avLst/>
          </a:prstGeom>
          <a:noFill/>
        </p:spPr>
        <p:txBody>
          <a:bodyPr wrap="square" anchor="t" lIns="0" rIns="0" tIns="0" bIns="0">
            <a:noAutofit/>
          </a:bodyPr>
          <a:lstStyle/>
          <a:p>
            <a:pPr algn="l">
              <a:lnSpc>
                <a:spcPct val="115000"/>
              </a:lnSpc>
              <a:spcBef>
                <a:spcPts val="0"/>
              </a:spcBef>
              <a:spcAft>
                <a:spcPts val="0"/>
              </a:spcAft>
            </a:pPr>
            <a:r>
              <a:rPr sz="3000" b="1" i="0">
                <a:solidFill>
                  <a:srgbClr val="0052CC"/>
                </a:solidFill>
                <a:latin typeface="Courier New"/>
              </a:rPr>
              <a:t>01</a:t>
            </a:r>
          </a:p>
        </p:txBody>
      </p:sp>
      <p:sp>
        <p:nvSpPr>
          <p:cNvPr id="5" name="Item 1"/>
          <p:cNvSpPr txBox="1"/>
          <p:nvPr/>
        </p:nvSpPr>
        <p:spPr>
          <a:xfrm>
            <a:off x="1645920" y="2185416"/>
            <a:ext cx="9905695" cy="982980"/>
          </a:xfrm>
          <a:prstGeom prst="rect">
            <a:avLst/>
          </a:prstGeom>
          <a:noFill/>
        </p:spPr>
        <p:txBody>
          <a:bodyPr wrap="square" anchor="t" lIns="0" rIns="0" tIns="0" bIns="0">
            <a:noAutofit/>
          </a:bodyPr>
          <a:lstStyle/>
          <a:p>
            <a:pPr algn="l">
              <a:lnSpc>
                <a:spcPct val="110000"/>
              </a:lnSpc>
              <a:spcBef>
                <a:spcPts val="0"/>
              </a:spcBef>
              <a:spcAft>
                <a:spcPts val="0"/>
              </a:spcAft>
            </a:pPr>
            <a:r>
              <a:rPr sz="2600" b="0" i="0">
                <a:solidFill>
                  <a:srgbClr val="111111"/>
                </a:solidFill>
                <a:latin typeface="Arial"/>
              </a:rPr>
              <a:t>Kompyuterlar turlicha, lekin hammasi kiritish, ishlov, saqlash, chiqarishdan o'tadi</a:t>
            </a:r>
          </a:p>
        </p:txBody>
      </p:sp>
      <p:sp>
        <p:nvSpPr>
          <p:cNvPr id="6" name="Number 2"/>
          <p:cNvSpPr txBox="1"/>
          <p:nvPr/>
        </p:nvSpPr>
        <p:spPr>
          <a:xfrm>
            <a:off x="640080" y="3131820"/>
            <a:ext cx="822960" cy="982980"/>
          </a:xfrm>
          <a:prstGeom prst="rect">
            <a:avLst/>
          </a:prstGeom>
          <a:noFill/>
        </p:spPr>
        <p:txBody>
          <a:bodyPr wrap="square" anchor="t" lIns="0" rIns="0" tIns="0" bIns="0">
            <a:noAutofit/>
          </a:bodyPr>
          <a:lstStyle/>
          <a:p>
            <a:pPr algn="l">
              <a:lnSpc>
                <a:spcPct val="115000"/>
              </a:lnSpc>
              <a:spcBef>
                <a:spcPts val="0"/>
              </a:spcBef>
              <a:spcAft>
                <a:spcPts val="0"/>
              </a:spcAft>
            </a:pPr>
            <a:r>
              <a:rPr sz="3000" b="1" i="0">
                <a:solidFill>
                  <a:srgbClr val="0052CC"/>
                </a:solidFill>
                <a:latin typeface="Courier New"/>
              </a:rPr>
              <a:t>02</a:t>
            </a:r>
          </a:p>
        </p:txBody>
      </p:sp>
      <p:sp>
        <p:nvSpPr>
          <p:cNvPr id="7" name="Item 2"/>
          <p:cNvSpPr txBox="1"/>
          <p:nvPr/>
        </p:nvSpPr>
        <p:spPr>
          <a:xfrm>
            <a:off x="1645920" y="3168396"/>
            <a:ext cx="9905695" cy="982980"/>
          </a:xfrm>
          <a:prstGeom prst="rect">
            <a:avLst/>
          </a:prstGeom>
          <a:noFill/>
        </p:spPr>
        <p:txBody>
          <a:bodyPr wrap="square" anchor="t" lIns="0" rIns="0" tIns="0" bIns="0">
            <a:noAutofit/>
          </a:bodyPr>
          <a:lstStyle/>
          <a:p>
            <a:pPr algn="l">
              <a:lnSpc>
                <a:spcPct val="110000"/>
              </a:lnSpc>
              <a:spcBef>
                <a:spcPts val="0"/>
              </a:spcBef>
              <a:spcAft>
                <a:spcPts val="0"/>
              </a:spcAft>
            </a:pPr>
            <a:r>
              <a:rPr sz="2600" b="0" i="0">
                <a:solidFill>
                  <a:srgbClr val="111111"/>
                </a:solidFill>
                <a:latin typeface="Arial"/>
              </a:rPr>
              <a:t>Protsessor ishlaydi, RAM tez va vaqtinchalik, xotira sekin lekin doimiy</a:t>
            </a:r>
          </a:p>
        </p:txBody>
      </p:sp>
      <p:sp>
        <p:nvSpPr>
          <p:cNvPr id="8" name="Number 3"/>
          <p:cNvSpPr txBox="1"/>
          <p:nvPr/>
        </p:nvSpPr>
        <p:spPr>
          <a:xfrm>
            <a:off x="640080" y="4114800"/>
            <a:ext cx="822960" cy="982980"/>
          </a:xfrm>
          <a:prstGeom prst="rect">
            <a:avLst/>
          </a:prstGeom>
          <a:noFill/>
        </p:spPr>
        <p:txBody>
          <a:bodyPr wrap="square" anchor="t" lIns="0" rIns="0" tIns="0" bIns="0">
            <a:noAutofit/>
          </a:bodyPr>
          <a:lstStyle/>
          <a:p>
            <a:pPr algn="l">
              <a:lnSpc>
                <a:spcPct val="115000"/>
              </a:lnSpc>
              <a:spcBef>
                <a:spcPts val="0"/>
              </a:spcBef>
              <a:spcAft>
                <a:spcPts val="0"/>
              </a:spcAft>
            </a:pPr>
            <a:r>
              <a:rPr sz="3000" b="1" i="0">
                <a:solidFill>
                  <a:srgbClr val="0052CC"/>
                </a:solidFill>
                <a:latin typeface="Courier New"/>
              </a:rPr>
              <a:t>03</a:t>
            </a:r>
          </a:p>
        </p:txBody>
      </p:sp>
      <p:sp>
        <p:nvSpPr>
          <p:cNvPr id="9" name="Item 3"/>
          <p:cNvSpPr txBox="1"/>
          <p:nvPr/>
        </p:nvSpPr>
        <p:spPr>
          <a:xfrm>
            <a:off x="1645920" y="4151376"/>
            <a:ext cx="9905695" cy="982980"/>
          </a:xfrm>
          <a:prstGeom prst="rect">
            <a:avLst/>
          </a:prstGeom>
          <a:noFill/>
        </p:spPr>
        <p:txBody>
          <a:bodyPr wrap="square" anchor="t" lIns="0" rIns="0" tIns="0" bIns="0">
            <a:noAutofit/>
          </a:bodyPr>
          <a:lstStyle/>
          <a:p>
            <a:pPr algn="l">
              <a:lnSpc>
                <a:spcPct val="110000"/>
              </a:lnSpc>
              <a:spcBef>
                <a:spcPts val="0"/>
              </a:spcBef>
              <a:spcAft>
                <a:spcPts val="0"/>
              </a:spcAft>
            </a:pPr>
            <a:r>
              <a:rPr sz="2600" b="0" i="0">
                <a:solidFill>
                  <a:srgbClr val="111111"/>
                </a:solidFill>
                <a:latin typeface="Arial"/>
              </a:rPr>
              <a:t>GHz tezlikni, yadro bir vaqtdagi ishlar sonini bildiradi</a:t>
            </a:r>
          </a:p>
        </p:txBody>
      </p:sp>
      <p:sp>
        <p:nvSpPr>
          <p:cNvPr id="10" name="Number 4"/>
          <p:cNvSpPr txBox="1"/>
          <p:nvPr/>
        </p:nvSpPr>
        <p:spPr>
          <a:xfrm>
            <a:off x="640080" y="5097780"/>
            <a:ext cx="822960" cy="982980"/>
          </a:xfrm>
          <a:prstGeom prst="rect">
            <a:avLst/>
          </a:prstGeom>
          <a:noFill/>
        </p:spPr>
        <p:txBody>
          <a:bodyPr wrap="square" anchor="t" lIns="0" rIns="0" tIns="0" bIns="0">
            <a:noAutofit/>
          </a:bodyPr>
          <a:lstStyle/>
          <a:p>
            <a:pPr algn="l">
              <a:lnSpc>
                <a:spcPct val="115000"/>
              </a:lnSpc>
              <a:spcBef>
                <a:spcPts val="0"/>
              </a:spcBef>
              <a:spcAft>
                <a:spcPts val="0"/>
              </a:spcAft>
            </a:pPr>
            <a:r>
              <a:rPr sz="3000" b="1" i="0">
                <a:solidFill>
                  <a:srgbClr val="0052CC"/>
                </a:solidFill>
                <a:latin typeface="Courier New"/>
              </a:rPr>
              <a:t>04</a:t>
            </a:r>
          </a:p>
        </p:txBody>
      </p:sp>
      <p:sp>
        <p:nvSpPr>
          <p:cNvPr id="11" name="Item 4"/>
          <p:cNvSpPr txBox="1"/>
          <p:nvPr/>
        </p:nvSpPr>
        <p:spPr>
          <a:xfrm>
            <a:off x="1645920" y="5134356"/>
            <a:ext cx="9905695" cy="982980"/>
          </a:xfrm>
          <a:prstGeom prst="rect">
            <a:avLst/>
          </a:prstGeom>
          <a:noFill/>
        </p:spPr>
        <p:txBody>
          <a:bodyPr wrap="square" anchor="t" lIns="0" rIns="0" tIns="0" bIns="0">
            <a:noAutofit/>
          </a:bodyPr>
          <a:lstStyle/>
          <a:p>
            <a:pPr algn="l">
              <a:lnSpc>
                <a:spcPct val="110000"/>
              </a:lnSpc>
              <a:spcBef>
                <a:spcPts val="0"/>
              </a:spcBef>
              <a:spcAft>
                <a:spcPts val="0"/>
              </a:spcAft>
            </a:pPr>
            <a:r>
              <a:rPr sz="2600" b="0" i="0">
                <a:solidFill>
                  <a:srgbClr val="111111"/>
                </a:solidFill>
                <a:latin typeface="Arial"/>
              </a:rPr>
              <a:t>Ikki kompyuterni raqamlar bilan solishtirib, sabab keltirish mumkin</a:t>
            </a:r>
          </a:p>
        </p:txBody>
      </p:sp>
      <p:sp>
        <p:nvSpPr>
          <p:cNvPr id="12"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32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00"/>
                                        <p:tgtEl>
                                          <p:spTgt spid="1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40080" y="411480"/>
            <a:ext cx="10911535" cy="329184"/>
          </a:xfrm>
          <a:prstGeom prst="rect">
            <a:avLst/>
          </a:prstGeom>
          <a:noFill/>
        </p:spPr>
        <p:txBody>
          <a:bodyPr wrap="square" anchor="t" lIns="0" rIns="0" tIns="0" bIns="0">
            <a:noAutofit/>
          </a:bodyPr>
          <a:lstStyle/>
          <a:p>
            <a:pPr algn="l">
              <a:lnSpc>
                <a:spcPct val="115000"/>
              </a:lnSpc>
              <a:spcBef>
                <a:spcPts val="0"/>
              </a:spcBef>
              <a:spcAft>
                <a:spcPts val="0"/>
              </a:spcAft>
            </a:pPr>
            <a:r>
              <a:rPr sz="1400" b="1" i="0">
                <a:solidFill>
                  <a:srgbClr val="0052CC"/>
                </a:solidFill>
                <a:latin typeface="Courier New"/>
              </a:rPr>
              <a:t>CHIQISH SAVOLI · 3 DAQIQA</a:t>
            </a:r>
          </a:p>
        </p:txBody>
      </p:sp>
      <p:sp>
        <p:nvSpPr>
          <p:cNvPr id="3" name="Headline"/>
          <p:cNvSpPr txBox="1"/>
          <p:nvPr/>
        </p:nvSpPr>
        <p:spPr>
          <a:xfrm>
            <a:off x="640080" y="749808"/>
            <a:ext cx="10911535" cy="1234440"/>
          </a:xfrm>
          <a:prstGeom prst="rect">
            <a:avLst/>
          </a:prstGeom>
          <a:noFill/>
        </p:spPr>
        <p:txBody>
          <a:bodyPr wrap="square" anchor="t" lIns="0" rIns="0" tIns="0" bIns="0">
            <a:noAutofit/>
          </a:bodyPr>
          <a:lstStyle/>
          <a:p>
            <a:pPr algn="l">
              <a:lnSpc>
                <a:spcPct val="105000"/>
              </a:lnSpc>
              <a:spcBef>
                <a:spcPts val="0"/>
              </a:spcBef>
              <a:spcAft>
                <a:spcPts val="0"/>
              </a:spcAft>
            </a:pPr>
            <a:r>
              <a:rPr sz="3200" b="1" i="0">
                <a:solidFill>
                  <a:srgbClr val="111111"/>
                </a:solidFill>
                <a:latin typeface="Arial"/>
              </a:rPr>
              <a:t>Ketishdan oldin qog'ozga javob yozing</a:t>
            </a:r>
          </a:p>
        </p:txBody>
      </p:sp>
      <p:sp>
        <p:nvSpPr>
          <p:cNvPr id="4" name="Exit questions"/>
          <p:cNvSpPr txBox="1"/>
          <p:nvPr/>
        </p:nvSpPr>
        <p:spPr>
          <a:xfrm>
            <a:off x="640080" y="2148840"/>
            <a:ext cx="10911535" cy="3017520"/>
          </a:xfrm>
          <a:prstGeom prst="rect">
            <a:avLst/>
          </a:prstGeom>
          <a:noFill/>
        </p:spPr>
        <p:txBody>
          <a:bodyPr wrap="square" anchor="t" lIns="45720" rIns="45720" tIns="27432" bIns="27432">
            <a:noAutofit/>
          </a:bodyPr>
          <a:lstStyle/>
          <a:p>
            <a:pPr algn="l" marL="457200" indent="-457200">
              <a:lnSpc>
                <a:spcPct val="115000"/>
              </a:lnSpc>
              <a:spcBef>
                <a:spcPts val="0"/>
              </a:spcBef>
              <a:spcAft>
                <a:spcPts val="1400"/>
              </a:spcAft>
              <a:buClr>
                <a:srgbClr val="0052CC"/>
              </a:buClr>
              <a:buFont typeface="Arial"/>
              <a:buAutoNum type="arabicPeriod"/>
            </a:pPr>
            <a:r>
              <a:rPr sz="2800" b="0" i="0">
                <a:solidFill>
                  <a:srgbClr val="111111"/>
                </a:solidFill>
                <a:latin typeface="Arial"/>
              </a:rPr>
              <a:t>Telefonda rasmga olishning to'rt qadamini ayting.</a:t>
            </a:r>
          </a:p>
          <a:p>
            <a:pPr algn="l" marL="457200" indent="-457200">
              <a:lnSpc>
                <a:spcPct val="115000"/>
              </a:lnSpc>
              <a:spcBef>
                <a:spcPts val="0"/>
              </a:spcBef>
              <a:spcAft>
                <a:spcPts val="1400"/>
              </a:spcAft>
              <a:buClr>
                <a:srgbClr val="0052CC"/>
              </a:buClr>
              <a:buFont typeface="Arial"/>
              <a:buAutoNum type="arabicPeriod"/>
            </a:pPr>
            <a:r>
              <a:rPr sz="2800" b="0" i="0">
                <a:solidFill>
                  <a:srgbClr val="111111"/>
                </a:solidFill>
                <a:latin typeface="Arial"/>
              </a:rPr>
              <a:t>A: Core i3, 4 GB RAM. B: Core i5, 16 GB RAM. Qaysi biri kuchliroq va nega?</a:t>
            </a:r>
          </a:p>
        </p:txBody>
      </p:sp>
      <p:sp>
        <p:nvSpPr>
          <p:cNvPr id="5" name="Slide number"/>
          <p:cNvSpPr txBox="1"/>
          <p:nvPr/>
        </p:nvSpPr>
        <p:spPr>
          <a:xfrm>
            <a:off x="10637215" y="6382512"/>
            <a:ext cx="914400" cy="292608"/>
          </a:xfrm>
          <a:prstGeom prst="rect">
            <a:avLst/>
          </a:prstGeom>
          <a:noFill/>
        </p:spPr>
        <p:txBody>
          <a:bodyPr wrap="square" anchor="t" lIns="0" rIns="0" tIns="0" bIns="0">
            <a:noAutofit/>
          </a:bodyPr>
          <a:lstStyle/>
          <a:p>
            <a:pPr algn="r">
              <a:lnSpc>
                <a:spcPct val="115000"/>
              </a:lnSpc>
              <a:spcBef>
                <a:spcPts val="0"/>
              </a:spcBef>
              <a:spcAft>
                <a:spcPts val="0"/>
              </a:spcAft>
            </a:pPr>
            <a:r>
              <a:rPr sz="1200" b="0" i="0">
                <a:solidFill>
                  <a:srgbClr val="4B5563"/>
                </a:solidFill>
                <a:latin typeface="Arial"/>
              </a:rPr>
              <a:t>33</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