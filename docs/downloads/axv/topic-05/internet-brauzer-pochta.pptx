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0–1-daqiqa (1 daq)</a:t>
            </a:r>
          </a:p>
          <a:p/>
          <a:p>
            <a:r>
              <a:t>Salomlashing. Bugun internet, brauzer, qidiruv va elektron pochta bilan ishlashni o'rganamiz. Oxirida soxta xabarni tanib olishni ham o'rganasiz.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1–3-daqiqa (2 daq)</a:t>
            </a:r>
          </a:p>
          <a:p/>
          <a:p>
            <a:r>
              <a:t>Bir-ikki o'quvchidan javob eshiting. Ko'pchilik "bosmayman" deydi, lekin nima uchun? Bugun shu savolga aniq sabab bilan javob berishni o'rganamiz. Dars oxirida shu xabarga qaytamiz.</a:t>
            </a:r>
          </a:p>
          <a:p/>
          <a:p>
            <a:r>
              <a:t>Talabalarga 30–60 soniya o'ylab, taxmin aytish imkonini bering. Javobni hozir aytmang.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3–4.5-daqiqa (1.5 daq) · 4 ta bosish</a:t>
            </a:r>
          </a:p>
          <a:p/>
          <a:p>
            <a:r>
              <a:t>To'rtta maqsadni o'qib chiqing. Birinchi uchtasi internetdan foydalanishni o'rgatadi, oxirgisi esa o'zingizni himoya qilishni. Hammasini birma-bir ko'ramiz.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5–7-daqiqa (2 daq) · 2 ta bosish</a:t>
            </a:r>
          </a:p>
          <a:p/>
          <a:p>
            <a:r>
              <a:t>Internet yo'lga o'xshaydi. Yo'lda turli mashinalar yuradi: ba'zisi sayt, ba'zisi xat, ba'zisi xabar olib yuradi. Veb-sayt ana shu mashinalardan faqat bittasi. Ko'pchilik "internet" deganda faqat saytni tushunadi, aslida u kengroq.</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7–9-daqiqa (2 daq)</a:t>
            </a:r>
          </a:p>
          <a:p/>
          <a:p>
            <a:r>
              <a:t>Har bir xizmatga o'quvchilardan o'zlari ishlatadigan misol so'rang. Bulut deganda fayllar sizning kompyuteringizda emas, internetdagi serverda turadi: Google Drive shunday. Bugun veb, elektron pochta va bulutning bir qismini amalda ko'ramiz.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9–11-daqiqa (2 daq) · 1 ta bosish</a:t>
            </a:r>
          </a:p>
          <a:p/>
          <a:p>
            <a:r>
              <a:t>Ovoz berishdan oldin juftlikda muhokama qildiring.</a:t>
            </a:r>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"Bir xil narsa" va "faqat saytlardan iborat": internet bilan veb'ni adashtirish. "Veb internetsiz ishlaydi": sayt ochish uchun internet kerak, chunki sayt serverda turadi.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11–13.5-daqiqa (2.5 daq) · 3 ta bosish</a:t>
            </a:r>
          </a:p>
          <a:p/>
          <a:p>
            <a:r>
              <a:t>Manzilni to'liq yozib ko'rsating: https://uzedu.uz/yangiliklar. URL sayt va sahifaning manzili. Domen sayt nomi. Eslab qoling: https faqat ulanish shifrlanganini bildiradi, saytning ishonchli ekanini emas. Soxta saytlar ham https ishlatishi mumkin.</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13.5–16-daqiqa (2.5 daq) · 3 ta bosish</a:t>
            </a:r>
          </a:p>
          <a:p/>
          <a:p>
            <a:r>
              <a:t>Telefon kitobiga o'xshatib tushuntiring: biz do'stimizning ismini eslaymiz, telefon esa raqamni. Domen ism, IP manzil raqam, DNS esa telefon kitobi. Kompyuterlar faqat raqam bilan ishlaydi, shuning uchun brauzer avval DNS dan domenning raqamini so'raydi. IP, DNS va ular haqida batafsil 10-mavzuda gaplashamiz.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16–19-daqiqa (3 daq) · 4 ta bosish</a:t>
            </a:r>
          </a:p>
          <a:p/>
          <a:p>
            <a:r>
              <a:t>Hamma qadamni ketma-ket ayting. Siz brauzerga manzil yozasiz. Brauzer DNS dan serverning IP manzilini so'raydi. So'rov provayder orqali, ya'ni internetga ulaydigan kompaniya orqali, kabellar bo'ylab serverga boradi. Server sahifani yuboradi va brauzer uni ekranda ko'rsatadi. Hammasi soniyadan kam vaqt oladi.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19–21-daqiqa (2 daq)</a:t>
            </a:r>
          </a:p>
          <a:p/>
          <a:p>
            <a:r>
              <a:t>Brauzer sizning so'rovingizni serverga yuboradi va kelgan javobni sahifa qilib ko'rsatadi. Hamma brauzer shu ishni qiladi, farqi qulayliklarida. Safari faqat Apple qurilmalarida bor. Maktabda odatda Chrome yoki Edge ishlatiladi.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21–24-daqiqa (3 daq) · 5 ta bosish</a:t>
            </a:r>
          </a:p>
          <a:p/>
          <a:p>
            <a:r>
              <a:t>Bu yerda o'z brauzeringizda namoyish qiling: yangi tab oching, saytni xatcho'pga qo'shing, tarixni va yuklashlar ro'yxatini oching. Tarixni tozalashni ham ko'rsating: Ctrl+Shift+Delete. Tezkor tugmalarni 3-mavzuda ko'rgan edik, shu yerda qo'llaymiz.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24–26-daqiqa (2 daq)</a:t>
            </a:r>
          </a:p>
          <a:p/>
          <a:p>
            <a:r>
              <a:t>Juftliklarni aylanib chiqing. Qiynalgan o'quvchiga tezkor tugmani eslating.</a:t>
            </a:r>
          </a:p>
          <a:p/>
          <a:p>
            <a:r>
              <a:t>Qatorlar orasida yurib, ekranlarga qarang. Vaqtning yarmida qiynalayotganlarga maslahatni ko'rsating.</a:t>
            </a:r>
          </a:p>
          <a:p>
            <a:r>
              <a:t>Maslahat: Xatcho'p uchun Ctrl+D, tarix uchun Ctrl+H.</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26–29-daqiqa (3 daq) · 4 ta bosish</a:t>
            </a:r>
          </a:p>
          <a:p/>
          <a:p>
            <a:r>
              <a:t>Kesh brauzer ichidagi kichik ombor. Saytning rasmlari va boshqa qismlari birinchi marta serverdan yuklanadi va keshga saqlanadi. Ikkinchi marta ochganingizda ularni qaytadan yuklamaydi, keshdan oladi, shuning uchun tez ochiladi. Kamchiligi: sayt yangilansa, brauzer eski nusxani ko'rsatishi mumkin. Ctrl+F5 sahifani keshsiz qayta yuklaydi. Keshni brauzer sozlamalaridan tozalash ham mumkin.</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29–31.5-daqiqa (2.5 daq) · 3 ta bosish</a:t>
            </a:r>
          </a:p>
          <a:p/>
          <a:p>
            <a:r>
              <a:t>Cookie ingliz tilida "pechenye" degani, lekin bu yerda kichik matn fayli. Siz saytga kirasiz, sayt brauzerga kichik yozuv qoldiradi: "bu foydalanuvchi kirgan". Keyingi safar yozuvni o'qib, sizni taniydi. Cookie'ni o'chirsangiz, saytlar sizni unutadi va qaytadan kirishingiz kerak bo'ladi. Ba'zi reklama saytlari cookie orqali qaysi saytlarni ochganingizni kuzatishi mumkin, shuning uchun ularni vaqti-vaqti bilan tozalash foydali.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31.5–33.5-daqiqa (2 daq) · 2 ta bosish</a:t>
            </a:r>
          </a:p>
          <a:p/>
          <a:p>
            <a:r>
              <a:t>Chrome'da bu rejim Incognito, Edge'da InPrivate deyiladi. Ctrl+Shift+N bilan ochiladi. Oyna yopilganda tarix, cookie va kesh o'chadi. Boshqa odamning kompyuterida akkauntga kirganda foydali. Oddiy rejimda tarixni tozalash uchun Ctrl+Shift+Delete bosing va nimani o'chirishni tanlang.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33.5–35.5-daqiqa (2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"Hech kim ko'ra olmaydi": incognito nomi shunday o'ylatadi, lekin u faqat qurilmadagi tarixni yashiradi. Internet provayder va maktab tarmog'i saytni ko'radi.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35.5–36-daqiqa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36–38-daqiqa (2 daq) · 4 ta bosish</a:t>
            </a:r>
          </a:p>
          <a:p/>
          <a:p>
            <a:r>
              <a:t>Qidiruv tizimi gapni emas, so'zlarni qidiradi. Ortiqcha so'zlar natijani chalkashtiradi. Savolni eng muhim ikki-uchta so'zga qisqartiring: nima haqida, nimasini bilmoqchisiz. Namoyish: ikkala usulni qidiring va natijani solishtiring.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38–41-daqiqa (3 daq)</a:t>
            </a:r>
          </a:p>
          <a:p/>
          <a:p>
            <a:r>
              <a:t>Har bir belgini namoyish qiling. Minus: python so'zi ilonni ham, dasturlash tilini ham bildiradi, shuning uchun -ilon yozamiz. site: va filetype: dan keyin probel qo'ymang: site:wikipedia.org to'g'ri, site: wikipedia.org noto'g'ri. Belgi va so'z orasida ham probel kerak emas.</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41–44-daqiqa (3 daq)</a:t>
            </a:r>
          </a:p>
          <a:p/>
          <a:p>
            <a:r>
              <a:t>Juftliklarni aylanib chiqing. Natijalar vaqt o'tishi bilan o'zgarishi mumkin, muhimi farqni ko'rish.</a:t>
            </a:r>
          </a:p>
          <a:p/>
          <a:p>
            <a:r>
              <a:t>Qatorlar orasida yurib, ekranlarga qarang. Vaqtning yarmida qiynalayotganlarga maslahatni ko'rsating.</a:t>
            </a:r>
          </a:p>
          <a:p>
            <a:r>
              <a:t>Maslahat: Birinchi natijada ilon ham chiqishi mumkin, ikkinchisida faqat dasturlash tili. Uchinchisida faqat Wikipedia sahifalari.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44–46-daqiqa (2 daq) · 3 ta bosish</a:t>
            </a:r>
          </a:p>
          <a:p/>
          <a:p>
            <a:r>
              <a:t>Qidiruv javob topib beradi, lekin javob to'g'ri bo'lishi shart emas. Har bir sayt haqiqatni yozmaydi. Uchta savol: muallif kim, qachon yozilgan, boshqa joyda ham shunday deyilganmi. Bu mavzuni 8-mavzuda batafsil o'rganamiz.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46–46.5-daqiqa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46.5–49.5-daqiqa (3 daq) · 5 ta bosish</a:t>
            </a:r>
          </a:p>
          <a:p/>
          <a:p>
            <a:r>
              <a:t>Bu yerda akkaunt yaratishni namoyish qiling (o'z akkauntingizda yoki yangi akkaunt). Manzil: ism@gmail.com, bu yerda @ "da" degani. Manzilni jiddiy tanlang, chunki u keyinchalik ish va o'qishda ishlatiladi. Parolni boshqaga aytmang. Parol qanday kuchli bo'lishini 6-mavzuda o'rganamiz. Google akkaunt uchun yosh talabi bor, odatda 13 yosh.</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49.5–52.5-daqiqa (3 daq) · 6 ta bosish</a:t>
            </a:r>
          </a:p>
          <a:p/>
          <a:p>
            <a:r>
              <a:t>Yangi xat oynasini oching va har bir maydonni ko'rsating. Cc va Bcc ni farqlash muhim: Cc ga yozilganlarni hamma ko'radi, Bcc dagilarni esa yo'q. Xatlar Inbox (kelganlar), Sent (yuborilganlar), Drafts (qoralamalar), Spam va Trash (o'chirilganlar) papkalarida turadi.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52.5–55-daqiqa (2.5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"To" va "Cc": ularni hamma qabul qiluvchi ko'radi. "Subject" manzil emas, xat mavzusi.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55–57.5-daqiqa (2.5 daq) · 8 ta bosish</a:t>
            </a:r>
          </a:p>
          <a:p/>
          <a:p>
            <a:r>
              <a:t>Mavzusiz xat spam bo'lib ketishi mumkin. O'qituvchiga yoki kattaga yozganda salom bilan boshlang, qisqa va aniq yozing, oxirida ismingiz va sinfingizni qo'ying. Faqat BOSH HARFLARDA yozmang: bu baqirish bo'lib eshitiladi.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57.5–60-daqiqa (2.5 daq) · 3 ta bosish</a:t>
            </a:r>
          </a:p>
          <a:p/>
          <a:p>
            <a:r>
              <a:t>Namoyish: o'zingizga xat yozing, bitta rasm yoki PDF biriktiring va yuboring. Fayl nomi aniq bo'lsin, masalan Ism_UyVazifa.pdf. Gmail 25 MB gacha biriktirma qabul qiladi, kattasi uchun Drive'ga yuklab, havolani xatga qo'yamiz. MB o'lchov birligini 3-mavzuda ko'rgan edik.</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60–62-daqiqa (2 daq) · 3 ta bosish</a:t>
            </a:r>
          </a:p>
          <a:p/>
          <a:p>
            <a:r>
              <a:t>Namoyish: kelgan xatga javob bering va uni uzating. Hammaga javob berishdan oldin o'ylab ko'ring: sizning javobingizni xatdagi hamma o'qiydi. Uzatayotganda xatni olgan odamning ruxsati kerak bo'lishi mumkin, shaxsiy gaplarni uzatmang.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62–62.5-daqiqa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62.5–64.5-daqiqa (2 daq) · 2 ta bosish</a:t>
            </a:r>
          </a:p>
          <a:p/>
          <a:p>
            <a:r>
              <a:t>Fishing so'zi inglizcha "fishing" (baliq ovlash) so'zidan: xabar qarmoq, siz esa baliq. Qarmoqqa tushsangiz, parolingizni yoki pulingizni yo'qotasiz. Fishing xat orqali ham, Telegram va SMS orqali ham keladi.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64.5–67.5-daqiqa (3 daq) · 5 ta bosish</a:t>
            </a:r>
          </a:p>
          <a:p/>
          <a:p>
            <a:r>
              <a:t>Havolani bosmasdan, sichqonchani ustiga olib boring: pastda uning haqiqiy manzili ko'rinadi. Matn bir narsa yozadi, manzil boshqa narsa. Shoshirish eng ko'p ishlatiladigan usul: o'ylashga vaqt bermaydi. Bitta belgi ham gumon uyg'otishi kifoya.</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67.5–69.5-daqiqa (2 daq) · 3 ta bosish</a:t>
            </a:r>
          </a:p>
          <a:p/>
          <a:p>
            <a:r>
              <a:t>Agar xabar haqiqiy bo'lsa ham, havolani bosmasdan rasmiy saytga o'zingiz kirib tekshirish xavfsizroq. Parolni hech kim, hatto bank yoki maktab ham xat orqali so'ramaydi. Xato bosib yuborgan bo'lsangiz, darhol parolni o'zgartiring va kattalarga ayting.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69.5–72-daqiqa (2.5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"Tez bosaman": shoshirish aynan fishing ishlatadigan usul. "Do'stlarimga yuboraman": ularni ham xavfga qo'yadi. "Parolimni yozaman": fishing aynan shuni xohlaydi.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72–75-daqiqa (3 daq)</a:t>
            </a:r>
          </a:p>
          <a:p/>
          <a:p>
            <a:r>
              <a:t>Juftliklardan javoblarni eshiting. Muhimi, o'quvchilar belgilarni nomlab bera olishi.</a:t>
            </a:r>
          </a:p>
          <a:p/>
          <a:p>
            <a:r>
              <a:t>Qatorlar orasida yurib, ekranlarga qarang. Vaqtning yarmida qiynalayotganlarga maslahatni ko'rsating.</a:t>
            </a:r>
          </a:p>
          <a:p>
            <a:r>
              <a:t>Maslahat: Belgilar: shoshirish (bir soat ichida), umumiy murojaat, havola bosish talabi. Haqiqiy bank parol so'ramaydi.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75–77-daqiqa (2 daq) · 4 ta bosish</a:t>
            </a:r>
          </a:p>
          <a:p/>
          <a:p>
            <a:r>
              <a:t>Har bir fikrni bitta jumla bilan takrorlang. Boshidagi savolga qayting: "Hisobingiz bloklanadi" xabari fishing, chunki u shoshiradi va parol so'raydi. Endi buni sabab bilan tushuntira olasiz.</a:t>
            </a:r>
          </a:p>
          <a:p/>
          <a:p>
            <a:r>
              <a:t>Vaqt bo'lsa, har bir bandni ochishdan oldin talabalardan aytib berishni so'rang.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77–79-daqiqa (2 daq)</a:t>
            </a:r>
          </a:p>
          <a:p/>
          <a:p>
            <a:r>
              <a:t>Javoblarni qog'ozga yozdiring. Birinchi savol: filetype:pdf va mavzu so'zi. Ikkinchi savol: shoshirish, parol so'rash, umumiy murojaat, g'alati manzil yoki havola. Keyingi mavzu bugungi xavfsizlik mavzusini davom ettiradi.</a:t>
            </a:r>
          </a:p>
          <a:p/>
          <a:p>
            <a:r>
              <a:t>Javoblarni yig'ib oling; keyingi darsdan oldin o'qing va darsni eng ko'p uchragan bo'shliqdan boshlang.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Course"/>
          <p:cNvSpPr txBox="1"/>
          <p:nvPr/>
        </p:nvSpPr>
        <p:spPr>
          <a:xfrm>
            <a:off x="640080" y="13716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1" i="0">
                <a:solidFill>
                  <a:srgbClr val="FFC20E"/>
                </a:solidFill>
                <a:latin typeface="Courier New"/>
              </a:rPr>
              <a:t>COMPUTER SCIENCE FOUNDATION · AXV</a:t>
            </a:r>
          </a:p>
        </p:txBody>
      </p:sp>
      <p:sp>
        <p:nvSpPr>
          <p:cNvPr id="3" name="Title"/>
          <p:cNvSpPr txBox="1"/>
          <p:nvPr/>
        </p:nvSpPr>
        <p:spPr>
          <a:xfrm>
            <a:off x="640080" y="1965960"/>
            <a:ext cx="10911535" cy="2103120"/>
          </a:xfrm>
          <a:prstGeom prst="rect">
            <a:avLst/>
          </a:prstGeom>
          <a:noFill/>
        </p:spPr>
        <p:txBody>
          <a:bodyPr wrap="square" anchor="t" lIns="0" rIns="0" tIns="0" bIns="0">
            <a:noAutofit/>
          </a:bodyPr>
          <a:lstStyle/>
          <a:p>
            <a:pPr algn="l">
              <a:lnSpc>
                <a:spcPct val="100000"/>
              </a:lnSpc>
              <a:spcBef>
                <a:spcPts val="0"/>
              </a:spcBef>
              <a:spcAft>
                <a:spcPts val="0"/>
              </a:spcAft>
            </a:pPr>
            <a:r>
              <a:rPr sz="5300" b="1" i="0">
                <a:solidFill>
                  <a:srgbClr val="FFFFFF"/>
                </a:solidFill>
                <a:latin typeface="Arial"/>
              </a:rPr>
              <a:t>Internet, brauzerlar va elektron pochta bilan ishlash</a:t>
            </a:r>
          </a:p>
        </p:txBody>
      </p:sp>
      <p:sp>
        <p:nvSpPr>
          <p:cNvPr id="4" name="Subtitle"/>
          <p:cNvSpPr txBox="1"/>
          <p:nvPr/>
        </p:nvSpPr>
        <p:spPr>
          <a:xfrm>
            <a:off x="640080" y="4160520"/>
            <a:ext cx="10911535" cy="54864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C3CCDA"/>
                </a:solidFill>
                <a:latin typeface="Arial"/>
              </a:rPr>
              <a:t>5-mavzu · I bob: Kompyuter savodxonligi va arxitekturasi</a:t>
            </a:r>
          </a:p>
        </p:txBody>
      </p:sp>
      <p:sp>
        <p:nvSpPr>
          <p:cNvPr id="5" name="Lecturer"/>
          <p:cNvSpPr txBox="1"/>
          <p:nvPr/>
        </p:nvSpPr>
        <p:spPr>
          <a:xfrm>
            <a:off x="640080" y="5760720"/>
            <a:ext cx="10911535" cy="41148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Arial"/>
              </a:rPr>
              <a:t>mentor I. J. Husainov · Muhammad al-Xorazmiy vorislari · 8-sinf · 2026-2027</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MUAMMO</a:t>
            </a:r>
          </a:p>
        </p:txBody>
      </p:sp>
      <p:sp>
        <p:nvSpPr>
          <p:cNvPr id="3" name="Hook question"/>
          <p:cNvSpPr txBox="1"/>
          <p:nvPr/>
        </p:nvSpPr>
        <p:spPr>
          <a:xfrm>
            <a:off x="640080" y="914400"/>
            <a:ext cx="10911535" cy="4114800"/>
          </a:xfrm>
          <a:prstGeom prst="rect">
            <a:avLst/>
          </a:prstGeom>
          <a:noFill/>
        </p:spPr>
        <p:txBody>
          <a:bodyPr wrap="square" anchor="ctr" lIns="0" rIns="0" tIns="0" bIns="0">
            <a:noAutofit/>
          </a:bodyPr>
          <a:lstStyle/>
          <a:p>
            <a:pPr algn="l">
              <a:lnSpc>
                <a:spcPct val="110000"/>
              </a:lnSpc>
              <a:spcBef>
                <a:spcPts val="0"/>
              </a:spcBef>
              <a:spcAft>
                <a:spcPts val="0"/>
              </a:spcAft>
            </a:pPr>
            <a:r>
              <a:rPr sz="4000" b="1" i="0">
                <a:solidFill>
                  <a:srgbClr val="111111"/>
                </a:solidFill>
                <a:latin typeface="Arial"/>
              </a:rPr>
              <a:t>Telefoningizga xabar keldi: «Hisobingiz bloklanadi! Bir soat ichida havolani bosing». Bosasizmi?</a:t>
            </a:r>
          </a:p>
        </p:txBody>
      </p:sp>
      <p:sp>
        <p:nvSpPr>
          <p:cNvPr id="4"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BUGUN</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Bugun nimani o'rganamiz</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Internet va veb farqini, sayt ochilish yo'lini va keshni </a:t>
            </a:r>
            <a:r>
              <a:rPr sz="2600" b="1" i="0">
                <a:solidFill>
                  <a:srgbClr val="111111"/>
                </a:solidFill>
                <a:latin typeface="Arial"/>
              </a:rPr>
              <a:t>tushuntira oladi</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Brauzerda ishlay oladi va qidiruvda qo'shtirnoq, minus, </a:t>
            </a:r>
            <a:r>
              <a:rPr sz="2600" b="0" i="0">
                <a:solidFill>
                  <a:srgbClr val="0052CC"/>
                </a:solidFill>
                <a:latin typeface="Courier New"/>
              </a:rPr>
              <a:t>site:</a:t>
            </a:r>
            <a:r>
              <a:rPr sz="2600" b="0" i="0">
                <a:solidFill>
                  <a:srgbClr val="111111"/>
                </a:solidFill>
                <a:latin typeface="Arial"/>
              </a:rPr>
              <a:t>, </a:t>
            </a:r>
            <a:r>
              <a:rPr sz="2600" b="0" i="0">
                <a:solidFill>
                  <a:srgbClr val="0052CC"/>
                </a:solidFill>
                <a:latin typeface="Courier New"/>
              </a:rPr>
              <a:t>filetype:</a:t>
            </a:r>
            <a:r>
              <a:rPr sz="2600" b="0" i="0">
                <a:solidFill>
                  <a:srgbClr val="111111"/>
                </a:solidFill>
                <a:latin typeface="Arial"/>
              </a:rPr>
              <a:t> ni </a:t>
            </a:r>
            <a:r>
              <a:rPr sz="2600" b="1" i="0">
                <a:solidFill>
                  <a:srgbClr val="111111"/>
                </a:solidFill>
                <a:latin typeface="Arial"/>
              </a:rPr>
              <a:t>qo'llay oladi</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Mavzusi va biriktirmasi bor xatni </a:t>
            </a:r>
            <a:r>
              <a:rPr sz="2600" b="1" i="0">
                <a:solidFill>
                  <a:srgbClr val="111111"/>
                </a:solidFill>
                <a:latin typeface="Arial"/>
              </a:rPr>
              <a:t>yoza oladi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Fishing xabarini belgilari bo'yicha </a:t>
            </a:r>
            <a:r>
              <a:rPr sz="2600" b="1" i="0">
                <a:solidFill>
                  <a:srgbClr val="111111"/>
                </a:solidFill>
                <a:latin typeface="Arial"/>
              </a:rPr>
              <a:t>aniqlay oladi</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01</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Internet va brauzer</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Internet yo'l bo'lsa, veb-saytlar shu yo'ldagi mashinalardan biri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Internet: bir-biriga ulangan kompyuterlar tarmog'i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Veb: internetdagi saytlar, uning bir xizmati</a:t>
            </a:r>
          </a:p>
        </p:txBody>
      </p:sp>
      <p:pic>
        <p:nvPicPr>
          <p:cNvPr id="5" name="Figure img1" descr="Yo'lda to'rtta mashina: sayt, xat, xabar va bulut olib ketayotgan transport"/>
          <p:cNvPicPr>
            <a:picLocks noChangeAspect="1"/>
          </p:cNvPicPr>
          <p:nvPr/>
        </p:nvPicPr>
        <p:blipFill>
          <a:blip r:embed="rId2"/>
          <a:stretch>
            <a:fillRect/>
          </a:stretch>
        </p:blipFill>
        <p:spPr>
          <a:xfrm>
            <a:off x="5152223" y="2314014"/>
            <a:ext cx="6399391" cy="3601571"/>
          </a:xfrm>
          <a:prstGeom prst="rect">
            <a:avLst/>
          </a:prstGeom>
        </p:spPr>
      </p:pic>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Internetning asosiy xizmatlari: veb, elektron pochta, xabar almashish va bulut</a:t>
            </a:r>
          </a:p>
        </p:txBody>
      </p:sp>
      <p:graphicFrame>
        <p:nvGraphicFramePr>
          <p:cNvPr id="4" name="Table"/>
          <p:cNvGraphicFramePr>
            <a:graphicFrameLocks noGrp="1"/>
          </p:cNvGraphicFramePr>
          <p:nvPr/>
        </p:nvGraphicFramePr>
        <p:xfrm>
          <a:off x="640080" y="2148840"/>
          <a:ext cx="10911535" cy="3200400"/>
        </p:xfrm>
        <a:graphic>
          <a:graphicData uri="http://schemas.openxmlformats.org/drawingml/2006/table">
            <a:tbl>
              <a:tblPr firstRow="1" bandRow="1">
                <a:tableStyleId>{5C22544A-7EE6-4342-B048-85BDC9FD1C3A}</a:tableStyleId>
              </a:tblPr>
              <a:tblGrid>
                <a:gridCol w="5455767"/>
                <a:gridCol w="5455768"/>
              </a:tblGrid>
              <a:tr h="640080">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Xizmat</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Misol</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Veb</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Maktab sayti, Wikipedia</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Elektron pochta</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Gmail</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Xabar almashish</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Telegram</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Bulut</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Google Drive</a:t>
                      </a:r>
                    </a:p>
                  </a:txBody>
                  <a:tcPr anchor="ctr">
                    <a:solidFill>
                      <a:srgbClr val="EEF2F7"/>
                    </a:solidFill>
                  </a:tcPr>
                </a:tc>
              </a:tr>
            </a:tbl>
          </a:graphicData>
        </a:graphic>
      </p:graphicFrame>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Internet va veb haqida qaysi gap to'g'ri?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Internet va veb bir xil narsa</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Veb internetdagi xizmatlardan biri</a:t>
            </a:r>
          </a:p>
        </p:txBody>
      </p:sp>
      <p:sp>
        <p:nvSpPr>
          <p:cNvPr id="10" name="Correct answer"/>
          <p:cNvSpPr/>
          <p:nvPr/>
        </p:nvSpPr>
        <p:spPr>
          <a:xfrm>
            <a:off x="6196431" y="211226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1"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2" name="TextBox 11"/>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3" name="TextBox 12"/>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Veb internetsiz ham ishlaydi</a:t>
            </a: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Internet faqat saytlardan iborat</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Internet katta tarmoq, veb esa shu tarmoqdagi xizmatlardan biri.</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Sayt manzili (URL) uch qismdan iborat: protokol, domen va sahifa yo'li</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https://</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ulanish turi; ma'lumot shifrlangan holda boradi</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uzedu.uz</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domen: saytning nomi</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/yangiliklar</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saytdagi aniq sahifa</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Domen odam uchun nom, IP manzil kompyuter uchun raqam</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IP manzil</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har bir kompyuter va serverning raqamli manzili</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Domen</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IP manzilning eslab qolish oson nomi: uzedu.uz</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DNS</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domenni IP manzilga aylantiradigan xizmat</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Sayt ochilganda so'rov serverga boradi, javob esa sahifa bo'lib qaytadi</a:t>
            </a:r>
          </a:p>
        </p:txBody>
      </p:sp>
      <p:sp>
        <p:nvSpPr>
          <p:cNvPr id="4" name="Flow box 1"/>
          <p:cNvSpPr/>
          <p:nvPr/>
        </p:nvSpPr>
        <p:spPr>
          <a:xfrm>
            <a:off x="640080"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Brauzer</a:t>
            </a:r>
          </a:p>
        </p:txBody>
      </p:sp>
      <p:sp>
        <p:nvSpPr>
          <p:cNvPr id="5" name="Flow label 1"/>
          <p:cNvSpPr txBox="1"/>
          <p:nvPr/>
        </p:nvSpPr>
        <p:spPr>
          <a:xfrm>
            <a:off x="640080"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manzil yozasiz</a:t>
            </a:r>
          </a:p>
        </p:txBody>
      </p:sp>
      <p:sp>
        <p:nvSpPr>
          <p:cNvPr id="6" name="Arrow 1"/>
          <p:cNvSpPr/>
          <p:nvPr/>
        </p:nvSpPr>
        <p:spPr>
          <a:xfrm>
            <a:off x="3082213" y="3721608"/>
            <a:ext cx="320040" cy="329184"/>
          </a:xfrm>
          <a:prstGeom prst="rightArrow">
            <a:avLst/>
          </a:prstGeom>
          <a:solidFill>
            <a:srgbClr val="4B5563"/>
          </a:solidFill>
          <a:ln>
            <a:noFill/>
          </a:ln>
        </p:spPr>
        <p:txBody>
          <a:bodyPr rtlCol="0" anchor="ctr"/>
          <a:lstStyle/>
          <a:p>
            <a:pPr algn="ctr"/>
          </a:p>
        </p:txBody>
      </p:sp>
      <p:sp>
        <p:nvSpPr>
          <p:cNvPr id="7" name="Flow box 2"/>
          <p:cNvSpPr/>
          <p:nvPr/>
        </p:nvSpPr>
        <p:spPr>
          <a:xfrm>
            <a:off x="3493693"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DNS</a:t>
            </a:r>
          </a:p>
        </p:txBody>
      </p:sp>
      <p:sp>
        <p:nvSpPr>
          <p:cNvPr id="8" name="Flow label 2"/>
          <p:cNvSpPr txBox="1"/>
          <p:nvPr/>
        </p:nvSpPr>
        <p:spPr>
          <a:xfrm>
            <a:off x="3493693"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IP manzilni topadi</a:t>
            </a:r>
          </a:p>
        </p:txBody>
      </p:sp>
      <p:sp>
        <p:nvSpPr>
          <p:cNvPr id="9" name="Arrow 2"/>
          <p:cNvSpPr/>
          <p:nvPr/>
        </p:nvSpPr>
        <p:spPr>
          <a:xfrm>
            <a:off x="5935827" y="3721608"/>
            <a:ext cx="320040" cy="329184"/>
          </a:xfrm>
          <a:prstGeom prst="rightArrow">
            <a:avLst/>
          </a:prstGeom>
          <a:solidFill>
            <a:srgbClr val="4B5563"/>
          </a:solidFill>
          <a:ln>
            <a:noFill/>
          </a:ln>
        </p:spPr>
        <p:txBody>
          <a:bodyPr rtlCol="0" anchor="ctr"/>
          <a:lstStyle/>
          <a:p>
            <a:pPr algn="ctr"/>
          </a:p>
        </p:txBody>
      </p:sp>
      <p:sp>
        <p:nvSpPr>
          <p:cNvPr id="10" name="Flow box 3"/>
          <p:cNvSpPr/>
          <p:nvPr/>
        </p:nvSpPr>
        <p:spPr>
          <a:xfrm>
            <a:off x="6347307"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Server</a:t>
            </a:r>
          </a:p>
        </p:txBody>
      </p:sp>
      <p:sp>
        <p:nvSpPr>
          <p:cNvPr id="11" name="Flow label 3"/>
          <p:cNvSpPr txBox="1"/>
          <p:nvPr/>
        </p:nvSpPr>
        <p:spPr>
          <a:xfrm>
            <a:off x="6347307"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so'rovni oladi</a:t>
            </a:r>
          </a:p>
        </p:txBody>
      </p:sp>
      <p:sp>
        <p:nvSpPr>
          <p:cNvPr id="12" name="Arrow 3"/>
          <p:cNvSpPr/>
          <p:nvPr/>
        </p:nvSpPr>
        <p:spPr>
          <a:xfrm>
            <a:off x="8789441" y="3721608"/>
            <a:ext cx="320040" cy="329184"/>
          </a:xfrm>
          <a:prstGeom prst="rightArrow">
            <a:avLst/>
          </a:prstGeom>
          <a:solidFill>
            <a:srgbClr val="4B5563"/>
          </a:solidFill>
          <a:ln>
            <a:noFill/>
          </a:ln>
        </p:spPr>
        <p:txBody>
          <a:bodyPr rtlCol="0" anchor="ctr"/>
          <a:lstStyle/>
          <a:p>
            <a:pPr algn="ctr"/>
          </a:p>
        </p:txBody>
      </p:sp>
      <p:sp>
        <p:nvSpPr>
          <p:cNvPr id="13" name="Flow box 4"/>
          <p:cNvSpPr/>
          <p:nvPr/>
        </p:nvSpPr>
        <p:spPr>
          <a:xfrm>
            <a:off x="9200921" y="3246120"/>
            <a:ext cx="2350693" cy="1280160"/>
          </a:xfrm>
          <a:prstGeom prst="roundRect">
            <a:avLst>
              <a:gd name="adj" fmla="val 12000"/>
            </a:avLst>
          </a:prstGeom>
          <a:solidFill>
            <a:srgbClr val="0052CC"/>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FFFFFF"/>
                </a:solidFill>
                <a:latin typeface="Arial"/>
              </a:rPr>
              <a:t>Sahifa</a:t>
            </a:r>
          </a:p>
        </p:txBody>
      </p:sp>
      <p:sp>
        <p:nvSpPr>
          <p:cNvPr id="14" name="Flow label 4"/>
          <p:cNvSpPr txBox="1"/>
          <p:nvPr/>
        </p:nvSpPr>
        <p:spPr>
          <a:xfrm>
            <a:off x="9200921"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ekranda chiqadi</a:t>
            </a:r>
          </a:p>
        </p:txBody>
      </p:sp>
      <p:sp>
        <p:nvSpPr>
          <p:cNvPr id="1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Brauzer saytdan kelgan ma'lumotni sahifa qilib ko'rsatadigan dastur</a:t>
            </a:r>
          </a:p>
        </p:txBody>
      </p:sp>
      <p:graphicFrame>
        <p:nvGraphicFramePr>
          <p:cNvPr id="4" name="Table"/>
          <p:cNvGraphicFramePr>
            <a:graphicFrameLocks noGrp="1"/>
          </p:cNvGraphicFramePr>
          <p:nvPr/>
        </p:nvGraphicFramePr>
        <p:xfrm>
          <a:off x="640080" y="2148840"/>
          <a:ext cx="10911535" cy="3200400"/>
        </p:xfrm>
        <a:graphic>
          <a:graphicData uri="http://schemas.openxmlformats.org/drawingml/2006/table">
            <a:tbl>
              <a:tblPr firstRow="1" bandRow="1">
                <a:tableStyleId>{5C22544A-7EE6-4342-B048-85BDC9FD1C3A}</a:tableStyleId>
              </a:tblPr>
              <a:tblGrid>
                <a:gridCol w="5455767"/>
                <a:gridCol w="5455768"/>
              </a:tblGrid>
              <a:tr h="640080">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Brauzer</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Kim yaratgan</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Chrome</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Google</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Edge</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Microsoft</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Firefox</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Mozilla</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Safari</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Apple</a:t>
                      </a:r>
                    </a:p>
                  </a:txBody>
                  <a:tcPr anchor="ctr">
                    <a:solidFill>
                      <a:srgbClr val="EEF2F7"/>
                    </a:solidFill>
                  </a:tcPr>
                </a:tc>
              </a:tr>
            </a:tbl>
          </a:graphicData>
        </a:graphic>
      </p:graphicFrame>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Brauzerning besh asosiy qismi: manzil satri, tab, xatcho'p, tarix va yuklashlar</a:t>
            </a:r>
          </a:p>
        </p:txBody>
      </p:sp>
      <p:sp>
        <p:nvSpPr>
          <p:cNvPr id="4" name="Term 1"/>
          <p:cNvSpPr txBox="1"/>
          <p:nvPr/>
        </p:nvSpPr>
        <p:spPr>
          <a:xfrm>
            <a:off x="640080" y="2148840"/>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Manzil satri</a:t>
            </a:r>
          </a:p>
        </p:txBody>
      </p:sp>
      <p:sp>
        <p:nvSpPr>
          <p:cNvPr id="5" name="Meaning 1"/>
          <p:cNvSpPr txBox="1"/>
          <p:nvPr/>
        </p:nvSpPr>
        <p:spPr>
          <a:xfrm>
            <a:off x="4754880" y="2167128"/>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sayt manzili yoziladigan va qidiriladigan joy</a:t>
            </a:r>
          </a:p>
        </p:txBody>
      </p:sp>
      <p:sp>
        <p:nvSpPr>
          <p:cNvPr id="6" name="Term 2"/>
          <p:cNvSpPr txBox="1"/>
          <p:nvPr/>
        </p:nvSpPr>
        <p:spPr>
          <a:xfrm>
            <a:off x="640080" y="2935224"/>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Tab</a:t>
            </a:r>
          </a:p>
        </p:txBody>
      </p:sp>
      <p:sp>
        <p:nvSpPr>
          <p:cNvPr id="7" name="Meaning 2"/>
          <p:cNvSpPr txBox="1"/>
          <p:nvPr/>
        </p:nvSpPr>
        <p:spPr>
          <a:xfrm>
            <a:off x="4754880" y="2953512"/>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bitta oynada bir nechta sayt: Ctrl+T yangi tab</a:t>
            </a:r>
          </a:p>
        </p:txBody>
      </p:sp>
      <p:sp>
        <p:nvSpPr>
          <p:cNvPr id="8" name="Term 3"/>
          <p:cNvSpPr txBox="1"/>
          <p:nvPr/>
        </p:nvSpPr>
        <p:spPr>
          <a:xfrm>
            <a:off x="640080" y="3721608"/>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Xatcho'p</a:t>
            </a:r>
          </a:p>
        </p:txBody>
      </p:sp>
      <p:sp>
        <p:nvSpPr>
          <p:cNvPr id="9" name="Meaning 3"/>
          <p:cNvSpPr txBox="1"/>
          <p:nvPr/>
        </p:nvSpPr>
        <p:spPr>
          <a:xfrm>
            <a:off x="4754880" y="3739896"/>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sevimli sayt manzilini saqlash: Ctrl+D</a:t>
            </a:r>
          </a:p>
        </p:txBody>
      </p:sp>
      <p:sp>
        <p:nvSpPr>
          <p:cNvPr id="10" name="Term 4"/>
          <p:cNvSpPr txBox="1"/>
          <p:nvPr/>
        </p:nvSpPr>
        <p:spPr>
          <a:xfrm>
            <a:off x="640080" y="4507992"/>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Tarix</a:t>
            </a:r>
          </a:p>
        </p:txBody>
      </p:sp>
      <p:sp>
        <p:nvSpPr>
          <p:cNvPr id="11" name="Meaning 4"/>
          <p:cNvSpPr txBox="1"/>
          <p:nvPr/>
        </p:nvSpPr>
        <p:spPr>
          <a:xfrm>
            <a:off x="4754880" y="4526279"/>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ochilgan saytlar ro'yxati: Ctrl+H</a:t>
            </a:r>
          </a:p>
        </p:txBody>
      </p:sp>
      <p:sp>
        <p:nvSpPr>
          <p:cNvPr id="12" name="Term 5"/>
          <p:cNvSpPr txBox="1"/>
          <p:nvPr/>
        </p:nvSpPr>
        <p:spPr>
          <a:xfrm>
            <a:off x="640080" y="5294376"/>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Yuklashlar</a:t>
            </a:r>
          </a:p>
        </p:txBody>
      </p:sp>
      <p:sp>
        <p:nvSpPr>
          <p:cNvPr id="13" name="Meaning 5"/>
          <p:cNvSpPr txBox="1"/>
          <p:nvPr/>
        </p:nvSpPr>
        <p:spPr>
          <a:xfrm>
            <a:off x="4754880" y="5312664"/>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yuklab olingan fayllar: Ctrl+J</a:t>
            </a:r>
          </a:p>
        </p:txBody>
      </p:sp>
      <p:sp>
        <p:nvSpPr>
          <p:cNvPr id="14"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NAVBAT SIZDA · JUFTLIKDA</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Brauzerda sinab ko'ring</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2 DAQ</a:t>
            </a:r>
          </a:p>
        </p:txBody>
      </p:sp>
      <p:sp>
        <p:nvSpPr>
          <p:cNvPr id="5" name="Steps"/>
          <p:cNvSpPr txBox="1"/>
          <p:nvPr/>
        </p:nvSpPr>
        <p:spPr>
          <a:xfrm>
            <a:off x="640080" y="2148840"/>
            <a:ext cx="10911535" cy="39319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Yangi tab oching va o'zingiz tanlagan saytni yozing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Sahifani xatcho'pga qo'shing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Tarixdan shu sahifani toping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Yuklashlar ro'yxatini oching</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Kesh sahifa nusxasini saqlaydi, shuning uchun sayt ikkinchi marta tez ochiladi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Sayt yangilansa, eski nusxa ko'rinishi mumkin: Ctrl+F5</a:t>
            </a:r>
          </a:p>
        </p:txBody>
      </p:sp>
      <p:sp>
        <p:nvSpPr>
          <p:cNvPr id="5" name="Flow box 1"/>
          <p:cNvSpPr/>
          <p:nvPr/>
        </p:nvSpPr>
        <p:spPr>
          <a:xfrm>
            <a:off x="5152223" y="3246120"/>
            <a:ext cx="1797850"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Birinchi marta</a:t>
            </a:r>
          </a:p>
        </p:txBody>
      </p:sp>
      <p:sp>
        <p:nvSpPr>
          <p:cNvPr id="6" name="Flow label 1"/>
          <p:cNvSpPr txBox="1"/>
          <p:nvPr/>
        </p:nvSpPr>
        <p:spPr>
          <a:xfrm>
            <a:off x="5152223" y="4636008"/>
            <a:ext cx="1797850"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serverdan yuklanadi</a:t>
            </a:r>
          </a:p>
        </p:txBody>
      </p:sp>
      <p:sp>
        <p:nvSpPr>
          <p:cNvPr id="7" name="Arrow 1"/>
          <p:cNvSpPr/>
          <p:nvPr/>
        </p:nvSpPr>
        <p:spPr>
          <a:xfrm>
            <a:off x="7041513" y="3721608"/>
            <a:ext cx="320040" cy="329184"/>
          </a:xfrm>
          <a:prstGeom prst="rightArrow">
            <a:avLst/>
          </a:prstGeom>
          <a:solidFill>
            <a:srgbClr val="4B5563"/>
          </a:solidFill>
          <a:ln>
            <a:noFill/>
          </a:ln>
        </p:spPr>
        <p:txBody>
          <a:bodyPr rtlCol="0" anchor="ctr"/>
          <a:lstStyle/>
          <a:p>
            <a:pPr algn="ctr"/>
          </a:p>
        </p:txBody>
      </p:sp>
      <p:sp>
        <p:nvSpPr>
          <p:cNvPr id="8" name="Flow box 2"/>
          <p:cNvSpPr/>
          <p:nvPr/>
        </p:nvSpPr>
        <p:spPr>
          <a:xfrm>
            <a:off x="7452993" y="3246120"/>
            <a:ext cx="1797850"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Kesh</a:t>
            </a:r>
          </a:p>
        </p:txBody>
      </p:sp>
      <p:sp>
        <p:nvSpPr>
          <p:cNvPr id="9" name="Flow label 2"/>
          <p:cNvSpPr txBox="1"/>
          <p:nvPr/>
        </p:nvSpPr>
        <p:spPr>
          <a:xfrm>
            <a:off x="7452993" y="4636008"/>
            <a:ext cx="1797850"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nusxa saqlanadi</a:t>
            </a:r>
          </a:p>
        </p:txBody>
      </p:sp>
      <p:sp>
        <p:nvSpPr>
          <p:cNvPr id="10" name="Arrow 2"/>
          <p:cNvSpPr/>
          <p:nvPr/>
        </p:nvSpPr>
        <p:spPr>
          <a:xfrm>
            <a:off x="9342284" y="3721608"/>
            <a:ext cx="320040" cy="329184"/>
          </a:xfrm>
          <a:prstGeom prst="rightArrow">
            <a:avLst/>
          </a:prstGeom>
          <a:solidFill>
            <a:srgbClr val="4B5563"/>
          </a:solidFill>
          <a:ln>
            <a:noFill/>
          </a:ln>
        </p:spPr>
        <p:txBody>
          <a:bodyPr rtlCol="0" anchor="ctr"/>
          <a:lstStyle/>
          <a:p>
            <a:pPr algn="ctr"/>
          </a:p>
        </p:txBody>
      </p:sp>
      <p:sp>
        <p:nvSpPr>
          <p:cNvPr id="11" name="Flow box 3"/>
          <p:cNvSpPr/>
          <p:nvPr/>
        </p:nvSpPr>
        <p:spPr>
          <a:xfrm>
            <a:off x="9753764" y="3246120"/>
            <a:ext cx="1797850" cy="1280160"/>
          </a:xfrm>
          <a:prstGeom prst="roundRect">
            <a:avLst>
              <a:gd name="adj" fmla="val 12000"/>
            </a:avLst>
          </a:prstGeom>
          <a:solidFill>
            <a:srgbClr val="0052CC"/>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FFFFFF"/>
                </a:solidFill>
                <a:latin typeface="Arial"/>
              </a:rPr>
              <a:t>Ikkinchi marta</a:t>
            </a:r>
          </a:p>
        </p:txBody>
      </p:sp>
      <p:sp>
        <p:nvSpPr>
          <p:cNvPr id="12" name="Flow label 3"/>
          <p:cNvSpPr txBox="1"/>
          <p:nvPr/>
        </p:nvSpPr>
        <p:spPr>
          <a:xfrm>
            <a:off x="9753764" y="4636008"/>
            <a:ext cx="1797850"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keshdan olinadi</a:t>
            </a:r>
          </a:p>
        </p:txBody>
      </p:sp>
      <p:sp>
        <p:nvSpPr>
          <p:cNvPr id="13"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4"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6" grpId="0" animBg="1"/>
      <p:bldP spid="7" grpId="0" animBg="1"/>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Cookie sayt sizni eslab qolishi uchun brauzerda saqlanadigan kichik yozuv</a:t>
            </a:r>
          </a:p>
        </p:txBody>
      </p:sp>
      <p:sp>
        <p:nvSpPr>
          <p:cNvPr id="4" name="Points"/>
          <p:cNvSpPr txBox="1"/>
          <p:nvPr/>
        </p:nvSpPr>
        <p:spPr>
          <a:xfrm>
            <a:off x="640080" y="2148840"/>
            <a:ext cx="10911535"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Cookie tufayli saytga har safar qaytadan kirmaysiz</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Cookie tilingiz va savatingizni ham eslab qoladi</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Cookie'ni o'chirsangiz, sayt sizni unutadi</a:t>
            </a:r>
          </a:p>
        </p:txBody>
      </p:sp>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INTERNET VA BRAUZER</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Incognito rejimi tarixni shu kompyuterda saqlamaydi</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Incognito</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tarix, cookie va kesh yopilganda o'chadi</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Tarixni tozalash</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oddiy rejimda Ctrl+Shift+Delete</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Incognito rejimida sayt ochdingiz. Maktab tarmog'i administratori buni ko'ra oladimi?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Yo'q, hech kim ko'ra olmaydi</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Ha, ko'rishi mumkin</a:t>
            </a:r>
          </a:p>
        </p:txBody>
      </p:sp>
      <p:sp>
        <p:nvSpPr>
          <p:cNvPr id="10" name="Correct answer"/>
          <p:cNvSpPr/>
          <p:nvPr/>
        </p:nvSpPr>
        <p:spPr>
          <a:xfrm>
            <a:off x="6196431" y="211226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1"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2" name="TextBox 11"/>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3" name="TextBox 12"/>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Faqat parol yozsangiz</a:t>
            </a: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Faqat Chrome'da</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Incognito faqat shu kompyuterdagi tarixni saqlamaydi, tarmoq esa baribir ko'radi.</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02</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Qidiruv</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QIDIRUV</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Qidiruvga to'liq gap emas, asosiy kalit so'zlar yoziladi</a:t>
            </a:r>
          </a:p>
        </p:txBody>
      </p:sp>
      <p:sp>
        <p:nvSpPr>
          <p:cNvPr id="4" name="left column"/>
          <p:cNvSpPr/>
          <p:nvPr/>
        </p:nvSpPr>
        <p:spPr>
          <a:xfrm>
            <a:off x="640080" y="2148840"/>
            <a:ext cx="5227167" cy="3931920"/>
          </a:xfrm>
          <a:prstGeom prst="roundRect">
            <a:avLst>
              <a:gd name="adj" fmla="val 4000"/>
            </a:avLst>
          </a:prstGeom>
          <a:solidFill>
            <a:srgbClr val="EEF2F7"/>
          </a:solidFill>
          <a:ln>
            <a:noFill/>
          </a:ln>
        </p:spPr>
        <p:txBody>
          <a:bodyPr rtlCol="0" anchor="ctr"/>
          <a:lstStyle/>
          <a:p>
            <a:pPr algn="ctr"/>
          </a:p>
        </p:txBody>
      </p:sp>
      <p:sp>
        <p:nvSpPr>
          <p:cNvPr id="5" name="left title"/>
          <p:cNvSpPr txBox="1"/>
          <p:nvPr/>
        </p:nvSpPr>
        <p:spPr>
          <a:xfrm>
            <a:off x="914400"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Yomon qidiruv</a:t>
            </a:r>
          </a:p>
        </p:txBody>
      </p:sp>
      <p:sp>
        <p:nvSpPr>
          <p:cNvPr id="6" name="Points"/>
          <p:cNvSpPr txBox="1"/>
          <p:nvPr/>
        </p:nvSpPr>
        <p:spPr>
          <a:xfrm>
            <a:off x="914400"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Menga kompyuter protsessori haqida ma'lumot kerak edi</a:t>
            </a:r>
          </a:p>
        </p:txBody>
      </p:sp>
      <p:sp>
        <p:nvSpPr>
          <p:cNvPr id="7" name="right column"/>
          <p:cNvSpPr/>
          <p:nvPr/>
        </p:nvSpPr>
        <p:spPr>
          <a:xfrm>
            <a:off x="6324447" y="2148840"/>
            <a:ext cx="5227167" cy="3931920"/>
          </a:xfrm>
          <a:prstGeom prst="roundRect">
            <a:avLst>
              <a:gd name="adj" fmla="val 4000"/>
            </a:avLst>
          </a:prstGeom>
          <a:solidFill>
            <a:srgbClr val="EEF2F7"/>
          </a:solidFill>
          <a:ln>
            <a:noFill/>
          </a:ln>
        </p:spPr>
        <p:txBody>
          <a:bodyPr rtlCol="0" anchor="ctr"/>
          <a:lstStyle/>
          <a:p>
            <a:pPr algn="ctr"/>
          </a:p>
        </p:txBody>
      </p:sp>
      <p:sp>
        <p:nvSpPr>
          <p:cNvPr id="8" name="right title"/>
          <p:cNvSpPr txBox="1"/>
          <p:nvPr/>
        </p:nvSpPr>
        <p:spPr>
          <a:xfrm>
            <a:off x="6598767"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Yaxshi qidiruv</a:t>
            </a:r>
          </a:p>
        </p:txBody>
      </p:sp>
      <p:sp>
        <p:nvSpPr>
          <p:cNvPr id="9" name="Points"/>
          <p:cNvSpPr txBox="1"/>
          <p:nvPr/>
        </p:nvSpPr>
        <p:spPr>
          <a:xfrm>
            <a:off x="6598767"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protsessor nima</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4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4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bldP spid="7" grpId="0" animBg="1"/>
      <p:bldP spid="8" grpId="0" animBg="1"/>
      <p:bldP spid="9"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QIDIRUV</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Qidiruv belgilari natijani aniq qiladi: qo'shtirnoq, minus, site va filetype</a:t>
            </a:r>
          </a:p>
        </p:txBody>
      </p:sp>
      <p:graphicFrame>
        <p:nvGraphicFramePr>
          <p:cNvPr id="4" name="Table"/>
          <p:cNvGraphicFramePr>
            <a:graphicFrameLocks noGrp="1"/>
          </p:cNvGraphicFramePr>
          <p:nvPr/>
        </p:nvGraphicFramePr>
        <p:xfrm>
          <a:off x="640080" y="2148840"/>
          <a:ext cx="10911535" cy="3200400"/>
        </p:xfrm>
        <a:graphic>
          <a:graphicData uri="http://schemas.openxmlformats.org/drawingml/2006/table">
            <a:tbl>
              <a:tblPr firstRow="1" bandRow="1">
                <a:tableStyleId>{5C22544A-7EE6-4342-B048-85BDC9FD1C3A}</a:tableStyleId>
              </a:tblPr>
              <a:tblGrid>
                <a:gridCol w="3637178"/>
                <a:gridCol w="3637178"/>
                <a:gridCol w="3637179"/>
              </a:tblGrid>
              <a:tr h="640080">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Belgi</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Nima qiladi</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Misol</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 "</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aniq iborani qidiradi</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"operatsion tizim nima"</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so'zni natijadan chiqaradi</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python -ilon</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site:</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faqat bitta sayt ichida qidiradi</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site:wikipedia.org Xorazmiy</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filetype:</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fayl turini tanlaydi</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filetype:pdf informatika</a:t>
                      </a:r>
                    </a:p>
                  </a:txBody>
                  <a:tcPr anchor="ctr">
                    <a:solidFill>
                      <a:srgbClr val="EEF2F7"/>
                    </a:solidFill>
                  </a:tcPr>
                </a:tc>
              </a:tr>
            </a:tbl>
          </a:graphicData>
        </a:graphic>
      </p:graphicFrame>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NAVBAT SIZDA · JUFTLIKDA</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Bir savolni ikki usul bilan qidiring</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3 DAQ</a:t>
            </a:r>
          </a:p>
        </p:txBody>
      </p:sp>
      <p:sp>
        <p:nvSpPr>
          <p:cNvPr id="5" name="Steps"/>
          <p:cNvSpPr txBox="1"/>
          <p:nvPr/>
        </p:nvSpPr>
        <p:spPr>
          <a:xfrm>
            <a:off x="640080" y="2148840"/>
            <a:ext cx="10911535" cy="39319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Qidiruvga faqat python deb yozing va natijalarni ko'ring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Endi python -ilon deb yozing va farqni toping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site:wikipedia.org python deb yozing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Qaysi usul sizga eng foydali natija berdi? Nega?</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QIDIRUV</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Topilgan ma'lumotga ishonishdan oldin manbani tekshiring</a:t>
            </a:r>
          </a:p>
        </p:txBody>
      </p:sp>
      <p:sp>
        <p:nvSpPr>
          <p:cNvPr id="4" name="Points"/>
          <p:cNvSpPr txBox="1"/>
          <p:nvPr/>
        </p:nvSpPr>
        <p:spPr>
          <a:xfrm>
            <a:off x="640080" y="2148840"/>
            <a:ext cx="10911535"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Kim yozgan: muallif yoki tashkilot ma'lummi?</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Qachon yozilgan: sana yangimi?</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Boshqa manbalar ham shuni aytadimi?</a:t>
            </a:r>
          </a:p>
        </p:txBody>
      </p:sp>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03</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Elektron pochta</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ELEKTRON POCHTA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Gmail akkaunt yaratish bir necha qadamdan iborat</a:t>
            </a:r>
          </a:p>
        </p:txBody>
      </p:sp>
      <p:sp>
        <p:nvSpPr>
          <p:cNvPr id="4" name="Flow box 1"/>
          <p:cNvSpPr/>
          <p:nvPr/>
        </p:nvSpPr>
        <p:spPr>
          <a:xfrm>
            <a:off x="640080" y="3246120"/>
            <a:ext cx="1779971"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Ism, familiya</a:t>
            </a:r>
          </a:p>
        </p:txBody>
      </p:sp>
      <p:sp>
        <p:nvSpPr>
          <p:cNvPr id="5" name="Flow label 1"/>
          <p:cNvSpPr txBox="1"/>
          <p:nvPr/>
        </p:nvSpPr>
        <p:spPr>
          <a:xfrm>
            <a:off x="640080" y="4636008"/>
            <a:ext cx="1779971"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yoziladi</a:t>
            </a:r>
          </a:p>
        </p:txBody>
      </p:sp>
      <p:sp>
        <p:nvSpPr>
          <p:cNvPr id="6" name="Arrow 1"/>
          <p:cNvSpPr/>
          <p:nvPr/>
        </p:nvSpPr>
        <p:spPr>
          <a:xfrm>
            <a:off x="2511491" y="3721608"/>
            <a:ext cx="320040" cy="329184"/>
          </a:xfrm>
          <a:prstGeom prst="rightArrow">
            <a:avLst/>
          </a:prstGeom>
          <a:solidFill>
            <a:srgbClr val="4B5563"/>
          </a:solidFill>
          <a:ln>
            <a:noFill/>
          </a:ln>
        </p:spPr>
        <p:txBody>
          <a:bodyPr rtlCol="0" anchor="ctr"/>
          <a:lstStyle/>
          <a:p>
            <a:pPr algn="ctr"/>
          </a:p>
        </p:txBody>
      </p:sp>
      <p:sp>
        <p:nvSpPr>
          <p:cNvPr id="7" name="Flow box 2"/>
          <p:cNvSpPr/>
          <p:nvPr/>
        </p:nvSpPr>
        <p:spPr>
          <a:xfrm>
            <a:off x="2922971" y="3246120"/>
            <a:ext cx="1779971"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Tug'ilgan sana</a:t>
            </a:r>
          </a:p>
        </p:txBody>
      </p:sp>
      <p:sp>
        <p:nvSpPr>
          <p:cNvPr id="8" name="Flow label 2"/>
          <p:cNvSpPr txBox="1"/>
          <p:nvPr/>
        </p:nvSpPr>
        <p:spPr>
          <a:xfrm>
            <a:off x="2922971" y="4636008"/>
            <a:ext cx="1779971"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kiritiladi</a:t>
            </a:r>
          </a:p>
        </p:txBody>
      </p:sp>
      <p:sp>
        <p:nvSpPr>
          <p:cNvPr id="9" name="Arrow 2"/>
          <p:cNvSpPr/>
          <p:nvPr/>
        </p:nvSpPr>
        <p:spPr>
          <a:xfrm>
            <a:off x="4794382" y="3721608"/>
            <a:ext cx="320040" cy="329184"/>
          </a:xfrm>
          <a:prstGeom prst="rightArrow">
            <a:avLst/>
          </a:prstGeom>
          <a:solidFill>
            <a:srgbClr val="4B5563"/>
          </a:solidFill>
          <a:ln>
            <a:noFill/>
          </a:ln>
        </p:spPr>
        <p:txBody>
          <a:bodyPr rtlCol="0" anchor="ctr"/>
          <a:lstStyle/>
          <a:p>
            <a:pPr algn="ctr"/>
          </a:p>
        </p:txBody>
      </p:sp>
      <p:sp>
        <p:nvSpPr>
          <p:cNvPr id="10" name="Flow box 3"/>
          <p:cNvSpPr/>
          <p:nvPr/>
        </p:nvSpPr>
        <p:spPr>
          <a:xfrm>
            <a:off x="5205862" y="3246120"/>
            <a:ext cx="1779971"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Gmail manzil</a:t>
            </a:r>
          </a:p>
        </p:txBody>
      </p:sp>
      <p:sp>
        <p:nvSpPr>
          <p:cNvPr id="11" name="Flow label 3"/>
          <p:cNvSpPr txBox="1"/>
          <p:nvPr/>
        </p:nvSpPr>
        <p:spPr>
          <a:xfrm>
            <a:off x="5205862" y="4636008"/>
            <a:ext cx="1779971"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tanlanadi</a:t>
            </a:r>
          </a:p>
        </p:txBody>
      </p:sp>
      <p:sp>
        <p:nvSpPr>
          <p:cNvPr id="12" name="Arrow 3"/>
          <p:cNvSpPr/>
          <p:nvPr/>
        </p:nvSpPr>
        <p:spPr>
          <a:xfrm>
            <a:off x="7077273" y="3721608"/>
            <a:ext cx="320040" cy="329184"/>
          </a:xfrm>
          <a:prstGeom prst="rightArrow">
            <a:avLst/>
          </a:prstGeom>
          <a:solidFill>
            <a:srgbClr val="4B5563"/>
          </a:solidFill>
          <a:ln>
            <a:noFill/>
          </a:ln>
        </p:spPr>
        <p:txBody>
          <a:bodyPr rtlCol="0" anchor="ctr"/>
          <a:lstStyle/>
          <a:p>
            <a:pPr algn="ctr"/>
          </a:p>
        </p:txBody>
      </p:sp>
      <p:sp>
        <p:nvSpPr>
          <p:cNvPr id="13" name="Flow box 4"/>
          <p:cNvSpPr/>
          <p:nvPr/>
        </p:nvSpPr>
        <p:spPr>
          <a:xfrm>
            <a:off x="7488753" y="3246120"/>
            <a:ext cx="1779971"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Parol</a:t>
            </a:r>
          </a:p>
        </p:txBody>
      </p:sp>
      <p:sp>
        <p:nvSpPr>
          <p:cNvPr id="14" name="Flow label 4"/>
          <p:cNvSpPr txBox="1"/>
          <p:nvPr/>
        </p:nvSpPr>
        <p:spPr>
          <a:xfrm>
            <a:off x="7488753" y="4636008"/>
            <a:ext cx="1779971"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o'ylab topiladi</a:t>
            </a:r>
          </a:p>
        </p:txBody>
      </p:sp>
      <p:sp>
        <p:nvSpPr>
          <p:cNvPr id="15" name="Arrow 4"/>
          <p:cNvSpPr/>
          <p:nvPr/>
        </p:nvSpPr>
        <p:spPr>
          <a:xfrm>
            <a:off x="9360164" y="3721608"/>
            <a:ext cx="320040" cy="329184"/>
          </a:xfrm>
          <a:prstGeom prst="rightArrow">
            <a:avLst/>
          </a:prstGeom>
          <a:solidFill>
            <a:srgbClr val="4B5563"/>
          </a:solidFill>
          <a:ln>
            <a:noFill/>
          </a:ln>
        </p:spPr>
        <p:txBody>
          <a:bodyPr rtlCol="0" anchor="ctr"/>
          <a:lstStyle/>
          <a:p>
            <a:pPr algn="ctr"/>
          </a:p>
        </p:txBody>
      </p:sp>
      <p:sp>
        <p:nvSpPr>
          <p:cNvPr id="16" name="Flow box 5"/>
          <p:cNvSpPr/>
          <p:nvPr/>
        </p:nvSpPr>
        <p:spPr>
          <a:xfrm>
            <a:off x="9771644" y="3246120"/>
            <a:ext cx="1779971" cy="1280160"/>
          </a:xfrm>
          <a:prstGeom prst="roundRect">
            <a:avLst>
              <a:gd name="adj" fmla="val 12000"/>
            </a:avLst>
          </a:prstGeom>
          <a:solidFill>
            <a:srgbClr val="0052CC"/>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FFFFFF"/>
                </a:solidFill>
                <a:latin typeface="Arial"/>
              </a:rPr>
              <a:t>Rozilik</a:t>
            </a:r>
          </a:p>
        </p:txBody>
      </p:sp>
      <p:sp>
        <p:nvSpPr>
          <p:cNvPr id="17" name="Flow label 5"/>
          <p:cNvSpPr txBox="1"/>
          <p:nvPr/>
        </p:nvSpPr>
        <p:spPr>
          <a:xfrm>
            <a:off x="9771644" y="4636008"/>
            <a:ext cx="1779971"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beriladi</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ELEKTRON POCHTA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Xat oltita qismdan iborat: Kimga, Cc, Bcc, Mavzu, matn va biriktirma</a:t>
            </a:r>
          </a:p>
        </p:txBody>
      </p:sp>
      <p:sp>
        <p:nvSpPr>
          <p:cNvPr id="4" name="Term 1"/>
          <p:cNvSpPr txBox="1"/>
          <p:nvPr/>
        </p:nvSpPr>
        <p:spPr>
          <a:xfrm>
            <a:off x="640080" y="2148840"/>
            <a:ext cx="3840480"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To</a:t>
            </a:r>
          </a:p>
        </p:txBody>
      </p:sp>
      <p:sp>
        <p:nvSpPr>
          <p:cNvPr id="5" name="Meaning 1"/>
          <p:cNvSpPr txBox="1"/>
          <p:nvPr/>
        </p:nvSpPr>
        <p:spPr>
          <a:xfrm>
            <a:off x="4754880" y="2167128"/>
            <a:ext cx="679673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kimga: xat asosan yuboriladigan odam</a:t>
            </a:r>
          </a:p>
        </p:txBody>
      </p:sp>
      <p:sp>
        <p:nvSpPr>
          <p:cNvPr id="6" name="Term 2"/>
          <p:cNvSpPr txBox="1"/>
          <p:nvPr/>
        </p:nvSpPr>
        <p:spPr>
          <a:xfrm>
            <a:off x="640080" y="2804160"/>
            <a:ext cx="3840480"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Cc</a:t>
            </a:r>
          </a:p>
        </p:txBody>
      </p:sp>
      <p:sp>
        <p:nvSpPr>
          <p:cNvPr id="7" name="Meaning 2"/>
          <p:cNvSpPr txBox="1"/>
          <p:nvPr/>
        </p:nvSpPr>
        <p:spPr>
          <a:xfrm>
            <a:off x="4754880" y="2822448"/>
            <a:ext cx="679673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nusxa: xabardor odam; hamma ko'radi</a:t>
            </a:r>
          </a:p>
        </p:txBody>
      </p:sp>
      <p:sp>
        <p:nvSpPr>
          <p:cNvPr id="8" name="Term 3"/>
          <p:cNvSpPr txBox="1"/>
          <p:nvPr/>
        </p:nvSpPr>
        <p:spPr>
          <a:xfrm>
            <a:off x="640080" y="3459480"/>
            <a:ext cx="3840480"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Bcc</a:t>
            </a:r>
          </a:p>
        </p:txBody>
      </p:sp>
      <p:sp>
        <p:nvSpPr>
          <p:cNvPr id="9" name="Meaning 3"/>
          <p:cNvSpPr txBox="1"/>
          <p:nvPr/>
        </p:nvSpPr>
        <p:spPr>
          <a:xfrm>
            <a:off x="4754880" y="3477768"/>
            <a:ext cx="679673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yashirin nusxa; boshqalar ko'rmaydi</a:t>
            </a:r>
          </a:p>
        </p:txBody>
      </p:sp>
      <p:sp>
        <p:nvSpPr>
          <p:cNvPr id="10" name="Term 4"/>
          <p:cNvSpPr txBox="1"/>
          <p:nvPr/>
        </p:nvSpPr>
        <p:spPr>
          <a:xfrm>
            <a:off x="640080" y="4114800"/>
            <a:ext cx="3840480"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Subject</a:t>
            </a:r>
          </a:p>
        </p:txBody>
      </p:sp>
      <p:sp>
        <p:nvSpPr>
          <p:cNvPr id="11" name="Meaning 4"/>
          <p:cNvSpPr txBox="1"/>
          <p:nvPr/>
        </p:nvSpPr>
        <p:spPr>
          <a:xfrm>
            <a:off x="4754880" y="4133087"/>
            <a:ext cx="679673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mavzu: xat nima haqida ekani</a:t>
            </a:r>
          </a:p>
        </p:txBody>
      </p:sp>
      <p:sp>
        <p:nvSpPr>
          <p:cNvPr id="12" name="Term 5"/>
          <p:cNvSpPr txBox="1"/>
          <p:nvPr/>
        </p:nvSpPr>
        <p:spPr>
          <a:xfrm>
            <a:off x="640080" y="4770120"/>
            <a:ext cx="3840480"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Matn</a:t>
            </a:r>
          </a:p>
        </p:txBody>
      </p:sp>
      <p:sp>
        <p:nvSpPr>
          <p:cNvPr id="13" name="Meaning 5"/>
          <p:cNvSpPr txBox="1"/>
          <p:nvPr/>
        </p:nvSpPr>
        <p:spPr>
          <a:xfrm>
            <a:off x="4754880" y="4788408"/>
            <a:ext cx="679673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xatning o'zi: nima yozasiz</a:t>
            </a:r>
          </a:p>
        </p:txBody>
      </p:sp>
      <p:sp>
        <p:nvSpPr>
          <p:cNvPr id="14" name="Term 6"/>
          <p:cNvSpPr txBox="1"/>
          <p:nvPr/>
        </p:nvSpPr>
        <p:spPr>
          <a:xfrm>
            <a:off x="640080" y="5425440"/>
            <a:ext cx="3840480"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Attachment</a:t>
            </a:r>
          </a:p>
        </p:txBody>
      </p:sp>
      <p:sp>
        <p:nvSpPr>
          <p:cNvPr id="15" name="Meaning 6"/>
          <p:cNvSpPr txBox="1"/>
          <p:nvPr/>
        </p:nvSpPr>
        <p:spPr>
          <a:xfrm>
            <a:off x="4754880" y="5443728"/>
            <a:ext cx="6796735" cy="65532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biriktirma: xatga qo'shilgan fayl</a:t>
            </a:r>
          </a:p>
        </p:txBody>
      </p:sp>
      <p:sp>
        <p:nvSpPr>
          <p:cNvPr id="1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Qaysi maydondagi manzillarni boshqa qabul qiluvchilar ko'rmaydi?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To</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Cc</a:t>
            </a:r>
          </a:p>
        </p:txBody>
      </p:sp>
      <p:sp>
        <p:nvSpPr>
          <p:cNvPr id="10"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1" name="TextBox 10"/>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2" name="TextBox 11"/>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Bcc</a:t>
            </a:r>
          </a:p>
        </p:txBody>
      </p:sp>
      <p:sp>
        <p:nvSpPr>
          <p:cNvPr id="13" name="Correct answer"/>
          <p:cNvSpPr/>
          <p:nvPr/>
        </p:nvSpPr>
        <p:spPr>
          <a:xfrm>
            <a:off x="603503" y="357530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Subject</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Bcc yashirin nusxa: u yerdagi manzillar boshqalarga ko'rinmaydi.</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ELEKTRON POCHTA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Yaxshi xatda mavzu, salom va imzo bo'ladi</a:t>
            </a:r>
          </a:p>
        </p:txBody>
      </p:sp>
      <p:sp>
        <p:nvSpPr>
          <p:cNvPr id="4" name="left column"/>
          <p:cNvSpPr/>
          <p:nvPr/>
        </p:nvSpPr>
        <p:spPr>
          <a:xfrm>
            <a:off x="640080" y="2148840"/>
            <a:ext cx="5227167" cy="3931920"/>
          </a:xfrm>
          <a:prstGeom prst="roundRect">
            <a:avLst>
              <a:gd name="adj" fmla="val 4000"/>
            </a:avLst>
          </a:prstGeom>
          <a:solidFill>
            <a:srgbClr val="EEF2F7"/>
          </a:solidFill>
          <a:ln>
            <a:noFill/>
          </a:ln>
        </p:spPr>
        <p:txBody>
          <a:bodyPr rtlCol="0" anchor="ctr"/>
          <a:lstStyle/>
          <a:p>
            <a:pPr algn="ctr"/>
          </a:p>
        </p:txBody>
      </p:sp>
      <p:sp>
        <p:nvSpPr>
          <p:cNvPr id="5" name="left title"/>
          <p:cNvSpPr txBox="1"/>
          <p:nvPr/>
        </p:nvSpPr>
        <p:spPr>
          <a:xfrm>
            <a:off x="914400"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Yomon xat</a:t>
            </a:r>
          </a:p>
        </p:txBody>
      </p:sp>
      <p:sp>
        <p:nvSpPr>
          <p:cNvPr id="6" name="Points"/>
          <p:cNvSpPr txBox="1"/>
          <p:nvPr/>
        </p:nvSpPr>
        <p:spPr>
          <a:xfrm>
            <a:off x="914400"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Mavzu yo'q</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Salom yo'q</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Imzo yo'q</a:t>
            </a:r>
          </a:p>
        </p:txBody>
      </p:sp>
      <p:sp>
        <p:nvSpPr>
          <p:cNvPr id="7" name="right column"/>
          <p:cNvSpPr/>
          <p:nvPr/>
        </p:nvSpPr>
        <p:spPr>
          <a:xfrm>
            <a:off x="6324447" y="2148840"/>
            <a:ext cx="5227167" cy="3931920"/>
          </a:xfrm>
          <a:prstGeom prst="roundRect">
            <a:avLst>
              <a:gd name="adj" fmla="val 4000"/>
            </a:avLst>
          </a:prstGeom>
          <a:solidFill>
            <a:srgbClr val="EEF2F7"/>
          </a:solidFill>
          <a:ln>
            <a:noFill/>
          </a:ln>
        </p:spPr>
        <p:txBody>
          <a:bodyPr rtlCol="0" anchor="ctr"/>
          <a:lstStyle/>
          <a:p>
            <a:pPr algn="ctr"/>
          </a:p>
        </p:txBody>
      </p:sp>
      <p:sp>
        <p:nvSpPr>
          <p:cNvPr id="8" name="right title"/>
          <p:cNvSpPr txBox="1"/>
          <p:nvPr/>
        </p:nvSpPr>
        <p:spPr>
          <a:xfrm>
            <a:off x="6598767"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Yaxshi xat</a:t>
            </a:r>
          </a:p>
        </p:txBody>
      </p:sp>
      <p:sp>
        <p:nvSpPr>
          <p:cNvPr id="9" name="Points"/>
          <p:cNvSpPr txBox="1"/>
          <p:nvPr/>
        </p:nvSpPr>
        <p:spPr>
          <a:xfrm>
            <a:off x="6598767"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Mavzu: Informatika, 8-sinf, uy vazifasi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Salom, ismi bilan murojaat</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Imzo: ism va sinf</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4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400"/>
                                        <p:tgtEl>
                                          <p:spTgt spid="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4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0" end="0"/>
                                            </p:txEl>
                                          </p:spTgt>
                                        </p:tgtEl>
                                        <p:attrNameLst>
                                          <p:attrName>style.visibility</p:attrName>
                                        </p:attrNameLst>
                                      </p:cBhvr>
                                      <p:to>
                                        <p:strVal val="visible"/>
                                      </p:to>
                                    </p:set>
                                    <p:animEffect transition="in" filter="fade">
                                      <p:cBhvr>
                                        <p:cTn id="38" dur="400"/>
                                        <p:tgtEl>
                                          <p:spTgt spid="9">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Effect transition="in" filter="fade">
                                      <p:cBhvr>
                                        <p:cTn id="43" dur="400"/>
                                        <p:tgtEl>
                                          <p:spTgt spid="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2" end="2"/>
                                            </p:txEl>
                                          </p:spTgt>
                                        </p:tgtEl>
                                        <p:attrNameLst>
                                          <p:attrName>style.visibility</p:attrName>
                                        </p:attrNameLst>
                                      </p:cBhvr>
                                      <p:to>
                                        <p:strVal val="visible"/>
                                      </p:to>
                                    </p:set>
                                    <p:animEffect transition="in" filter="fade">
                                      <p:cBhvr>
                                        <p:cTn id="48" dur="4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bldP spid="7" grpId="0" animBg="1"/>
      <p:bldP spid="8" grpId="0" animBg="1"/>
      <p:bldP spid="9"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ELEKTRON POCHTA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Faylni skrepka bilan biriktiring, katta fayl uchun esa Google Drive'dan foydalaning</a:t>
            </a:r>
          </a:p>
        </p:txBody>
      </p:sp>
      <p:sp>
        <p:nvSpPr>
          <p:cNvPr id="4" name="Points"/>
          <p:cNvSpPr txBox="1"/>
          <p:nvPr/>
        </p:nvSpPr>
        <p:spPr>
          <a:xfrm>
            <a:off x="640080" y="2148840"/>
            <a:ext cx="10911535"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Skrepka (Attach files) bilan fayl biriktiriladi</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Xatda fayl haqida yozing va fayl nomini aniq qo'ying</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25 MB dan katta fayl: avval Drive'ga yuklang, havolani yuboring</a:t>
            </a:r>
          </a:p>
        </p:txBody>
      </p:sp>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ELEKTRON POCHTA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Xatga javob berish va uni boshqaga uzatish alohida tugmalar</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Reply (Javob)</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xatni yuborgan odamga javob yozadi</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Reply all (Hammaga)</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xatdagi hamma odamga javob yuboradi</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Forward (Uzatish)</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xatni boshqa odamga yuboradi</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04</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Xavfsizlik: fishing</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XAVFSIZLIK: FISHING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Fishing soxta xabar orqali parol yoki pul olishga urinish</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Xabar bankdan, maktabdan yoki do'stdan kelganday ko'rinadi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Maqsad: sizni soxta sahifaga kirgizish va parolni bilib olish</a:t>
            </a:r>
          </a:p>
        </p:txBody>
      </p:sp>
      <p:pic>
        <p:nvPicPr>
          <p:cNvPr id="5" name="Figure img2" descr="Qarmoqdagi yaltiroq xat va unga qiziqib qaragan baliq"/>
          <p:cNvPicPr>
            <a:picLocks noChangeAspect="1"/>
          </p:cNvPicPr>
          <p:nvPr/>
        </p:nvPicPr>
        <p:blipFill>
          <a:blip r:embed="rId2"/>
          <a:stretch>
            <a:fillRect/>
          </a:stretch>
        </p:blipFill>
        <p:spPr>
          <a:xfrm>
            <a:off x="5152223" y="2314014"/>
            <a:ext cx="6399391" cy="3601571"/>
          </a:xfrm>
          <a:prstGeom prst="rect">
            <a:avLst/>
          </a:prstGeom>
        </p:spPr>
      </p:pic>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XAVFSIZLIK: FISHING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Fishing xabarini beshta belgi bilan tanib olish mumkin</a:t>
            </a:r>
          </a:p>
        </p:txBody>
      </p:sp>
      <p:sp>
        <p:nvSpPr>
          <p:cNvPr id="4" name="Term 1"/>
          <p:cNvSpPr txBox="1"/>
          <p:nvPr/>
        </p:nvSpPr>
        <p:spPr>
          <a:xfrm>
            <a:off x="640080" y="2148840"/>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Shoshirish</a:t>
            </a:r>
          </a:p>
        </p:txBody>
      </p:sp>
      <p:sp>
        <p:nvSpPr>
          <p:cNvPr id="5" name="Meaning 1"/>
          <p:cNvSpPr txBox="1"/>
          <p:nvPr/>
        </p:nvSpPr>
        <p:spPr>
          <a:xfrm>
            <a:off x="4754880" y="2167128"/>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"Darhol bosing!", "Bir soatda bloklanadi"</a:t>
            </a:r>
          </a:p>
        </p:txBody>
      </p:sp>
      <p:sp>
        <p:nvSpPr>
          <p:cNvPr id="6" name="Term 2"/>
          <p:cNvSpPr txBox="1"/>
          <p:nvPr/>
        </p:nvSpPr>
        <p:spPr>
          <a:xfrm>
            <a:off x="640080" y="2935224"/>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Umumiy murojaat</a:t>
            </a:r>
          </a:p>
        </p:txBody>
      </p:sp>
      <p:sp>
        <p:nvSpPr>
          <p:cNvPr id="7" name="Meaning 2"/>
          <p:cNvSpPr txBox="1"/>
          <p:nvPr/>
        </p:nvSpPr>
        <p:spPr>
          <a:xfrm>
            <a:off x="4754880" y="2953512"/>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ismingizni emas, "Hurmatli mijoz" deydi</a:t>
            </a:r>
          </a:p>
        </p:txBody>
      </p:sp>
      <p:sp>
        <p:nvSpPr>
          <p:cNvPr id="8" name="Term 3"/>
          <p:cNvSpPr txBox="1"/>
          <p:nvPr/>
        </p:nvSpPr>
        <p:spPr>
          <a:xfrm>
            <a:off x="640080" y="3721608"/>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G'alati manzil</a:t>
            </a:r>
          </a:p>
        </p:txBody>
      </p:sp>
      <p:sp>
        <p:nvSpPr>
          <p:cNvPr id="9" name="Meaning 3"/>
          <p:cNvSpPr txBox="1"/>
          <p:nvPr/>
        </p:nvSpPr>
        <p:spPr>
          <a:xfrm>
            <a:off x="4754880" y="3739896"/>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yuboruvchi manzili rasmiy nomga o'xshash, lekin boshqa</a:t>
            </a:r>
          </a:p>
        </p:txBody>
      </p:sp>
      <p:sp>
        <p:nvSpPr>
          <p:cNvPr id="10" name="Term 4"/>
          <p:cNvSpPr txBox="1"/>
          <p:nvPr/>
        </p:nvSpPr>
        <p:spPr>
          <a:xfrm>
            <a:off x="640080" y="4507992"/>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Havola</a:t>
            </a:r>
          </a:p>
        </p:txBody>
      </p:sp>
      <p:sp>
        <p:nvSpPr>
          <p:cNvPr id="11" name="Meaning 4"/>
          <p:cNvSpPr txBox="1"/>
          <p:nvPr/>
        </p:nvSpPr>
        <p:spPr>
          <a:xfrm>
            <a:off x="4754880" y="4526279"/>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ustiga sichqonchani olib borsangiz, haqiqiy manzil boshqa</a:t>
            </a:r>
          </a:p>
        </p:txBody>
      </p:sp>
      <p:sp>
        <p:nvSpPr>
          <p:cNvPr id="12" name="Term 5"/>
          <p:cNvSpPr txBox="1"/>
          <p:nvPr/>
        </p:nvSpPr>
        <p:spPr>
          <a:xfrm>
            <a:off x="640080" y="5294376"/>
            <a:ext cx="3840480"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Kutilmagan fayl</a:t>
            </a:r>
          </a:p>
        </p:txBody>
      </p:sp>
      <p:sp>
        <p:nvSpPr>
          <p:cNvPr id="13" name="Meaning 5"/>
          <p:cNvSpPr txBox="1"/>
          <p:nvPr/>
        </p:nvSpPr>
        <p:spPr>
          <a:xfrm>
            <a:off x="4754880" y="5312664"/>
            <a:ext cx="6796735" cy="786384"/>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siz kutmagan biriktirma</a:t>
            </a:r>
          </a:p>
        </p:txBody>
      </p:sp>
      <p:sp>
        <p:nvSpPr>
          <p:cNvPr id="14"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XAVFSIZLIK: FISHING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Gumonli xabarni bosmang, javob bermang va kattalarga ko'rsating</a:t>
            </a:r>
          </a:p>
        </p:txBody>
      </p:sp>
      <p:sp>
        <p:nvSpPr>
          <p:cNvPr id="4" name="Points"/>
          <p:cNvSpPr txBox="1"/>
          <p:nvPr/>
        </p:nvSpPr>
        <p:spPr>
          <a:xfrm>
            <a:off x="640080" y="2148840"/>
            <a:ext cx="10911535"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Havolani bosmang, faylni yuklamang</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Javob bermang, parolni hech qachon yozmang</a:t>
            </a:r>
          </a:p>
          <a:p>
            <a:pPr algn="l" marL="384048" indent="-384048">
              <a:lnSpc>
                <a:spcPct val="115000"/>
              </a:lnSpc>
              <a:spcBef>
                <a:spcPts val="0"/>
              </a:spcBef>
              <a:spcAft>
                <a:spcPts val="1400"/>
              </a:spcAft>
              <a:buClr>
                <a:srgbClr val="0052CC"/>
              </a:buClr>
              <a:buFont typeface="Arial"/>
              <a:buChar char="•"/>
            </a:pPr>
            <a:r>
              <a:rPr sz="2600" b="0" i="0">
                <a:solidFill>
                  <a:srgbClr val="111111"/>
                </a:solidFill>
                <a:latin typeface="Arial"/>
              </a:rPr>
              <a:t>Ota-onangiz yoki o'qituvchingizga ko'rsating</a:t>
            </a:r>
          </a:p>
        </p:txBody>
      </p:sp>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Xabar: «Hisobingiz bloklanadi! Havolani bosing va parolni kiriting». Nima qilasiz?</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Tez bosaman, bloklanmasligi uchun</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Bosmayman va kattalarga ko'rsataman</a:t>
            </a:r>
          </a:p>
        </p:txBody>
      </p:sp>
      <p:sp>
        <p:nvSpPr>
          <p:cNvPr id="10" name="Correct answer"/>
          <p:cNvSpPr/>
          <p:nvPr/>
        </p:nvSpPr>
        <p:spPr>
          <a:xfrm>
            <a:off x="6196431" y="211226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1"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2" name="TextBox 11"/>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3" name="TextBox 12"/>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Do'stlarimga ham yuboraman</a:t>
            </a: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Parolimni yozib javob beraman</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Shoshirish va parol so'rash fishing belgilari: bosmaslik va kattalarga ko'rsatish kerak.</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NAVBAT SIZDA · JUFTLIKDA</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Boshidagi xabarni tahlil qiling</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3 DAQ</a:t>
            </a:r>
          </a:p>
        </p:txBody>
      </p:sp>
      <p:sp>
        <p:nvSpPr>
          <p:cNvPr id="5" name="Steps"/>
          <p:cNvSpPr txBox="1"/>
          <p:nvPr/>
        </p:nvSpPr>
        <p:spPr>
          <a:xfrm>
            <a:off x="640080" y="2148840"/>
            <a:ext cx="10911535" cy="39319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Dars boshidagi xabarni qayta o'qing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Unda fishingning qaysi belgilari bor? Kamida ikkita toping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Haqiqiy bank xabari nimasi bilan farq qilardi?</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XULOSA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Nimani eslab qolish kerak</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Internet katta tarmoq, veb uning bir xizmati; kesh saytni tezlashtiradi, cookie sizni eslab qoladi</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Qo'shtirnoq, minus, site: va filetype: qidiruvni aniq qiladi</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Xatda mavzu, salom va imzo bo'ladi; katta fayl Drive orqali yuboriladi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Shoshirish va parol so'rash fishing belgisi: bosmang, kattalarga ko'rsating</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CHIQISH SAVOLI · 3 DAQIQA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Ketishdan oldin qog'ozga javob yozing</a:t>
            </a:r>
          </a:p>
        </p:txBody>
      </p:sp>
      <p:sp>
        <p:nvSpPr>
          <p:cNvPr id="4" name="Exit questions"/>
          <p:cNvSpPr txBox="1"/>
          <p:nvPr/>
        </p:nvSpPr>
        <p:spPr>
          <a:xfrm>
            <a:off x="640080" y="2148840"/>
            <a:ext cx="10911535" cy="30175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400"/>
              </a:spcAft>
              <a:buClr>
                <a:srgbClr val="0052CC"/>
              </a:buClr>
              <a:buFont typeface="Arial"/>
              <a:buAutoNum type="arabicPeriod"/>
            </a:pPr>
            <a:r>
              <a:rPr sz="2800" b="0" i="0">
                <a:solidFill>
                  <a:srgbClr val="111111"/>
                </a:solidFill>
                <a:latin typeface="Arial"/>
              </a:rPr>
              <a:t>Faqat PDF fayllarni qidirish uchun qidiruvga nima yoziladi?</a:t>
            </a:r>
          </a:p>
          <a:p>
            <a:pPr algn="l" marL="457200" indent="-457200">
              <a:lnSpc>
                <a:spcPct val="115000"/>
              </a:lnSpc>
              <a:spcBef>
                <a:spcPts val="0"/>
              </a:spcBef>
              <a:spcAft>
                <a:spcPts val="1400"/>
              </a:spcAft>
              <a:buClr>
                <a:srgbClr val="0052CC"/>
              </a:buClr>
              <a:buFont typeface="Arial"/>
              <a:buAutoNum type="arabicPeriod"/>
            </a:pPr>
            <a:r>
              <a:rPr sz="2800" b="0" i="0">
                <a:solidFill>
                  <a:srgbClr val="111111"/>
                </a:solidFill>
                <a:latin typeface="Arial"/>
              </a:rPr>
              <a:t>Fishing xabarining ikkita belgisini ayting.</a:t>
            </a:r>
          </a:p>
        </p:txBody>
      </p:sp>
      <p:sp>
        <p:nvSpPr>
          <p:cNvPr id="5" name="Next"/>
          <p:cNvSpPr txBox="1"/>
          <p:nvPr/>
        </p:nvSpPr>
        <p:spPr>
          <a:xfrm>
            <a:off x="640080" y="553212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2000" b="0" i="1">
                <a:solidFill>
                  <a:srgbClr val="4B5563"/>
                </a:solidFill>
                <a:latin typeface="Arial"/>
              </a:rPr>
              <a:t>6-mavzu: Kompyuter xavfsizligi va antivirus dasturlari</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