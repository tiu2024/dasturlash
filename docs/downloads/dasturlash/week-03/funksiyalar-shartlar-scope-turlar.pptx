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71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Avval kod emas, kundalik hayotdan misol bilan boshlaymiz.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Blenderga olma solamiz, u o‘z ishini qiladi, sharbat chiqadi. Blender ichida nima bo‘layotganini bilishimiz shart emas — faqat nima kiritib, nima olishimizni bilamiz. Banan solsak — banan sharbati. Mashina bitta, kirish har xil.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Kirish — argument, mashina — funksiya, chiqish — qaytgan qiymat (return value). Talabalardan so‘rang: round(2.2) nima beradi?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Bular Python’da tayyor bo‘lgan funksiyalar. Hammasining shakli bir xil: nom, qavs, qavs ichida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Misol: taksi ilovasi narxni hisoblaydi. Talabalardan so‘rang: 3 km qancha turadi? (11 000)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xil formula uch marta yozildi. Faqat km o‘zgaryapti.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Bitta joyni unutib qo‘ysak — xato (bug). Funksiya shu muammoni hal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bir marta yozildi. Tarif o‘zgarsa — faqat bitta qatorni o‘zgartiramiz.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Chekinish (indentation) muhim: Python funksiya qayerda tugashini shu orqali biladi.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ning qiymati to parametriga uzatiladi.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main() ni oxirida chaqirmasak, dastur hech narsa qilmaydi.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— ekranga chiqaradi. return — qiymatni chaqirgan joyga qaytaradi.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Shart — dastur qaror qabul qiladi: chapga yoki o‘ngga.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doim 3 ta savol beriladi, garchi faqat bittasi True bo‘lishi mumkin bo‘lsa ham.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Bittasi True bo‘lsa, qolganlari tekshirilmaydi.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Kichik ham emas, katta ham emas — demak teng. Savol berish shart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Bitta savol — bitta tekshiruv.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operatorlarni zanjir qilib yozishga ruxsat beradi — boshqa tillarda kam uchraydi.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Kamroq savol — o‘qish va o‘zgartirish osonroq.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Modulo — bo‘lishdagi qoldiq.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is_even True yoki False qaytaradi, shuning uchun if yonida operator kerak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Deyarli ingliz tilidagi gapdek o‘qiladi.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% 2 == 0 ning o‘zi True yoki False. Shuni to‘g‘ridan-to‘g‘ri qaytaramiz.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uchta shart bir xil javob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_ — hech biri mos kelmasa ishlaydi, xuddi else kabi.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 belgisi — or kabi: bir nechta qiymatni bitta case’da tekshiradi.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8515"/>
            <a:ext cx="10883392" cy="202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Funksiyalar</a:t>
            </a:r>
            <a:endParaRPr lang="en-US" sz="7500" dirty="0"/>
          </a:p>
          <a:p>
            <a:pPr marL="0" indent="0" algn="l">
              <a:lnSpc>
                <a:spcPts val="7875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shartlar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812800" y="4342765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 nima?</a:t>
            </a:r>
            <a:endParaRPr lang="en-US" sz="7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 — bu mashina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31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28022" y="2481580"/>
            <a:ext cx="123655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olma</a:t>
            </a:r>
            <a:endParaRPr lang="en-US" sz="4000" dirty="0"/>
          </a:p>
        </p:txBody>
      </p:sp>
      <p:pic>
        <p:nvPicPr>
          <p:cNvPr id="5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3300" y="2608580"/>
            <a:ext cx="8890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14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000000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84307" y="2481580"/>
            <a:ext cx="188998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blender</a:t>
            </a:r>
            <a:endParaRPr lang="en-US" sz="400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6300" y="2608580"/>
            <a:ext cx="8890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97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567198" y="2481580"/>
            <a:ext cx="189020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sharbat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772795" y="3906520"/>
            <a:ext cx="274701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kirish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95900" y="3817620"/>
            <a:ext cx="10668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197850" y="3906520"/>
            <a:ext cx="274701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natija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Python’da ham xuddi shunday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31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63700" y="2481580"/>
            <a:ext cx="965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</a:t>
            </a:r>
            <a:endParaRPr lang="en-US" sz="4000" dirty="0"/>
          </a:p>
        </p:txBody>
      </p:sp>
      <p:pic>
        <p:nvPicPr>
          <p:cNvPr id="5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3300" y="2608580"/>
            <a:ext cx="8890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14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000000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41900" y="2481580"/>
            <a:ext cx="1574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endParaRPr lang="en-US" sz="400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6300" y="2608580"/>
            <a:ext cx="8890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97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334500" y="2481580"/>
            <a:ext cx="355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772795" y="3878580"/>
            <a:ext cx="274701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325427" y="3878580"/>
            <a:ext cx="10668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197850" y="3906520"/>
            <a:ext cx="274701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qaytgan qiymat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 allaqachon bilasiz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61"/>
            <a:ext cx="10883392" cy="1981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print("salom")</a:t>
            </a:r>
            <a:r>
              <a:rPr lang="en-US" sz="27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ekranga chiqaradi</a:t>
            </a:r>
            <a:endParaRPr lang="en-US" sz="2750" dirty="0"/>
          </a:p>
          <a:p>
            <a:pPr marL="0" indent="0" algn="l">
              <a:lnSpc>
                <a:spcPts val="38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input("Ismingiz? ")</a:t>
            </a:r>
            <a:r>
              <a:rPr lang="en-US" sz="27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foydalanuvchidan so‘raydi</a:t>
            </a:r>
            <a:endParaRPr lang="en-US" sz="2750" dirty="0"/>
          </a:p>
          <a:p>
            <a:pPr marL="0" indent="0" algn="l">
              <a:lnSpc>
                <a:spcPts val="38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int("5")</a:t>
            </a:r>
            <a:r>
              <a:rPr lang="en-US" sz="27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matnni songa aylantiradi</a:t>
            </a:r>
            <a:endParaRPr lang="en-US" sz="2750" dirty="0"/>
          </a:p>
          <a:p>
            <a:pPr marL="0" indent="0" algn="l">
              <a:lnSpc>
                <a:spcPts val="38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round(3.7)</a:t>
            </a:r>
            <a:r>
              <a:rPr lang="en-US" sz="27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yaxlitlaydi</a:t>
            </a:r>
            <a:endParaRPr lang="en-US" sz="2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Funksiyani chaqirish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44979"/>
            <a:ext cx="10883392" cy="665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round(3.7)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814321"/>
            <a:ext cx="19621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17800" y="2791461"/>
            <a:ext cx="89212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 nomi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3263900"/>
            <a:ext cx="19621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17800" y="3241039"/>
            <a:ext cx="89212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qavslar — “ishga tushir”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2800" y="3713479"/>
            <a:ext cx="19621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17800" y="3690621"/>
            <a:ext cx="89212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— funksiyaga beriladigan qiymat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</a:t>
            </a:r>
            <a:r>
              <a:rPr lang="en-US" sz="7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o‘z</a:t>
            </a: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</a:t>
            </a: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kerak</a:t>
            </a: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7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82239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Taksi narxi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3713479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so‘m + har km uchun 2 000 so‘m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Funksiyasiz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4363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narx1 = 5000 + </a:t>
            </a:r>
            <a:r>
              <a:rPr lang="en-US" sz="30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2000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print(narx1)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narx2 = 5000 + </a:t>
            </a:r>
            <a:r>
              <a:rPr lang="en-US" sz="30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2000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print(narx2)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narx3 = 5000 + </a:t>
            </a:r>
            <a:r>
              <a:rPr lang="en-US" sz="30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2000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print(narx3)</a:t>
            </a:r>
            <a:endParaRPr lang="en-US" sz="3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7879"/>
            <a:ext cx="10883392" cy="147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 o‘zgardi:</a:t>
            </a:r>
            <a:endParaRPr lang="en-US" sz="5200" dirty="0"/>
          </a:p>
          <a:p>
            <a:pPr marL="0" indent="0" algn="l">
              <a:lnSpc>
                <a:spcPts val="572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→ 2 500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3845558"/>
            <a:ext cx="1088339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 3 ta joyni tuzatish kerak.</a:t>
            </a:r>
            <a:endParaRPr lang="en-US" sz="280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ta joy bo‘lsa-chi?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 bilan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40081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taksi_narxi(km):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5000 + km * 2000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print(taksi_narxi(3))</a:t>
            </a:r>
            <a:r>
              <a:rPr lang="en-US" sz="32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11000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print(taksi_narxi(7))</a:t>
            </a:r>
            <a:r>
              <a:rPr lang="en-US" sz="32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19000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print(taksi_narxi(12))</a:t>
            </a:r>
            <a:r>
              <a:rPr lang="en-US" sz="32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29000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305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taksi_narxi(km):</a:t>
            </a:r>
            <a:endParaRPr lang="en-US" sz="3600" dirty="0"/>
          </a:p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5000 + km * 2000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520317"/>
            <a:ext cx="28778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06800" y="2499358"/>
            <a:ext cx="80055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funksiya yaratamiz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2932429"/>
            <a:ext cx="28778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taksi_narxi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06800" y="2911475"/>
            <a:ext cx="80055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 nomi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3344546"/>
            <a:ext cx="28778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06800" y="3323592"/>
            <a:ext cx="80055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 — kiruvchi qiymat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2800" y="3756658"/>
            <a:ext cx="28778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06800" y="3735704"/>
            <a:ext cx="80055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natijani qaytaradi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2800" y="4168775"/>
            <a:ext cx="28778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····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06800" y="4147821"/>
            <a:ext cx="80055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ta bo‘sh joy — funksiya tanasi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Chaqirilganda nima bo‘ladi?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44979"/>
            <a:ext cx="10883392" cy="665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narx = taksi_narxi(10)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812417"/>
            <a:ext cx="41859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876800" y="2791458"/>
            <a:ext cx="66974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parametrga tushadi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3224529"/>
            <a:ext cx="41859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 + 10 * 2000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76800" y="3203575"/>
            <a:ext cx="66974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hisoblanadi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3636646"/>
            <a:ext cx="41859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76800" y="3615692"/>
            <a:ext cx="66974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qaytariladi va narx’ga yoziladi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funksiya?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973579"/>
            <a:ext cx="32512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2800" y="2251708"/>
            <a:ext cx="334873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3166108"/>
            <a:ext cx="3348736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Takrorlanmaydi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3756658"/>
            <a:ext cx="334873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marta yozib, ko‘p marta ishlatamiz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70400" y="1973579"/>
            <a:ext cx="32512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70400" y="2251708"/>
            <a:ext cx="334873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470400" y="3166108"/>
            <a:ext cx="3348736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Oson o‘zgaradi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70400" y="3756658"/>
            <a:ext cx="334873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tuzatish faqat bitta joyda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8000" y="1973579"/>
            <a:ext cx="32512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28000" y="2251708"/>
            <a:ext cx="334873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128000" y="3166108"/>
            <a:ext cx="3348736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Oson o‘qiladi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28000" y="3756658"/>
            <a:ext cx="334873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 nima qilishini aytadi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</a:t>
            </a:r>
            <a:endParaRPr lang="en-US" sz="7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439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hello(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print("salom,", 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hello(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Standart qiymat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45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hello(to</a:t>
            </a:r>
            <a:r>
              <a:rPr lang="en-US" sz="31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=“</a:t>
            </a:r>
            <a:r>
              <a:rPr lang="en-US" sz="3150" dirty="0" err="1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Jigarlar</a:t>
            </a:r>
            <a:r>
              <a:rPr lang="en-US" sz="31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print("salom,", to)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hello(name)</a:t>
            </a:r>
            <a:r>
              <a:rPr lang="en-US" sz="31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salom, Aziz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hello()</a:t>
            </a:r>
            <a:r>
              <a:rPr lang="en-US" sz="31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salom, </a:t>
            </a:r>
            <a:r>
              <a:rPr lang="en-US" sz="3150" dirty="0" err="1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Jigarlar</a:t>
            </a:r>
            <a:endParaRPr lang="en-US" sz="3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37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 = input("Ismingiz? 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hello(name)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hello(to=“</a:t>
            </a:r>
            <a:r>
              <a:rPr lang="en-US" sz="22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Jigralar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print("salom,", to)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37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x = int(input("x ni kiriting: "))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ning kvadrati:", square(x))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square(n):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n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Shartlar</a:t>
            </a:r>
            <a:endParaRPr lang="en-US" sz="7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Taqqoslash operatorlari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7165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82800" y="174498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226060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82800" y="223393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kichik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12800" y="274955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82800" y="272288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katta yoki teng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12800" y="323850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82800" y="321183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kichik yoki teng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12800" y="372745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82800" y="370078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2800" y="421640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82800" y="418973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 emas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va ==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77367"/>
            <a:ext cx="30086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733800" y="1744985"/>
            <a:ext cx="78747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qiymat beradi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2378708"/>
            <a:ext cx="30086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== 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733800" y="2346325"/>
            <a:ext cx="78747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taqqoslaydi → True yoki False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287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&lt; y: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kichik")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459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y: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kichik")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&gt; y: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katta")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== y: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teng")</a:t>
            </a:r>
            <a:endParaRPr lang="en-US" sz="2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45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y: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kichik")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&gt; y: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katta")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== y: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teng")</a:t>
            </a:r>
            <a:endParaRPr lang="en-US" sz="2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45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y: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kichik")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x &gt; y: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katta")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teng")</a:t>
            </a:r>
            <a:endParaRPr lang="en-US" sz="2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45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y </a:t>
            </a:r>
            <a:r>
              <a:rPr lang="en-US" sz="31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&gt; y: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 emas")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teng")</a:t>
            </a:r>
            <a:endParaRPr lang="en-US" sz="3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!=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45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</a:t>
            </a:r>
            <a:r>
              <a:rPr lang="en-US" sz="31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y: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 emas")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teng")</a:t>
            </a:r>
            <a:endParaRPr lang="en-US" sz="3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72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int(input("Ball: "))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&gt;= 90 </a:t>
            </a:r>
            <a:r>
              <a:rPr lang="en-US" sz="18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&lt;= 100: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A")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80 </a:t>
            </a:r>
            <a:r>
              <a:rPr lang="en-US" sz="18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&lt; 90: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B")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70 </a:t>
            </a:r>
            <a:r>
              <a:rPr lang="en-US" sz="18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&lt; 80: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C")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60 </a:t>
            </a:r>
            <a:r>
              <a:rPr lang="en-US" sz="18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&lt; 70: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D")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F")</a:t>
            </a:r>
            <a:endParaRPr lang="en-US" sz="1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19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int(input("Ball: "))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&lt;= score &lt;= 100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A")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&lt;= score &lt; 90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B")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&lt;= score &lt; 80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C")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&lt;= score &lt; 70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D")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F")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19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int(input("Ball: "))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90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A")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80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B")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70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C")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60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D")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F")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Qoldiq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83085"/>
            <a:ext cx="235458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4 %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098800" y="1744985"/>
            <a:ext cx="852881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juft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2461270"/>
            <a:ext cx="235458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3 % 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098800" y="2423170"/>
            <a:ext cx="852881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toq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2800" y="3139430"/>
            <a:ext cx="235458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098800" y="3101330"/>
            <a:ext cx="852881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3439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2 == 0</a:t>
            </a: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print("Juft")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print("Toq")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54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x = int(input("x ni kiriting: "))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</a:t>
            </a:r>
            <a:r>
              <a:rPr lang="en-US" sz="19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is_even(x)</a:t>
            </a: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print("Juft")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else: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print("Toq")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is_even(n):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n % 2 == 0: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return True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else: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return False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70"/>
            <a:ext cx="10883392" cy="1163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is_even(n):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if n % 2 == 0 else False</a:t>
            </a:r>
            <a:endParaRPr lang="en-US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70"/>
            <a:ext cx="10883392" cy="1163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is_even(n):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% 2 == 0</a:t>
            </a:r>
            <a:endParaRPr lang="en-US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7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19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name == “Sardor":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print("Gryffindor")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name == “Anora":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print("Gryffindor")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name == “Jahongir":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print("Gryffindor")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name == “Iskandar":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print("Slytherin")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print("Kim?")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32969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name == “Sardor" </a:t>
            </a:r>
            <a:r>
              <a:rPr lang="en-US" sz="23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== “Anora" </a:t>
            </a:r>
            <a:r>
              <a:rPr lang="en-US" sz="23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== “Jahongir":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print("Gryffindor")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name == “Iskandar":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print("Slytherin")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print("Kim?")</a:t>
            </a:r>
            <a:endParaRPr lang="en-US" sz="2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7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30"/>
            <a:ext cx="10883392" cy="39547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“Sardor":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print("Gryffindor")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“Anora":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print("Gryffindor")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“Jahongir":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print("Gryffindor")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“Iskandar":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print("Slytherin")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_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print("Kim?")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459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name: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case “Sardor" </a:t>
            </a:r>
            <a:r>
              <a:rPr lang="en-US" sz="29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“Anora" </a:t>
            </a:r>
            <a:r>
              <a:rPr lang="en-US" sz="29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“Jahongir":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print("Gryffindor")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case “Iskandar":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print("Slytherin")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case _: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print("Kim?")</a:t>
            </a:r>
            <a:endParaRPr lang="en-US" sz="2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1143000"/>
            <a:ext cx="1056589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1">
                <a:solidFill>
                  <a:srgbClr val="FFD60A"/>
                </a:solidFill>
                <a:latin typeface="Arial"/>
                <a:ea typeface="Arial"/>
                <a:cs typeface="Arial"/>
              </a:rPr>
              <a:t>4-ma’ruza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645920"/>
            <a:ext cx="10565892" cy="310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875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7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 va</a:t>
            </a:r>
          </a:p>
          <a:p>
            <a:pPr algn="l">
              <a:lnSpc>
                <a:spcPts val="7875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7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ma’lumot turlari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12901" y="5029200"/>
            <a:ext cx="10565892" cy="0"/>
          </a:xfrm>
          <a:prstGeom prst="line">
            <a:avLst/>
          </a:prstGeom>
          <a:ln w="12700">
            <a:solidFill>
              <a:srgbClr val="444444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12901" y="5230368"/>
            <a:ext cx="10565892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I. J. Husainov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180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Turan International University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180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Dasturlash 1,2 - ATT-2026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83080"/>
            <a:ext cx="685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8701" y="1783080"/>
            <a:ext cx="9880092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Scope: o‘zgaruvchi qayerda ko‘rinadi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428748"/>
            <a:ext cx="685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8701" y="2428748"/>
            <a:ext cx="9880092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 va 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3074416"/>
            <a:ext cx="685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8701" y="3074416"/>
            <a:ext cx="9880092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 va float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3720084"/>
            <a:ext cx="685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8701" y="3720084"/>
            <a:ext cx="9880092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" y="4365752"/>
            <a:ext cx="685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8701" y="4365752"/>
            <a:ext cx="9880092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901" y="5011420"/>
            <a:ext cx="685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8701" y="5011420"/>
            <a:ext cx="9880092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Turlarni o‘zgartirish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2940050"/>
            <a:ext cx="10565892" cy="1069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7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2449830"/>
            <a:ext cx="10565892" cy="805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9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5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Dars xonasidagi doska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3483609"/>
            <a:ext cx="10565892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Faqat shu xonadagilar ko‘radi.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Qo‘shni xona uni ko‘rmaydi.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Xato qayerda?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581912"/>
            <a:ext cx="105658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hello.py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020824"/>
            <a:ext cx="10565892" cy="435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main():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name = input("Ismingiz? ")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hello()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hello():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print("salom,", </a:t>
            </a:r>
            <a:r>
              <a:rPr lang="en-US" sz="24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   </a:t>
            </a:r>
            <a:r>
              <a:rPr lang="en-US" sz="24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NameError!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main()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B46173-33D0-FBDB-DB2C-CF67B95996E6}"/>
              </a:ext>
            </a:extLst>
          </p:cNvPr>
          <p:cNvSpPr/>
          <p:nvPr/>
        </p:nvSpPr>
        <p:spPr>
          <a:xfrm>
            <a:off x="715992" y="4190439"/>
            <a:ext cx="7513608" cy="12076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DAA60F-9F75-7C76-3750-2B2F74866600}"/>
              </a:ext>
            </a:extLst>
          </p:cNvPr>
          <p:cNvSpPr/>
          <p:nvPr/>
        </p:nvSpPr>
        <p:spPr>
          <a:xfrm>
            <a:off x="715992" y="2020824"/>
            <a:ext cx="7513608" cy="14081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2070100"/>
            <a:ext cx="10565892" cy="1564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9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52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Scope</a:t>
            </a:r>
            <a:r>
              <a:rPr lang="uz-Latn-UZ" sz="5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o‘zgaruvchi ko‘rinadigan joy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3863339"/>
            <a:ext cx="10565892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Funksiya ichida yaratilgan o‘zgaruvchi — local.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 faqat o‘sha funksiya ichida yashaydi.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Yechim: argument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581912"/>
            <a:ext cx="105658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hello.py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020824"/>
            <a:ext cx="10565892" cy="435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main():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name = input("Ismingiz? ")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hello(</a:t>
            </a:r>
            <a:r>
              <a:rPr lang="en-US" sz="24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hello(</a:t>
            </a:r>
            <a:r>
              <a:rPr lang="en-US" sz="24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to</a:t>
            </a: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):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print("salom,", to)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main()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A9F1B7-02FE-CA9C-F68D-72C9071BD1B5}"/>
              </a:ext>
            </a:extLst>
          </p:cNvPr>
          <p:cNvSpPr/>
          <p:nvPr/>
        </p:nvSpPr>
        <p:spPr>
          <a:xfrm>
            <a:off x="2605177" y="4192438"/>
            <a:ext cx="431321" cy="42269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74B1DF-9DDC-9B8E-1C36-4E2D0BFC2FB4}"/>
              </a:ext>
            </a:extLst>
          </p:cNvPr>
          <p:cNvSpPr/>
          <p:nvPr/>
        </p:nvSpPr>
        <p:spPr>
          <a:xfrm>
            <a:off x="2605177" y="2971484"/>
            <a:ext cx="793631" cy="3151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Nima bo‘ladi?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83080"/>
            <a:ext cx="326136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main()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5701" y="1783080"/>
            <a:ext cx="721309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dastur boshlanadi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291080"/>
            <a:ext cx="33528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901" y="2684271"/>
            <a:ext cx="326136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name = "Anora"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5701" y="2684271"/>
            <a:ext cx="721309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name — main ichida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901" y="3192272"/>
            <a:ext cx="33528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3585463"/>
            <a:ext cx="326136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hello(name)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5701" y="3585463"/>
            <a:ext cx="721309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qiymat argument bo‘lib ketadi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" y="4093464"/>
            <a:ext cx="33528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" y="4486656"/>
            <a:ext cx="326136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to = "Anora"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5701" y="4486656"/>
            <a:ext cx="721309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to — hello ichida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" y="4994655"/>
            <a:ext cx="33528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" y="5387847"/>
            <a:ext cx="326136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salom, Anora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5701" y="5387847"/>
            <a:ext cx="721309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funksiya tugadi → to yo‘qoladi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SAVOL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Natija nima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204720"/>
            <a:ext cx="6339535" cy="2651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def hisobla():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natija = 5 * 2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hisobla()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print(natija)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6756" y="2204720"/>
            <a:ext cx="54864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5396" y="2204720"/>
            <a:ext cx="3403396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6756" y="2692400"/>
            <a:ext cx="54864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5396" y="2692400"/>
            <a:ext cx="3403396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6756" y="3180079"/>
            <a:ext cx="54864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5396" y="3180079"/>
            <a:ext cx="3403396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NameError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JAVOB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Natija nima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204720"/>
            <a:ext cx="6339535" cy="2651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def hisobla():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natija = 5 * 2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hisobla()</a:t>
            </a:r>
          </a:p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print(natija)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6756" y="2204720"/>
            <a:ext cx="54864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5396" y="2204720"/>
            <a:ext cx="3403396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6756" y="2692400"/>
            <a:ext cx="54864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5396" y="2692400"/>
            <a:ext cx="3403396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6756" y="3180079"/>
            <a:ext cx="54864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5396" y="3180079"/>
            <a:ext cx="3403396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4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NameError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" y="4983480"/>
            <a:ext cx="105658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NameError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" y="5550408"/>
            <a:ext cx="105658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chunki </a:t>
            </a:r>
            <a:r>
              <a:rPr lang="en-US" sz="22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natija</a:t>
            </a: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— hisobla() ichidagi local o‘zgaruvchi, tashqarida u yo‘q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2940050"/>
            <a:ext cx="10565892" cy="1069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7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Global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Global o‘zgaruvchi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581912"/>
            <a:ext cx="105658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kurs.py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020824"/>
            <a:ext cx="10565892" cy="37896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kurs = "Dasturlash 1"</a:t>
            </a: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</a:t>
            </a:r>
            <a:r>
              <a:rPr lang="en-US" sz="2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global: fayl darajasida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salom():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print("Xush kelibsiz:", kurs)   </a:t>
            </a:r>
            <a:r>
              <a:rPr lang="en-US" sz="2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o‘qish mumkin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salom()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Ichkarida = — yangi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581912"/>
            <a:ext cx="105658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narx.py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020824"/>
            <a:ext cx="10565892" cy="42519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narx = 5000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yangila():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narx = 7000</a:t>
            </a: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</a:t>
            </a:r>
            <a:r>
              <a:rPr lang="en-US" sz="2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yangi, local narx!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yangila()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print(narx)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SAVOL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629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Natija nima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321560"/>
            <a:ext cx="6339535" cy="2580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narx = 5000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def yangila():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narx = 7000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yangila()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print(narx)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6756" y="232156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5396" y="232156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6756" y="287528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5396" y="287528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6756" y="342900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5396" y="342900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Xato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JAVOB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629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Natija nima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321560"/>
            <a:ext cx="6339535" cy="2580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narx = 5000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def yangila():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narx = 7000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yangila()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print(narx)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6756" y="232156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5396" y="232156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6756" y="287528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5396" y="287528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5000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6756" y="342900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5396" y="342900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Xato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" y="4983480"/>
            <a:ext cx="105658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5000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" y="5550408"/>
            <a:ext cx="105658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chunki funksiya ichidagi </a:t>
            </a:r>
            <a:r>
              <a:rPr lang="en-US" sz="22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narx = 7000</a:t>
            </a: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yangi local o‘zgaruvchi yaratadi, global narx o‘zgarmaydi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To‘g‘ri yo‘l: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581912"/>
            <a:ext cx="105658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narx.py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020824"/>
            <a:ext cx="10565892" cy="42519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narx = 5000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yangila(</a:t>
            </a: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narx</a:t>
            </a: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):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return narx + 2000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narx = yangila(narx)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print(narx)   </a:t>
            </a:r>
            <a:r>
              <a:rPr lang="en-US" sz="2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7000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C6D48-2E0E-8683-E55B-50A5A489D7B9}"/>
              </a:ext>
            </a:extLst>
          </p:cNvPr>
          <p:cNvSpPr txBox="1"/>
          <p:nvPr/>
        </p:nvSpPr>
        <p:spPr>
          <a:xfrm>
            <a:off x="5443267" y="3638374"/>
            <a:ext cx="661646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FFD60A"/>
                </a:solidFill>
                <a:latin typeface="Courier New"/>
                <a:cs typeface="Courier New"/>
              </a:rPr>
              <a:t>Return </a:t>
            </a:r>
            <a:r>
              <a:rPr lang="en-US" sz="2600" dirty="0" err="1">
                <a:solidFill>
                  <a:srgbClr val="FFD60A"/>
                </a:solidFill>
                <a:latin typeface="Courier New"/>
                <a:cs typeface="Courier New"/>
              </a:rPr>
              <a:t>butunlay</a:t>
            </a:r>
            <a:r>
              <a:rPr lang="en-US" sz="2600" dirty="0">
                <a:solidFill>
                  <a:srgbClr val="FFD60A"/>
                </a:solidFill>
                <a:latin typeface="Courier New"/>
                <a:cs typeface="Courier New"/>
              </a:rPr>
              <a:t> </a:t>
            </a:r>
            <a:r>
              <a:rPr lang="en-US" sz="2600" dirty="0" err="1">
                <a:solidFill>
                  <a:srgbClr val="FFD60A"/>
                </a:solidFill>
                <a:latin typeface="Courier New"/>
                <a:cs typeface="Courier New"/>
              </a:rPr>
              <a:t>funksiyani</a:t>
            </a:r>
            <a:r>
              <a:rPr lang="en-US" sz="2600" dirty="0">
                <a:solidFill>
                  <a:srgbClr val="FFD60A"/>
                </a:solidFill>
                <a:latin typeface="Courier New"/>
                <a:cs typeface="Courier New"/>
              </a:rPr>
              <a:t> </a:t>
            </a:r>
            <a:r>
              <a:rPr lang="en-US" sz="2600" dirty="0" err="1">
                <a:solidFill>
                  <a:srgbClr val="FFD60A"/>
                </a:solidFill>
                <a:latin typeface="Courier New"/>
                <a:cs typeface="Courier New"/>
              </a:rPr>
              <a:t>ma’lumotlarini</a:t>
            </a:r>
            <a:r>
              <a:rPr lang="en-US" sz="2600" dirty="0">
                <a:solidFill>
                  <a:srgbClr val="FFD60A"/>
                </a:solidFill>
                <a:latin typeface="Courier New"/>
                <a:cs typeface="Courier New"/>
              </a:rPr>
              <a:t> </a:t>
            </a:r>
            <a:r>
              <a:rPr lang="en-US" sz="2600" dirty="0" err="1">
                <a:solidFill>
                  <a:srgbClr val="FFD60A"/>
                </a:solidFill>
                <a:latin typeface="Courier New"/>
                <a:cs typeface="Courier New"/>
              </a:rPr>
              <a:t>o’chirib</a:t>
            </a:r>
            <a:r>
              <a:rPr lang="en-US" sz="2600" dirty="0">
                <a:solidFill>
                  <a:srgbClr val="FFD60A"/>
                </a:solidFill>
                <a:latin typeface="Courier New"/>
                <a:cs typeface="Courier New"/>
              </a:rPr>
              <a:t> </a:t>
            </a:r>
            <a:r>
              <a:rPr lang="en-US" sz="2600" dirty="0" err="1">
                <a:solidFill>
                  <a:srgbClr val="FFD60A"/>
                </a:solidFill>
                <a:latin typeface="Courier New"/>
                <a:cs typeface="Courier New"/>
              </a:rPr>
              <a:t>yuboradi</a:t>
            </a:r>
            <a:endParaRPr lang="en-US" sz="2600" dirty="0">
              <a:solidFill>
                <a:srgbClr val="FFD60A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qoidalari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2901" y="1975104"/>
            <a:ext cx="3003804" cy="0"/>
          </a:xfrm>
          <a:prstGeom prst="line">
            <a:avLst/>
          </a:prstGeom>
          <a:ln w="50800">
            <a:solidFill>
              <a:srgbClr val="00000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812901" y="2249424"/>
            <a:ext cx="3278123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3163824"/>
            <a:ext cx="3278123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901" y="3758184"/>
            <a:ext cx="3278123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Funksiya ichida yaratiladi, tashqarida ko‘rinmaydi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56785" y="1975104"/>
            <a:ext cx="3003804" cy="0"/>
          </a:xfrm>
          <a:prstGeom prst="line">
            <a:avLst/>
          </a:prstGeom>
          <a:ln w="50800">
            <a:solidFill>
              <a:srgbClr val="000000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456785" y="2249424"/>
            <a:ext cx="3278123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6785" y="3163824"/>
            <a:ext cx="3278123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6785" y="3758184"/>
            <a:ext cx="3278123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Fayl darajasida. Funksiya o‘qiy oladi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00669" y="1975104"/>
            <a:ext cx="3003804" cy="0"/>
          </a:xfrm>
          <a:prstGeom prst="line">
            <a:avLst/>
          </a:prstGeom>
          <a:ln w="50800">
            <a:solidFill>
              <a:srgbClr val="00000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100669" y="2249424"/>
            <a:ext cx="3278123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669" y="3163824"/>
            <a:ext cx="3278123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Kirish / chiqish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0669" y="3758184"/>
            <a:ext cx="3278123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Qiymat argument bilan kiradi, return bilan chiqadi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2940050"/>
            <a:ext cx="10565892" cy="1069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7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Ma’lumot turlari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2449830"/>
            <a:ext cx="10565892" cy="805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9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5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 va "5" — bir xilmi?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3483609"/>
            <a:ext cx="10565892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Yo‘q. Har qiymatning turi bor.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Python ular bilan har xil ishlaydi.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asosiy 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83080"/>
            <a:ext cx="164591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0261" y="1783080"/>
            <a:ext cx="882853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butun son: </a:t>
            </a:r>
            <a:r>
              <a:rPr lang="en-US" sz="36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42</a:t>
            </a: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36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468880"/>
            <a:ext cx="164591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float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0261" y="2468880"/>
            <a:ext cx="882853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kasr son: </a:t>
            </a:r>
            <a:r>
              <a:rPr lang="en-US" sz="36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3.14</a:t>
            </a: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36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3154680"/>
            <a:ext cx="164591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str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0261" y="3154680"/>
            <a:ext cx="882853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matn: </a:t>
            </a:r>
            <a:r>
              <a:rPr lang="en-US" sz="36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"Salom"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3840480"/>
            <a:ext cx="164591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0261" y="3840480"/>
            <a:ext cx="882853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rost / yolg‘on: </a:t>
            </a:r>
            <a:r>
              <a:rPr lang="en-US" sz="36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36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False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type()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581912"/>
            <a:ext cx="105658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turlar.py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020824"/>
            <a:ext cx="10565892" cy="2367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print(type(42))        </a:t>
            </a:r>
            <a:r>
              <a:rPr lang="en-US" sz="32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&lt;class 'int'&gt;</a:t>
            </a:r>
          </a:p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print(type(3.14))      </a:t>
            </a:r>
            <a:r>
              <a:rPr lang="en-US" sz="32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&lt;class 'float'&gt;</a:t>
            </a:r>
          </a:p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print(type("Salom"))   </a:t>
            </a:r>
            <a:r>
              <a:rPr lang="en-US" sz="32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&lt;class 'str'&gt;</a:t>
            </a:r>
          </a:p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print(type(True))      </a:t>
            </a:r>
            <a:r>
              <a:rPr lang="en-US" sz="32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&lt;class 'bool'&gt;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SAVOL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629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type("42") nima qaytaradi?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32156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1541" y="2321560"/>
            <a:ext cx="1001725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901" y="287528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1541" y="2875280"/>
            <a:ext cx="1001725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901" y="342900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1541" y="3429000"/>
            <a:ext cx="1001725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901" y="3982719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1541" y="3982719"/>
            <a:ext cx="1001725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JAVOB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629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type("42") nima qaytaradi?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32156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1541" y="2321560"/>
            <a:ext cx="1001725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901" y="287528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1541" y="2875280"/>
            <a:ext cx="1001725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901" y="342900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1541" y="3429000"/>
            <a:ext cx="1001725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float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901" y="3982719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1541" y="3982719"/>
            <a:ext cx="10017252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" y="4983480"/>
            <a:ext cx="105658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901" y="5550408"/>
            <a:ext cx="105658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chunki </a:t>
            </a:r>
            <a:r>
              <a:rPr lang="en-US" sz="22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"42"</a:t>
            </a: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qo‘shtirnoq ichida — bu matn, son emas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2940050"/>
            <a:ext cx="10565892" cy="1069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7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 va float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 — butun 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830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47541" y="1783080"/>
            <a:ext cx="773125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musbat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4688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-7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47541" y="2468880"/>
            <a:ext cx="773125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manfiy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31546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7541" y="3154680"/>
            <a:ext cx="773125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nol ham 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38404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1_000_000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7541" y="3840480"/>
            <a:ext cx="773125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pastki chiziq — o‘qish oson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Bo‘lish: / va 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83080"/>
            <a:ext cx="21945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7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8901" y="1783080"/>
            <a:ext cx="82798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3.5 — doim float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468880"/>
            <a:ext cx="21945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7 //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8901" y="2468880"/>
            <a:ext cx="82798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 — butun qismi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3154680"/>
            <a:ext cx="21945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7 %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8901" y="3154680"/>
            <a:ext cx="82798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 — qoldiq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3840480"/>
            <a:ext cx="21945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2 **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8901" y="3840480"/>
            <a:ext cx="82798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1024 — daraja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float — kasr 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83080"/>
            <a:ext cx="21945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3.14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8901" y="1783080"/>
            <a:ext cx="82798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nuqta bilan yoziladi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468880"/>
            <a:ext cx="21945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8901" y="2468880"/>
            <a:ext cx="82798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butun ko‘rinsa ham float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3154680"/>
            <a:ext cx="21945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1.5e6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8901" y="3154680"/>
            <a:ext cx="82798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1500000.0 — ilmiy yozuv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3840480"/>
            <a:ext cx="21945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3 + 2.0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8901" y="3840480"/>
            <a:ext cx="82798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5.0 — int + float = float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Kasrning siri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581912"/>
            <a:ext cx="105658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kasr.py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020824"/>
            <a:ext cx="10565892" cy="17983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x = 0.1 + 0.2</a:t>
            </a:r>
          </a:p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print(x)             </a:t>
            </a:r>
            <a:r>
              <a:rPr lang="en-US" sz="32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0.30000000000000004</a:t>
            </a:r>
          </a:p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</a:t>
            </a:r>
            <a:r>
              <a:rPr lang="en-US" sz="32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round(x, 2)</a:t>
            </a: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   </a:t>
            </a:r>
            <a:r>
              <a:rPr lang="en-US" sz="32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0.3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SAVOL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629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Natija nima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321560"/>
            <a:ext cx="6339535" cy="5892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print(10 /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6756" y="232156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5396" y="232156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6756" y="287528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5396" y="287528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6756" y="342900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5396" y="342900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6756" y="3982719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5396" y="3982719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Xato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JAVOB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629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Natija nima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321560"/>
            <a:ext cx="6339535" cy="5892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print(10 /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6756" y="232156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5396" y="232156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6756" y="287528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5396" y="287528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6756" y="342900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5396" y="342900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6756" y="3982719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5396" y="3982719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Xato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901" y="4983480"/>
            <a:ext cx="105658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" y="5550408"/>
            <a:ext cx="105658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chunki </a:t>
            </a:r>
            <a:r>
              <a:rPr lang="en-US" sz="22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har doim float qaytaradi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2940050"/>
            <a:ext cx="10565892" cy="1069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7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 bilan ishlash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83080"/>
            <a:ext cx="35661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"Salom"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0501" y="1783080"/>
            <a:ext cx="69082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qo‘shtirnoq: " yoki 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468880"/>
            <a:ext cx="35661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len("Anora")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0501" y="2468880"/>
            <a:ext cx="69082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 — harflar soni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3154680"/>
            <a:ext cx="35661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"Sal" + "om"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0501" y="3154680"/>
            <a:ext cx="69082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"Salom" — qo‘shish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3840480"/>
            <a:ext cx="35661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"ha" *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0501" y="3840480"/>
            <a:ext cx="69082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"hahaha" — takrorlash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2940050"/>
            <a:ext cx="10565892" cy="1069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7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bool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bool — True yoki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83080"/>
            <a:ext cx="329183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True,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6181" y="1783080"/>
            <a:ext cx="718261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faqat 2 ta qiymat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468880"/>
            <a:ext cx="329183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5 &gt;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6181" y="2468880"/>
            <a:ext cx="718261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3154680"/>
            <a:ext cx="329183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10 ==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6181" y="3154680"/>
            <a:ext cx="718261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3840480"/>
            <a:ext cx="329183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if x &gt; 0: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181" y="3840480"/>
            <a:ext cx="718261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if aynan bool bilan ishlaydi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Rostmi, yolg‘onmi?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8308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bool(0)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44821" y="1783080"/>
            <a:ext cx="6633971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False — 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46888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bool(5)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44821" y="2468880"/>
            <a:ext cx="6633971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315468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bool("")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4821" y="3154680"/>
            <a:ext cx="6633971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False — bo‘sh 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384048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bool("salom")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4821" y="3840480"/>
            <a:ext cx="6633971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SAVOL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629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Natija nima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321560"/>
            <a:ext cx="6339535" cy="2082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if "0":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print("Ha")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else: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print("Yo‘q")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6756" y="232156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5396" y="232156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6756" y="287528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5396" y="287528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Yo‘q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6756" y="342900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5396" y="342900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Xato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JAVOB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629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Natija nima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321560"/>
            <a:ext cx="6339535" cy="2082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if "0":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print("Ha")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else: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print("Yo‘q")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6756" y="232156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5396" y="232156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6756" y="287528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5396" y="287528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Yo‘q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6756" y="342900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5396" y="342900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Xato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" y="4983480"/>
            <a:ext cx="105658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" y="5550408"/>
            <a:ext cx="105658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chunki </a:t>
            </a:r>
            <a:r>
              <a:rPr lang="en-US" sz="22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"0"</a:t>
            </a: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— bo‘sh bo‘lmagan matn, u True hisoblanadi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2940050"/>
            <a:ext cx="10565892" cy="1069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7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Turlarni o‘zgartirish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input() doim str beradi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581912"/>
            <a:ext cx="105658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calculator.py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020824"/>
            <a:ext cx="10565892" cy="1584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x = input("x? ")   </a:t>
            </a:r>
            <a:r>
              <a:rPr lang="en-US" sz="28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1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y = input("y? ")   </a:t>
            </a:r>
            <a:r>
              <a:rPr lang="en-US" sz="28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2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</a:t>
            </a:r>
            <a:r>
              <a:rPr lang="en-US" sz="28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x + y</a:t>
            </a:r>
            <a:r>
              <a:rPr lang="en-US" sz="28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       </a:t>
            </a:r>
            <a:r>
              <a:rPr lang="en-US" sz="28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12  — matnlar yopishdi!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Xato: str + 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581912"/>
            <a:ext cx="105658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yosh.py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020824"/>
            <a:ext cx="10565892" cy="17983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yosh = 18</a:t>
            </a:r>
          </a:p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print("Yosh: " + </a:t>
            </a:r>
            <a:r>
              <a:rPr lang="en-US" sz="32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yosh</a:t>
            </a: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   </a:t>
            </a:r>
            <a:r>
              <a:rPr lang="en-US" sz="32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TypeError!</a:t>
            </a:r>
          </a:p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print("Yosh: " + </a:t>
            </a:r>
            <a:r>
              <a:rPr lang="en-US" sz="32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str(yosh)</a:t>
            </a:r>
            <a:r>
              <a:rPr lang="en-US" sz="3200" b="0" noProof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   </a:t>
            </a:r>
            <a:r>
              <a:rPr lang="en-US" sz="3200" b="0" noProof="1">
                <a:solidFill>
                  <a:srgbClr val="9A9A9A"/>
                </a:solidFill>
                <a:latin typeface="Courier New"/>
                <a:ea typeface="Courier New"/>
                <a:cs typeface="Courier New"/>
              </a:rPr>
              <a:t># Yosh: 18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Konvertatsiya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83080"/>
            <a:ext cx="35661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int("25")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0501" y="1783080"/>
            <a:ext cx="69082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468880"/>
            <a:ext cx="35661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float("3.5")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0501" y="2468880"/>
            <a:ext cx="69082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3154680"/>
            <a:ext cx="35661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str(100)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0501" y="3154680"/>
            <a:ext cx="69082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"100"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3840480"/>
            <a:ext cx="35661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int(3.9)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0501" y="3840480"/>
            <a:ext cx="69082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 — yaxlitlamaydi, kesadi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" y="4526280"/>
            <a:ext cx="3566159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int("salom")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0501" y="4526280"/>
            <a:ext cx="69082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ValueError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SAVOL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629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Foydalanuvchi 4 kiritdi. Natija nima?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321560"/>
            <a:ext cx="6339535" cy="10871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x = input("Son: ")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print(x *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6756" y="232156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5396" y="232156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6756" y="287528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5396" y="287528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6756" y="342900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5396" y="342900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Xato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 JAVOB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417320"/>
            <a:ext cx="10565892" cy="629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Foydalanuvchi 4 kiritdi. Natija nima?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901" y="2321560"/>
            <a:ext cx="6339535" cy="10871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x = input("Son: ")</a:t>
            </a:r>
          </a:p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print(x *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6756" y="232156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5396" y="232156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6756" y="287528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5396" y="287528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444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6756" y="3429000"/>
            <a:ext cx="548640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5396" y="3429000"/>
            <a:ext cx="3403396" cy="46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Xato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" y="4983480"/>
            <a:ext cx="105658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000" b="1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444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" y="5550408"/>
            <a:ext cx="1056589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chunki </a:t>
            </a:r>
            <a:r>
              <a:rPr lang="en-US" sz="2200" b="0" noProof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input()</a:t>
            </a:r>
            <a:r>
              <a:rPr lang="uz-Latn-UZ" sz="2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str qaytaradi, str * 3 — takrorlash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Xulosa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83080"/>
            <a:ext cx="685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8701" y="1783080"/>
            <a:ext cx="9880092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— o‘zgaruvchi ko‘rinadigan joy: </a:t>
            </a:r>
            <a:r>
              <a:rPr lang="uz-Latn-UZ" sz="2800" b="0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local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va </a:t>
            </a:r>
            <a:r>
              <a:rPr lang="uz-Latn-UZ" sz="2800" b="0">
                <a:solidFill>
                  <a:srgbClr val="000000"/>
                </a:solidFill>
                <a:highlight>
                  <a:srgbClr val="FFD60A"/>
                </a:highlight>
                <a:latin typeface="Arial"/>
                <a:ea typeface="Arial"/>
                <a:cs typeface="Arial"/>
              </a:rPr>
              <a:t>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428748"/>
            <a:ext cx="685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8701" y="2428748"/>
            <a:ext cx="9880092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Qiymat argument bilan kiradi, </a:t>
            </a: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bilan chiqadi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3074416"/>
            <a:ext cx="685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8701" y="3074416"/>
            <a:ext cx="9880092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butun, </a:t>
            </a: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kasr; </a:t>
            </a: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doim float beradi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3720084"/>
            <a:ext cx="685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8701" y="3720084"/>
            <a:ext cx="9880092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str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matn: </a:t>
            </a: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+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qo‘shadi, </a:t>
            </a: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*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takrorlaydi, </a:t>
            </a: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len()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uzunlik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" y="4365752"/>
            <a:ext cx="685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8701" y="4365752"/>
            <a:ext cx="9880092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bool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True / False; </a:t>
            </a: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va </a:t>
            </a: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""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901" y="5011420"/>
            <a:ext cx="6858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8701" y="5011420"/>
            <a:ext cx="9880092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input()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doim str → </a:t>
            </a: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int()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float()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800" b="0" noProof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str()</a:t>
            </a:r>
            <a:r>
              <a:rPr lang="uz-Latn-UZ"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bilan o‘zgartiring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901" y="812901"/>
            <a:ext cx="10565892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Mashqlar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901" y="1764792"/>
            <a:ext cx="6858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600" b="1">
                <a:solidFill>
                  <a:srgbClr val="FFD60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8701" y="1764792"/>
            <a:ext cx="9880092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42</a:t>
            </a:r>
            <a:r>
              <a:rPr lang="uz-Latn-UZ"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4.2</a:t>
            </a:r>
            <a:r>
              <a:rPr lang="uz-Latn-UZ"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"42"</a:t>
            </a:r>
            <a:r>
              <a:rPr lang="uz-Latn-UZ"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lang="uz-Latn-UZ"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uchun </a:t>
            </a: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type()</a:t>
            </a:r>
            <a:r>
              <a:rPr lang="uz-Latn-UZ"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natijasini oldindan ayting, keyin tekshiring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901" y="2791460"/>
            <a:ext cx="6858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600" b="1">
                <a:solidFill>
                  <a:srgbClr val="FFD60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8701" y="2791460"/>
            <a:ext cx="9880092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Chegirma: narx (so‘m) va foizni so‘rang, yangi narxni </a:t>
            </a: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round()</a:t>
            </a:r>
            <a:r>
              <a:rPr lang="uz-Latn-UZ"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bilan chiqaring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" y="3818128"/>
            <a:ext cx="685800" cy="412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600" b="1">
                <a:solidFill>
                  <a:srgbClr val="FFD60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8701" y="3818128"/>
            <a:ext cx="9880092" cy="412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Slayd 47 dagi </a:t>
            </a:r>
            <a:r>
              <a:rPr lang="en-US" sz="2600" b="0" noProof="1">
                <a:solidFill>
                  <a:srgbClr val="FFD60A"/>
                </a:solidFill>
                <a:latin typeface="Courier New"/>
                <a:ea typeface="Courier New"/>
                <a:cs typeface="Courier New"/>
              </a:rPr>
              <a:t>hello.py</a:t>
            </a:r>
            <a:r>
              <a:rPr lang="uz-Latn-UZ"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xatosini argument bilan tuzating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" y="4432046"/>
            <a:ext cx="6858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600" b="1">
                <a:solidFill>
                  <a:srgbClr val="FFD60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8701" y="4432046"/>
            <a:ext cx="9880092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</a:pPr>
            <a:r>
              <a:rPr lang="uz-Latn-UZ"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Tug‘ilgan yilni so‘rang va chiqaring: "2030-yilda siz N yoshda bo‘lasiz"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3334</Words>
  <Application>Microsoft Office PowerPoint</Application>
  <PresentationFormat>Widescreen</PresentationFormat>
  <Paragraphs>780</Paragraphs>
  <Slides>87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Funksiyalar va shartlar</dc:title>
  <dc:subject>PptxGenJS Presentation</dc:subject>
  <dc:creator>PptxGenJS</dc:creator>
  <cp:lastModifiedBy>TuranIT</cp:lastModifiedBy>
  <cp:revision>3</cp:revision>
  <dcterms:created xsi:type="dcterms:W3CDTF">2026-09-21T12:05:30Z</dcterms:created>
  <dcterms:modified xsi:type="dcterms:W3CDTF">2026-10-05T11:09:02Z</dcterms:modified>
</cp:coreProperties>
</file>