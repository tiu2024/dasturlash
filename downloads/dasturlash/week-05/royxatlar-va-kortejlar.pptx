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0–1-daqiqa (1 daq)</a:t>
            </a:r>
          </a:p>
          <a:p/>
          <a:p>
            <a:r>
              <a:t>Salomlashing. Bugun bitta qiymat o'rniga ko'p qiymatni birga saqlashni o'rganamiz: ro'yxat, kortej va to'plam. Eng muhim qismi dars o'rtasida: ikki o'zgaruvchi bitta ro'yxatga ishora qilganda nima bo'ladi.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1–4.5-daqiqa (3.5 daq) · 3 ta bosish</a:t>
            </a:r>
          </a:p>
          <a:p/>
          <a:p>
            <a:r>
              <a:t>Talabalar javobni daftarga yozsin, keyin 2-3 kishidan so'rang. Birinchi ikki savol bugungi dars uchun kerak: indeks va kesim ro'yxatda ham xuddi shunday ishlaydi. Uchinchi savolga e'tibor bering: sonlarda b = a nusxa beradi. Dars o'rtasida ro'yxatlarda bu boshqacha ekanini ko'ramiz.</a:t>
            </a:r>
          </a:p>
          <a:p/>
          <a:p>
            <a:r>
              <a:t>Talabalar daftarsiz, xotiradan javob yozadi (1–2 daqiqa). Keyin har bosishda bitta javobni oching. Eslab chiqarish qayta o'qishdan ko'ra yaxshiroq yodda qoldiradi.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4.5–5.5-daqiqa (1 daq)</a:t>
            </a:r>
          </a:p>
          <a:p/>
          <a:p>
            <a:r>
              <a:t>Talabalardan so'rang: for bilan bu ismlarni aylanib chiqa olamizmi? Yo'q: ism1, ism2, ism3 alohida nomlar, ularni hech narsa bog'lamaydi. Guruh 31 kishi bo'lsa, kodni qayta yozish kerak. Bu birinchi muammo: ko'p qiymat uchun ko'p nom.</a:t>
            </a:r>
          </a:p>
          <a:p/>
          <a:p>
            <a:r>
              <a:t>Talabalarga 30–60 soniya o'ylab, taxmin aytish imkonini bering. Javobni hozir aytmang.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5.5–7.5-daqiqa (2 daq) · 1 ta bosish</a:t>
            </a:r>
          </a:p>
          <a:p/>
          <a:p>
            <a:r>
              <a:t>Ikkinchi muammo: necha ball kiritilishini oldindan bilmaymiz va yangi o'zgaruvchi yaratib bo'lmaydi. Kodni ishga tushirib, 70, 85, 90 kiriting. 245 deganlar o'zgaruvchi yig'indi saqlaydi deb o'ylagan; 70 deganlar birinchi qiymat qoladi deb o'ylagan. Oldingi ballar yo'qoldi.</a:t>
            </a:r>
          </a:p>
          <a:p/>
          <a:p>
            <a:r>
              <a:t>Taxmin → juftlik → javob: 1 daqiqa har kim o'z taxminini yozadi, 1 daqiqa yonidagi bilan solishtiradi. 2–3 talabadan javob so'rang, keyin bosib javobni oching va kodni jonli ishga tushiring.</a:t>
            </a:r>
          </a:p>
          <a:p>
            <a:r>
              <a:t>Tekshiriladigan noto'g'ri tasavvur: o'zgaruvchi kiritilgan hamma qiymatni yig'ib boradi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7.5–9-daqiqa (1.5 daq) · 1 ta bosish</a:t>
            </a:r>
          </a:p>
          <a:p/>
          <a:p>
            <a:r>
              <a:t>Uchinchi muammo. Funksiya aynan uchta ball kutadi. To'rtta ball bo'lsa, parametr qo'shib formulani qayta yozish kerak, 100 ta ball bo'lsa umuman iloji yo'q. Ko'p qiymatni bitta nom bilan berish usuli kerak. Bu funksiyaga bugun yana qaytamiz.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9–10-daqiqa (1 daq) · 3 ta bosish</a:t>
            </a:r>
          </a:p>
          <a:p/>
          <a:p>
            <a:r>
              <a:t>Uchala muammoning ildizi bitta: ko'p qiymat uchun bitta nom yo'q. Kolleksiya shuni hal qiladi. Bugun uch turi bilan tanishamiz. Hozir ta'riflarni yodlash shart emas, dars oxirida jadvalda yana ko'ramiz.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10–11-daqiqa (1 daq) · 4 ta bosish</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11–11.5-daqiqa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11.5–13.5-daqiqa (2 daq) · 1 ta bosish</a:t>
            </a:r>
          </a:p>
          <a:p/>
          <a:p>
            <a:r>
              <a:t>Ro'yxat — kvadrat qavs ichida vergul bilan ajratilgan qiymatlar. Elementlar soni len() bilan topiladi, buni satrlardan bilasiz. [] — bo'sh ro'yxat: unda hech narsa yo'q, uzunligi 0. Ro'yxatning nomini odatda ko'plikda qo'yamiz: mevalar, ismlar.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13.5–15.5-daqiqa (2 daq) · 1 ta bosish</a:t>
            </a:r>
          </a:p>
          <a:p/>
          <a:p>
            <a:r>
              <a:t>O'tgan hafta satrlarda o'rgangan qoidalar bu yerda ham bor: indeks 0 dan boshlanadi, -1 oxirgi element, kesimda oxirgi indeks kirmaydi. Faqat natija: kesim yangi ro'yxat beradi. Yangi qoida yo'q.</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15.5–17.5-daqiqa (2 daq) · 1 ta bosish</a:t>
            </a:r>
          </a:p>
          <a:p/>
          <a:p>
            <a:r>
              <a:t>for har aylanishda keyingi elementni beradi: o'tgan haftadagi shaharlar misoli aynan ro'yxat edi. in elementning ro'yxatda bor-yo'qligini True yoki False bilan aytadi. Bu tekshiruv keyinroq o'chirishda kerak bo'ladi.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17.5–20-daqiqa (2.5 daq) · 2 ta bosish</a:t>
            </a:r>
          </a:p>
          <a:p/>
          <a:p>
            <a:r>
              <a:t>Chapda indeks bo'yicha yangi qiymat beramiz va ro'yxat o'zgaradi. O'ngda satr bilan shunday qilib bo'lmaydi: Python xato beradi. Ro'yxat o'zgaradigan kolleksiya, satr esa o'zgarmaydi. Satrni o'zgartirmoqchi bo'lsak, yangi satr yasaymiz. Bu farq dars oxirigacha muhim.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20–22-daqiqa (2 daq) · 1 ta bosish</a:t>
            </a:r>
          </a:p>
          <a:p/>
          <a:p>
            <a:r>
              <a:t>Xato xabarini birga o'qing: list index out of range, ya'ni indeks ro'yxat chegarasidan tashqarida. Satrlardagi xato bilan bir xil. Oxirgi indeks doim len(ro'yxat) - 1 yoki shunchaki -1. «uzum» deganlar 1 dan sanagan, «olma» deganlar esa 3 ni 0 dan keyingi deb adashgan.</a:t>
            </a:r>
          </a:p>
          <a:p/>
          <a:p>
            <a:r>
              <a:t>Taxmin → juftlik → javob: 1 daqiqa har kim o'z taxminini yozadi, 1 daqiqa yonidagi bilan solishtiradi. 2–3 talabadan javob so'rang, keyin bosib javobni oching va kodni jonli ishga tushiring.</a:t>
            </a:r>
          </a:p>
          <a:p>
            <a:r>
              <a:t>Tekshiriladigan noto'g'ri tasavvur: indeks 1 dan boshlanadi yoki oxirgi indeks uzunlikka teng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22–22.5-daqiqa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22.5–24.5-daqiqa (2 daq) · 1 ta bosish</a:t>
            </a:r>
          </a:p>
          <a:p/>
          <a:p>
            <a:r>
              <a:t>Bo'sh ro'yxatdan boshlab, uni qadam-baqadam to'ldirish mumkin. append — metod: ro'yxatdan keyin nuqta qo'yib chaqiriladi, xuddi satrning metodlari kabi. U elementni doim oxiriga qo'yadi. Bu ikkinchi muammoning javobi: ballarni append bilan yig'ib boramiz.</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24.5–26.5-daqiqa (2 daq) · 1 ta bosish</a:t>
            </a:r>
          </a:p>
          <a:p/>
          <a:p>
            <a:r>
              <a:t>insert ikkita argument oladi: avval indeks, keyin qiymat. Yangi element shu indeksga tushadi, undan keyingilar o'ngga suriladi. Navbatga turishga o'xshaydi: kimdir o'rtaga kirsa, orqadagilar bir qadam orqaga ketadi. Oxirgi qatordan keyin Olim 2-indeksda.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26.5–29-daqiqa (2.5 daq) · 1 ta bosish</a:t>
            </a:r>
          </a:p>
          <a:p/>
          <a:p>
            <a:r>
              <a:t>pop(3) 3-indeksdagi elementni ro'yxatdan oladi va qaytaradi, shuning uchun uni o'zgaruvchiga saqlash mumkin. del esa shunchaki o'chiradi, hech narsa qaytarmaydi. Ikkalasida ham o'rin raqami kerak. pop() indekssiz yozilsa, oxirgi elementni oladi.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29–31-daqiqa (2 daq) · 1 ta bosish</a:t>
            </a:r>
          </a:p>
          <a:p/>
          <a:p>
            <a:r>
              <a:t>Elementning o'rnini bilmasak, qiymatini aytamiz. Ro'yxatda ikkita mushuk bor, lekin remove faqat birinchisini o'chirdi. Ikkinchisini o'chirish uchun remove ni yana chaqirish kerak. Savol bering: ikkala mushukni o'chirish uchun nima qilamiz? Javob: remove ni ikki marta.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31–33-daqiqa (2 daq) · 1 ta bosish</a:t>
            </a:r>
          </a:p>
          <a:p/>
          <a:p>
            <a:r>
              <a:t>Ro'yxatda yo'q qiymatni remove bilan o'chirmoqchi bo'lsak, Python ValueError beradi. Birinchi blok in bilan oldindan tekshiradi va xavfsiz. Oxirgi qator esa tekshiruvsiz chaqirilgan: u xato beradi va dastur to'xtaydi. Tekshiruvni shartlardan bilasiz.</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33–35.5-daqiqa (2.5 daq) · 1 ta bosish</a:t>
            </a:r>
          </a:p>
          <a:p/>
          <a:p/>
          <a:p>
            <a:r>
              <a:t>Peer instruction: 1) har kim alohida ovoz beradi (qo'l ko'tarish). 2) To'g'ri javob 30–70% bo'lsa, 2 daqiqa yonidagi bilan muhokama (“sherigingizni ishontiring”), keyin qayta ovoz. 70% dan ko'p bo'lsa, qisqa tushuntirib davom eting; 30% dan kam bo'lsa, qayta tushuntiring. 3) Bosib javobni oching.</a:t>
            </a:r>
          </a:p>
          <a:p>
            <a:r>
              <a:t>Noto'g'ri variantlar nega jalb qiladi: append — o'chirmaydi, qo'shadi. pop("banan") — pop indeks kutadi, matn bersak xato. del bozorlik["banan"] — indeks matn bo'lishi mumkin emas.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35.5–36-daqiqa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36–38-daqiqa (2 daq) · 1 ta bosish</a:t>
            </a:r>
          </a:p>
          <a:p/>
          <a:p>
            <a:r>
              <a:t>Kortej yumaloq qavs bilan yoziladi. Indeks, len va for xuddi ro'yxatdagidek ishlaydi. Faqat o'zgartirib bo'lmaydi: qiymat berish ham, append ham, remove ham ishlamaydi. Satrdagi xato bilan solishtiring, ular o'xshash: ikkalasi ham o'zgarmaydi.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38–39-daqiqa (1 daq) · 3 ta bosish</a:t>
            </a:r>
          </a:p>
          <a:p/>
          <a:p>
            <a:r>
              <a:t>Nima uchun o'zgarmaydigan kolleksiya kerak? Koordinata yoki tug'ilgan sana kabi qiymatni tasodifan o'zgartirib qo'ymaslik uchun. Kortejni o'zgartirmoqchi bo'lsangiz, Python darrov xato beradi va xatoni o'sha zahoti topasiz. Hozircha shuni bilish yetarli.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39–39.5-daqiqa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39.5–42-daqiqa (2.5 daq) · 1 ta bosish</a:t>
            </a:r>
          </a:p>
          <a:p/>
          <a:p>
            <a:r>
              <a:t>Bugungi eng muhim savol. Ko'pchilik [1, 2, 3] deydi, chunki warm-up dagi a = 5, b = a misolida a o'zgarmagan edi. Natijani ishga tushirib ko'rsating. Ro'yxat — katta obyekt: o'zgaruvchi uni emas, unga havolani saqlaydi. b = a havolani nusxalaydi, ro'yxatni emas.</a:t>
            </a:r>
          </a:p>
          <a:p/>
          <a:p>
            <a:r>
              <a:t>Taxmin → juftlik → javob: 1 daqiqa har kim o'z taxminini yozadi, 1 daqiqa yonidagi bilan solishtiradi. 2–3 talabadan javob so'rang, keyin bosib javobni oching va kodni jonli ishga tushiring.</a:t>
            </a:r>
          </a:p>
          <a:p>
            <a:r>
              <a:t>Tekshiriladigan noto'g'ri tasavvur: b = a ro'yxatning nusxasini yasaydi deb o'ylash (sonlardagidek)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42–44.5-daqiqa (2.5 daq) · 1 ta bosish</a:t>
            </a:r>
          </a:p>
          <a:p/>
          <a:p>
            <a:r>
              <a:t>Ikki nom — bitta ro'yxat. Xuddi bitta odamning ikki laqabi: kimdir uni bir laqab bilan boyitsa, ikkinchi laqab ostida ham o'zgargan bo'ladi. id() obyektning manzilini beradi: True degani ikkalasi bir joyda. Sonlar va satrlar o'zgarmagani uchun ular bilan bu muammo bo'lmaydi.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44.5–46.5-daqiqa (2 daq) · 1 ta bosish</a:t>
            </a:r>
          </a:p>
          <a:p/>
          <a:p>
            <a:r>
              <a:t>Kesim yangi ro'yxat yasaydi, o'tgan haftadan eslang. Bo'sh joylar ikkala tomondan tushirilsa, kesim butun ro'yxatni oladi. Natijada b alohida ro'yxat, id lar har xil, a esa o'zgarmadi. Ro'yxatning haqiqiy nusxasi kerak bo'lsa, [:] ishlating.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46.5–48.5-daqiqa (2 daq) · 1 ta bosish</a:t>
            </a:r>
          </a:p>
          <a:p/>
          <a:p>
            <a:r>
              <a:t>Argument sifatida ro'yxat berilganda funksiya nusxani emas, ro'yxatning o'zini oladi: royxat va sonlar bitta ro'yxatga ishora qiladi. Shuning uchun funksiya ichidagi append tashqaridagi ro'yxatni o'zgartirdi. Funksiya hech narsa qaytarmadi, lekin natija bor. Bu foydali, lekin xavfli ham.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48.5–50.5-daqiqa (2 daq) · 1 ta bosish</a:t>
            </a:r>
          </a:p>
          <a:p/>
          <a:p>
            <a:r>
              <a:t>Ikkala usul ham tartiblaydi: kichikdan kattaga. sorted(sonlar) yangi tartiblangan ro'yxat qaytaradi, asl ro'yxat esa o'zgarmaydi. sonlar.sort() asl ro'yxatning o'zini o'zgartiradi va hech narsa qaytarmaydi. Bu farq keyingi savolda kerak.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50.5–53-daqiqa (2.5 daq) · 1 ta bosish</a:t>
            </a:r>
          </a:p>
          <a:p/>
          <a:p>
            <a:r>
              <a:t>Funksiya ikkinchi eng kichik sonni topdi, lekin sonlar ro'yxatini ham tartiblab yubordi. Funksiya chaqirgan odam buni kutmagan. Bunday kutilmagan o'zgarish yon ta'sir (side effect) deyiladi. Dastur kattalashganda bunday xatolarni topish juda qiyin.</a:t>
            </a:r>
          </a:p>
          <a:p/>
          <a:p>
            <a:r>
              <a:t>Taxmin → juftlik → javob: 1 daqiqa har kim o'z taxminini yozadi, 1 daqiqa yonidagi bilan solishtiradi. 2–3 talabadan javob so'rang, keyin bosib javobni oching va kodni jonli ishga tushiring.</a:t>
            </a:r>
          </a:p>
          <a:p>
            <a:r>
              <a:t>Tekshiriladigan noto'g'ri tasavvur: funksiya ichidagi o'zgarish tashqaridagi ro'yxatga ta'sir qilmaydi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53–55-daqiqa (2 daq) · 1 ta bosish</a:t>
            </a:r>
          </a:p>
          <a:p/>
          <a:p>
            <a:r>
              <a:t>Endi sorted() yangi ro'yxat yasadi, funksiya o'sha nusxani tartiblaydi, asl ro'yxat tegilmay qoldi. Qoida: funksiya o'ziga berilgan ro'yxatni o'zgartirmasin, agar aynan shu uning vazifasi bo'lmasa. Kerak bo'lsa, [:] yoki sorted() bilan nusxa oling.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55–56.5-daqiqa (1.5 daq) · 1 ta bosish</a:t>
            </a:r>
          </a:p>
          <a:p/>
          <a:p>
            <a:r>
              <a:t>Dars boshidagi uchinchi muammoning javobi. Bitta parametr — butun ro'yxat, ichida for bilan yig'indini hisoblaymiz va uzunlikka bo'lamiz. Uch ball uchun ham, to'rt ball uchun ham, yuz ball uchun ham funksiyani o'zgartirish shart emas.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56.5–57-daqiqa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57–59-daqiqa (2 daq) · 1 ta bosish</a:t>
            </a:r>
          </a:p>
          <a:p/>
          <a:p>
            <a:r>
              <a:t>To'plam figurali qavs bilan yoziladi. Toshkent ikki marta yozilgan, lekin to'plamda bir marta qoladi, shuning uchun uzunligi 2. Bo'sh to'plam set() bilan yaratiladi. Bo'sh figurali qavs {} to'plam emas, u boshqa kolleksiyani yaratadi, uni keyinroq o'rganamiz. To'plamni to'liq chiqarmadik: undagi tartib o'zgarib turishi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59–60.5-daqiqa (1.5 daq) · 1 ta bosish</a:t>
            </a:r>
          </a:p>
          <a:p/>
          <a:p>
            <a:r>
              <a:t>To'plamda «birinchi» element degan tushuncha yo'q, shuning uchun [0], [-1] va kesim ishlamaydi. Xato xabaridagi «not subscriptable» — «kvadrat qavsni qo'llab-quvvatlamaydi» degani. To'plam bilan for va in ishlaydi, faqat tartib kafolatlanmagan.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60.5–63-daqiqa (2.5 daq) · 1 ta bosish</a:t>
            </a:r>
          </a:p>
          <a:p/>
          <a:p>
            <a:r>
              <a:t>add to'plamga qo'shadi, takroriy qo'shish hech narsani o'zgartirmaydi. in elementni tekshiradi. Yo'q elementni discard bilan o'chirsak, xato bo'lmaydi; remove esa KeyError beradi. Ro'yxatdagi remove bilan solishtiring: u ValueError berardi, bu yerda xato turi boshqacha, lekin g'oya bir xil.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63–65-daqiqa (2 daq) · 1 ta bosish</a:t>
            </a:r>
          </a:p>
          <a:p/>
          <a:p>
            <a:r>
              <a:t>To'plamning asosiy qo'llanilishi shu. Ro'yxatda 6 ta kelish yozilgan, lekin odam nechta? set(kelganlar) ro'yxatdan takrorlarsiz to'plam yasaydi, uning uzunligi — turli odamlar soni. Ro'yxat o'zgarmaydi, set() yangi to'plam yaratadi.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65–67-daqiqa (2 daq) · 1 ta bosish</a:t>
            </a:r>
          </a:p>
          <a:p/>
          <a:p>
            <a:r>
              <a:t>Qavs ichiga yozilgan qiymatlarning hammasi emas, faqat turlilari sanaladi. 6 deganlar ro'yxat bilan adashtirgan. 1 deganlar «hammasi bir xil» deb o'ylagan. Savol bering: [1, 2, 2, 3, 3, 3] ro'yxati uchun uzunlik nechta bo'lardi? Javob: 6.</a:t>
            </a:r>
          </a:p>
          <a:p/>
          <a:p>
            <a:r>
              <a:t>Taxmin → juftlik → javob: 1 daqiqa har kim o'z taxminini yozadi, 1 daqiqa yonidagi bilan solishtiradi. 2–3 talabadan javob so'rang, keyin bosib javobni oching va kodni jonli ishga tushiring.</a:t>
            </a:r>
          </a:p>
          <a:p>
            <a:r>
              <a:t>Tekshiriladigan noto'g'ri tasavvur: to'plamda takrorlar ham saqlanadi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67–72-daqiqa (5 daq) · 3 ta bosish</a:t>
            </a:r>
          </a:p>
          <a:p/>
          <a:p>
            <a:r>
              <a:t>Faqat izohlar yozilgan boshlang'ich fayldan boshlang. Ataylab ro'yxatda yo'q ismni remove bilan o'chirib ko'ring, ValueError ni birga o'qing va in bilan tekshiruv qo'shib tuzating. Oxirida kelganlar ro'yxatidan nechta turli odam borligini set bilan toping.</a:t>
            </a:r>
          </a:p>
          <a:p/>
          <a:p>
            <a:r>
              <a:t>Jonli kodlash: boshlang'ich fayldan boshlang, har bir qarorni ovoz chiqarib tushuntiring, tez-tez ishga tushiring, bitta haqiqiy xato qilib, uni ovoz chiqarib tuzating. Maqsadlarga yetganda to'xtang va mashqqa o'ting.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72–76-daqiqa (4 daq)</a:t>
            </a:r>
          </a:p>
          <a:p/>
          <a:p/>
          <a:p>
            <a:r>
              <a:t>Qatorlar orasida yurib, ekranlarga qarang. Vaqtning yarmida qiynalayotganlarga maslahatni ko'rsating.</a:t>
            </a:r>
          </a:p>
          <a:p>
            <a:r>
              <a:t>Maslahat: Birinchi qatorda yangi = royxat[:] yozing, append ni yangi ga qo'llang va yangi ni return qiling.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76–77-daqiqa (1 daq)</a:t>
            </a:r>
          </a:p>
          <a:p/>
          <a:p>
            <a:r>
              <a:t>Bugungi uchta kolleksiyani bir jadvalda ko'ring. Talabalardan so'rang: mehmonlar ro'yxati uchun qaysi turni tanlaysiz? Koordinata uchun-chi? Kelganlar orasida turli odamlarni sanash uchun-chi? Javoblar: ro'yxat, kortej, to'plam.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77–78-daqiqa (1 daq) · 4 ta bosish</a:t>
            </a:r>
          </a:p>
          <a:p/>
          <a:p/>
          <a:p>
            <a:r>
              <a:t>Vaqt bo'lsa, har bir bandni ochishdan oldin talabalardan aytib berishni so'rang.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78–80-daqiqa (2 daq)</a:t>
            </a:r>
          </a:p>
          <a:p/>
          <a:p/>
          <a:p>
            <a:r>
              <a:t>Javoblarni yig'ib oling; keyingi darsdan oldin o'qing va darsni eng ko'p uchragan bo'shliqdan boshlang.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Course"/>
          <p:cNvSpPr txBox="1"/>
          <p:nvPr/>
        </p:nvSpPr>
        <p:spPr>
          <a:xfrm>
            <a:off x="640080" y="1371600"/>
            <a:ext cx="10911535" cy="457200"/>
          </a:xfrm>
          <a:prstGeom prst="rect">
            <a:avLst/>
          </a:prstGeom>
          <a:noFill/>
        </p:spPr>
        <p:txBody>
          <a:bodyPr wrap="square" anchor="t" lIns="0" rIns="0" tIns="0" bIns="0">
            <a:noAutofit/>
          </a:bodyPr>
          <a:lstStyle/>
          <a:p>
            <a:pPr algn="l">
              <a:lnSpc>
                <a:spcPct val="115000"/>
              </a:lnSpc>
              <a:spcBef>
                <a:spcPts val="0"/>
              </a:spcBef>
              <a:spcAft>
                <a:spcPts val="0"/>
              </a:spcAft>
            </a:pPr>
            <a:r>
              <a:rPr sz="1800" b="1" i="0">
                <a:solidFill>
                  <a:srgbClr val="FFC20E"/>
                </a:solidFill>
                <a:latin typeface="Courier New"/>
              </a:rPr>
              <a:t>DASTURLASH 1, 2 · TIU</a:t>
            </a:r>
          </a:p>
        </p:txBody>
      </p:sp>
      <p:sp>
        <p:nvSpPr>
          <p:cNvPr id="3" name="Title"/>
          <p:cNvSpPr txBox="1"/>
          <p:nvPr/>
        </p:nvSpPr>
        <p:spPr>
          <a:xfrm>
            <a:off x="640080" y="1965960"/>
            <a:ext cx="10911535" cy="2103120"/>
          </a:xfrm>
          <a:prstGeom prst="rect">
            <a:avLst/>
          </a:prstGeom>
          <a:noFill/>
        </p:spPr>
        <p:txBody>
          <a:bodyPr wrap="square" anchor="t" lIns="0" rIns="0" tIns="0" bIns="0">
            <a:noAutofit/>
          </a:bodyPr>
          <a:lstStyle/>
          <a:p>
            <a:pPr algn="l">
              <a:lnSpc>
                <a:spcPct val="100000"/>
              </a:lnSpc>
              <a:spcBef>
                <a:spcPts val="0"/>
              </a:spcBef>
              <a:spcAft>
                <a:spcPts val="0"/>
              </a:spcAft>
            </a:pPr>
            <a:r>
              <a:rPr sz="5600" b="1" i="0">
                <a:solidFill>
                  <a:srgbClr val="FFFFFF"/>
                </a:solidFill>
                <a:latin typeface="Arial"/>
              </a:rPr>
              <a:t>Ro'yxatlar va kortejlar</a:t>
            </a:r>
          </a:p>
        </p:txBody>
      </p:sp>
      <p:sp>
        <p:nvSpPr>
          <p:cNvPr id="4" name="Subtitle"/>
          <p:cNvSpPr txBox="1"/>
          <p:nvPr/>
        </p:nvSpPr>
        <p:spPr>
          <a:xfrm>
            <a:off x="640080" y="4160520"/>
            <a:ext cx="10911535" cy="54864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C3CCDA"/>
                </a:solidFill>
                <a:latin typeface="Arial"/>
              </a:rPr>
              <a:t>5-ma'ruza · elementlarni qo'shish, o'zgartirish va o'chirish</a:t>
            </a:r>
          </a:p>
        </p:txBody>
      </p:sp>
      <p:sp>
        <p:nvSpPr>
          <p:cNvPr id="5" name="Lecturer"/>
          <p:cNvSpPr txBox="1"/>
          <p:nvPr/>
        </p:nvSpPr>
        <p:spPr>
          <a:xfrm>
            <a:off x="640080" y="5760720"/>
            <a:ext cx="10911535" cy="411480"/>
          </a:xfrm>
          <a:prstGeom prst="rect">
            <a:avLst/>
          </a:prstGeom>
          <a:noFill/>
        </p:spPr>
        <p:txBody>
          <a:bodyPr wrap="square" anchor="t" lIns="0" rIns="0" tIns="0" bIns="0">
            <a:noAutofit/>
          </a:bodyPr>
          <a:lstStyle/>
          <a:p>
            <a:pPr algn="l">
              <a:lnSpc>
                <a:spcPct val="115000"/>
              </a:lnSpc>
              <a:spcBef>
                <a:spcPts val="0"/>
              </a:spcBef>
              <a:spcAft>
                <a:spcPts val="0"/>
              </a:spcAft>
            </a:pPr>
            <a:r>
              <a:rPr sz="1800" b="0" i="0">
                <a:solidFill>
                  <a:srgbClr val="C3CCDA"/>
                </a:solidFill>
                <a:latin typeface="Arial"/>
              </a:rPr>
              <a:t>I. J. Husainov · Turan International University · ATT-2026 · 2026-2027</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TAKRORLASH</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O'tgan haftadan uchta savol</a:t>
            </a:r>
          </a:p>
        </p:txBody>
      </p:sp>
      <p:sp>
        <p:nvSpPr>
          <p:cNvPr id="4" name="TextBox 3"/>
          <p:cNvSpPr txBox="1"/>
          <p:nvPr/>
        </p:nvSpPr>
        <p:spPr>
          <a:xfrm>
            <a:off x="640080" y="2148840"/>
            <a:ext cx="822960" cy="548640"/>
          </a:xfrm>
          <a:prstGeom prst="rect">
            <a:avLst/>
          </a:prstGeom>
          <a:noFill/>
        </p:spPr>
        <p:txBody>
          <a:bodyPr wrap="square" anchor="t" lIns="0" rIns="0" tIns="0" bIns="0">
            <a:noAutofit/>
          </a:bodyPr>
          <a:lstStyle/>
          <a:p>
            <a:pPr algn="l">
              <a:lnSpc>
                <a:spcPct val="115000"/>
              </a:lnSpc>
              <a:spcBef>
                <a:spcPts val="0"/>
              </a:spcBef>
              <a:spcAft>
                <a:spcPts val="0"/>
              </a:spcAft>
            </a:pPr>
            <a:r>
              <a:rPr sz="2800" b="1" i="0">
                <a:solidFill>
                  <a:srgbClr val="0052CC"/>
                </a:solidFill>
                <a:latin typeface="Courier New"/>
              </a:rPr>
              <a:t>1</a:t>
            </a:r>
          </a:p>
        </p:txBody>
      </p:sp>
      <p:sp>
        <p:nvSpPr>
          <p:cNvPr id="5" name="Question 1"/>
          <p:cNvSpPr txBox="1"/>
          <p:nvPr/>
        </p:nvSpPr>
        <p:spPr>
          <a:xfrm>
            <a:off x="1645920" y="2167128"/>
            <a:ext cx="9905695"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for i in range(1, 4): print(i)</a:t>
            </a:r>
            <a:r>
              <a:rPr sz="2400" b="0" i="0">
                <a:solidFill>
                  <a:srgbClr val="111111"/>
                </a:solidFill>
                <a:latin typeface="Arial"/>
              </a:rPr>
              <a:t> nimani chiqaradi?</a:t>
            </a:r>
          </a:p>
        </p:txBody>
      </p:sp>
      <p:sp>
        <p:nvSpPr>
          <p:cNvPr id="6" name="Answer 1"/>
          <p:cNvSpPr txBox="1"/>
          <p:nvPr/>
        </p:nvSpPr>
        <p:spPr>
          <a:xfrm>
            <a:off x="1645920" y="2777947"/>
            <a:ext cx="9905695" cy="589788"/>
          </a:xfrm>
          <a:prstGeom prst="rect">
            <a:avLst/>
          </a:prstGeom>
          <a:noFill/>
        </p:spPr>
        <p:txBody>
          <a:bodyPr wrap="square" anchor="t" lIns="0" rIns="0" tIns="0" bIns="0">
            <a:noAutofit/>
          </a:bodyPr>
          <a:lstStyle/>
          <a:p>
            <a:pPr algn="l">
              <a:lnSpc>
                <a:spcPct val="115000"/>
              </a:lnSpc>
              <a:spcBef>
                <a:spcPts val="0"/>
              </a:spcBef>
              <a:spcAft>
                <a:spcPts val="0"/>
              </a:spcAft>
            </a:pPr>
            <a:r>
              <a:rPr sz="2200" b="0" i="0">
                <a:solidFill>
                  <a:srgbClr val="0052CC"/>
                </a:solidFill>
                <a:latin typeface="Arial"/>
              </a:rPr>
              <a:t>1, 2, 3 — </a:t>
            </a:r>
            <a:r>
              <a:rPr sz="2200" b="0" i="0">
                <a:solidFill>
                  <a:srgbClr val="0052CC"/>
                </a:solidFill>
                <a:latin typeface="Courier New"/>
              </a:rPr>
              <a:t>range</a:t>
            </a:r>
            <a:r>
              <a:rPr sz="2200" b="0" i="0">
                <a:solidFill>
                  <a:srgbClr val="0052CC"/>
                </a:solidFill>
                <a:latin typeface="Arial"/>
              </a:rPr>
              <a:t> da oxirgi son (4) kirmaydi</a:t>
            </a:r>
          </a:p>
        </p:txBody>
      </p:sp>
      <p:sp>
        <p:nvSpPr>
          <p:cNvPr id="7" name="TextBox 6"/>
          <p:cNvSpPr txBox="1"/>
          <p:nvPr/>
        </p:nvSpPr>
        <p:spPr>
          <a:xfrm>
            <a:off x="640080" y="3459480"/>
            <a:ext cx="822960" cy="548640"/>
          </a:xfrm>
          <a:prstGeom prst="rect">
            <a:avLst/>
          </a:prstGeom>
          <a:noFill/>
        </p:spPr>
        <p:txBody>
          <a:bodyPr wrap="square" anchor="t" lIns="0" rIns="0" tIns="0" bIns="0">
            <a:noAutofit/>
          </a:bodyPr>
          <a:lstStyle/>
          <a:p>
            <a:pPr algn="l">
              <a:lnSpc>
                <a:spcPct val="115000"/>
              </a:lnSpc>
              <a:spcBef>
                <a:spcPts val="0"/>
              </a:spcBef>
              <a:spcAft>
                <a:spcPts val="0"/>
              </a:spcAft>
            </a:pPr>
            <a:r>
              <a:rPr sz="2800" b="1" i="0">
                <a:solidFill>
                  <a:srgbClr val="0052CC"/>
                </a:solidFill>
                <a:latin typeface="Courier New"/>
              </a:rPr>
              <a:t>2</a:t>
            </a:r>
          </a:p>
        </p:txBody>
      </p:sp>
      <p:sp>
        <p:nvSpPr>
          <p:cNvPr id="8" name="Question 2"/>
          <p:cNvSpPr txBox="1"/>
          <p:nvPr/>
        </p:nvSpPr>
        <p:spPr>
          <a:xfrm>
            <a:off x="1645920" y="3477768"/>
            <a:ext cx="9905695"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print("Termiz"[1:4])</a:t>
            </a:r>
            <a:r>
              <a:rPr sz="2400" b="0" i="0">
                <a:solidFill>
                  <a:srgbClr val="111111"/>
                </a:solidFill>
                <a:latin typeface="Arial"/>
              </a:rPr>
              <a:t> nimani chiqaradi?</a:t>
            </a:r>
          </a:p>
        </p:txBody>
      </p:sp>
      <p:sp>
        <p:nvSpPr>
          <p:cNvPr id="9" name="Answer 2"/>
          <p:cNvSpPr txBox="1"/>
          <p:nvPr/>
        </p:nvSpPr>
        <p:spPr>
          <a:xfrm>
            <a:off x="1645920" y="4088587"/>
            <a:ext cx="9905695" cy="589788"/>
          </a:xfrm>
          <a:prstGeom prst="rect">
            <a:avLst/>
          </a:prstGeom>
          <a:noFill/>
        </p:spPr>
        <p:txBody>
          <a:bodyPr wrap="square" anchor="t" lIns="0" rIns="0" tIns="0" bIns="0">
            <a:noAutofit/>
          </a:bodyPr>
          <a:lstStyle/>
          <a:p>
            <a:pPr algn="l">
              <a:lnSpc>
                <a:spcPct val="115000"/>
              </a:lnSpc>
              <a:spcBef>
                <a:spcPts val="0"/>
              </a:spcBef>
              <a:spcAft>
                <a:spcPts val="0"/>
              </a:spcAft>
            </a:pPr>
            <a:r>
              <a:rPr sz="2200" b="0" i="0">
                <a:solidFill>
                  <a:srgbClr val="0052CC"/>
                </a:solidFill>
                <a:latin typeface="Arial"/>
              </a:rPr>
              <a:t>erm — 1-indeksdan 4-indeksgacha, 4 kirmaydi</a:t>
            </a:r>
          </a:p>
        </p:txBody>
      </p:sp>
      <p:sp>
        <p:nvSpPr>
          <p:cNvPr id="10" name="TextBox 9"/>
          <p:cNvSpPr txBox="1"/>
          <p:nvPr/>
        </p:nvSpPr>
        <p:spPr>
          <a:xfrm>
            <a:off x="640080" y="4770120"/>
            <a:ext cx="822960" cy="548640"/>
          </a:xfrm>
          <a:prstGeom prst="rect">
            <a:avLst/>
          </a:prstGeom>
          <a:noFill/>
        </p:spPr>
        <p:txBody>
          <a:bodyPr wrap="square" anchor="t" lIns="0" rIns="0" tIns="0" bIns="0">
            <a:noAutofit/>
          </a:bodyPr>
          <a:lstStyle/>
          <a:p>
            <a:pPr algn="l">
              <a:lnSpc>
                <a:spcPct val="115000"/>
              </a:lnSpc>
              <a:spcBef>
                <a:spcPts val="0"/>
              </a:spcBef>
              <a:spcAft>
                <a:spcPts val="0"/>
              </a:spcAft>
            </a:pPr>
            <a:r>
              <a:rPr sz="2800" b="1" i="0">
                <a:solidFill>
                  <a:srgbClr val="0052CC"/>
                </a:solidFill>
                <a:latin typeface="Courier New"/>
              </a:rPr>
              <a:t>3</a:t>
            </a:r>
          </a:p>
        </p:txBody>
      </p:sp>
      <p:sp>
        <p:nvSpPr>
          <p:cNvPr id="11" name="Question 3"/>
          <p:cNvSpPr txBox="1"/>
          <p:nvPr/>
        </p:nvSpPr>
        <p:spPr>
          <a:xfrm>
            <a:off x="1645920" y="4788408"/>
            <a:ext cx="9905695" cy="655320"/>
          </a:xfrm>
          <a:prstGeom prst="rect">
            <a:avLst/>
          </a:prstGeom>
          <a:noFill/>
        </p:spPr>
        <p:txBody>
          <a:bodyPr wrap="square" anchor="t" lIns="0" rIns="0" tIns="0" bIns="0">
            <a:noAutofit/>
          </a:bodyPr>
          <a:lstStyle/>
          <a:p>
            <a:pPr algn="l">
              <a:lnSpc>
                <a:spcPct val="115000"/>
              </a:lnSpc>
              <a:spcBef>
                <a:spcPts val="0"/>
              </a:spcBef>
              <a:spcAft>
                <a:spcPts val="0"/>
              </a:spcAft>
            </a:pPr>
            <a:r>
              <a:rPr sz="2300" b="0" i="0">
                <a:solidFill>
                  <a:srgbClr val="0052CC"/>
                </a:solidFill>
                <a:latin typeface="Courier New"/>
              </a:rPr>
              <a:t>a = 5</a:t>
            </a:r>
            <a:r>
              <a:rPr sz="2300" b="0" i="0">
                <a:solidFill>
                  <a:srgbClr val="111111"/>
                </a:solidFill>
                <a:latin typeface="Arial"/>
              </a:rPr>
              <a:t>, </a:t>
            </a:r>
            <a:r>
              <a:rPr sz="2300" b="0" i="0">
                <a:solidFill>
                  <a:srgbClr val="0052CC"/>
                </a:solidFill>
                <a:latin typeface="Courier New"/>
              </a:rPr>
              <a:t>b = a</a:t>
            </a:r>
            <a:r>
              <a:rPr sz="2300" b="0" i="0">
                <a:solidFill>
                  <a:srgbClr val="111111"/>
                </a:solidFill>
                <a:latin typeface="Arial"/>
              </a:rPr>
              <a:t>, </a:t>
            </a:r>
            <a:r>
              <a:rPr sz="2300" b="0" i="0">
                <a:solidFill>
                  <a:srgbClr val="0052CC"/>
                </a:solidFill>
                <a:latin typeface="Courier New"/>
              </a:rPr>
              <a:t>b = 6</a:t>
            </a:r>
            <a:r>
              <a:rPr sz="2300" b="0" i="0">
                <a:solidFill>
                  <a:srgbClr val="111111"/>
                </a:solidFill>
                <a:latin typeface="Arial"/>
              </a:rPr>
              <a:t> dan keyin </a:t>
            </a:r>
            <a:r>
              <a:rPr sz="2300" b="0" i="0">
                <a:solidFill>
                  <a:srgbClr val="0052CC"/>
                </a:solidFill>
                <a:latin typeface="Courier New"/>
              </a:rPr>
              <a:t>print(a)</a:t>
            </a:r>
            <a:r>
              <a:rPr sz="2300" b="0" i="0">
                <a:solidFill>
                  <a:srgbClr val="111111"/>
                </a:solidFill>
                <a:latin typeface="Arial"/>
              </a:rPr>
              <a:t> nimani chiqaradi?</a:t>
            </a:r>
          </a:p>
        </p:txBody>
      </p:sp>
      <p:sp>
        <p:nvSpPr>
          <p:cNvPr id="12" name="Answer 3"/>
          <p:cNvSpPr txBox="1"/>
          <p:nvPr/>
        </p:nvSpPr>
        <p:spPr>
          <a:xfrm>
            <a:off x="1645920" y="5399227"/>
            <a:ext cx="9905695" cy="589788"/>
          </a:xfrm>
          <a:prstGeom prst="rect">
            <a:avLst/>
          </a:prstGeom>
          <a:noFill/>
        </p:spPr>
        <p:txBody>
          <a:bodyPr wrap="square" anchor="t" lIns="0" rIns="0" tIns="0" bIns="0">
            <a:noAutofit/>
          </a:bodyPr>
          <a:lstStyle/>
          <a:p>
            <a:pPr algn="l">
              <a:lnSpc>
                <a:spcPct val="115000"/>
              </a:lnSpc>
              <a:spcBef>
                <a:spcPts val="0"/>
              </a:spcBef>
              <a:spcAft>
                <a:spcPts val="0"/>
              </a:spcAft>
            </a:pPr>
            <a:r>
              <a:rPr sz="2200" b="0" i="0">
                <a:solidFill>
                  <a:srgbClr val="0052CC"/>
                </a:solidFill>
                <a:latin typeface="Arial"/>
              </a:rPr>
              <a:t>5 — </a:t>
            </a:r>
            <a:r>
              <a:rPr sz="2200" b="0" i="0">
                <a:solidFill>
                  <a:srgbClr val="0052CC"/>
                </a:solidFill>
                <a:latin typeface="Courier New"/>
              </a:rPr>
              <a:t>b = 6</a:t>
            </a:r>
            <a:r>
              <a:rPr sz="2200" b="0" i="0">
                <a:solidFill>
                  <a:srgbClr val="0052CC"/>
                </a:solidFill>
                <a:latin typeface="Arial"/>
              </a:rPr>
              <a:t> faqat </a:t>
            </a:r>
            <a:r>
              <a:rPr sz="2200" b="0" i="0">
                <a:solidFill>
                  <a:srgbClr val="0052CC"/>
                </a:solidFill>
                <a:latin typeface="Courier New"/>
              </a:rPr>
              <a:t>b</a:t>
            </a:r>
            <a:r>
              <a:rPr sz="2200" b="0" i="0">
                <a:solidFill>
                  <a:srgbClr val="0052CC"/>
                </a:solidFill>
                <a:latin typeface="Arial"/>
              </a:rPr>
              <a:t> ni o'zgartiradi</a:t>
            </a:r>
          </a:p>
        </p:txBody>
      </p:sp>
      <p:sp>
        <p:nvSpPr>
          <p:cNvPr id="13"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2"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MUAMMO</a:t>
            </a:r>
          </a:p>
        </p:txBody>
      </p:sp>
      <p:sp>
        <p:nvSpPr>
          <p:cNvPr id="3" name="Hook question"/>
          <p:cNvSpPr txBox="1"/>
          <p:nvPr/>
        </p:nvSpPr>
        <p:spPr>
          <a:xfrm>
            <a:off x="640080" y="914400"/>
            <a:ext cx="10911535" cy="2011680"/>
          </a:xfrm>
          <a:prstGeom prst="rect">
            <a:avLst/>
          </a:prstGeom>
          <a:noFill/>
        </p:spPr>
        <p:txBody>
          <a:bodyPr wrap="square" anchor="t" lIns="0" rIns="0" tIns="0" bIns="0">
            <a:noAutofit/>
          </a:bodyPr>
          <a:lstStyle/>
          <a:p>
            <a:pPr algn="l">
              <a:lnSpc>
                <a:spcPct val="110000"/>
              </a:lnSpc>
              <a:spcBef>
                <a:spcPts val="0"/>
              </a:spcBef>
              <a:spcAft>
                <a:spcPts val="0"/>
              </a:spcAft>
            </a:pPr>
            <a:r>
              <a:rPr sz="4000" b="1" i="0">
                <a:solidFill>
                  <a:srgbClr val="111111"/>
                </a:solidFill>
                <a:latin typeface="Arial"/>
              </a:rPr>
              <a:t>Guruhda 30 ta talaba bor. Hammasining ismini chiqarish uchun 30 ta o'zgaruvchi va 30 ta print yozasizmi?</a:t>
            </a:r>
          </a:p>
        </p:txBody>
      </p:sp>
      <p:sp>
        <p:nvSpPr>
          <p:cNvPr id="4" name="Code panel"/>
          <p:cNvSpPr/>
          <p:nvPr/>
        </p:nvSpPr>
        <p:spPr>
          <a:xfrm>
            <a:off x="640080" y="3108960"/>
            <a:ext cx="10911535" cy="2788411"/>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3310128"/>
            <a:ext cx="502919" cy="2386076"/>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a:p>
            <a:pPr>
              <a:lnSpc>
                <a:spcPts val="2684"/>
              </a:lnSpc>
              <a:spcBef>
                <a:spcPts val="0"/>
              </a:spcBef>
              <a:spcAft>
                <a:spcPts val="0"/>
              </a:spcAft>
            </a:pPr>
            <a:r>
              <a:rPr sz="2200" i="0">
                <a:solidFill>
                  <a:srgbClr val="8792A8"/>
                </a:solidFill>
                <a:latin typeface="Courier New"/>
              </a:rPr>
              <a:t>6</a:t>
            </a:r>
          </a:p>
          <a:p>
            <a:pPr>
              <a:lnSpc>
                <a:spcPts val="2684"/>
              </a:lnSpc>
              <a:spcBef>
                <a:spcPts val="0"/>
              </a:spcBef>
              <a:spcAft>
                <a:spcPts val="0"/>
              </a:spcAft>
            </a:pPr>
            <a:r>
              <a:rPr sz="2200" i="0">
                <a:solidFill>
                  <a:srgbClr val="8792A8"/>
                </a:solidFill>
                <a:latin typeface="Courier New"/>
              </a:rPr>
              <a:t>7</a:t>
            </a:r>
          </a:p>
        </p:txBody>
      </p:sp>
      <p:sp>
        <p:nvSpPr>
          <p:cNvPr id="6" name="Code"/>
          <p:cNvSpPr txBox="1"/>
          <p:nvPr/>
        </p:nvSpPr>
        <p:spPr>
          <a:xfrm>
            <a:off x="1399031" y="3310128"/>
            <a:ext cx="9896551" cy="2386076"/>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ism1</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Ali</a:t>
            </a:r>
            <a:r>
              <a:rPr sz="2200" i="0">
                <a:solidFill>
                  <a:srgbClr val="A5E3A1"/>
                </a:solidFill>
                <a:latin typeface="Courier New"/>
              </a:rPr>
              <a:t>"</a:t>
            </a:r>
          </a:p>
          <a:p>
            <a:pPr>
              <a:lnSpc>
                <a:spcPts val="2684"/>
              </a:lnSpc>
              <a:spcBef>
                <a:spcPts val="0"/>
              </a:spcBef>
              <a:spcAft>
                <a:spcPts val="0"/>
              </a:spcAft>
            </a:pPr>
            <a:r>
              <a:rPr sz="2200" i="0">
                <a:solidFill>
                  <a:srgbClr val="E6E9EF"/>
                </a:solidFill>
                <a:latin typeface="Courier New"/>
              </a:rPr>
              <a:t>ism2</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Vali</a:t>
            </a:r>
            <a:r>
              <a:rPr sz="2200" i="0">
                <a:solidFill>
                  <a:srgbClr val="A5E3A1"/>
                </a:solidFill>
                <a:latin typeface="Courier New"/>
              </a:rPr>
              <a:t>"</a:t>
            </a:r>
          </a:p>
          <a:p>
            <a:pPr>
              <a:lnSpc>
                <a:spcPts val="2684"/>
              </a:lnSpc>
              <a:spcBef>
                <a:spcPts val="0"/>
              </a:spcBef>
              <a:spcAft>
                <a:spcPts val="0"/>
              </a:spcAft>
            </a:pPr>
            <a:r>
              <a:rPr sz="2200" i="0">
                <a:solidFill>
                  <a:srgbClr val="E6E9EF"/>
                </a:solidFill>
                <a:latin typeface="Courier New"/>
              </a:rPr>
              <a:t>ism3</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Hasan</a:t>
            </a:r>
            <a:r>
              <a:rPr sz="2200" i="0">
                <a:solidFill>
                  <a:srgbClr val="A5E3A1"/>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ism1</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ism2</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ism3</a:t>
            </a:r>
            <a:r>
              <a:rPr sz="2200" i="0">
                <a:solidFill>
                  <a:srgbClr val="C3CCDA"/>
                </a:solidFill>
                <a:latin typeface="Courier New"/>
              </a:rPr>
              <a:t>)</a:t>
            </a:r>
          </a:p>
          <a:p>
            <a:pPr>
              <a:lnSpc>
                <a:spcPts val="2684"/>
              </a:lnSpc>
              <a:spcBef>
                <a:spcPts val="0"/>
              </a:spcBef>
              <a:spcAft>
                <a:spcPts val="0"/>
              </a:spcAft>
            </a:pPr>
            <a:r>
              <a:rPr sz="2200" i="1">
                <a:solidFill>
                  <a:srgbClr val="9AA5B8"/>
                </a:solidFill>
                <a:latin typeface="Courier New"/>
              </a:rPr>
              <a:t># ... yana 27 ta ism va 27 ta print</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NATIJANI TOPING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70, 85 va 90 kiritilsa, bu kod nimani chiqaradi?</a:t>
            </a:r>
          </a:p>
        </p:txBody>
      </p:sp>
      <p:sp>
        <p:nvSpPr>
          <p:cNvPr id="4" name="Code panel"/>
          <p:cNvSpPr/>
          <p:nvPr/>
        </p:nvSpPr>
        <p:spPr>
          <a:xfrm>
            <a:off x="640080" y="2148840"/>
            <a:ext cx="6328690" cy="1424939"/>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1022603"/>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p:txBody>
      </p:sp>
      <p:sp>
        <p:nvSpPr>
          <p:cNvPr id="6" name="Code"/>
          <p:cNvSpPr txBox="1"/>
          <p:nvPr/>
        </p:nvSpPr>
        <p:spPr>
          <a:xfrm>
            <a:off x="1399031" y="2350008"/>
            <a:ext cx="5313706" cy="1022603"/>
          </a:xfrm>
          <a:prstGeom prst="rect">
            <a:avLst/>
          </a:prstGeom>
          <a:noFill/>
        </p:spPr>
        <p:txBody>
          <a:bodyPr wrap="none" lIns="0" rIns="0" tIns="0" bIns="0">
            <a:noAutofit/>
          </a:bodyPr>
          <a:lstStyle/>
          <a:p>
            <a:pPr>
              <a:lnSpc>
                <a:spcPts val="2684"/>
              </a:lnSpc>
              <a:spcBef>
                <a:spcPts val="0"/>
              </a:spcBef>
              <a:spcAft>
                <a:spcPts val="0"/>
              </a:spcAft>
            </a:pPr>
            <a:r>
              <a:rPr sz="2200" i="0">
                <a:solidFill>
                  <a:srgbClr val="C792EA"/>
                </a:solidFill>
                <a:latin typeface="Courier New"/>
              </a:rPr>
              <a:t>for</a:t>
            </a:r>
            <a:r>
              <a:rPr sz="2200" i="0">
                <a:solidFill>
                  <a:srgbClr val="E6E9EF"/>
                </a:solidFill>
                <a:latin typeface="Courier New"/>
              </a:rPr>
              <a:t> </a:t>
            </a:r>
            <a:r>
              <a:rPr sz="2200" i="0">
                <a:solidFill>
                  <a:srgbClr val="E6E9EF"/>
                </a:solidFill>
                <a:latin typeface="Courier New"/>
              </a:rPr>
              <a:t>i</a:t>
            </a:r>
            <a:r>
              <a:rPr sz="2200" i="0">
                <a:solidFill>
                  <a:srgbClr val="E6E9EF"/>
                </a:solidFill>
                <a:latin typeface="Courier New"/>
              </a:rPr>
              <a:t> </a:t>
            </a:r>
            <a:r>
              <a:rPr sz="2200" i="0">
                <a:solidFill>
                  <a:srgbClr val="C792EA"/>
                </a:solidFill>
                <a:latin typeface="Courier New"/>
              </a:rPr>
              <a:t>in</a:t>
            </a:r>
            <a:r>
              <a:rPr sz="2200" i="0">
                <a:solidFill>
                  <a:srgbClr val="E6E9EF"/>
                </a:solidFill>
                <a:latin typeface="Courier New"/>
              </a:rPr>
              <a:t> </a:t>
            </a:r>
            <a:r>
              <a:rPr sz="2200" i="0">
                <a:solidFill>
                  <a:srgbClr val="FFCB6B"/>
                </a:solidFill>
                <a:latin typeface="Courier New"/>
              </a:rPr>
              <a:t>range</a:t>
            </a:r>
            <a:r>
              <a:rPr sz="2200" i="0">
                <a:solidFill>
                  <a:srgbClr val="C3CCDA"/>
                </a:solidFill>
                <a:latin typeface="Courier New"/>
              </a:rPr>
              <a:t>(</a:t>
            </a:r>
            <a:r>
              <a:rPr sz="2200" i="0">
                <a:solidFill>
                  <a:srgbClr val="F78C6C"/>
                </a:solidFill>
                <a:latin typeface="Courier New"/>
              </a:rPr>
              <a:t>3</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r>
              <a:rPr sz="2200" i="0">
                <a:solidFill>
                  <a:srgbClr val="E6E9EF"/>
                </a:solidFill>
                <a:latin typeface="Courier New"/>
              </a:rPr>
              <a:t>ball</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FFCB6B"/>
                </a:solidFill>
                <a:latin typeface="Courier New"/>
              </a:rPr>
              <a:t>int</a:t>
            </a:r>
            <a:r>
              <a:rPr sz="2200" i="0">
                <a:solidFill>
                  <a:srgbClr val="C3CCDA"/>
                </a:solidFill>
                <a:latin typeface="Courier New"/>
              </a:rPr>
              <a:t>(</a:t>
            </a:r>
            <a:r>
              <a:rPr sz="2200" i="0">
                <a:solidFill>
                  <a:srgbClr val="FFCB6B"/>
                </a:solidFill>
                <a:latin typeface="Courier New"/>
              </a:rPr>
              <a:t>input</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Ball: </a:t>
            </a:r>
            <a:r>
              <a:rPr sz="2200" i="0">
                <a:solidFill>
                  <a:srgbClr val="A5E3A1"/>
                </a:solidFill>
                <a:latin typeface="Courier New"/>
              </a:rPr>
              <a:t>"</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ball</a:t>
            </a:r>
            <a:r>
              <a:rPr sz="2200" i="0">
                <a:solidFill>
                  <a:srgbClr val="C3CCDA"/>
                </a:solidFill>
                <a:latin typeface="Courier New"/>
              </a:rPr>
              <a:t>)</a:t>
            </a:r>
          </a:p>
        </p:txBody>
      </p:sp>
      <p:sp>
        <p:nvSpPr>
          <p:cNvPr id="7" name="TextBox 6"/>
          <p:cNvSpPr txBox="1"/>
          <p:nvPr/>
        </p:nvSpPr>
        <p:spPr>
          <a:xfrm>
            <a:off x="7334530" y="2148840"/>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A</a:t>
            </a:r>
          </a:p>
        </p:txBody>
      </p:sp>
      <p:sp>
        <p:nvSpPr>
          <p:cNvPr id="8" name="Choice A"/>
          <p:cNvSpPr txBox="1"/>
          <p:nvPr/>
        </p:nvSpPr>
        <p:spPr>
          <a:xfrm>
            <a:off x="7883170" y="2148840"/>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245</a:t>
            </a:r>
          </a:p>
        </p:txBody>
      </p:sp>
      <p:sp>
        <p:nvSpPr>
          <p:cNvPr id="9" name="TextBox 8"/>
          <p:cNvSpPr txBox="1"/>
          <p:nvPr/>
        </p:nvSpPr>
        <p:spPr>
          <a:xfrm>
            <a:off x="7334530" y="2715768"/>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B</a:t>
            </a:r>
          </a:p>
        </p:txBody>
      </p:sp>
      <p:sp>
        <p:nvSpPr>
          <p:cNvPr id="10" name="Choice B"/>
          <p:cNvSpPr txBox="1"/>
          <p:nvPr/>
        </p:nvSpPr>
        <p:spPr>
          <a:xfrm>
            <a:off x="7883170" y="2715768"/>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90</a:t>
            </a:r>
          </a:p>
        </p:txBody>
      </p:sp>
      <p:sp>
        <p:nvSpPr>
          <p:cNvPr id="11" name="TextBox 10"/>
          <p:cNvSpPr txBox="1"/>
          <p:nvPr/>
        </p:nvSpPr>
        <p:spPr>
          <a:xfrm>
            <a:off x="7334530" y="3282696"/>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C</a:t>
            </a:r>
          </a:p>
        </p:txBody>
      </p:sp>
      <p:sp>
        <p:nvSpPr>
          <p:cNvPr id="12" name="Choice C"/>
          <p:cNvSpPr txBox="1"/>
          <p:nvPr/>
        </p:nvSpPr>
        <p:spPr>
          <a:xfrm>
            <a:off x="7883170" y="3282696"/>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70</a:t>
            </a:r>
          </a:p>
        </p:txBody>
      </p:sp>
      <p:sp>
        <p:nvSpPr>
          <p:cNvPr id="13" name="TextBox 12"/>
          <p:cNvSpPr txBox="1"/>
          <p:nvPr/>
        </p:nvSpPr>
        <p:spPr>
          <a:xfrm>
            <a:off x="7334530" y="3849624"/>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D</a:t>
            </a:r>
          </a:p>
        </p:txBody>
      </p:sp>
      <p:sp>
        <p:nvSpPr>
          <p:cNvPr id="14" name="Choice D"/>
          <p:cNvSpPr txBox="1"/>
          <p:nvPr/>
        </p:nvSpPr>
        <p:spPr>
          <a:xfrm>
            <a:off x="7883170" y="3849624"/>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Xato</a:t>
            </a:r>
          </a:p>
        </p:txBody>
      </p:sp>
      <p:sp>
        <p:nvSpPr>
          <p:cNvPr id="15" name="Answer card"/>
          <p:cNvSpPr/>
          <p:nvPr/>
        </p:nvSpPr>
        <p:spPr>
          <a:xfrm>
            <a:off x="7334530" y="4507992"/>
            <a:ext cx="4217084" cy="1572768"/>
          </a:xfrm>
          <a:prstGeom prst="roundRect">
            <a:avLst>
              <a:gd name="adj" fmla="val 5000"/>
            </a:avLst>
          </a:prstGeom>
          <a:solidFill>
            <a:srgbClr val="EEF2F7"/>
          </a:solidFill>
          <a:ln>
            <a:noFill/>
          </a:ln>
        </p:spPr>
        <p:txBody>
          <a:bodyPr rtlCol="0" anchor="t" wrap="square" lIns="228600" rIns="228600" tIns="182880" bIns="182880">
            <a:noAutofit/>
          </a:bodyPr>
          <a:lstStyle/>
          <a:p>
            <a:pPr algn="l">
              <a:lnSpc>
                <a:spcPct val="115000"/>
              </a:lnSpc>
              <a:spcBef>
                <a:spcPts val="0"/>
              </a:spcBef>
              <a:spcAft>
                <a:spcPts val="800"/>
              </a:spcAft>
            </a:pPr>
            <a:r>
              <a:rPr sz="2100" b="1" i="0">
                <a:solidFill>
                  <a:srgbClr val="111111"/>
                </a:solidFill>
                <a:latin typeface="Arial"/>
              </a:rPr>
              <a:t>Javob:</a:t>
            </a:r>
            <a:r>
              <a:rPr sz="2100" b="0" i="0">
                <a:solidFill>
                  <a:srgbClr val="111111"/>
                </a:solidFill>
                <a:latin typeface="Arial"/>
              </a:rPr>
              <a:t> B — 90</a:t>
            </a:r>
          </a:p>
          <a:p>
            <a:pPr algn="l">
              <a:lnSpc>
                <a:spcPct val="115000"/>
              </a:lnSpc>
              <a:spcBef>
                <a:spcPts val="0"/>
              </a:spcBef>
              <a:spcAft>
                <a:spcPts val="800"/>
              </a:spcAft>
            </a:pPr>
            <a:r>
              <a:rPr sz="2100" b="0" i="0">
                <a:solidFill>
                  <a:srgbClr val="111111"/>
                </a:solidFill>
                <a:latin typeface="Arial"/>
              </a:rPr>
              <a:t>Yangi qiymat eskisini o'chiradi.</a:t>
            </a:r>
          </a:p>
        </p:txBody>
      </p:sp>
      <p:sp>
        <p:nvSpPr>
          <p:cNvPr id="1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RO'YXATLAR VA KORTEJLAR</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Parametrlar soni qat'iy: to'rtinchi ball uchun funksiya qayta yoziladi</a:t>
            </a:r>
          </a:p>
        </p:txBody>
      </p:sp>
      <p:sp>
        <p:nvSpPr>
          <p:cNvPr id="4" name="Code panel"/>
          <p:cNvSpPr/>
          <p:nvPr/>
        </p:nvSpPr>
        <p:spPr>
          <a:xfrm>
            <a:off x="640080" y="2148840"/>
            <a:ext cx="7314895" cy="2106676"/>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1704340"/>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p:txBody>
      </p:sp>
      <p:sp>
        <p:nvSpPr>
          <p:cNvPr id="6" name="Code"/>
          <p:cNvSpPr txBox="1"/>
          <p:nvPr/>
        </p:nvSpPr>
        <p:spPr>
          <a:xfrm>
            <a:off x="1399031" y="2350008"/>
            <a:ext cx="6299911" cy="1704340"/>
          </a:xfrm>
          <a:prstGeom prst="rect">
            <a:avLst/>
          </a:prstGeom>
          <a:noFill/>
        </p:spPr>
        <p:txBody>
          <a:bodyPr wrap="none" lIns="0" rIns="0" tIns="0" bIns="0">
            <a:noAutofit/>
          </a:bodyPr>
          <a:lstStyle/>
          <a:p>
            <a:pPr>
              <a:lnSpc>
                <a:spcPts val="2684"/>
              </a:lnSpc>
              <a:spcBef>
                <a:spcPts val="0"/>
              </a:spcBef>
              <a:spcAft>
                <a:spcPts val="0"/>
              </a:spcAft>
            </a:pPr>
            <a:r>
              <a:rPr sz="2200" i="0">
                <a:solidFill>
                  <a:srgbClr val="C792EA"/>
                </a:solidFill>
                <a:latin typeface="Courier New"/>
              </a:rPr>
              <a:t>def</a:t>
            </a:r>
            <a:r>
              <a:rPr sz="2200" i="0">
                <a:solidFill>
                  <a:srgbClr val="E6E9EF"/>
                </a:solidFill>
                <a:latin typeface="Courier New"/>
              </a:rPr>
              <a:t> </a:t>
            </a:r>
            <a:r>
              <a:rPr sz="2200" i="0">
                <a:solidFill>
                  <a:srgbClr val="82AAFF"/>
                </a:solidFill>
                <a:latin typeface="Courier New"/>
              </a:rPr>
              <a:t>ortacha</a:t>
            </a:r>
            <a:r>
              <a:rPr sz="2200" i="0">
                <a:solidFill>
                  <a:srgbClr val="C3CCDA"/>
                </a:solidFill>
                <a:latin typeface="Courier New"/>
              </a:rPr>
              <a:t>(</a:t>
            </a:r>
            <a:r>
              <a:rPr sz="2200" i="0">
                <a:solidFill>
                  <a:srgbClr val="E6E9EF"/>
                </a:solidFill>
                <a:latin typeface="Courier New"/>
              </a:rPr>
              <a:t>b1</a:t>
            </a:r>
            <a:r>
              <a:rPr sz="2200" i="0">
                <a:solidFill>
                  <a:srgbClr val="C3CCDA"/>
                </a:solidFill>
                <a:latin typeface="Courier New"/>
              </a:rPr>
              <a:t>,</a:t>
            </a:r>
            <a:r>
              <a:rPr sz="2200" i="0">
                <a:solidFill>
                  <a:srgbClr val="E6E9EF"/>
                </a:solidFill>
                <a:latin typeface="Courier New"/>
              </a:rPr>
              <a:t> </a:t>
            </a:r>
            <a:r>
              <a:rPr sz="2200" i="0">
                <a:solidFill>
                  <a:srgbClr val="E6E9EF"/>
                </a:solidFill>
                <a:latin typeface="Courier New"/>
              </a:rPr>
              <a:t>b2</a:t>
            </a:r>
            <a:r>
              <a:rPr sz="2200" i="0">
                <a:solidFill>
                  <a:srgbClr val="C3CCDA"/>
                </a:solidFill>
                <a:latin typeface="Courier New"/>
              </a:rPr>
              <a:t>,</a:t>
            </a:r>
            <a:r>
              <a:rPr sz="2200" i="0">
                <a:solidFill>
                  <a:srgbClr val="E6E9EF"/>
                </a:solidFill>
                <a:latin typeface="Courier New"/>
              </a:rPr>
              <a:t> </a:t>
            </a:r>
            <a:r>
              <a:rPr sz="2200" i="0">
                <a:solidFill>
                  <a:srgbClr val="E6E9EF"/>
                </a:solidFill>
                <a:latin typeface="Courier New"/>
              </a:rPr>
              <a:t>b3</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r>
              <a:rPr sz="2200" i="0">
                <a:solidFill>
                  <a:srgbClr val="C792EA"/>
                </a:solidFill>
                <a:latin typeface="Courier New"/>
              </a:rPr>
              <a:t>return</a:t>
            </a:r>
            <a:r>
              <a:rPr sz="2200" i="0">
                <a:solidFill>
                  <a:srgbClr val="E6E9EF"/>
                </a:solidFill>
                <a:latin typeface="Courier New"/>
              </a:rPr>
              <a:t> </a:t>
            </a:r>
            <a:r>
              <a:rPr sz="2200" i="0">
                <a:solidFill>
                  <a:srgbClr val="C3CCDA"/>
                </a:solidFill>
                <a:latin typeface="Courier New"/>
              </a:rPr>
              <a:t>(</a:t>
            </a:r>
            <a:r>
              <a:rPr sz="2200" i="0">
                <a:solidFill>
                  <a:srgbClr val="E6E9EF"/>
                </a:solidFill>
                <a:latin typeface="Courier New"/>
              </a:rPr>
              <a:t>b1</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E6E9EF"/>
                </a:solidFill>
                <a:latin typeface="Courier New"/>
              </a:rPr>
              <a:t>b2</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E6E9EF"/>
                </a:solidFill>
                <a:latin typeface="Courier New"/>
              </a:rPr>
              <a:t>b3</a:t>
            </a:r>
            <a:r>
              <a:rPr sz="2200" i="0">
                <a:solidFill>
                  <a:srgbClr val="C3CCDA"/>
                </a:solidFill>
                <a:latin typeface="Courier New"/>
              </a:rPr>
              <a:t>)</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F78C6C"/>
                </a:solidFill>
                <a:latin typeface="Courier New"/>
              </a:rPr>
              <a:t>3</a:t>
            </a:r>
          </a:p>
          <a:p>
            <a:pPr>
              <a:lnSpc>
                <a:spcPts val="2684"/>
              </a:lnSpc>
              <a:spcBef>
                <a:spcPts val="0"/>
              </a:spcBef>
              <a:spcAft>
                <a:spcPts val="0"/>
              </a:spcAft>
            </a:pPr>
            <a:r>
              <a:rPr sz="2200" i="0">
                <a:solidFill>
                  <a:srgbClr val="E6E9EF"/>
                </a:solidFill>
                <a:latin typeface="Courier New"/>
              </a:rPr>
              <a:t> </a:t>
            </a:r>
          </a:p>
          <a:p>
            <a:pPr>
              <a:lnSpc>
                <a:spcPts val="2684"/>
              </a:lnSpc>
              <a:spcBef>
                <a:spcPts val="0"/>
              </a:spcBef>
              <a:spcAft>
                <a:spcPts val="0"/>
              </a:spcAft>
            </a:pPr>
            <a:r>
              <a:rPr sz="2200" i="0">
                <a:solidFill>
                  <a:srgbClr val="E6E9EF"/>
                </a:solidFill>
                <a:latin typeface="Courier New"/>
              </a:rPr>
              <a:t> </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ortacha</a:t>
            </a:r>
            <a:r>
              <a:rPr sz="2200" i="0">
                <a:solidFill>
                  <a:srgbClr val="C3CCDA"/>
                </a:solidFill>
                <a:latin typeface="Courier New"/>
              </a:rPr>
              <a:t>(</a:t>
            </a:r>
            <a:r>
              <a:rPr sz="2200" i="0">
                <a:solidFill>
                  <a:srgbClr val="F78C6C"/>
                </a:solidFill>
                <a:latin typeface="Courier New"/>
              </a:rPr>
              <a:t>70</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85</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90</a:t>
            </a:r>
            <a:r>
              <a:rPr sz="2200" i="0">
                <a:solidFill>
                  <a:srgbClr val="C3CCDA"/>
                </a:solidFill>
                <a:latin typeface="Courier New"/>
              </a:rPr>
              <a:t>)</a:t>
            </a:r>
            <a:r>
              <a:rPr sz="2200" i="0">
                <a:solidFill>
                  <a:srgbClr val="C3CCDA"/>
                </a:solidFill>
                <a:latin typeface="Courier New"/>
              </a:rPr>
              <a:t>)</a:t>
            </a:r>
          </a:p>
        </p:txBody>
      </p:sp>
      <p:sp>
        <p:nvSpPr>
          <p:cNvPr id="7" name="Output"/>
          <p:cNvSpPr/>
          <p:nvPr/>
        </p:nvSpPr>
        <p:spPr>
          <a:xfrm>
            <a:off x="8320735" y="2148840"/>
            <a:ext cx="3230880" cy="74295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800" i="0">
                <a:solidFill>
                  <a:srgbClr val="111111"/>
                </a:solidFill>
                <a:latin typeface="Courier New"/>
              </a:rPr>
              <a:t>81.66666666666667</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RO'YXATLAR VA KORTEJLAR</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Kolleksiya ko'p qiymatni bitta nom ostida saqlaydi</a:t>
            </a:r>
          </a:p>
        </p:txBody>
      </p:sp>
      <p:sp>
        <p:nvSpPr>
          <p:cNvPr id="4" name="Term 1"/>
          <p:cNvSpPr txBox="1"/>
          <p:nvPr/>
        </p:nvSpPr>
        <p:spPr>
          <a:xfrm>
            <a:off x="640080" y="214884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ro'yxat (list)</a:t>
            </a:r>
          </a:p>
        </p:txBody>
      </p:sp>
      <p:sp>
        <p:nvSpPr>
          <p:cNvPr id="5" name="Meaning 1"/>
          <p:cNvSpPr txBox="1"/>
          <p:nvPr/>
        </p:nvSpPr>
        <p:spPr>
          <a:xfrm>
            <a:off x="4754880" y="216712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tartibli, o'zgaradi: [1, 2, 3]</a:t>
            </a:r>
          </a:p>
        </p:txBody>
      </p:sp>
      <p:sp>
        <p:nvSpPr>
          <p:cNvPr id="6" name="Term 2"/>
          <p:cNvSpPr txBox="1"/>
          <p:nvPr/>
        </p:nvSpPr>
        <p:spPr>
          <a:xfrm>
            <a:off x="640080" y="301752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kortej (tuple)</a:t>
            </a:r>
          </a:p>
        </p:txBody>
      </p:sp>
      <p:sp>
        <p:nvSpPr>
          <p:cNvPr id="7" name="Meaning 2"/>
          <p:cNvSpPr txBox="1"/>
          <p:nvPr/>
        </p:nvSpPr>
        <p:spPr>
          <a:xfrm>
            <a:off x="4754880" y="303580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tartibli, o'zgarmaydi: (1, 2, 3)</a:t>
            </a:r>
          </a:p>
        </p:txBody>
      </p:sp>
      <p:sp>
        <p:nvSpPr>
          <p:cNvPr id="8" name="Term 3"/>
          <p:cNvSpPr txBox="1"/>
          <p:nvPr/>
        </p:nvSpPr>
        <p:spPr>
          <a:xfrm>
            <a:off x="640080" y="388620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to'plam (set)</a:t>
            </a:r>
          </a:p>
        </p:txBody>
      </p:sp>
      <p:sp>
        <p:nvSpPr>
          <p:cNvPr id="9" name="Meaning 3"/>
          <p:cNvSpPr txBox="1"/>
          <p:nvPr/>
        </p:nvSpPr>
        <p:spPr>
          <a:xfrm>
            <a:off x="4754880" y="3904487"/>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takrorsiz, tartibsiz: {1, 2, 3}</a:t>
            </a:r>
          </a:p>
        </p:txBody>
      </p:sp>
      <p:sp>
        <p:nvSpPr>
          <p:cNvPr id="10"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BUGUN</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Bugun nimani o'rganamiz</a:t>
            </a:r>
          </a:p>
        </p:txBody>
      </p:sp>
      <p:sp>
        <p:nvSpPr>
          <p:cNvPr id="4" name="Number 1"/>
          <p:cNvSpPr txBox="1"/>
          <p:nvPr/>
        </p:nvSpPr>
        <p:spPr>
          <a:xfrm>
            <a:off x="640080" y="214884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01</a:t>
            </a:r>
          </a:p>
        </p:txBody>
      </p:sp>
      <p:sp>
        <p:nvSpPr>
          <p:cNvPr id="5" name="Item 1"/>
          <p:cNvSpPr txBox="1"/>
          <p:nvPr/>
        </p:nvSpPr>
        <p:spPr>
          <a:xfrm>
            <a:off x="1645920" y="218541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Ro'yxat yaratib, elementni indeks bo'yicha </a:t>
            </a:r>
            <a:r>
              <a:rPr sz="2600" b="1" i="0">
                <a:solidFill>
                  <a:srgbClr val="111111"/>
                </a:solidFill>
                <a:latin typeface="Arial"/>
              </a:rPr>
              <a:t>olib o'zgartira oladi</a:t>
            </a:r>
          </a:p>
        </p:txBody>
      </p:sp>
      <p:sp>
        <p:nvSpPr>
          <p:cNvPr id="6" name="Number 2"/>
          <p:cNvSpPr txBox="1"/>
          <p:nvPr/>
        </p:nvSpPr>
        <p:spPr>
          <a:xfrm>
            <a:off x="640080" y="313182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02</a:t>
            </a:r>
          </a:p>
        </p:txBody>
      </p:sp>
      <p:sp>
        <p:nvSpPr>
          <p:cNvPr id="7" name="Item 2"/>
          <p:cNvSpPr txBox="1"/>
          <p:nvPr/>
        </p:nvSpPr>
        <p:spPr>
          <a:xfrm>
            <a:off x="1645920" y="316839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0052CC"/>
                </a:solidFill>
                <a:latin typeface="Courier New"/>
              </a:rPr>
              <a:t>append</a:t>
            </a:r>
            <a:r>
              <a:rPr sz="2600" b="0" i="0">
                <a:solidFill>
                  <a:srgbClr val="111111"/>
                </a:solidFill>
                <a:latin typeface="Arial"/>
              </a:rPr>
              <a:t>, </a:t>
            </a:r>
            <a:r>
              <a:rPr sz="2600" b="0" i="0">
                <a:solidFill>
                  <a:srgbClr val="0052CC"/>
                </a:solidFill>
                <a:latin typeface="Courier New"/>
              </a:rPr>
              <a:t>insert</a:t>
            </a:r>
            <a:r>
              <a:rPr sz="2600" b="0" i="0">
                <a:solidFill>
                  <a:srgbClr val="111111"/>
                </a:solidFill>
                <a:latin typeface="Arial"/>
              </a:rPr>
              <a:t>, </a:t>
            </a:r>
            <a:r>
              <a:rPr sz="2600" b="0" i="0">
                <a:solidFill>
                  <a:srgbClr val="0052CC"/>
                </a:solidFill>
                <a:latin typeface="Courier New"/>
              </a:rPr>
              <a:t>pop</a:t>
            </a:r>
            <a:r>
              <a:rPr sz="2600" b="0" i="0">
                <a:solidFill>
                  <a:srgbClr val="111111"/>
                </a:solidFill>
                <a:latin typeface="Arial"/>
              </a:rPr>
              <a:t>, </a:t>
            </a:r>
            <a:r>
              <a:rPr sz="2600" b="0" i="0">
                <a:solidFill>
                  <a:srgbClr val="0052CC"/>
                </a:solidFill>
                <a:latin typeface="Courier New"/>
              </a:rPr>
              <a:t>remove</a:t>
            </a:r>
            <a:r>
              <a:rPr sz="2600" b="0" i="0">
                <a:solidFill>
                  <a:srgbClr val="111111"/>
                </a:solidFill>
                <a:latin typeface="Arial"/>
              </a:rPr>
              <a:t> va </a:t>
            </a:r>
            <a:r>
              <a:rPr sz="2600" b="0" i="0">
                <a:solidFill>
                  <a:srgbClr val="0052CC"/>
                </a:solidFill>
                <a:latin typeface="Courier New"/>
              </a:rPr>
              <a:t>del</a:t>
            </a:r>
            <a:r>
              <a:rPr sz="2600" b="0" i="0">
                <a:solidFill>
                  <a:srgbClr val="111111"/>
                </a:solidFill>
                <a:latin typeface="Arial"/>
              </a:rPr>
              <a:t> farqini </a:t>
            </a:r>
            <a:r>
              <a:rPr sz="2600" b="1" i="0">
                <a:solidFill>
                  <a:srgbClr val="111111"/>
                </a:solidFill>
                <a:latin typeface="Arial"/>
              </a:rPr>
              <a:t>tushuntira oladi</a:t>
            </a:r>
          </a:p>
        </p:txBody>
      </p:sp>
      <p:sp>
        <p:nvSpPr>
          <p:cNvPr id="8" name="Number 3"/>
          <p:cNvSpPr txBox="1"/>
          <p:nvPr/>
        </p:nvSpPr>
        <p:spPr>
          <a:xfrm>
            <a:off x="640080" y="411480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03</a:t>
            </a:r>
          </a:p>
        </p:txBody>
      </p:sp>
      <p:sp>
        <p:nvSpPr>
          <p:cNvPr id="9" name="Item 3"/>
          <p:cNvSpPr txBox="1"/>
          <p:nvPr/>
        </p:nvSpPr>
        <p:spPr>
          <a:xfrm>
            <a:off x="1645920" y="415137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Ro'yxat, kortej va to'plamni </a:t>
            </a:r>
            <a:r>
              <a:rPr sz="2600" b="1" i="0">
                <a:solidFill>
                  <a:srgbClr val="111111"/>
                </a:solidFill>
                <a:latin typeface="Arial"/>
              </a:rPr>
              <a:t>taqqoslay oladi</a:t>
            </a:r>
          </a:p>
        </p:txBody>
      </p:sp>
      <p:sp>
        <p:nvSpPr>
          <p:cNvPr id="10" name="Number 4"/>
          <p:cNvSpPr txBox="1"/>
          <p:nvPr/>
        </p:nvSpPr>
        <p:spPr>
          <a:xfrm>
            <a:off x="640080" y="509778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04</a:t>
            </a:r>
          </a:p>
        </p:txBody>
      </p:sp>
      <p:sp>
        <p:nvSpPr>
          <p:cNvPr id="11" name="Item 4"/>
          <p:cNvSpPr txBox="1"/>
          <p:nvPr/>
        </p:nvSpPr>
        <p:spPr>
          <a:xfrm>
            <a:off x="1645920" y="513435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0052CC"/>
                </a:solidFill>
                <a:latin typeface="Courier New"/>
              </a:rPr>
              <a:t>b = a</a:t>
            </a:r>
            <a:r>
              <a:rPr sz="2600" b="0" i="0">
                <a:solidFill>
                  <a:srgbClr val="111111"/>
                </a:solidFill>
                <a:latin typeface="Arial"/>
              </a:rPr>
              <a:t> va </a:t>
            </a:r>
            <a:r>
              <a:rPr sz="2600" b="0" i="0">
                <a:solidFill>
                  <a:srgbClr val="0052CC"/>
                </a:solidFill>
                <a:latin typeface="Courier New"/>
              </a:rPr>
              <a:t>b = a[:]</a:t>
            </a:r>
            <a:r>
              <a:rPr sz="2600" b="0" i="0">
                <a:solidFill>
                  <a:srgbClr val="111111"/>
                </a:solidFill>
                <a:latin typeface="Arial"/>
              </a:rPr>
              <a:t> farqini </a:t>
            </a:r>
            <a:r>
              <a:rPr sz="2600" b="1" i="0">
                <a:solidFill>
                  <a:srgbClr val="111111"/>
                </a:solidFill>
                <a:latin typeface="Arial"/>
              </a:rPr>
              <a:t>tushuntira oladi</a:t>
            </a:r>
          </a:p>
        </p:txBody>
      </p:sp>
      <p:sp>
        <p:nvSpPr>
          <p:cNvPr id="12"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01</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Ro'yxat</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RO'YXAT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Ro'yxat ko'p qiymatni kvadrat qavs ichida saqlaydi</a:t>
            </a:r>
          </a:p>
        </p:txBody>
      </p:sp>
      <p:sp>
        <p:nvSpPr>
          <p:cNvPr id="4" name="Code panel"/>
          <p:cNvSpPr/>
          <p:nvPr/>
        </p:nvSpPr>
        <p:spPr>
          <a:xfrm>
            <a:off x="640080" y="2148840"/>
            <a:ext cx="6248095" cy="1951735"/>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457200" cy="1549399"/>
          </a:xfrm>
          <a:prstGeom prst="rect">
            <a:avLst/>
          </a:prstGeom>
          <a:noFill/>
        </p:spPr>
        <p:txBody>
          <a:bodyPr wrap="none" lIns="0" rIns="0" tIns="0" bIns="0">
            <a:noAutofit/>
          </a:bodyPr>
          <a:lstStyle/>
          <a:p>
            <a:pPr>
              <a:lnSpc>
                <a:spcPts val="2440"/>
              </a:lnSpc>
              <a:spcBef>
                <a:spcPts val="0"/>
              </a:spcBef>
              <a:spcAft>
                <a:spcPts val="0"/>
              </a:spcAft>
            </a:pPr>
            <a:r>
              <a:rPr sz="2000" i="0">
                <a:solidFill>
                  <a:srgbClr val="8792A8"/>
                </a:solidFill>
                <a:latin typeface="Courier New"/>
              </a:rPr>
              <a:t>1</a:t>
            </a:r>
          </a:p>
          <a:p>
            <a:pPr>
              <a:lnSpc>
                <a:spcPts val="2440"/>
              </a:lnSpc>
              <a:spcBef>
                <a:spcPts val="0"/>
              </a:spcBef>
              <a:spcAft>
                <a:spcPts val="0"/>
              </a:spcAft>
            </a:pPr>
            <a:r>
              <a:rPr sz="2000" i="0">
                <a:solidFill>
                  <a:srgbClr val="8792A8"/>
                </a:solidFill>
                <a:latin typeface="Courier New"/>
              </a:rPr>
              <a:t>2</a:t>
            </a:r>
          </a:p>
          <a:p>
            <a:pPr>
              <a:lnSpc>
                <a:spcPts val="2440"/>
              </a:lnSpc>
              <a:spcBef>
                <a:spcPts val="0"/>
              </a:spcBef>
              <a:spcAft>
                <a:spcPts val="0"/>
              </a:spcAft>
            </a:pPr>
            <a:r>
              <a:rPr sz="2000" i="0">
                <a:solidFill>
                  <a:srgbClr val="8792A8"/>
                </a:solidFill>
                <a:latin typeface="Courier New"/>
              </a:rPr>
              <a:t>3</a:t>
            </a:r>
          </a:p>
          <a:p>
            <a:pPr>
              <a:lnSpc>
                <a:spcPts val="2440"/>
              </a:lnSpc>
              <a:spcBef>
                <a:spcPts val="0"/>
              </a:spcBef>
              <a:spcAft>
                <a:spcPts val="0"/>
              </a:spcAft>
            </a:pPr>
            <a:r>
              <a:rPr sz="2000" i="0">
                <a:solidFill>
                  <a:srgbClr val="8792A8"/>
                </a:solidFill>
                <a:latin typeface="Courier New"/>
              </a:rPr>
              <a:t>4</a:t>
            </a:r>
          </a:p>
          <a:p>
            <a:pPr>
              <a:lnSpc>
                <a:spcPts val="2440"/>
              </a:lnSpc>
              <a:spcBef>
                <a:spcPts val="0"/>
              </a:spcBef>
              <a:spcAft>
                <a:spcPts val="0"/>
              </a:spcAft>
            </a:pPr>
            <a:r>
              <a:rPr sz="2000" i="0">
                <a:solidFill>
                  <a:srgbClr val="8792A8"/>
                </a:solidFill>
                <a:latin typeface="Courier New"/>
              </a:rPr>
              <a:t>5</a:t>
            </a:r>
          </a:p>
        </p:txBody>
      </p:sp>
      <p:sp>
        <p:nvSpPr>
          <p:cNvPr id="6" name="Code"/>
          <p:cNvSpPr txBox="1"/>
          <p:nvPr/>
        </p:nvSpPr>
        <p:spPr>
          <a:xfrm>
            <a:off x="1353312" y="2350008"/>
            <a:ext cx="5278831" cy="1549399"/>
          </a:xfrm>
          <a:prstGeom prst="rect">
            <a:avLst/>
          </a:prstGeom>
          <a:noFill/>
        </p:spPr>
        <p:txBody>
          <a:bodyPr wrap="none" lIns="0" rIns="0" tIns="0" bIns="0">
            <a:noAutofit/>
          </a:bodyPr>
          <a:lstStyle/>
          <a:p>
            <a:pPr>
              <a:lnSpc>
                <a:spcPts val="2440"/>
              </a:lnSpc>
              <a:spcBef>
                <a:spcPts val="0"/>
              </a:spcBef>
              <a:spcAft>
                <a:spcPts val="0"/>
              </a:spcAft>
            </a:pPr>
            <a:r>
              <a:rPr sz="2000" i="0">
                <a:solidFill>
                  <a:srgbClr val="E6E9EF"/>
                </a:solidFill>
                <a:latin typeface="Courier New"/>
              </a:rPr>
              <a:t>mevalar</a:t>
            </a:r>
            <a:r>
              <a:rPr sz="2000" i="0">
                <a:solidFill>
                  <a:srgbClr val="E6E9EF"/>
                </a:solidFill>
                <a:latin typeface="Courier New"/>
              </a:rPr>
              <a:t> </a:t>
            </a:r>
            <a:r>
              <a:rPr sz="2000" i="0">
                <a:solidFill>
                  <a:srgbClr val="89DDFF"/>
                </a:solidFill>
                <a:latin typeface="Courier New"/>
              </a:rPr>
              <a:t>=</a:t>
            </a:r>
            <a:r>
              <a:rPr sz="2000" i="0">
                <a:solidFill>
                  <a:srgbClr val="E6E9EF"/>
                </a:solidFill>
                <a:latin typeface="Courier New"/>
              </a:rPr>
              <a:t> </a:t>
            </a:r>
            <a:r>
              <a:rPr sz="2000" i="0">
                <a:solidFill>
                  <a:srgbClr val="C3CCDA"/>
                </a:solidFill>
                <a:latin typeface="Courier New"/>
              </a:rPr>
              <a:t>[</a:t>
            </a:r>
            <a:r>
              <a:rPr sz="2000" i="0">
                <a:solidFill>
                  <a:srgbClr val="A5E3A1"/>
                </a:solidFill>
                <a:latin typeface="Courier New"/>
              </a:rPr>
              <a:t>"</a:t>
            </a:r>
            <a:r>
              <a:rPr sz="2000" i="0">
                <a:solidFill>
                  <a:srgbClr val="A5E3A1"/>
                </a:solidFill>
                <a:latin typeface="Courier New"/>
              </a:rPr>
              <a:t>olma</a:t>
            </a:r>
            <a:r>
              <a:rPr sz="2000" i="0">
                <a:solidFill>
                  <a:srgbClr val="A5E3A1"/>
                </a:solidFill>
                <a:latin typeface="Courier New"/>
              </a:rPr>
              <a:t>"</a:t>
            </a:r>
            <a:r>
              <a:rPr sz="2000" i="0">
                <a:solidFill>
                  <a:srgbClr val="C3CCDA"/>
                </a:solidFill>
                <a:latin typeface="Courier New"/>
              </a:rPr>
              <a:t>,</a:t>
            </a:r>
            <a:r>
              <a:rPr sz="2000" i="0">
                <a:solidFill>
                  <a:srgbClr val="E6E9EF"/>
                </a:solidFill>
                <a:latin typeface="Courier New"/>
              </a:rPr>
              <a:t> </a:t>
            </a:r>
            <a:r>
              <a:rPr sz="2000" i="0">
                <a:solidFill>
                  <a:srgbClr val="A5E3A1"/>
                </a:solidFill>
                <a:latin typeface="Courier New"/>
              </a:rPr>
              <a:t>"</a:t>
            </a:r>
            <a:r>
              <a:rPr sz="2000" i="0">
                <a:solidFill>
                  <a:srgbClr val="A5E3A1"/>
                </a:solidFill>
                <a:latin typeface="Courier New"/>
              </a:rPr>
              <a:t>anor</a:t>
            </a:r>
            <a:r>
              <a:rPr sz="2000" i="0">
                <a:solidFill>
                  <a:srgbClr val="A5E3A1"/>
                </a:solidFill>
                <a:latin typeface="Courier New"/>
              </a:rPr>
              <a:t>"</a:t>
            </a:r>
            <a:r>
              <a:rPr sz="2000" i="0">
                <a:solidFill>
                  <a:srgbClr val="C3CCDA"/>
                </a:solidFill>
                <a:latin typeface="Courier New"/>
              </a:rPr>
              <a:t>,</a:t>
            </a:r>
            <a:r>
              <a:rPr sz="2000" i="0">
                <a:solidFill>
                  <a:srgbClr val="E6E9EF"/>
                </a:solidFill>
                <a:latin typeface="Courier New"/>
              </a:rPr>
              <a:t> </a:t>
            </a:r>
            <a:r>
              <a:rPr sz="2000" i="0">
                <a:solidFill>
                  <a:srgbClr val="A5E3A1"/>
                </a:solidFill>
                <a:latin typeface="Courier New"/>
              </a:rPr>
              <a:t>"</a:t>
            </a:r>
            <a:r>
              <a:rPr sz="2000" i="0">
                <a:solidFill>
                  <a:srgbClr val="A5E3A1"/>
                </a:solidFill>
                <a:latin typeface="Courier New"/>
              </a:rPr>
              <a:t>uzum</a:t>
            </a:r>
            <a:r>
              <a:rPr sz="2000" i="0">
                <a:solidFill>
                  <a:srgbClr val="A5E3A1"/>
                </a:solidFill>
                <a:latin typeface="Courier New"/>
              </a:rPr>
              <a:t>"</a:t>
            </a:r>
            <a:r>
              <a:rPr sz="2000" i="0">
                <a:solidFill>
                  <a:srgbClr val="C3CCDA"/>
                </a:solidFill>
                <a:latin typeface="Courier New"/>
              </a:rPr>
              <a:t>]</a:t>
            </a:r>
          </a:p>
          <a:p>
            <a:pPr>
              <a:lnSpc>
                <a:spcPts val="2440"/>
              </a:lnSpc>
              <a:spcBef>
                <a:spcPts val="0"/>
              </a:spcBef>
              <a:spcAft>
                <a:spcPts val="0"/>
              </a:spcAft>
            </a:pPr>
            <a:r>
              <a:rPr sz="2000" i="0">
                <a:solidFill>
                  <a:srgbClr val="FFCB6B"/>
                </a:solidFill>
                <a:latin typeface="Courier New"/>
              </a:rPr>
              <a:t>print</a:t>
            </a:r>
            <a:r>
              <a:rPr sz="2000" i="0">
                <a:solidFill>
                  <a:srgbClr val="C3CCDA"/>
                </a:solidFill>
                <a:latin typeface="Courier New"/>
              </a:rPr>
              <a:t>(</a:t>
            </a:r>
            <a:r>
              <a:rPr sz="2000" i="0">
                <a:solidFill>
                  <a:srgbClr val="E6E9EF"/>
                </a:solidFill>
                <a:latin typeface="Courier New"/>
              </a:rPr>
              <a:t>mevalar</a:t>
            </a:r>
            <a:r>
              <a:rPr sz="2000" i="0">
                <a:solidFill>
                  <a:srgbClr val="C3CCDA"/>
                </a:solidFill>
                <a:latin typeface="Courier New"/>
              </a:rPr>
              <a:t>)</a:t>
            </a:r>
          </a:p>
          <a:p>
            <a:pPr>
              <a:lnSpc>
                <a:spcPts val="2440"/>
              </a:lnSpc>
              <a:spcBef>
                <a:spcPts val="0"/>
              </a:spcBef>
              <a:spcAft>
                <a:spcPts val="0"/>
              </a:spcAft>
            </a:pPr>
            <a:r>
              <a:rPr sz="2000" i="0">
                <a:solidFill>
                  <a:srgbClr val="FFCB6B"/>
                </a:solidFill>
                <a:latin typeface="Courier New"/>
              </a:rPr>
              <a:t>print</a:t>
            </a:r>
            <a:r>
              <a:rPr sz="2000" i="0">
                <a:solidFill>
                  <a:srgbClr val="C3CCDA"/>
                </a:solidFill>
                <a:latin typeface="Courier New"/>
              </a:rPr>
              <a:t>(</a:t>
            </a:r>
            <a:r>
              <a:rPr sz="2000" i="0">
                <a:solidFill>
                  <a:srgbClr val="FFCB6B"/>
                </a:solidFill>
                <a:latin typeface="Courier New"/>
              </a:rPr>
              <a:t>len</a:t>
            </a:r>
            <a:r>
              <a:rPr sz="2000" i="0">
                <a:solidFill>
                  <a:srgbClr val="C3CCDA"/>
                </a:solidFill>
                <a:latin typeface="Courier New"/>
              </a:rPr>
              <a:t>(</a:t>
            </a:r>
            <a:r>
              <a:rPr sz="2000" i="0">
                <a:solidFill>
                  <a:srgbClr val="E6E9EF"/>
                </a:solidFill>
                <a:latin typeface="Courier New"/>
              </a:rPr>
              <a:t>mevalar</a:t>
            </a:r>
            <a:r>
              <a:rPr sz="2000" i="0">
                <a:solidFill>
                  <a:srgbClr val="C3CCDA"/>
                </a:solidFill>
                <a:latin typeface="Courier New"/>
              </a:rPr>
              <a:t>)</a:t>
            </a:r>
            <a:r>
              <a:rPr sz="2000" i="0">
                <a:solidFill>
                  <a:srgbClr val="C3CCDA"/>
                </a:solidFill>
                <a:latin typeface="Courier New"/>
              </a:rPr>
              <a:t>)</a:t>
            </a:r>
          </a:p>
          <a:p>
            <a:pPr>
              <a:lnSpc>
                <a:spcPts val="2440"/>
              </a:lnSpc>
              <a:spcBef>
                <a:spcPts val="0"/>
              </a:spcBef>
              <a:spcAft>
                <a:spcPts val="0"/>
              </a:spcAft>
            </a:pPr>
            <a:r>
              <a:rPr sz="2000" i="0">
                <a:solidFill>
                  <a:srgbClr val="E6E9EF"/>
                </a:solidFill>
                <a:latin typeface="Courier New"/>
              </a:rPr>
              <a:t>bosh</a:t>
            </a:r>
            <a:r>
              <a:rPr sz="2000" i="0">
                <a:solidFill>
                  <a:srgbClr val="E6E9EF"/>
                </a:solidFill>
                <a:latin typeface="Courier New"/>
              </a:rPr>
              <a:t> </a:t>
            </a:r>
            <a:r>
              <a:rPr sz="2000" i="0">
                <a:solidFill>
                  <a:srgbClr val="89DDFF"/>
                </a:solidFill>
                <a:latin typeface="Courier New"/>
              </a:rPr>
              <a:t>=</a:t>
            </a:r>
            <a:r>
              <a:rPr sz="2000" i="0">
                <a:solidFill>
                  <a:srgbClr val="E6E9EF"/>
                </a:solidFill>
                <a:latin typeface="Courier New"/>
              </a:rPr>
              <a:t> </a:t>
            </a:r>
            <a:r>
              <a:rPr sz="2000" i="0">
                <a:solidFill>
                  <a:srgbClr val="C3CCDA"/>
                </a:solidFill>
                <a:latin typeface="Courier New"/>
              </a:rPr>
              <a:t>[</a:t>
            </a:r>
            <a:r>
              <a:rPr sz="2000" i="0">
                <a:solidFill>
                  <a:srgbClr val="C3CCDA"/>
                </a:solidFill>
                <a:latin typeface="Courier New"/>
              </a:rPr>
              <a:t>]</a:t>
            </a:r>
          </a:p>
          <a:p>
            <a:pPr>
              <a:lnSpc>
                <a:spcPts val="2440"/>
              </a:lnSpc>
              <a:spcBef>
                <a:spcPts val="0"/>
              </a:spcBef>
              <a:spcAft>
                <a:spcPts val="0"/>
              </a:spcAft>
            </a:pPr>
            <a:r>
              <a:rPr sz="2000" i="0">
                <a:solidFill>
                  <a:srgbClr val="FFCB6B"/>
                </a:solidFill>
                <a:latin typeface="Courier New"/>
              </a:rPr>
              <a:t>print</a:t>
            </a:r>
            <a:r>
              <a:rPr sz="2000" i="0">
                <a:solidFill>
                  <a:srgbClr val="C3CCDA"/>
                </a:solidFill>
                <a:latin typeface="Courier New"/>
              </a:rPr>
              <a:t>(</a:t>
            </a:r>
            <a:r>
              <a:rPr sz="2000" i="0">
                <a:solidFill>
                  <a:srgbClr val="FFCB6B"/>
                </a:solidFill>
                <a:latin typeface="Courier New"/>
              </a:rPr>
              <a:t>len</a:t>
            </a:r>
            <a:r>
              <a:rPr sz="2000" i="0">
                <a:solidFill>
                  <a:srgbClr val="C3CCDA"/>
                </a:solidFill>
                <a:latin typeface="Courier New"/>
              </a:rPr>
              <a:t>(</a:t>
            </a:r>
            <a:r>
              <a:rPr sz="2000" i="0">
                <a:solidFill>
                  <a:srgbClr val="E6E9EF"/>
                </a:solidFill>
                <a:latin typeface="Courier New"/>
              </a:rPr>
              <a:t>bosh</a:t>
            </a:r>
            <a:r>
              <a:rPr sz="2000" i="0">
                <a:solidFill>
                  <a:srgbClr val="C3CCDA"/>
                </a:solidFill>
                <a:latin typeface="Courier New"/>
              </a:rPr>
              <a:t>)</a:t>
            </a:r>
            <a:r>
              <a:rPr sz="2000" i="0">
                <a:solidFill>
                  <a:srgbClr val="C3CCDA"/>
                </a:solidFill>
                <a:latin typeface="Courier New"/>
              </a:rPr>
              <a:t>)</a:t>
            </a:r>
          </a:p>
        </p:txBody>
      </p:sp>
      <p:sp>
        <p:nvSpPr>
          <p:cNvPr id="7" name="Output"/>
          <p:cNvSpPr/>
          <p:nvPr/>
        </p:nvSpPr>
        <p:spPr>
          <a:xfrm>
            <a:off x="7253935" y="2148840"/>
            <a:ext cx="4297680" cy="1362075"/>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900" i="0">
                <a:solidFill>
                  <a:srgbClr val="111111"/>
                </a:solidFill>
                <a:latin typeface="Courier New"/>
              </a:rPr>
              <a:t>['olma', 'anor', 'uzum']</a:t>
            </a:r>
          </a:p>
          <a:p>
            <a:pPr algn="l"/>
            <a:r>
              <a:rPr sz="1900" i="0">
                <a:solidFill>
                  <a:srgbClr val="111111"/>
                </a:solidFill>
                <a:latin typeface="Courier New"/>
              </a:rPr>
              <a:t>3</a:t>
            </a:r>
          </a:p>
          <a:p>
            <a:pPr algn="l"/>
            <a:r>
              <a:rPr sz="1900" i="0">
                <a:solidFill>
                  <a:srgbClr val="111111"/>
                </a:solidFill>
                <a:latin typeface="Courier New"/>
              </a:rPr>
              <a:t>0</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RO'YXAT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Indeks va kesim ro'yxatda satrdagidek ishlaydi</a:t>
            </a:r>
          </a:p>
        </p:txBody>
      </p:sp>
      <p:sp>
        <p:nvSpPr>
          <p:cNvPr id="4" name="Code panel"/>
          <p:cNvSpPr/>
          <p:nvPr/>
        </p:nvSpPr>
        <p:spPr>
          <a:xfrm>
            <a:off x="640080" y="2148840"/>
            <a:ext cx="7467295" cy="1641855"/>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457200" cy="1239519"/>
          </a:xfrm>
          <a:prstGeom prst="rect">
            <a:avLst/>
          </a:prstGeom>
          <a:noFill/>
        </p:spPr>
        <p:txBody>
          <a:bodyPr wrap="none" lIns="0" rIns="0" tIns="0" bIns="0">
            <a:noAutofit/>
          </a:bodyPr>
          <a:lstStyle/>
          <a:p>
            <a:pPr>
              <a:lnSpc>
                <a:spcPts val="2440"/>
              </a:lnSpc>
              <a:spcBef>
                <a:spcPts val="0"/>
              </a:spcBef>
              <a:spcAft>
                <a:spcPts val="0"/>
              </a:spcAft>
            </a:pPr>
            <a:r>
              <a:rPr sz="2000" i="0">
                <a:solidFill>
                  <a:srgbClr val="8792A8"/>
                </a:solidFill>
                <a:latin typeface="Courier New"/>
              </a:rPr>
              <a:t>1</a:t>
            </a:r>
          </a:p>
          <a:p>
            <a:pPr>
              <a:lnSpc>
                <a:spcPts val="2440"/>
              </a:lnSpc>
              <a:spcBef>
                <a:spcPts val="0"/>
              </a:spcBef>
              <a:spcAft>
                <a:spcPts val="0"/>
              </a:spcAft>
            </a:pPr>
            <a:r>
              <a:rPr sz="2000" i="0">
                <a:solidFill>
                  <a:srgbClr val="8792A8"/>
                </a:solidFill>
                <a:latin typeface="Courier New"/>
              </a:rPr>
              <a:t>2</a:t>
            </a:r>
          </a:p>
          <a:p>
            <a:pPr>
              <a:lnSpc>
                <a:spcPts val="2440"/>
              </a:lnSpc>
              <a:spcBef>
                <a:spcPts val="0"/>
              </a:spcBef>
              <a:spcAft>
                <a:spcPts val="0"/>
              </a:spcAft>
            </a:pPr>
            <a:r>
              <a:rPr sz="2000" i="0">
                <a:solidFill>
                  <a:srgbClr val="8792A8"/>
                </a:solidFill>
                <a:latin typeface="Courier New"/>
              </a:rPr>
              <a:t>3</a:t>
            </a:r>
          </a:p>
          <a:p>
            <a:pPr>
              <a:lnSpc>
                <a:spcPts val="2440"/>
              </a:lnSpc>
              <a:spcBef>
                <a:spcPts val="0"/>
              </a:spcBef>
              <a:spcAft>
                <a:spcPts val="0"/>
              </a:spcAft>
            </a:pPr>
            <a:r>
              <a:rPr sz="2000" i="0">
                <a:solidFill>
                  <a:srgbClr val="8792A8"/>
                </a:solidFill>
                <a:latin typeface="Courier New"/>
              </a:rPr>
              <a:t>4</a:t>
            </a:r>
          </a:p>
        </p:txBody>
      </p:sp>
      <p:sp>
        <p:nvSpPr>
          <p:cNvPr id="6" name="Code"/>
          <p:cNvSpPr txBox="1"/>
          <p:nvPr/>
        </p:nvSpPr>
        <p:spPr>
          <a:xfrm>
            <a:off x="1353312" y="2350008"/>
            <a:ext cx="6498031" cy="1239519"/>
          </a:xfrm>
          <a:prstGeom prst="rect">
            <a:avLst/>
          </a:prstGeom>
          <a:noFill/>
        </p:spPr>
        <p:txBody>
          <a:bodyPr wrap="none" lIns="0" rIns="0" tIns="0" bIns="0">
            <a:noAutofit/>
          </a:bodyPr>
          <a:lstStyle/>
          <a:p>
            <a:pPr>
              <a:lnSpc>
                <a:spcPts val="2440"/>
              </a:lnSpc>
              <a:spcBef>
                <a:spcPts val="0"/>
              </a:spcBef>
              <a:spcAft>
                <a:spcPts val="0"/>
              </a:spcAft>
            </a:pPr>
            <a:r>
              <a:rPr sz="2000" i="0">
                <a:solidFill>
                  <a:srgbClr val="E6E9EF"/>
                </a:solidFill>
                <a:latin typeface="Courier New"/>
              </a:rPr>
              <a:t>mevalar</a:t>
            </a:r>
            <a:r>
              <a:rPr sz="2000" i="0">
                <a:solidFill>
                  <a:srgbClr val="E6E9EF"/>
                </a:solidFill>
                <a:latin typeface="Courier New"/>
              </a:rPr>
              <a:t> </a:t>
            </a:r>
            <a:r>
              <a:rPr sz="2000" i="0">
                <a:solidFill>
                  <a:srgbClr val="89DDFF"/>
                </a:solidFill>
                <a:latin typeface="Courier New"/>
              </a:rPr>
              <a:t>=</a:t>
            </a:r>
            <a:r>
              <a:rPr sz="2000" i="0">
                <a:solidFill>
                  <a:srgbClr val="E6E9EF"/>
                </a:solidFill>
                <a:latin typeface="Courier New"/>
              </a:rPr>
              <a:t> </a:t>
            </a:r>
            <a:r>
              <a:rPr sz="2000" i="0">
                <a:solidFill>
                  <a:srgbClr val="C3CCDA"/>
                </a:solidFill>
                <a:latin typeface="Courier New"/>
              </a:rPr>
              <a:t>[</a:t>
            </a:r>
            <a:r>
              <a:rPr sz="2000" i="0">
                <a:solidFill>
                  <a:srgbClr val="A5E3A1"/>
                </a:solidFill>
                <a:latin typeface="Courier New"/>
              </a:rPr>
              <a:t>"</a:t>
            </a:r>
            <a:r>
              <a:rPr sz="2000" i="0">
                <a:solidFill>
                  <a:srgbClr val="A5E3A1"/>
                </a:solidFill>
                <a:latin typeface="Courier New"/>
              </a:rPr>
              <a:t>olma</a:t>
            </a:r>
            <a:r>
              <a:rPr sz="2000" i="0">
                <a:solidFill>
                  <a:srgbClr val="A5E3A1"/>
                </a:solidFill>
                <a:latin typeface="Courier New"/>
              </a:rPr>
              <a:t>"</a:t>
            </a:r>
            <a:r>
              <a:rPr sz="2000" i="0">
                <a:solidFill>
                  <a:srgbClr val="C3CCDA"/>
                </a:solidFill>
                <a:latin typeface="Courier New"/>
              </a:rPr>
              <a:t>,</a:t>
            </a:r>
            <a:r>
              <a:rPr sz="2000" i="0">
                <a:solidFill>
                  <a:srgbClr val="E6E9EF"/>
                </a:solidFill>
                <a:latin typeface="Courier New"/>
              </a:rPr>
              <a:t> </a:t>
            </a:r>
            <a:r>
              <a:rPr sz="2000" i="0">
                <a:solidFill>
                  <a:srgbClr val="A5E3A1"/>
                </a:solidFill>
                <a:latin typeface="Courier New"/>
              </a:rPr>
              <a:t>"</a:t>
            </a:r>
            <a:r>
              <a:rPr sz="2000" i="0">
                <a:solidFill>
                  <a:srgbClr val="A5E3A1"/>
                </a:solidFill>
                <a:latin typeface="Courier New"/>
              </a:rPr>
              <a:t>anor</a:t>
            </a:r>
            <a:r>
              <a:rPr sz="2000" i="0">
                <a:solidFill>
                  <a:srgbClr val="A5E3A1"/>
                </a:solidFill>
                <a:latin typeface="Courier New"/>
              </a:rPr>
              <a:t>"</a:t>
            </a:r>
            <a:r>
              <a:rPr sz="2000" i="0">
                <a:solidFill>
                  <a:srgbClr val="C3CCDA"/>
                </a:solidFill>
                <a:latin typeface="Courier New"/>
              </a:rPr>
              <a:t>,</a:t>
            </a:r>
            <a:r>
              <a:rPr sz="2000" i="0">
                <a:solidFill>
                  <a:srgbClr val="E6E9EF"/>
                </a:solidFill>
                <a:latin typeface="Courier New"/>
              </a:rPr>
              <a:t> </a:t>
            </a:r>
            <a:r>
              <a:rPr sz="2000" i="0">
                <a:solidFill>
                  <a:srgbClr val="A5E3A1"/>
                </a:solidFill>
                <a:latin typeface="Courier New"/>
              </a:rPr>
              <a:t>"</a:t>
            </a:r>
            <a:r>
              <a:rPr sz="2000" i="0">
                <a:solidFill>
                  <a:srgbClr val="A5E3A1"/>
                </a:solidFill>
                <a:latin typeface="Courier New"/>
              </a:rPr>
              <a:t>uzum</a:t>
            </a:r>
            <a:r>
              <a:rPr sz="2000" i="0">
                <a:solidFill>
                  <a:srgbClr val="A5E3A1"/>
                </a:solidFill>
                <a:latin typeface="Courier New"/>
              </a:rPr>
              <a:t>"</a:t>
            </a:r>
            <a:r>
              <a:rPr sz="2000" i="0">
                <a:solidFill>
                  <a:srgbClr val="C3CCDA"/>
                </a:solidFill>
                <a:latin typeface="Courier New"/>
              </a:rPr>
              <a:t>,</a:t>
            </a:r>
            <a:r>
              <a:rPr sz="2000" i="0">
                <a:solidFill>
                  <a:srgbClr val="E6E9EF"/>
                </a:solidFill>
                <a:latin typeface="Courier New"/>
              </a:rPr>
              <a:t> </a:t>
            </a:r>
            <a:r>
              <a:rPr sz="2000" i="0">
                <a:solidFill>
                  <a:srgbClr val="A5E3A1"/>
                </a:solidFill>
                <a:latin typeface="Courier New"/>
              </a:rPr>
              <a:t>"</a:t>
            </a:r>
            <a:r>
              <a:rPr sz="2000" i="0">
                <a:solidFill>
                  <a:srgbClr val="A5E3A1"/>
                </a:solidFill>
                <a:latin typeface="Courier New"/>
              </a:rPr>
              <a:t>behi</a:t>
            </a:r>
            <a:r>
              <a:rPr sz="2000" i="0">
                <a:solidFill>
                  <a:srgbClr val="A5E3A1"/>
                </a:solidFill>
                <a:latin typeface="Courier New"/>
              </a:rPr>
              <a:t>"</a:t>
            </a:r>
            <a:r>
              <a:rPr sz="2000" i="0">
                <a:solidFill>
                  <a:srgbClr val="C3CCDA"/>
                </a:solidFill>
                <a:latin typeface="Courier New"/>
              </a:rPr>
              <a:t>]</a:t>
            </a:r>
          </a:p>
          <a:p>
            <a:pPr>
              <a:lnSpc>
                <a:spcPts val="2440"/>
              </a:lnSpc>
              <a:spcBef>
                <a:spcPts val="0"/>
              </a:spcBef>
              <a:spcAft>
                <a:spcPts val="0"/>
              </a:spcAft>
            </a:pPr>
            <a:r>
              <a:rPr sz="2000" i="0">
                <a:solidFill>
                  <a:srgbClr val="FFCB6B"/>
                </a:solidFill>
                <a:latin typeface="Courier New"/>
              </a:rPr>
              <a:t>print</a:t>
            </a:r>
            <a:r>
              <a:rPr sz="2000" i="0">
                <a:solidFill>
                  <a:srgbClr val="C3CCDA"/>
                </a:solidFill>
                <a:latin typeface="Courier New"/>
              </a:rPr>
              <a:t>(</a:t>
            </a:r>
            <a:r>
              <a:rPr sz="2000" i="0">
                <a:solidFill>
                  <a:srgbClr val="E6E9EF"/>
                </a:solidFill>
                <a:latin typeface="Courier New"/>
              </a:rPr>
              <a:t>mevalar</a:t>
            </a:r>
            <a:r>
              <a:rPr sz="2000" i="0">
                <a:solidFill>
                  <a:srgbClr val="C3CCDA"/>
                </a:solidFill>
                <a:latin typeface="Courier New"/>
              </a:rPr>
              <a:t>[</a:t>
            </a:r>
            <a:r>
              <a:rPr sz="2000" i="0">
                <a:solidFill>
                  <a:srgbClr val="F78C6C"/>
                </a:solidFill>
                <a:latin typeface="Courier New"/>
              </a:rPr>
              <a:t>0</a:t>
            </a:r>
            <a:r>
              <a:rPr sz="2000" i="0">
                <a:solidFill>
                  <a:srgbClr val="C3CCDA"/>
                </a:solidFill>
                <a:latin typeface="Courier New"/>
              </a:rPr>
              <a:t>]</a:t>
            </a:r>
            <a:r>
              <a:rPr sz="2000" i="0">
                <a:solidFill>
                  <a:srgbClr val="C3CCDA"/>
                </a:solidFill>
                <a:latin typeface="Courier New"/>
              </a:rPr>
              <a:t>)</a:t>
            </a:r>
          </a:p>
          <a:p>
            <a:pPr>
              <a:lnSpc>
                <a:spcPts val="2440"/>
              </a:lnSpc>
              <a:spcBef>
                <a:spcPts val="0"/>
              </a:spcBef>
              <a:spcAft>
                <a:spcPts val="0"/>
              </a:spcAft>
            </a:pPr>
            <a:r>
              <a:rPr sz="2000" i="0">
                <a:solidFill>
                  <a:srgbClr val="FFCB6B"/>
                </a:solidFill>
                <a:latin typeface="Courier New"/>
              </a:rPr>
              <a:t>print</a:t>
            </a:r>
            <a:r>
              <a:rPr sz="2000" i="0">
                <a:solidFill>
                  <a:srgbClr val="C3CCDA"/>
                </a:solidFill>
                <a:latin typeface="Courier New"/>
              </a:rPr>
              <a:t>(</a:t>
            </a:r>
            <a:r>
              <a:rPr sz="2000" i="0">
                <a:solidFill>
                  <a:srgbClr val="E6E9EF"/>
                </a:solidFill>
                <a:latin typeface="Courier New"/>
              </a:rPr>
              <a:t>mevalar</a:t>
            </a:r>
            <a:r>
              <a:rPr sz="2000" i="0">
                <a:solidFill>
                  <a:srgbClr val="C3CCDA"/>
                </a:solidFill>
                <a:latin typeface="Courier New"/>
              </a:rPr>
              <a:t>[</a:t>
            </a:r>
            <a:r>
              <a:rPr sz="2000" i="0">
                <a:solidFill>
                  <a:srgbClr val="89DDFF"/>
                </a:solidFill>
                <a:latin typeface="Courier New"/>
              </a:rPr>
              <a:t>-</a:t>
            </a:r>
            <a:r>
              <a:rPr sz="2000" i="0">
                <a:solidFill>
                  <a:srgbClr val="F78C6C"/>
                </a:solidFill>
                <a:latin typeface="Courier New"/>
              </a:rPr>
              <a:t>1</a:t>
            </a:r>
            <a:r>
              <a:rPr sz="2000" i="0">
                <a:solidFill>
                  <a:srgbClr val="C3CCDA"/>
                </a:solidFill>
                <a:latin typeface="Courier New"/>
              </a:rPr>
              <a:t>]</a:t>
            </a:r>
            <a:r>
              <a:rPr sz="2000" i="0">
                <a:solidFill>
                  <a:srgbClr val="C3CCDA"/>
                </a:solidFill>
                <a:latin typeface="Courier New"/>
              </a:rPr>
              <a:t>)</a:t>
            </a:r>
          </a:p>
          <a:p>
            <a:pPr>
              <a:lnSpc>
                <a:spcPts val="2440"/>
              </a:lnSpc>
              <a:spcBef>
                <a:spcPts val="0"/>
              </a:spcBef>
              <a:spcAft>
                <a:spcPts val="0"/>
              </a:spcAft>
            </a:pPr>
            <a:r>
              <a:rPr sz="2000" i="0">
                <a:solidFill>
                  <a:srgbClr val="FFCB6B"/>
                </a:solidFill>
                <a:latin typeface="Courier New"/>
              </a:rPr>
              <a:t>print</a:t>
            </a:r>
            <a:r>
              <a:rPr sz="2000" i="0">
                <a:solidFill>
                  <a:srgbClr val="C3CCDA"/>
                </a:solidFill>
                <a:latin typeface="Courier New"/>
              </a:rPr>
              <a:t>(</a:t>
            </a:r>
            <a:r>
              <a:rPr sz="2000" i="0">
                <a:solidFill>
                  <a:srgbClr val="E6E9EF"/>
                </a:solidFill>
                <a:latin typeface="Courier New"/>
              </a:rPr>
              <a:t>mevalar</a:t>
            </a:r>
            <a:r>
              <a:rPr sz="2000" i="0">
                <a:solidFill>
                  <a:srgbClr val="C3CCDA"/>
                </a:solidFill>
                <a:latin typeface="Courier New"/>
              </a:rPr>
              <a:t>[</a:t>
            </a:r>
            <a:r>
              <a:rPr sz="2000" i="0">
                <a:solidFill>
                  <a:srgbClr val="F78C6C"/>
                </a:solidFill>
                <a:latin typeface="Courier New"/>
              </a:rPr>
              <a:t>1</a:t>
            </a:r>
            <a:r>
              <a:rPr sz="2000" i="0">
                <a:solidFill>
                  <a:srgbClr val="C3CCDA"/>
                </a:solidFill>
                <a:latin typeface="Courier New"/>
              </a:rPr>
              <a:t>:</a:t>
            </a:r>
            <a:r>
              <a:rPr sz="2000" i="0">
                <a:solidFill>
                  <a:srgbClr val="F78C6C"/>
                </a:solidFill>
                <a:latin typeface="Courier New"/>
              </a:rPr>
              <a:t>3</a:t>
            </a:r>
            <a:r>
              <a:rPr sz="2000" i="0">
                <a:solidFill>
                  <a:srgbClr val="C3CCDA"/>
                </a:solidFill>
                <a:latin typeface="Courier New"/>
              </a:rPr>
              <a:t>]</a:t>
            </a:r>
            <a:r>
              <a:rPr sz="2000" i="0">
                <a:solidFill>
                  <a:srgbClr val="C3CCDA"/>
                </a:solidFill>
                <a:latin typeface="Courier New"/>
              </a:rPr>
              <a:t>)</a:t>
            </a:r>
          </a:p>
        </p:txBody>
      </p:sp>
      <p:sp>
        <p:nvSpPr>
          <p:cNvPr id="7" name="Output"/>
          <p:cNvSpPr/>
          <p:nvPr/>
        </p:nvSpPr>
        <p:spPr>
          <a:xfrm>
            <a:off x="8473135" y="2148840"/>
            <a:ext cx="3078479" cy="131445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800" i="0">
                <a:solidFill>
                  <a:srgbClr val="111111"/>
                </a:solidFill>
                <a:latin typeface="Courier New"/>
              </a:rPr>
              <a:t>olma</a:t>
            </a:r>
          </a:p>
          <a:p>
            <a:pPr algn="l"/>
            <a:r>
              <a:rPr sz="1800" i="0">
                <a:solidFill>
                  <a:srgbClr val="111111"/>
                </a:solidFill>
                <a:latin typeface="Courier New"/>
              </a:rPr>
              <a:t>behi</a:t>
            </a:r>
          </a:p>
          <a:p>
            <a:pPr algn="l"/>
            <a:r>
              <a:rPr sz="1800" i="0">
                <a:solidFill>
                  <a:srgbClr val="111111"/>
                </a:solidFill>
                <a:latin typeface="Courier New"/>
              </a:rPr>
              <a:t>['anor', 'uzum']</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RO'YXAT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for va in ro'yxatda ham xuddi shunday ishlaydi</a:t>
            </a:r>
          </a:p>
        </p:txBody>
      </p:sp>
      <p:sp>
        <p:nvSpPr>
          <p:cNvPr id="4" name="Code panel"/>
          <p:cNvSpPr/>
          <p:nvPr/>
        </p:nvSpPr>
        <p:spPr>
          <a:xfrm>
            <a:off x="640080" y="2148840"/>
            <a:ext cx="7985455" cy="2106676"/>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1704340"/>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p:txBody>
      </p:sp>
      <p:sp>
        <p:nvSpPr>
          <p:cNvPr id="6" name="Code"/>
          <p:cNvSpPr txBox="1"/>
          <p:nvPr/>
        </p:nvSpPr>
        <p:spPr>
          <a:xfrm>
            <a:off x="1399031" y="2350008"/>
            <a:ext cx="6970471" cy="1704340"/>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mevalar</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olma</a:t>
            </a:r>
            <a:r>
              <a:rPr sz="2200" i="0">
                <a:solidFill>
                  <a:srgbClr val="A5E3A1"/>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anor</a:t>
            </a:r>
            <a:r>
              <a:rPr sz="2200" i="0">
                <a:solidFill>
                  <a:srgbClr val="A5E3A1"/>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uzum</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C792EA"/>
                </a:solidFill>
                <a:latin typeface="Courier New"/>
              </a:rPr>
              <a:t>for</a:t>
            </a:r>
            <a:r>
              <a:rPr sz="2200" i="0">
                <a:solidFill>
                  <a:srgbClr val="E6E9EF"/>
                </a:solidFill>
                <a:latin typeface="Courier New"/>
              </a:rPr>
              <a:t> </a:t>
            </a:r>
            <a:r>
              <a:rPr sz="2200" i="0">
                <a:solidFill>
                  <a:srgbClr val="E6E9EF"/>
                </a:solidFill>
                <a:latin typeface="Courier New"/>
              </a:rPr>
              <a:t>meva</a:t>
            </a:r>
            <a:r>
              <a:rPr sz="2200" i="0">
                <a:solidFill>
                  <a:srgbClr val="E6E9EF"/>
                </a:solidFill>
                <a:latin typeface="Courier New"/>
              </a:rPr>
              <a:t> </a:t>
            </a:r>
            <a:r>
              <a:rPr sz="2200" i="0">
                <a:solidFill>
                  <a:srgbClr val="C792EA"/>
                </a:solidFill>
                <a:latin typeface="Courier New"/>
              </a:rPr>
              <a:t>in</a:t>
            </a:r>
            <a:r>
              <a:rPr sz="2200" i="0">
                <a:solidFill>
                  <a:srgbClr val="E6E9EF"/>
                </a:solidFill>
                <a:latin typeface="Courier New"/>
              </a:rPr>
              <a:t> </a:t>
            </a:r>
            <a:r>
              <a:rPr sz="2200" i="0">
                <a:solidFill>
                  <a:srgbClr val="E6E9EF"/>
                </a:solidFill>
                <a:latin typeface="Courier New"/>
              </a:rPr>
              <a:t>mevalar</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meva</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anor</a:t>
            </a:r>
            <a:r>
              <a:rPr sz="2200" i="0">
                <a:solidFill>
                  <a:srgbClr val="A5E3A1"/>
                </a:solidFill>
                <a:latin typeface="Courier New"/>
              </a:rPr>
              <a:t>"</a:t>
            </a:r>
            <a:r>
              <a:rPr sz="2200" i="0">
                <a:solidFill>
                  <a:srgbClr val="E6E9EF"/>
                </a:solidFill>
                <a:latin typeface="Courier New"/>
              </a:rPr>
              <a:t> </a:t>
            </a:r>
            <a:r>
              <a:rPr sz="2200" i="0">
                <a:solidFill>
                  <a:srgbClr val="C792EA"/>
                </a:solidFill>
                <a:latin typeface="Courier New"/>
              </a:rPr>
              <a:t>in</a:t>
            </a:r>
            <a:r>
              <a:rPr sz="2200" i="0">
                <a:solidFill>
                  <a:srgbClr val="E6E9EF"/>
                </a:solidFill>
                <a:latin typeface="Courier New"/>
              </a:rPr>
              <a:t> </a:t>
            </a:r>
            <a:r>
              <a:rPr sz="2200" i="0">
                <a:solidFill>
                  <a:srgbClr val="E6E9EF"/>
                </a:solidFill>
                <a:latin typeface="Courier New"/>
              </a:rPr>
              <a:t>mevalar</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nok</a:t>
            </a:r>
            <a:r>
              <a:rPr sz="2200" i="0">
                <a:solidFill>
                  <a:srgbClr val="A5E3A1"/>
                </a:solidFill>
                <a:latin typeface="Courier New"/>
              </a:rPr>
              <a:t>"</a:t>
            </a:r>
            <a:r>
              <a:rPr sz="2200" i="0">
                <a:solidFill>
                  <a:srgbClr val="E6E9EF"/>
                </a:solidFill>
                <a:latin typeface="Courier New"/>
              </a:rPr>
              <a:t> </a:t>
            </a:r>
            <a:r>
              <a:rPr sz="2200" i="0">
                <a:solidFill>
                  <a:srgbClr val="C792EA"/>
                </a:solidFill>
                <a:latin typeface="Courier New"/>
              </a:rPr>
              <a:t>in</a:t>
            </a:r>
            <a:r>
              <a:rPr sz="2200" i="0">
                <a:solidFill>
                  <a:srgbClr val="E6E9EF"/>
                </a:solidFill>
                <a:latin typeface="Courier New"/>
              </a:rPr>
              <a:t> </a:t>
            </a:r>
            <a:r>
              <a:rPr sz="2200" i="0">
                <a:solidFill>
                  <a:srgbClr val="E6E9EF"/>
                </a:solidFill>
                <a:latin typeface="Courier New"/>
              </a:rPr>
              <a:t>mevalar</a:t>
            </a:r>
            <a:r>
              <a:rPr sz="2200" i="0">
                <a:solidFill>
                  <a:srgbClr val="C3CCDA"/>
                </a:solidFill>
                <a:latin typeface="Courier New"/>
              </a:rPr>
              <a:t>)</a:t>
            </a:r>
          </a:p>
        </p:txBody>
      </p:sp>
      <p:sp>
        <p:nvSpPr>
          <p:cNvPr id="7" name="Output"/>
          <p:cNvSpPr/>
          <p:nvPr/>
        </p:nvSpPr>
        <p:spPr>
          <a:xfrm>
            <a:off x="8991295" y="2148840"/>
            <a:ext cx="2560320" cy="23622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2400" i="0">
                <a:solidFill>
                  <a:srgbClr val="111111"/>
                </a:solidFill>
                <a:latin typeface="Courier New"/>
              </a:rPr>
              <a:t>olma</a:t>
            </a:r>
          </a:p>
          <a:p>
            <a:pPr algn="l"/>
            <a:r>
              <a:rPr sz="2400" i="0">
                <a:solidFill>
                  <a:srgbClr val="111111"/>
                </a:solidFill>
                <a:latin typeface="Courier New"/>
              </a:rPr>
              <a:t>anor</a:t>
            </a:r>
          </a:p>
          <a:p>
            <a:pPr algn="l"/>
            <a:r>
              <a:rPr sz="2400" i="0">
                <a:solidFill>
                  <a:srgbClr val="111111"/>
                </a:solidFill>
                <a:latin typeface="Courier New"/>
              </a:rPr>
              <a:t>uzum</a:t>
            </a:r>
          </a:p>
          <a:p>
            <a:pPr algn="l"/>
            <a:r>
              <a:rPr sz="2400" i="0">
                <a:solidFill>
                  <a:srgbClr val="111111"/>
                </a:solidFill>
                <a:latin typeface="Courier New"/>
              </a:rPr>
              <a:t>True</a:t>
            </a:r>
          </a:p>
          <a:p>
            <a:pPr algn="l"/>
            <a:r>
              <a:rPr sz="2400" i="0">
                <a:solidFill>
                  <a:srgbClr val="111111"/>
                </a:solidFill>
                <a:latin typeface="Courier New"/>
              </a:rPr>
              <a:t>False</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RO'YXAT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Ro'yxat elementini o'zgartirish mumkin, satrniki esa mumkin emas</a:t>
            </a:r>
          </a:p>
        </p:txBody>
      </p:sp>
      <p:sp>
        <p:nvSpPr>
          <p:cNvPr id="4" name="left column"/>
          <p:cNvSpPr/>
          <p:nvPr/>
        </p:nvSpPr>
        <p:spPr>
          <a:xfrm>
            <a:off x="640080" y="2148840"/>
            <a:ext cx="5227167" cy="3931920"/>
          </a:xfrm>
          <a:prstGeom prst="roundRect">
            <a:avLst>
              <a:gd name="adj" fmla="val 4000"/>
            </a:avLst>
          </a:prstGeom>
          <a:solidFill>
            <a:srgbClr val="EEF2F7"/>
          </a:solidFill>
          <a:ln>
            <a:noFill/>
          </a:ln>
        </p:spPr>
        <p:txBody>
          <a:bodyPr rtlCol="0" anchor="ctr"/>
          <a:lstStyle/>
          <a:p>
            <a:pPr algn="ctr"/>
          </a:p>
        </p:txBody>
      </p:sp>
      <p:sp>
        <p:nvSpPr>
          <p:cNvPr id="5" name="left title"/>
          <p:cNvSpPr txBox="1"/>
          <p:nvPr/>
        </p:nvSpPr>
        <p:spPr>
          <a:xfrm>
            <a:off x="914400" y="2331720"/>
            <a:ext cx="4678527" cy="548640"/>
          </a:xfrm>
          <a:prstGeom prst="rect">
            <a:avLst/>
          </a:prstGeom>
          <a:noFill/>
        </p:spPr>
        <p:txBody>
          <a:bodyPr wrap="square" anchor="t" lIns="0" rIns="0" tIns="0" bIns="0">
            <a:noAutofit/>
          </a:bodyPr>
          <a:lstStyle/>
          <a:p>
            <a:pPr algn="l">
              <a:lnSpc>
                <a:spcPct val="115000"/>
              </a:lnSpc>
              <a:spcBef>
                <a:spcPts val="0"/>
              </a:spcBef>
              <a:spcAft>
                <a:spcPts val="0"/>
              </a:spcAft>
            </a:pPr>
            <a:r>
              <a:rPr sz="2600" b="1" i="0">
                <a:solidFill>
                  <a:srgbClr val="0052CC"/>
                </a:solidFill>
                <a:latin typeface="Arial"/>
              </a:rPr>
              <a:t>Ro'yxat</a:t>
            </a:r>
          </a:p>
        </p:txBody>
      </p:sp>
      <p:sp>
        <p:nvSpPr>
          <p:cNvPr id="6" name="Code panel"/>
          <p:cNvSpPr/>
          <p:nvPr/>
        </p:nvSpPr>
        <p:spPr>
          <a:xfrm>
            <a:off x="914400" y="3017520"/>
            <a:ext cx="4678527" cy="1393951"/>
          </a:xfrm>
          <a:prstGeom prst="roundRect">
            <a:avLst>
              <a:gd name="adj" fmla="val 3000"/>
            </a:avLst>
          </a:prstGeom>
          <a:solidFill>
            <a:srgbClr val="111827"/>
          </a:solidFill>
          <a:ln>
            <a:noFill/>
          </a:ln>
        </p:spPr>
        <p:txBody>
          <a:bodyPr rtlCol="0" anchor="ctr"/>
          <a:lstStyle/>
          <a:p>
            <a:pPr algn="ctr"/>
          </a:p>
        </p:txBody>
      </p:sp>
      <p:sp>
        <p:nvSpPr>
          <p:cNvPr id="7" name="Line numbers"/>
          <p:cNvSpPr txBox="1"/>
          <p:nvPr/>
        </p:nvSpPr>
        <p:spPr>
          <a:xfrm>
            <a:off x="1170432" y="3218688"/>
            <a:ext cx="365759" cy="991615"/>
          </a:xfrm>
          <a:prstGeom prst="rect">
            <a:avLst/>
          </a:prstGeom>
          <a:noFill/>
        </p:spPr>
        <p:txBody>
          <a:bodyPr wrap="none" lIns="0" rIns="0" tIns="0" bIns="0">
            <a:noAutofit/>
          </a:bodyPr>
          <a:lstStyle/>
          <a:p>
            <a:pPr>
              <a:lnSpc>
                <a:spcPts val="1952"/>
              </a:lnSpc>
              <a:spcBef>
                <a:spcPts val="0"/>
              </a:spcBef>
              <a:spcAft>
                <a:spcPts val="0"/>
              </a:spcAft>
            </a:pPr>
            <a:r>
              <a:rPr sz="1600" i="0">
                <a:solidFill>
                  <a:srgbClr val="8792A8"/>
                </a:solidFill>
                <a:latin typeface="Courier New"/>
              </a:rPr>
              <a:t>1</a:t>
            </a:r>
          </a:p>
          <a:p>
            <a:pPr>
              <a:lnSpc>
                <a:spcPts val="1952"/>
              </a:lnSpc>
              <a:spcBef>
                <a:spcPts val="0"/>
              </a:spcBef>
              <a:spcAft>
                <a:spcPts val="0"/>
              </a:spcAft>
            </a:pPr>
            <a:r>
              <a:rPr sz="1600" i="0">
                <a:solidFill>
                  <a:srgbClr val="8792A8"/>
                </a:solidFill>
                <a:latin typeface="Courier New"/>
              </a:rPr>
              <a:t>2</a:t>
            </a:r>
          </a:p>
          <a:p>
            <a:pPr>
              <a:lnSpc>
                <a:spcPts val="1952"/>
              </a:lnSpc>
              <a:spcBef>
                <a:spcPts val="0"/>
              </a:spcBef>
              <a:spcAft>
                <a:spcPts val="0"/>
              </a:spcAft>
            </a:pPr>
            <a:r>
              <a:rPr sz="1600" i="0">
                <a:solidFill>
                  <a:srgbClr val="8792A8"/>
                </a:solidFill>
                <a:latin typeface="Courier New"/>
              </a:rPr>
              <a:t>3</a:t>
            </a:r>
          </a:p>
          <a:p>
            <a:pPr>
              <a:lnSpc>
                <a:spcPts val="1952"/>
              </a:lnSpc>
              <a:spcBef>
                <a:spcPts val="0"/>
              </a:spcBef>
              <a:spcAft>
                <a:spcPts val="0"/>
              </a:spcAft>
            </a:pPr>
            <a:r>
              <a:rPr sz="1600" i="0">
                <a:solidFill>
                  <a:srgbClr val="8792A8"/>
                </a:solidFill>
                <a:latin typeface="Courier New"/>
              </a:rPr>
              <a:t>4</a:t>
            </a:r>
          </a:p>
        </p:txBody>
      </p:sp>
      <p:sp>
        <p:nvSpPr>
          <p:cNvPr id="8" name="Code"/>
          <p:cNvSpPr txBox="1"/>
          <p:nvPr/>
        </p:nvSpPr>
        <p:spPr>
          <a:xfrm>
            <a:off x="1536192" y="3218688"/>
            <a:ext cx="3800703" cy="991615"/>
          </a:xfrm>
          <a:prstGeom prst="rect">
            <a:avLst/>
          </a:prstGeom>
          <a:noFill/>
        </p:spPr>
        <p:txBody>
          <a:bodyPr wrap="none" lIns="0" rIns="0" tIns="0" bIns="0">
            <a:noAutofit/>
          </a:bodyPr>
          <a:lstStyle/>
          <a:p>
            <a:pPr>
              <a:lnSpc>
                <a:spcPts val="1952"/>
              </a:lnSpc>
              <a:spcBef>
                <a:spcPts val="0"/>
              </a:spcBef>
              <a:spcAft>
                <a:spcPts val="0"/>
              </a:spcAft>
            </a:pPr>
            <a:r>
              <a:rPr sz="1600" i="0">
                <a:solidFill>
                  <a:srgbClr val="E6E9EF"/>
                </a:solidFill>
                <a:latin typeface="Courier New"/>
              </a:rPr>
              <a:t>narxlar</a:t>
            </a:r>
            <a:r>
              <a:rPr sz="1600" i="0">
                <a:solidFill>
                  <a:srgbClr val="E6E9EF"/>
                </a:solidFill>
                <a:latin typeface="Courier New"/>
              </a:rPr>
              <a:t> </a:t>
            </a:r>
            <a:r>
              <a:rPr sz="1600" i="0">
                <a:solidFill>
                  <a:srgbClr val="89DDFF"/>
                </a:solidFill>
                <a:latin typeface="Courier New"/>
              </a:rPr>
              <a:t>=</a:t>
            </a:r>
            <a:r>
              <a:rPr sz="1600" i="0">
                <a:solidFill>
                  <a:srgbClr val="E6E9EF"/>
                </a:solidFill>
                <a:latin typeface="Courier New"/>
              </a:rPr>
              <a:t> </a:t>
            </a:r>
            <a:r>
              <a:rPr sz="1600" i="0">
                <a:solidFill>
                  <a:srgbClr val="C3CCDA"/>
                </a:solidFill>
                <a:latin typeface="Courier New"/>
              </a:rPr>
              <a:t>[</a:t>
            </a:r>
            <a:r>
              <a:rPr sz="1600" i="0">
                <a:solidFill>
                  <a:srgbClr val="F78C6C"/>
                </a:solidFill>
                <a:latin typeface="Courier New"/>
              </a:rPr>
              <a:t>12000</a:t>
            </a:r>
            <a:r>
              <a:rPr sz="1600" i="0">
                <a:solidFill>
                  <a:srgbClr val="C3CCDA"/>
                </a:solidFill>
                <a:latin typeface="Courier New"/>
              </a:rPr>
              <a:t>,</a:t>
            </a:r>
            <a:r>
              <a:rPr sz="1600" i="0">
                <a:solidFill>
                  <a:srgbClr val="E6E9EF"/>
                </a:solidFill>
                <a:latin typeface="Courier New"/>
              </a:rPr>
              <a:t> </a:t>
            </a:r>
            <a:r>
              <a:rPr sz="1600" i="0">
                <a:solidFill>
                  <a:srgbClr val="F78C6C"/>
                </a:solidFill>
                <a:latin typeface="Courier New"/>
              </a:rPr>
              <a:t>18000</a:t>
            </a:r>
            <a:r>
              <a:rPr sz="1600" i="0">
                <a:solidFill>
                  <a:srgbClr val="C3CCDA"/>
                </a:solidFill>
                <a:latin typeface="Courier New"/>
              </a:rPr>
              <a:t>,</a:t>
            </a:r>
            <a:r>
              <a:rPr sz="1600" i="0">
                <a:solidFill>
                  <a:srgbClr val="E6E9EF"/>
                </a:solidFill>
                <a:latin typeface="Courier New"/>
              </a:rPr>
              <a:t> </a:t>
            </a:r>
            <a:r>
              <a:rPr sz="1600" i="0">
                <a:solidFill>
                  <a:srgbClr val="F78C6C"/>
                </a:solidFill>
                <a:latin typeface="Courier New"/>
              </a:rPr>
              <a:t>10900</a:t>
            </a:r>
            <a:r>
              <a:rPr sz="1600" i="0">
                <a:solidFill>
                  <a:srgbClr val="C3CCDA"/>
                </a:solidFill>
                <a:latin typeface="Courier New"/>
              </a:rPr>
              <a:t>]</a:t>
            </a:r>
          </a:p>
          <a:p>
            <a:pPr>
              <a:lnSpc>
                <a:spcPts val="1952"/>
              </a:lnSpc>
              <a:spcBef>
                <a:spcPts val="0"/>
              </a:spcBef>
              <a:spcAft>
                <a:spcPts val="0"/>
              </a:spcAft>
            </a:pPr>
            <a:r>
              <a:rPr sz="1600" i="0">
                <a:solidFill>
                  <a:srgbClr val="E6E9EF"/>
                </a:solidFill>
                <a:latin typeface="Courier New"/>
              </a:rPr>
              <a:t>narxlar</a:t>
            </a:r>
            <a:r>
              <a:rPr sz="1600" i="0">
                <a:solidFill>
                  <a:srgbClr val="C3CCDA"/>
                </a:solidFill>
                <a:latin typeface="Courier New"/>
              </a:rPr>
              <a:t>[</a:t>
            </a:r>
            <a:r>
              <a:rPr sz="1600" i="0">
                <a:solidFill>
                  <a:srgbClr val="F78C6C"/>
                </a:solidFill>
                <a:latin typeface="Courier New"/>
              </a:rPr>
              <a:t>0</a:t>
            </a:r>
            <a:r>
              <a:rPr sz="1600" i="0">
                <a:solidFill>
                  <a:srgbClr val="C3CCDA"/>
                </a:solidFill>
                <a:latin typeface="Courier New"/>
              </a:rPr>
              <a:t>]</a:t>
            </a:r>
            <a:r>
              <a:rPr sz="1600" i="0">
                <a:solidFill>
                  <a:srgbClr val="E6E9EF"/>
                </a:solidFill>
                <a:latin typeface="Courier New"/>
              </a:rPr>
              <a:t> </a:t>
            </a:r>
            <a:r>
              <a:rPr sz="1600" i="0">
                <a:solidFill>
                  <a:srgbClr val="89DDFF"/>
                </a:solidFill>
                <a:latin typeface="Courier New"/>
              </a:rPr>
              <a:t>=</a:t>
            </a:r>
            <a:r>
              <a:rPr sz="1600" i="0">
                <a:solidFill>
                  <a:srgbClr val="E6E9EF"/>
                </a:solidFill>
                <a:latin typeface="Courier New"/>
              </a:rPr>
              <a:t> </a:t>
            </a:r>
            <a:r>
              <a:rPr sz="1600" i="0">
                <a:solidFill>
                  <a:srgbClr val="F78C6C"/>
                </a:solidFill>
                <a:latin typeface="Courier New"/>
              </a:rPr>
              <a:t>13000</a:t>
            </a:r>
          </a:p>
          <a:p>
            <a:pPr>
              <a:lnSpc>
                <a:spcPts val="1952"/>
              </a:lnSpc>
              <a:spcBef>
                <a:spcPts val="0"/>
              </a:spcBef>
              <a:spcAft>
                <a:spcPts val="0"/>
              </a:spcAft>
            </a:pPr>
            <a:r>
              <a:rPr sz="1600" i="0">
                <a:solidFill>
                  <a:srgbClr val="FFCB6B"/>
                </a:solidFill>
                <a:latin typeface="Courier New"/>
              </a:rPr>
              <a:t>print</a:t>
            </a:r>
            <a:r>
              <a:rPr sz="1600" i="0">
                <a:solidFill>
                  <a:srgbClr val="C3CCDA"/>
                </a:solidFill>
                <a:latin typeface="Courier New"/>
              </a:rPr>
              <a:t>(</a:t>
            </a:r>
            <a:r>
              <a:rPr sz="1600" i="0">
                <a:solidFill>
                  <a:srgbClr val="E6E9EF"/>
                </a:solidFill>
                <a:latin typeface="Courier New"/>
              </a:rPr>
              <a:t>narxlar</a:t>
            </a:r>
            <a:r>
              <a:rPr sz="1600" i="0">
                <a:solidFill>
                  <a:srgbClr val="C3CCDA"/>
                </a:solidFill>
                <a:latin typeface="Courier New"/>
              </a:rPr>
              <a:t>)</a:t>
            </a:r>
          </a:p>
          <a:p>
            <a:pPr>
              <a:lnSpc>
                <a:spcPts val="1952"/>
              </a:lnSpc>
              <a:spcBef>
                <a:spcPts val="0"/>
              </a:spcBef>
              <a:spcAft>
                <a:spcPts val="0"/>
              </a:spcAft>
            </a:pPr>
            <a:r>
              <a:rPr sz="1600" i="1">
                <a:solidFill>
                  <a:srgbClr val="9AA5B8"/>
                </a:solidFill>
                <a:latin typeface="Courier New"/>
              </a:rPr>
              <a:t># [13000, 18000, 10900]</a:t>
            </a:r>
          </a:p>
        </p:txBody>
      </p:sp>
      <p:sp>
        <p:nvSpPr>
          <p:cNvPr id="9" name="right column"/>
          <p:cNvSpPr/>
          <p:nvPr/>
        </p:nvSpPr>
        <p:spPr>
          <a:xfrm>
            <a:off x="6324447" y="2148840"/>
            <a:ext cx="5227167" cy="3931920"/>
          </a:xfrm>
          <a:prstGeom prst="roundRect">
            <a:avLst>
              <a:gd name="adj" fmla="val 4000"/>
            </a:avLst>
          </a:prstGeom>
          <a:solidFill>
            <a:srgbClr val="EEF2F7"/>
          </a:solidFill>
          <a:ln>
            <a:noFill/>
          </a:ln>
        </p:spPr>
        <p:txBody>
          <a:bodyPr rtlCol="0" anchor="ctr"/>
          <a:lstStyle/>
          <a:p>
            <a:pPr algn="ctr"/>
          </a:p>
        </p:txBody>
      </p:sp>
      <p:sp>
        <p:nvSpPr>
          <p:cNvPr id="10" name="right title"/>
          <p:cNvSpPr txBox="1"/>
          <p:nvPr/>
        </p:nvSpPr>
        <p:spPr>
          <a:xfrm>
            <a:off x="6598767" y="2331720"/>
            <a:ext cx="4678527" cy="548640"/>
          </a:xfrm>
          <a:prstGeom prst="rect">
            <a:avLst/>
          </a:prstGeom>
          <a:noFill/>
        </p:spPr>
        <p:txBody>
          <a:bodyPr wrap="square" anchor="t" lIns="0" rIns="0" tIns="0" bIns="0">
            <a:noAutofit/>
          </a:bodyPr>
          <a:lstStyle/>
          <a:p>
            <a:pPr algn="l">
              <a:lnSpc>
                <a:spcPct val="115000"/>
              </a:lnSpc>
              <a:spcBef>
                <a:spcPts val="0"/>
              </a:spcBef>
              <a:spcAft>
                <a:spcPts val="0"/>
              </a:spcAft>
            </a:pPr>
            <a:r>
              <a:rPr sz="2600" b="1" i="0">
                <a:solidFill>
                  <a:srgbClr val="0052CC"/>
                </a:solidFill>
                <a:latin typeface="Arial"/>
              </a:rPr>
              <a:t>Satr</a:t>
            </a:r>
          </a:p>
        </p:txBody>
      </p:sp>
      <p:sp>
        <p:nvSpPr>
          <p:cNvPr id="11" name="Code panel"/>
          <p:cNvSpPr/>
          <p:nvPr/>
        </p:nvSpPr>
        <p:spPr>
          <a:xfrm>
            <a:off x="6598767" y="3017520"/>
            <a:ext cx="4678527" cy="1424939"/>
          </a:xfrm>
          <a:prstGeom prst="roundRect">
            <a:avLst>
              <a:gd name="adj" fmla="val 3000"/>
            </a:avLst>
          </a:prstGeom>
          <a:solidFill>
            <a:srgbClr val="111827"/>
          </a:solidFill>
          <a:ln>
            <a:noFill/>
          </a:ln>
        </p:spPr>
        <p:txBody>
          <a:bodyPr rtlCol="0" anchor="ctr"/>
          <a:lstStyle/>
          <a:p>
            <a:pPr algn="ctr"/>
          </a:p>
        </p:txBody>
      </p:sp>
      <p:sp>
        <p:nvSpPr>
          <p:cNvPr id="12" name="Line numbers"/>
          <p:cNvSpPr txBox="1"/>
          <p:nvPr/>
        </p:nvSpPr>
        <p:spPr>
          <a:xfrm>
            <a:off x="6854799" y="3218688"/>
            <a:ext cx="377189" cy="1022603"/>
          </a:xfrm>
          <a:prstGeom prst="rect">
            <a:avLst/>
          </a:prstGeom>
          <a:noFill/>
        </p:spPr>
        <p:txBody>
          <a:bodyPr wrap="none" lIns="0" rIns="0" tIns="0" bIns="0">
            <a:noAutofit/>
          </a:bodyPr>
          <a:lstStyle/>
          <a:p>
            <a:pPr>
              <a:lnSpc>
                <a:spcPts val="2013"/>
              </a:lnSpc>
              <a:spcBef>
                <a:spcPts val="0"/>
              </a:spcBef>
              <a:spcAft>
                <a:spcPts val="0"/>
              </a:spcAft>
            </a:pPr>
            <a:r>
              <a:rPr sz="1650" i="0">
                <a:solidFill>
                  <a:srgbClr val="8792A8"/>
                </a:solidFill>
                <a:latin typeface="Courier New"/>
              </a:rPr>
              <a:t>1</a:t>
            </a:r>
          </a:p>
          <a:p>
            <a:pPr>
              <a:lnSpc>
                <a:spcPts val="2013"/>
              </a:lnSpc>
              <a:spcBef>
                <a:spcPts val="0"/>
              </a:spcBef>
              <a:spcAft>
                <a:spcPts val="0"/>
              </a:spcAft>
            </a:pPr>
            <a:r>
              <a:rPr sz="1650" i="0">
                <a:solidFill>
                  <a:srgbClr val="8792A8"/>
                </a:solidFill>
                <a:latin typeface="Courier New"/>
              </a:rPr>
              <a:t>2</a:t>
            </a:r>
          </a:p>
          <a:p>
            <a:pPr>
              <a:lnSpc>
                <a:spcPts val="2013"/>
              </a:lnSpc>
              <a:spcBef>
                <a:spcPts val="0"/>
              </a:spcBef>
              <a:spcAft>
                <a:spcPts val="0"/>
              </a:spcAft>
            </a:pPr>
            <a:r>
              <a:rPr sz="1650" i="0">
                <a:solidFill>
                  <a:srgbClr val="8792A8"/>
                </a:solidFill>
                <a:latin typeface="Courier New"/>
              </a:rPr>
              <a:t>3</a:t>
            </a:r>
          </a:p>
          <a:p>
            <a:pPr>
              <a:lnSpc>
                <a:spcPts val="2013"/>
              </a:lnSpc>
              <a:spcBef>
                <a:spcPts val="0"/>
              </a:spcBef>
              <a:spcAft>
                <a:spcPts val="0"/>
              </a:spcAft>
            </a:pPr>
            <a:r>
              <a:rPr sz="1650" i="0">
                <a:solidFill>
                  <a:srgbClr val="8792A8"/>
                </a:solidFill>
                <a:latin typeface="Courier New"/>
              </a:rPr>
              <a:t>4</a:t>
            </a:r>
          </a:p>
        </p:txBody>
      </p:sp>
      <p:sp>
        <p:nvSpPr>
          <p:cNvPr id="13" name="Code"/>
          <p:cNvSpPr txBox="1"/>
          <p:nvPr/>
        </p:nvSpPr>
        <p:spPr>
          <a:xfrm>
            <a:off x="7231989" y="3218688"/>
            <a:ext cx="3789273" cy="1022603"/>
          </a:xfrm>
          <a:prstGeom prst="rect">
            <a:avLst/>
          </a:prstGeom>
          <a:noFill/>
        </p:spPr>
        <p:txBody>
          <a:bodyPr wrap="none" lIns="0" rIns="0" tIns="0" bIns="0">
            <a:noAutofit/>
          </a:bodyPr>
          <a:lstStyle/>
          <a:p>
            <a:pPr>
              <a:lnSpc>
                <a:spcPts val="2013"/>
              </a:lnSpc>
              <a:spcBef>
                <a:spcPts val="0"/>
              </a:spcBef>
              <a:spcAft>
                <a:spcPts val="0"/>
              </a:spcAft>
            </a:pPr>
            <a:r>
              <a:rPr sz="1650" i="0">
                <a:solidFill>
                  <a:srgbClr val="E6E9EF"/>
                </a:solidFill>
                <a:latin typeface="Courier New"/>
              </a:rPr>
              <a:t>soz</a:t>
            </a:r>
            <a:r>
              <a:rPr sz="1650" i="0">
                <a:solidFill>
                  <a:srgbClr val="E6E9EF"/>
                </a:solidFill>
                <a:latin typeface="Courier New"/>
              </a:rPr>
              <a:t> </a:t>
            </a:r>
            <a:r>
              <a:rPr sz="1650" i="0">
                <a:solidFill>
                  <a:srgbClr val="89DDFF"/>
                </a:solidFill>
                <a:latin typeface="Courier New"/>
              </a:rPr>
              <a:t>=</a:t>
            </a:r>
            <a:r>
              <a:rPr sz="1650" i="0">
                <a:solidFill>
                  <a:srgbClr val="E6E9EF"/>
                </a:solidFill>
                <a:latin typeface="Courier New"/>
              </a:rPr>
              <a:t> </a:t>
            </a:r>
            <a:r>
              <a:rPr sz="1650" i="0">
                <a:solidFill>
                  <a:srgbClr val="A5E3A1"/>
                </a:solidFill>
                <a:latin typeface="Courier New"/>
              </a:rPr>
              <a:t>"</a:t>
            </a:r>
            <a:r>
              <a:rPr sz="1650" i="0">
                <a:solidFill>
                  <a:srgbClr val="A5E3A1"/>
                </a:solidFill>
                <a:latin typeface="Courier New"/>
              </a:rPr>
              <a:t>olma</a:t>
            </a:r>
            <a:r>
              <a:rPr sz="1650" i="0">
                <a:solidFill>
                  <a:srgbClr val="A5E3A1"/>
                </a:solidFill>
                <a:latin typeface="Courier New"/>
              </a:rPr>
              <a:t>"</a:t>
            </a:r>
          </a:p>
          <a:p>
            <a:pPr>
              <a:lnSpc>
                <a:spcPts val="2013"/>
              </a:lnSpc>
              <a:spcBef>
                <a:spcPts val="0"/>
              </a:spcBef>
              <a:spcAft>
                <a:spcPts val="0"/>
              </a:spcAft>
            </a:pPr>
            <a:r>
              <a:rPr sz="1650" i="0">
                <a:solidFill>
                  <a:srgbClr val="E6E9EF"/>
                </a:solidFill>
                <a:latin typeface="Courier New"/>
              </a:rPr>
              <a:t>soz</a:t>
            </a:r>
            <a:r>
              <a:rPr sz="1650" i="0">
                <a:solidFill>
                  <a:srgbClr val="C3CCDA"/>
                </a:solidFill>
                <a:latin typeface="Courier New"/>
              </a:rPr>
              <a:t>[</a:t>
            </a:r>
            <a:r>
              <a:rPr sz="1650" i="0">
                <a:solidFill>
                  <a:srgbClr val="F78C6C"/>
                </a:solidFill>
                <a:latin typeface="Courier New"/>
              </a:rPr>
              <a:t>0</a:t>
            </a:r>
            <a:r>
              <a:rPr sz="1650" i="0">
                <a:solidFill>
                  <a:srgbClr val="C3CCDA"/>
                </a:solidFill>
                <a:latin typeface="Courier New"/>
              </a:rPr>
              <a:t>]</a:t>
            </a:r>
            <a:r>
              <a:rPr sz="1650" i="0">
                <a:solidFill>
                  <a:srgbClr val="E6E9EF"/>
                </a:solidFill>
                <a:latin typeface="Courier New"/>
              </a:rPr>
              <a:t> </a:t>
            </a:r>
            <a:r>
              <a:rPr sz="1650" i="0">
                <a:solidFill>
                  <a:srgbClr val="89DDFF"/>
                </a:solidFill>
                <a:latin typeface="Courier New"/>
              </a:rPr>
              <a:t>=</a:t>
            </a:r>
            <a:r>
              <a:rPr sz="1650" i="0">
                <a:solidFill>
                  <a:srgbClr val="E6E9EF"/>
                </a:solidFill>
                <a:latin typeface="Courier New"/>
              </a:rPr>
              <a:t> </a:t>
            </a:r>
            <a:r>
              <a:rPr sz="1650" i="0">
                <a:solidFill>
                  <a:srgbClr val="A5E3A1"/>
                </a:solidFill>
                <a:latin typeface="Courier New"/>
              </a:rPr>
              <a:t>"</a:t>
            </a:r>
            <a:r>
              <a:rPr sz="1650" i="0">
                <a:solidFill>
                  <a:srgbClr val="A5E3A1"/>
                </a:solidFill>
                <a:latin typeface="Courier New"/>
              </a:rPr>
              <a:t>a</a:t>
            </a:r>
            <a:r>
              <a:rPr sz="1650" i="0">
                <a:solidFill>
                  <a:srgbClr val="A5E3A1"/>
                </a:solidFill>
                <a:latin typeface="Courier New"/>
              </a:rPr>
              <a:t>"</a:t>
            </a:r>
          </a:p>
          <a:p>
            <a:pPr>
              <a:lnSpc>
                <a:spcPts val="2013"/>
              </a:lnSpc>
              <a:spcBef>
                <a:spcPts val="0"/>
              </a:spcBef>
              <a:spcAft>
                <a:spcPts val="0"/>
              </a:spcAft>
            </a:pPr>
            <a:r>
              <a:rPr sz="1650" i="1">
                <a:solidFill>
                  <a:srgbClr val="9AA5B8"/>
                </a:solidFill>
                <a:latin typeface="Courier New"/>
              </a:rPr>
              <a:t># TypeError: 'str' object does</a:t>
            </a:r>
          </a:p>
          <a:p>
            <a:pPr>
              <a:lnSpc>
                <a:spcPts val="2013"/>
              </a:lnSpc>
              <a:spcBef>
                <a:spcPts val="0"/>
              </a:spcBef>
              <a:spcAft>
                <a:spcPts val="0"/>
              </a:spcAft>
            </a:pPr>
            <a:r>
              <a:rPr sz="1650" i="1">
                <a:solidFill>
                  <a:srgbClr val="9AA5B8"/>
                </a:solidFill>
                <a:latin typeface="Courier New"/>
              </a:rPr>
              <a:t># not support item assignment</a:t>
            </a:r>
          </a:p>
        </p:txBody>
      </p:sp>
      <p:sp>
        <p:nvSpPr>
          <p:cNvPr id="14"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0"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NATIJANI TOPING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Bu kod nimani chiqaradi?</a:t>
            </a:r>
          </a:p>
        </p:txBody>
      </p:sp>
      <p:sp>
        <p:nvSpPr>
          <p:cNvPr id="4" name="Code panel"/>
          <p:cNvSpPr/>
          <p:nvPr/>
        </p:nvSpPr>
        <p:spPr>
          <a:xfrm>
            <a:off x="640080" y="2148840"/>
            <a:ext cx="6328690" cy="1037590"/>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468629" cy="635254"/>
          </a:xfrm>
          <a:prstGeom prst="rect">
            <a:avLst/>
          </a:prstGeom>
          <a:noFill/>
        </p:spPr>
        <p:txBody>
          <a:bodyPr wrap="none" lIns="0" rIns="0" tIns="0" bIns="0">
            <a:noAutofit/>
          </a:bodyPr>
          <a:lstStyle/>
          <a:p>
            <a:pPr>
              <a:lnSpc>
                <a:spcPts val="2501"/>
              </a:lnSpc>
              <a:spcBef>
                <a:spcPts val="0"/>
              </a:spcBef>
              <a:spcAft>
                <a:spcPts val="0"/>
              </a:spcAft>
            </a:pPr>
            <a:r>
              <a:rPr sz="2050" i="0">
                <a:solidFill>
                  <a:srgbClr val="8792A8"/>
                </a:solidFill>
                <a:latin typeface="Courier New"/>
              </a:rPr>
              <a:t>1</a:t>
            </a:r>
          </a:p>
          <a:p>
            <a:pPr>
              <a:lnSpc>
                <a:spcPts val="2501"/>
              </a:lnSpc>
              <a:spcBef>
                <a:spcPts val="0"/>
              </a:spcBef>
              <a:spcAft>
                <a:spcPts val="0"/>
              </a:spcAft>
            </a:pPr>
            <a:r>
              <a:rPr sz="2050" i="0">
                <a:solidFill>
                  <a:srgbClr val="8792A8"/>
                </a:solidFill>
                <a:latin typeface="Courier New"/>
              </a:rPr>
              <a:t>2</a:t>
            </a:r>
          </a:p>
        </p:txBody>
      </p:sp>
      <p:sp>
        <p:nvSpPr>
          <p:cNvPr id="6" name="Code"/>
          <p:cNvSpPr txBox="1"/>
          <p:nvPr/>
        </p:nvSpPr>
        <p:spPr>
          <a:xfrm>
            <a:off x="1364742" y="2350008"/>
            <a:ext cx="5347996" cy="635254"/>
          </a:xfrm>
          <a:prstGeom prst="rect">
            <a:avLst/>
          </a:prstGeom>
          <a:noFill/>
        </p:spPr>
        <p:txBody>
          <a:bodyPr wrap="none" lIns="0" rIns="0" tIns="0" bIns="0">
            <a:noAutofit/>
          </a:bodyPr>
          <a:lstStyle/>
          <a:p>
            <a:pPr>
              <a:lnSpc>
                <a:spcPts val="2501"/>
              </a:lnSpc>
              <a:spcBef>
                <a:spcPts val="0"/>
              </a:spcBef>
              <a:spcAft>
                <a:spcPts val="0"/>
              </a:spcAft>
            </a:pPr>
            <a:r>
              <a:rPr sz="2050" i="0">
                <a:solidFill>
                  <a:srgbClr val="E6E9EF"/>
                </a:solidFill>
                <a:latin typeface="Courier New"/>
              </a:rPr>
              <a:t>mevalar</a:t>
            </a:r>
            <a:r>
              <a:rPr sz="2050" i="0">
                <a:solidFill>
                  <a:srgbClr val="E6E9EF"/>
                </a:solidFill>
                <a:latin typeface="Courier New"/>
              </a:rPr>
              <a:t> </a:t>
            </a:r>
            <a:r>
              <a:rPr sz="2050" i="0">
                <a:solidFill>
                  <a:srgbClr val="89DDFF"/>
                </a:solidFill>
                <a:latin typeface="Courier New"/>
              </a:rPr>
              <a:t>=</a:t>
            </a:r>
            <a:r>
              <a:rPr sz="2050" i="0">
                <a:solidFill>
                  <a:srgbClr val="E6E9EF"/>
                </a:solidFill>
                <a:latin typeface="Courier New"/>
              </a:rPr>
              <a:t> </a:t>
            </a:r>
            <a:r>
              <a:rPr sz="2050" i="0">
                <a:solidFill>
                  <a:srgbClr val="C3CCDA"/>
                </a:solidFill>
                <a:latin typeface="Courier New"/>
              </a:rPr>
              <a:t>[</a:t>
            </a:r>
            <a:r>
              <a:rPr sz="2050" i="0">
                <a:solidFill>
                  <a:srgbClr val="A5E3A1"/>
                </a:solidFill>
                <a:latin typeface="Courier New"/>
              </a:rPr>
              <a:t>"</a:t>
            </a:r>
            <a:r>
              <a:rPr sz="2050" i="0">
                <a:solidFill>
                  <a:srgbClr val="A5E3A1"/>
                </a:solidFill>
                <a:latin typeface="Courier New"/>
              </a:rPr>
              <a:t>olma</a:t>
            </a:r>
            <a:r>
              <a:rPr sz="2050" i="0">
                <a:solidFill>
                  <a:srgbClr val="A5E3A1"/>
                </a:solidFill>
                <a:latin typeface="Courier New"/>
              </a:rPr>
              <a:t>"</a:t>
            </a:r>
            <a:r>
              <a:rPr sz="2050" i="0">
                <a:solidFill>
                  <a:srgbClr val="C3CCDA"/>
                </a:solidFill>
                <a:latin typeface="Courier New"/>
              </a:rPr>
              <a:t>,</a:t>
            </a:r>
            <a:r>
              <a:rPr sz="2050" i="0">
                <a:solidFill>
                  <a:srgbClr val="E6E9EF"/>
                </a:solidFill>
                <a:latin typeface="Courier New"/>
              </a:rPr>
              <a:t> </a:t>
            </a:r>
            <a:r>
              <a:rPr sz="2050" i="0">
                <a:solidFill>
                  <a:srgbClr val="A5E3A1"/>
                </a:solidFill>
                <a:latin typeface="Courier New"/>
              </a:rPr>
              <a:t>"</a:t>
            </a:r>
            <a:r>
              <a:rPr sz="2050" i="0">
                <a:solidFill>
                  <a:srgbClr val="A5E3A1"/>
                </a:solidFill>
                <a:latin typeface="Courier New"/>
              </a:rPr>
              <a:t>anor</a:t>
            </a:r>
            <a:r>
              <a:rPr sz="2050" i="0">
                <a:solidFill>
                  <a:srgbClr val="A5E3A1"/>
                </a:solidFill>
                <a:latin typeface="Courier New"/>
              </a:rPr>
              <a:t>"</a:t>
            </a:r>
            <a:r>
              <a:rPr sz="2050" i="0">
                <a:solidFill>
                  <a:srgbClr val="C3CCDA"/>
                </a:solidFill>
                <a:latin typeface="Courier New"/>
              </a:rPr>
              <a:t>,</a:t>
            </a:r>
            <a:r>
              <a:rPr sz="2050" i="0">
                <a:solidFill>
                  <a:srgbClr val="E6E9EF"/>
                </a:solidFill>
                <a:latin typeface="Courier New"/>
              </a:rPr>
              <a:t> </a:t>
            </a:r>
            <a:r>
              <a:rPr sz="2050" i="0">
                <a:solidFill>
                  <a:srgbClr val="A5E3A1"/>
                </a:solidFill>
                <a:latin typeface="Courier New"/>
              </a:rPr>
              <a:t>"</a:t>
            </a:r>
            <a:r>
              <a:rPr sz="2050" i="0">
                <a:solidFill>
                  <a:srgbClr val="A5E3A1"/>
                </a:solidFill>
                <a:latin typeface="Courier New"/>
              </a:rPr>
              <a:t>uzum</a:t>
            </a:r>
            <a:r>
              <a:rPr sz="2050" i="0">
                <a:solidFill>
                  <a:srgbClr val="A5E3A1"/>
                </a:solidFill>
                <a:latin typeface="Courier New"/>
              </a:rPr>
              <a:t>"</a:t>
            </a:r>
            <a:r>
              <a:rPr sz="2050" i="0">
                <a:solidFill>
                  <a:srgbClr val="C3CCDA"/>
                </a:solidFill>
                <a:latin typeface="Courier New"/>
              </a:rPr>
              <a:t>]</a:t>
            </a:r>
          </a:p>
          <a:p>
            <a:pPr>
              <a:lnSpc>
                <a:spcPts val="2501"/>
              </a:lnSpc>
              <a:spcBef>
                <a:spcPts val="0"/>
              </a:spcBef>
              <a:spcAft>
                <a:spcPts val="0"/>
              </a:spcAft>
            </a:pPr>
            <a:r>
              <a:rPr sz="2050" i="0">
                <a:solidFill>
                  <a:srgbClr val="FFCB6B"/>
                </a:solidFill>
                <a:latin typeface="Courier New"/>
              </a:rPr>
              <a:t>print</a:t>
            </a:r>
            <a:r>
              <a:rPr sz="2050" i="0">
                <a:solidFill>
                  <a:srgbClr val="C3CCDA"/>
                </a:solidFill>
                <a:latin typeface="Courier New"/>
              </a:rPr>
              <a:t>(</a:t>
            </a:r>
            <a:r>
              <a:rPr sz="2050" i="0">
                <a:solidFill>
                  <a:srgbClr val="E6E9EF"/>
                </a:solidFill>
                <a:latin typeface="Courier New"/>
              </a:rPr>
              <a:t>mevalar</a:t>
            </a:r>
            <a:r>
              <a:rPr sz="2050" i="0">
                <a:solidFill>
                  <a:srgbClr val="C3CCDA"/>
                </a:solidFill>
                <a:latin typeface="Courier New"/>
              </a:rPr>
              <a:t>[</a:t>
            </a:r>
            <a:r>
              <a:rPr sz="2050" i="0">
                <a:solidFill>
                  <a:srgbClr val="F78C6C"/>
                </a:solidFill>
                <a:latin typeface="Courier New"/>
              </a:rPr>
              <a:t>3</a:t>
            </a:r>
            <a:r>
              <a:rPr sz="2050" i="0">
                <a:solidFill>
                  <a:srgbClr val="C3CCDA"/>
                </a:solidFill>
                <a:latin typeface="Courier New"/>
              </a:rPr>
              <a:t>]</a:t>
            </a:r>
            <a:r>
              <a:rPr sz="2050" i="0">
                <a:solidFill>
                  <a:srgbClr val="C3CCDA"/>
                </a:solidFill>
                <a:latin typeface="Courier New"/>
              </a:rPr>
              <a:t>)</a:t>
            </a:r>
          </a:p>
        </p:txBody>
      </p:sp>
      <p:sp>
        <p:nvSpPr>
          <p:cNvPr id="7" name="TextBox 6"/>
          <p:cNvSpPr txBox="1"/>
          <p:nvPr/>
        </p:nvSpPr>
        <p:spPr>
          <a:xfrm>
            <a:off x="7334530" y="2148840"/>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A</a:t>
            </a:r>
          </a:p>
        </p:txBody>
      </p:sp>
      <p:sp>
        <p:nvSpPr>
          <p:cNvPr id="8" name="Choice A"/>
          <p:cNvSpPr txBox="1"/>
          <p:nvPr/>
        </p:nvSpPr>
        <p:spPr>
          <a:xfrm>
            <a:off x="7883170" y="2148840"/>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uzum</a:t>
            </a:r>
          </a:p>
        </p:txBody>
      </p:sp>
      <p:sp>
        <p:nvSpPr>
          <p:cNvPr id="9" name="TextBox 8"/>
          <p:cNvSpPr txBox="1"/>
          <p:nvPr/>
        </p:nvSpPr>
        <p:spPr>
          <a:xfrm>
            <a:off x="7334530" y="2715768"/>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B</a:t>
            </a:r>
          </a:p>
        </p:txBody>
      </p:sp>
      <p:sp>
        <p:nvSpPr>
          <p:cNvPr id="10" name="Choice B"/>
          <p:cNvSpPr txBox="1"/>
          <p:nvPr/>
        </p:nvSpPr>
        <p:spPr>
          <a:xfrm>
            <a:off x="7883170" y="2715768"/>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olma</a:t>
            </a:r>
          </a:p>
        </p:txBody>
      </p:sp>
      <p:sp>
        <p:nvSpPr>
          <p:cNvPr id="11" name="TextBox 10"/>
          <p:cNvSpPr txBox="1"/>
          <p:nvPr/>
        </p:nvSpPr>
        <p:spPr>
          <a:xfrm>
            <a:off x="7334530" y="3282696"/>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C</a:t>
            </a:r>
          </a:p>
        </p:txBody>
      </p:sp>
      <p:sp>
        <p:nvSpPr>
          <p:cNvPr id="12" name="Choice C"/>
          <p:cNvSpPr txBox="1"/>
          <p:nvPr/>
        </p:nvSpPr>
        <p:spPr>
          <a:xfrm>
            <a:off x="7883170" y="3282696"/>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IndexError</a:t>
            </a:r>
          </a:p>
        </p:txBody>
      </p:sp>
      <p:sp>
        <p:nvSpPr>
          <p:cNvPr id="13" name="TextBox 12"/>
          <p:cNvSpPr txBox="1"/>
          <p:nvPr/>
        </p:nvSpPr>
        <p:spPr>
          <a:xfrm>
            <a:off x="7334530" y="3849624"/>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D</a:t>
            </a:r>
          </a:p>
        </p:txBody>
      </p:sp>
      <p:sp>
        <p:nvSpPr>
          <p:cNvPr id="14" name="Choice D"/>
          <p:cNvSpPr txBox="1"/>
          <p:nvPr/>
        </p:nvSpPr>
        <p:spPr>
          <a:xfrm>
            <a:off x="7883170" y="3849624"/>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None</a:t>
            </a:r>
          </a:p>
        </p:txBody>
      </p:sp>
      <p:sp>
        <p:nvSpPr>
          <p:cNvPr id="15" name="Answer card"/>
          <p:cNvSpPr/>
          <p:nvPr/>
        </p:nvSpPr>
        <p:spPr>
          <a:xfrm>
            <a:off x="7334530" y="4507992"/>
            <a:ext cx="4217084" cy="1572768"/>
          </a:xfrm>
          <a:prstGeom prst="roundRect">
            <a:avLst>
              <a:gd name="adj" fmla="val 5000"/>
            </a:avLst>
          </a:prstGeom>
          <a:solidFill>
            <a:srgbClr val="EEF2F7"/>
          </a:solidFill>
          <a:ln>
            <a:noFill/>
          </a:ln>
        </p:spPr>
        <p:txBody>
          <a:bodyPr rtlCol="0" anchor="t" wrap="square" lIns="228600" rIns="228600" tIns="182880" bIns="182880">
            <a:noAutofit/>
          </a:bodyPr>
          <a:lstStyle/>
          <a:p>
            <a:pPr algn="l">
              <a:lnSpc>
                <a:spcPct val="115000"/>
              </a:lnSpc>
              <a:spcBef>
                <a:spcPts val="0"/>
              </a:spcBef>
              <a:spcAft>
                <a:spcPts val="800"/>
              </a:spcAft>
            </a:pPr>
            <a:r>
              <a:rPr sz="2100" b="1" i="0">
                <a:solidFill>
                  <a:srgbClr val="111111"/>
                </a:solidFill>
                <a:latin typeface="Arial"/>
              </a:rPr>
              <a:t>Javob:</a:t>
            </a:r>
            <a:r>
              <a:rPr sz="2100" b="0" i="0">
                <a:solidFill>
                  <a:srgbClr val="111111"/>
                </a:solidFill>
                <a:latin typeface="Arial"/>
              </a:rPr>
              <a:t> C — IndexError</a:t>
            </a:r>
          </a:p>
          <a:p>
            <a:pPr algn="l">
              <a:lnSpc>
                <a:spcPct val="115000"/>
              </a:lnSpc>
              <a:spcBef>
                <a:spcPts val="0"/>
              </a:spcBef>
              <a:spcAft>
                <a:spcPts val="800"/>
              </a:spcAft>
            </a:pPr>
            <a:r>
              <a:rPr sz="2100" b="0" i="0">
                <a:solidFill>
                  <a:srgbClr val="111111"/>
                </a:solidFill>
                <a:latin typeface="Arial"/>
              </a:rPr>
              <a:t>Indekslar 0, 1, 2. Indeks 3 yo'q.</a:t>
            </a:r>
          </a:p>
        </p:txBody>
      </p:sp>
      <p:sp>
        <p:nvSpPr>
          <p:cNvPr id="1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02</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Qo'shish va o'chirish</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QO'SHISH VA O'CHIRISH</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append element qo'shadi, ro'yxat oxiriga</a:t>
            </a:r>
          </a:p>
        </p:txBody>
      </p:sp>
      <p:sp>
        <p:nvSpPr>
          <p:cNvPr id="4" name="Code panel"/>
          <p:cNvSpPr/>
          <p:nvPr/>
        </p:nvSpPr>
        <p:spPr>
          <a:xfrm>
            <a:off x="640080" y="2148840"/>
            <a:ext cx="7619695" cy="1765808"/>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1363472"/>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p:txBody>
      </p:sp>
      <p:sp>
        <p:nvSpPr>
          <p:cNvPr id="6" name="Code"/>
          <p:cNvSpPr txBox="1"/>
          <p:nvPr/>
        </p:nvSpPr>
        <p:spPr>
          <a:xfrm>
            <a:off x="1399031" y="2350008"/>
            <a:ext cx="6604711" cy="1363472"/>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mehmonlar</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mehmonlar</a:t>
            </a:r>
            <a:r>
              <a:rPr sz="2200" i="0">
                <a:solidFill>
                  <a:srgbClr val="89DDFF"/>
                </a:solidFill>
                <a:latin typeface="Courier New"/>
              </a:rPr>
              <a:t>.</a:t>
            </a:r>
            <a:r>
              <a:rPr sz="2200" i="0">
                <a:solidFill>
                  <a:srgbClr val="E6E9EF"/>
                </a:solidFill>
                <a:latin typeface="Courier New"/>
              </a:rPr>
              <a:t>append</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Ali</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mehmonlar</a:t>
            </a:r>
            <a:r>
              <a:rPr sz="2200" i="0">
                <a:solidFill>
                  <a:srgbClr val="89DDFF"/>
                </a:solidFill>
                <a:latin typeface="Courier New"/>
              </a:rPr>
              <a:t>.</a:t>
            </a:r>
            <a:r>
              <a:rPr sz="2200" i="0">
                <a:solidFill>
                  <a:srgbClr val="E6E9EF"/>
                </a:solidFill>
                <a:latin typeface="Courier New"/>
              </a:rPr>
              <a:t>append</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Vali</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mehmonlar</a:t>
            </a:r>
            <a:r>
              <a:rPr sz="2200" i="0">
                <a:solidFill>
                  <a:srgbClr val="C3CCDA"/>
                </a:solidFill>
                <a:latin typeface="Courier New"/>
              </a:rPr>
              <a:t>)</a:t>
            </a:r>
          </a:p>
        </p:txBody>
      </p:sp>
      <p:sp>
        <p:nvSpPr>
          <p:cNvPr id="7" name="Output"/>
          <p:cNvSpPr/>
          <p:nvPr/>
        </p:nvSpPr>
        <p:spPr>
          <a:xfrm>
            <a:off x="8625535" y="2148840"/>
            <a:ext cx="2926080" cy="74295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800" i="0">
                <a:solidFill>
                  <a:srgbClr val="111111"/>
                </a:solidFill>
                <a:latin typeface="Courier New"/>
              </a:rPr>
              <a:t>['Ali', 'Vali']</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QO'SHISH VA O'CHIRISH</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insert elementni tanlangan o'ringa qo'yadi, qolganlar suriladi</a:t>
            </a:r>
          </a:p>
        </p:txBody>
      </p:sp>
      <p:sp>
        <p:nvSpPr>
          <p:cNvPr id="4" name="Code panel"/>
          <p:cNvSpPr/>
          <p:nvPr/>
        </p:nvSpPr>
        <p:spPr>
          <a:xfrm>
            <a:off x="640080" y="2148840"/>
            <a:ext cx="10911535" cy="2106676"/>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1704340"/>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p:txBody>
      </p:sp>
      <p:sp>
        <p:nvSpPr>
          <p:cNvPr id="6" name="Code"/>
          <p:cNvSpPr txBox="1"/>
          <p:nvPr/>
        </p:nvSpPr>
        <p:spPr>
          <a:xfrm>
            <a:off x="1399031" y="2350008"/>
            <a:ext cx="9896551" cy="1704340"/>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mehmonlar</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Ali</a:t>
            </a:r>
            <a:r>
              <a:rPr sz="2200" i="0">
                <a:solidFill>
                  <a:srgbClr val="A5E3A1"/>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Vali</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mehmonlar</a:t>
            </a:r>
            <a:r>
              <a:rPr sz="2200" i="0">
                <a:solidFill>
                  <a:srgbClr val="89DDFF"/>
                </a:solidFill>
                <a:latin typeface="Courier New"/>
              </a:rPr>
              <a:t>.</a:t>
            </a:r>
            <a:r>
              <a:rPr sz="2200" i="0">
                <a:solidFill>
                  <a:srgbClr val="E6E9EF"/>
                </a:solidFill>
                <a:latin typeface="Courier New"/>
              </a:rPr>
              <a:t>insert</a:t>
            </a:r>
            <a:r>
              <a:rPr sz="2200" i="0">
                <a:solidFill>
                  <a:srgbClr val="C3CCDA"/>
                </a:solidFill>
                <a:latin typeface="Courier New"/>
              </a:rPr>
              <a:t>(</a:t>
            </a:r>
            <a:r>
              <a:rPr sz="2200" i="0">
                <a:solidFill>
                  <a:srgbClr val="F78C6C"/>
                </a:solidFill>
                <a:latin typeface="Courier New"/>
              </a:rPr>
              <a:t>0</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Hasan</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mehmonlar</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mehmonlar</a:t>
            </a:r>
            <a:r>
              <a:rPr sz="2200" i="0">
                <a:solidFill>
                  <a:srgbClr val="89DDFF"/>
                </a:solidFill>
                <a:latin typeface="Courier New"/>
              </a:rPr>
              <a:t>.</a:t>
            </a:r>
            <a:r>
              <a:rPr sz="2200" i="0">
                <a:solidFill>
                  <a:srgbClr val="E6E9EF"/>
                </a:solidFill>
                <a:latin typeface="Courier New"/>
              </a:rPr>
              <a:t>insert</a:t>
            </a:r>
            <a:r>
              <a:rPr sz="2200" i="0">
                <a:solidFill>
                  <a:srgbClr val="C3CCDA"/>
                </a:solidFill>
                <a:latin typeface="Courier New"/>
              </a:rPr>
              <a:t>(</a:t>
            </a:r>
            <a:r>
              <a:rPr sz="2200" i="0">
                <a:solidFill>
                  <a:srgbClr val="F78C6C"/>
                </a:solidFill>
                <a:latin typeface="Courier New"/>
              </a:rPr>
              <a:t>2</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Olim</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mehmonlar</a:t>
            </a:r>
            <a:r>
              <a:rPr sz="2200" i="0">
                <a:solidFill>
                  <a:srgbClr val="C3CCDA"/>
                </a:solidFill>
                <a:latin typeface="Courier New"/>
              </a:rPr>
              <a:t>)</a:t>
            </a:r>
          </a:p>
        </p:txBody>
      </p:sp>
      <p:sp>
        <p:nvSpPr>
          <p:cNvPr id="7" name="Output"/>
          <p:cNvSpPr/>
          <p:nvPr/>
        </p:nvSpPr>
        <p:spPr>
          <a:xfrm>
            <a:off x="640080" y="4484116"/>
            <a:ext cx="10911535" cy="12192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2400" i="0">
                <a:solidFill>
                  <a:srgbClr val="111111"/>
                </a:solidFill>
                <a:latin typeface="Courier New"/>
              </a:rPr>
              <a:t>['Hasan', 'Ali', 'Vali']</a:t>
            </a:r>
          </a:p>
          <a:p>
            <a:pPr algn="l"/>
            <a:r>
              <a:rPr sz="2400" i="0">
                <a:solidFill>
                  <a:srgbClr val="111111"/>
                </a:solidFill>
                <a:latin typeface="Courier New"/>
              </a:rPr>
              <a:t>['Hasan', 'Ali', 'Olim', 'Vali']</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QO'SHISH VA O'CHIRISH</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pop va del indeks bo'yicha o'chiradi; pop qiymatni qaytaradi</a:t>
            </a:r>
          </a:p>
        </p:txBody>
      </p:sp>
      <p:sp>
        <p:nvSpPr>
          <p:cNvPr id="4" name="Code panel"/>
          <p:cNvSpPr/>
          <p:nvPr/>
        </p:nvSpPr>
        <p:spPr>
          <a:xfrm>
            <a:off x="640080" y="2148840"/>
            <a:ext cx="6400495" cy="1936241"/>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377189" cy="1533905"/>
          </a:xfrm>
          <a:prstGeom prst="rect">
            <a:avLst/>
          </a:prstGeom>
          <a:noFill/>
        </p:spPr>
        <p:txBody>
          <a:bodyPr wrap="none" lIns="0" rIns="0" tIns="0" bIns="0">
            <a:noAutofit/>
          </a:bodyPr>
          <a:lstStyle/>
          <a:p>
            <a:pPr>
              <a:lnSpc>
                <a:spcPts val="2013"/>
              </a:lnSpc>
              <a:spcBef>
                <a:spcPts val="0"/>
              </a:spcBef>
              <a:spcAft>
                <a:spcPts val="0"/>
              </a:spcAft>
            </a:pPr>
            <a:r>
              <a:rPr sz="1650" i="0">
                <a:solidFill>
                  <a:srgbClr val="8792A8"/>
                </a:solidFill>
                <a:latin typeface="Courier New"/>
              </a:rPr>
              <a:t>1</a:t>
            </a:r>
          </a:p>
          <a:p>
            <a:pPr>
              <a:lnSpc>
                <a:spcPts val="2013"/>
              </a:lnSpc>
              <a:spcBef>
                <a:spcPts val="0"/>
              </a:spcBef>
              <a:spcAft>
                <a:spcPts val="0"/>
              </a:spcAft>
            </a:pPr>
            <a:r>
              <a:rPr sz="1650" i="0">
                <a:solidFill>
                  <a:srgbClr val="8792A8"/>
                </a:solidFill>
                <a:latin typeface="Courier New"/>
              </a:rPr>
              <a:t>2</a:t>
            </a:r>
          </a:p>
          <a:p>
            <a:pPr>
              <a:lnSpc>
                <a:spcPts val="2013"/>
              </a:lnSpc>
              <a:spcBef>
                <a:spcPts val="0"/>
              </a:spcBef>
              <a:spcAft>
                <a:spcPts val="0"/>
              </a:spcAft>
            </a:pPr>
            <a:r>
              <a:rPr sz="1650" i="0">
                <a:solidFill>
                  <a:srgbClr val="8792A8"/>
                </a:solidFill>
                <a:latin typeface="Courier New"/>
              </a:rPr>
              <a:t>3</a:t>
            </a:r>
          </a:p>
          <a:p>
            <a:pPr>
              <a:lnSpc>
                <a:spcPts val="2013"/>
              </a:lnSpc>
              <a:spcBef>
                <a:spcPts val="0"/>
              </a:spcBef>
              <a:spcAft>
                <a:spcPts val="0"/>
              </a:spcAft>
            </a:pPr>
            <a:r>
              <a:rPr sz="1650" i="0">
                <a:solidFill>
                  <a:srgbClr val="8792A8"/>
                </a:solidFill>
                <a:latin typeface="Courier New"/>
              </a:rPr>
              <a:t>4</a:t>
            </a:r>
          </a:p>
          <a:p>
            <a:pPr>
              <a:lnSpc>
                <a:spcPts val="2013"/>
              </a:lnSpc>
              <a:spcBef>
                <a:spcPts val="0"/>
              </a:spcBef>
              <a:spcAft>
                <a:spcPts val="0"/>
              </a:spcAft>
            </a:pPr>
            <a:r>
              <a:rPr sz="1650" i="0">
                <a:solidFill>
                  <a:srgbClr val="8792A8"/>
                </a:solidFill>
                <a:latin typeface="Courier New"/>
              </a:rPr>
              <a:t>5</a:t>
            </a:r>
          </a:p>
          <a:p>
            <a:pPr>
              <a:lnSpc>
                <a:spcPts val="2013"/>
              </a:lnSpc>
              <a:spcBef>
                <a:spcPts val="0"/>
              </a:spcBef>
              <a:spcAft>
                <a:spcPts val="0"/>
              </a:spcAft>
            </a:pPr>
            <a:r>
              <a:rPr sz="1650" i="0">
                <a:solidFill>
                  <a:srgbClr val="8792A8"/>
                </a:solidFill>
                <a:latin typeface="Courier New"/>
              </a:rPr>
              <a:t>6</a:t>
            </a:r>
          </a:p>
        </p:txBody>
      </p:sp>
      <p:sp>
        <p:nvSpPr>
          <p:cNvPr id="6" name="Code"/>
          <p:cNvSpPr txBox="1"/>
          <p:nvPr/>
        </p:nvSpPr>
        <p:spPr>
          <a:xfrm>
            <a:off x="1273301" y="2350008"/>
            <a:ext cx="5511241" cy="1533905"/>
          </a:xfrm>
          <a:prstGeom prst="rect">
            <a:avLst/>
          </a:prstGeom>
          <a:noFill/>
        </p:spPr>
        <p:txBody>
          <a:bodyPr wrap="none" lIns="0" rIns="0" tIns="0" bIns="0">
            <a:noAutofit/>
          </a:bodyPr>
          <a:lstStyle/>
          <a:p>
            <a:pPr>
              <a:lnSpc>
                <a:spcPts val="2013"/>
              </a:lnSpc>
              <a:spcBef>
                <a:spcPts val="0"/>
              </a:spcBef>
              <a:spcAft>
                <a:spcPts val="0"/>
              </a:spcAft>
            </a:pPr>
            <a:r>
              <a:rPr sz="1650" i="0">
                <a:solidFill>
                  <a:srgbClr val="E6E9EF"/>
                </a:solidFill>
                <a:latin typeface="Courier New"/>
              </a:rPr>
              <a:t>bozorlik</a:t>
            </a:r>
            <a:r>
              <a:rPr sz="1650" i="0">
                <a:solidFill>
                  <a:srgbClr val="E6E9EF"/>
                </a:solidFill>
                <a:latin typeface="Courier New"/>
              </a:rPr>
              <a:t> </a:t>
            </a:r>
            <a:r>
              <a:rPr sz="1650" i="0">
                <a:solidFill>
                  <a:srgbClr val="89DDFF"/>
                </a:solidFill>
                <a:latin typeface="Courier New"/>
              </a:rPr>
              <a:t>=</a:t>
            </a:r>
            <a:r>
              <a:rPr sz="1650" i="0">
                <a:solidFill>
                  <a:srgbClr val="E6E9EF"/>
                </a:solidFill>
                <a:latin typeface="Courier New"/>
              </a:rPr>
              <a:t> </a:t>
            </a:r>
            <a:r>
              <a:rPr sz="1650" i="0">
                <a:solidFill>
                  <a:srgbClr val="C3CCDA"/>
                </a:solidFill>
                <a:latin typeface="Courier New"/>
              </a:rPr>
              <a:t>[</a:t>
            </a:r>
            <a:r>
              <a:rPr sz="1650" i="0">
                <a:solidFill>
                  <a:srgbClr val="A5E3A1"/>
                </a:solidFill>
                <a:latin typeface="Courier New"/>
              </a:rPr>
              <a:t>"</a:t>
            </a:r>
            <a:r>
              <a:rPr sz="1650" i="0">
                <a:solidFill>
                  <a:srgbClr val="A5E3A1"/>
                </a:solidFill>
                <a:latin typeface="Courier New"/>
              </a:rPr>
              <a:t>yog</a:t>
            </a:r>
            <a:r>
              <a:rPr sz="1650" i="0">
                <a:solidFill>
                  <a:srgbClr val="A5E3A1"/>
                </a:solidFill>
                <a:latin typeface="Courier New"/>
              </a:rPr>
              <a:t>'</a:t>
            </a:r>
            <a:r>
              <a:rPr sz="1650" i="0">
                <a:solidFill>
                  <a:srgbClr val="A5E3A1"/>
                </a:solidFill>
                <a:latin typeface="Courier New"/>
              </a:rPr>
              <a:t>"</a:t>
            </a:r>
            <a:r>
              <a:rPr sz="1650" i="0">
                <a:solidFill>
                  <a:srgbClr val="C3CCDA"/>
                </a:solidFill>
                <a:latin typeface="Courier New"/>
              </a:rPr>
              <a:t>,</a:t>
            </a:r>
            <a:r>
              <a:rPr sz="1650" i="0">
                <a:solidFill>
                  <a:srgbClr val="E6E9EF"/>
                </a:solidFill>
                <a:latin typeface="Courier New"/>
              </a:rPr>
              <a:t> </a:t>
            </a:r>
            <a:r>
              <a:rPr sz="1650" i="0">
                <a:solidFill>
                  <a:srgbClr val="A5E3A1"/>
                </a:solidFill>
                <a:latin typeface="Courier New"/>
              </a:rPr>
              <a:t>"</a:t>
            </a:r>
            <a:r>
              <a:rPr sz="1650" i="0">
                <a:solidFill>
                  <a:srgbClr val="A5E3A1"/>
                </a:solidFill>
                <a:latin typeface="Courier New"/>
              </a:rPr>
              <a:t>un</a:t>
            </a:r>
            <a:r>
              <a:rPr sz="1650" i="0">
                <a:solidFill>
                  <a:srgbClr val="A5E3A1"/>
                </a:solidFill>
                <a:latin typeface="Courier New"/>
              </a:rPr>
              <a:t>"</a:t>
            </a:r>
            <a:r>
              <a:rPr sz="1650" i="0">
                <a:solidFill>
                  <a:srgbClr val="C3CCDA"/>
                </a:solidFill>
                <a:latin typeface="Courier New"/>
              </a:rPr>
              <a:t>,</a:t>
            </a:r>
            <a:r>
              <a:rPr sz="1650" i="0">
                <a:solidFill>
                  <a:srgbClr val="E6E9EF"/>
                </a:solidFill>
                <a:latin typeface="Courier New"/>
              </a:rPr>
              <a:t> </a:t>
            </a:r>
            <a:r>
              <a:rPr sz="1650" i="0">
                <a:solidFill>
                  <a:srgbClr val="A5E3A1"/>
                </a:solidFill>
                <a:latin typeface="Courier New"/>
              </a:rPr>
              <a:t>"</a:t>
            </a:r>
            <a:r>
              <a:rPr sz="1650" i="0">
                <a:solidFill>
                  <a:srgbClr val="A5E3A1"/>
                </a:solidFill>
                <a:latin typeface="Courier New"/>
              </a:rPr>
              <a:t>piyoz</a:t>
            </a:r>
            <a:r>
              <a:rPr sz="1650" i="0">
                <a:solidFill>
                  <a:srgbClr val="A5E3A1"/>
                </a:solidFill>
                <a:latin typeface="Courier New"/>
              </a:rPr>
              <a:t>"</a:t>
            </a:r>
            <a:r>
              <a:rPr sz="1650" i="0">
                <a:solidFill>
                  <a:srgbClr val="C3CCDA"/>
                </a:solidFill>
                <a:latin typeface="Courier New"/>
              </a:rPr>
              <a:t>,</a:t>
            </a:r>
            <a:r>
              <a:rPr sz="1650" i="0">
                <a:solidFill>
                  <a:srgbClr val="E6E9EF"/>
                </a:solidFill>
                <a:latin typeface="Courier New"/>
              </a:rPr>
              <a:t> </a:t>
            </a:r>
            <a:r>
              <a:rPr sz="1650" i="0">
                <a:solidFill>
                  <a:srgbClr val="A5E3A1"/>
                </a:solidFill>
                <a:latin typeface="Courier New"/>
              </a:rPr>
              <a:t>"</a:t>
            </a:r>
            <a:r>
              <a:rPr sz="1650" i="0">
                <a:solidFill>
                  <a:srgbClr val="A5E3A1"/>
                </a:solidFill>
                <a:latin typeface="Courier New"/>
              </a:rPr>
              <a:t>banan</a:t>
            </a:r>
            <a:r>
              <a:rPr sz="1650" i="0">
                <a:solidFill>
                  <a:srgbClr val="A5E3A1"/>
                </a:solidFill>
                <a:latin typeface="Courier New"/>
              </a:rPr>
              <a:t>"</a:t>
            </a:r>
            <a:r>
              <a:rPr sz="1650" i="0">
                <a:solidFill>
                  <a:srgbClr val="C3CCDA"/>
                </a:solidFill>
                <a:latin typeface="Courier New"/>
              </a:rPr>
              <a:t>]</a:t>
            </a:r>
          </a:p>
          <a:p>
            <a:pPr>
              <a:lnSpc>
                <a:spcPts val="2013"/>
              </a:lnSpc>
              <a:spcBef>
                <a:spcPts val="0"/>
              </a:spcBef>
              <a:spcAft>
                <a:spcPts val="0"/>
              </a:spcAft>
            </a:pPr>
            <a:r>
              <a:rPr sz="1650" i="0">
                <a:solidFill>
                  <a:srgbClr val="E6E9EF"/>
                </a:solidFill>
                <a:latin typeface="Courier New"/>
              </a:rPr>
              <a:t>mahsulot</a:t>
            </a:r>
            <a:r>
              <a:rPr sz="1650" i="0">
                <a:solidFill>
                  <a:srgbClr val="E6E9EF"/>
                </a:solidFill>
                <a:latin typeface="Courier New"/>
              </a:rPr>
              <a:t> </a:t>
            </a:r>
            <a:r>
              <a:rPr sz="1650" i="0">
                <a:solidFill>
                  <a:srgbClr val="89DDFF"/>
                </a:solidFill>
                <a:latin typeface="Courier New"/>
              </a:rPr>
              <a:t>=</a:t>
            </a:r>
            <a:r>
              <a:rPr sz="1650" i="0">
                <a:solidFill>
                  <a:srgbClr val="E6E9EF"/>
                </a:solidFill>
                <a:latin typeface="Courier New"/>
              </a:rPr>
              <a:t> </a:t>
            </a:r>
            <a:r>
              <a:rPr sz="1650" i="0">
                <a:solidFill>
                  <a:srgbClr val="E6E9EF"/>
                </a:solidFill>
                <a:latin typeface="Courier New"/>
              </a:rPr>
              <a:t>bozorlik</a:t>
            </a:r>
            <a:r>
              <a:rPr sz="1650" i="0">
                <a:solidFill>
                  <a:srgbClr val="89DDFF"/>
                </a:solidFill>
                <a:latin typeface="Courier New"/>
              </a:rPr>
              <a:t>.</a:t>
            </a:r>
            <a:r>
              <a:rPr sz="1650" i="0">
                <a:solidFill>
                  <a:srgbClr val="E6E9EF"/>
                </a:solidFill>
                <a:latin typeface="Courier New"/>
              </a:rPr>
              <a:t>pop</a:t>
            </a:r>
            <a:r>
              <a:rPr sz="1650" i="0">
                <a:solidFill>
                  <a:srgbClr val="C3CCDA"/>
                </a:solidFill>
                <a:latin typeface="Courier New"/>
              </a:rPr>
              <a:t>(</a:t>
            </a:r>
            <a:r>
              <a:rPr sz="1650" i="0">
                <a:solidFill>
                  <a:srgbClr val="F78C6C"/>
                </a:solidFill>
                <a:latin typeface="Courier New"/>
              </a:rPr>
              <a:t>3</a:t>
            </a:r>
            <a:r>
              <a:rPr sz="1650" i="0">
                <a:solidFill>
                  <a:srgbClr val="C3CCDA"/>
                </a:solidFill>
                <a:latin typeface="Courier New"/>
              </a:rPr>
              <a:t>)</a:t>
            </a:r>
          </a:p>
          <a:p>
            <a:pPr>
              <a:lnSpc>
                <a:spcPts val="2013"/>
              </a:lnSpc>
              <a:spcBef>
                <a:spcPts val="0"/>
              </a:spcBef>
              <a:spcAft>
                <a:spcPts val="0"/>
              </a:spcAft>
            </a:pPr>
            <a:r>
              <a:rPr sz="1650" i="0">
                <a:solidFill>
                  <a:srgbClr val="FFCB6B"/>
                </a:solidFill>
                <a:latin typeface="Courier New"/>
              </a:rPr>
              <a:t>print</a:t>
            </a:r>
            <a:r>
              <a:rPr sz="1650" i="0">
                <a:solidFill>
                  <a:srgbClr val="C3CCDA"/>
                </a:solidFill>
                <a:latin typeface="Courier New"/>
              </a:rPr>
              <a:t>(</a:t>
            </a:r>
            <a:r>
              <a:rPr sz="1650" i="0">
                <a:solidFill>
                  <a:srgbClr val="E6E9EF"/>
                </a:solidFill>
                <a:latin typeface="Courier New"/>
              </a:rPr>
              <a:t>mahsulot</a:t>
            </a:r>
            <a:r>
              <a:rPr sz="1650" i="0">
                <a:solidFill>
                  <a:srgbClr val="C3CCDA"/>
                </a:solidFill>
                <a:latin typeface="Courier New"/>
              </a:rPr>
              <a:t>)</a:t>
            </a:r>
          </a:p>
          <a:p>
            <a:pPr>
              <a:lnSpc>
                <a:spcPts val="2013"/>
              </a:lnSpc>
              <a:spcBef>
                <a:spcPts val="0"/>
              </a:spcBef>
              <a:spcAft>
                <a:spcPts val="0"/>
              </a:spcAft>
            </a:pPr>
            <a:r>
              <a:rPr sz="1650" i="0">
                <a:solidFill>
                  <a:srgbClr val="FFCB6B"/>
                </a:solidFill>
                <a:latin typeface="Courier New"/>
              </a:rPr>
              <a:t>print</a:t>
            </a:r>
            <a:r>
              <a:rPr sz="1650" i="0">
                <a:solidFill>
                  <a:srgbClr val="C3CCDA"/>
                </a:solidFill>
                <a:latin typeface="Courier New"/>
              </a:rPr>
              <a:t>(</a:t>
            </a:r>
            <a:r>
              <a:rPr sz="1650" i="0">
                <a:solidFill>
                  <a:srgbClr val="E6E9EF"/>
                </a:solidFill>
                <a:latin typeface="Courier New"/>
              </a:rPr>
              <a:t>bozorlik</a:t>
            </a:r>
            <a:r>
              <a:rPr sz="1650" i="0">
                <a:solidFill>
                  <a:srgbClr val="C3CCDA"/>
                </a:solidFill>
                <a:latin typeface="Courier New"/>
              </a:rPr>
              <a:t>)</a:t>
            </a:r>
          </a:p>
          <a:p>
            <a:pPr>
              <a:lnSpc>
                <a:spcPts val="2013"/>
              </a:lnSpc>
              <a:spcBef>
                <a:spcPts val="0"/>
              </a:spcBef>
              <a:spcAft>
                <a:spcPts val="0"/>
              </a:spcAft>
            </a:pPr>
            <a:r>
              <a:rPr sz="1650" i="0">
                <a:solidFill>
                  <a:srgbClr val="C792EA"/>
                </a:solidFill>
                <a:latin typeface="Courier New"/>
              </a:rPr>
              <a:t>del</a:t>
            </a:r>
            <a:r>
              <a:rPr sz="1650" i="0">
                <a:solidFill>
                  <a:srgbClr val="E6E9EF"/>
                </a:solidFill>
                <a:latin typeface="Courier New"/>
              </a:rPr>
              <a:t> </a:t>
            </a:r>
            <a:r>
              <a:rPr sz="1650" i="0">
                <a:solidFill>
                  <a:srgbClr val="E6E9EF"/>
                </a:solidFill>
                <a:latin typeface="Courier New"/>
              </a:rPr>
              <a:t>bozorlik</a:t>
            </a:r>
            <a:r>
              <a:rPr sz="1650" i="0">
                <a:solidFill>
                  <a:srgbClr val="C3CCDA"/>
                </a:solidFill>
                <a:latin typeface="Courier New"/>
              </a:rPr>
              <a:t>[</a:t>
            </a:r>
            <a:r>
              <a:rPr sz="1650" i="0">
                <a:solidFill>
                  <a:srgbClr val="F78C6C"/>
                </a:solidFill>
                <a:latin typeface="Courier New"/>
              </a:rPr>
              <a:t>0</a:t>
            </a:r>
            <a:r>
              <a:rPr sz="1650" i="0">
                <a:solidFill>
                  <a:srgbClr val="C3CCDA"/>
                </a:solidFill>
                <a:latin typeface="Courier New"/>
              </a:rPr>
              <a:t>]</a:t>
            </a:r>
          </a:p>
          <a:p>
            <a:pPr>
              <a:lnSpc>
                <a:spcPts val="2013"/>
              </a:lnSpc>
              <a:spcBef>
                <a:spcPts val="0"/>
              </a:spcBef>
              <a:spcAft>
                <a:spcPts val="0"/>
              </a:spcAft>
            </a:pPr>
            <a:r>
              <a:rPr sz="1650" i="0">
                <a:solidFill>
                  <a:srgbClr val="FFCB6B"/>
                </a:solidFill>
                <a:latin typeface="Courier New"/>
              </a:rPr>
              <a:t>print</a:t>
            </a:r>
            <a:r>
              <a:rPr sz="1650" i="0">
                <a:solidFill>
                  <a:srgbClr val="C3CCDA"/>
                </a:solidFill>
                <a:latin typeface="Courier New"/>
              </a:rPr>
              <a:t>(</a:t>
            </a:r>
            <a:r>
              <a:rPr sz="1650" i="0">
                <a:solidFill>
                  <a:srgbClr val="E6E9EF"/>
                </a:solidFill>
                <a:latin typeface="Courier New"/>
              </a:rPr>
              <a:t>bozorlik</a:t>
            </a:r>
            <a:r>
              <a:rPr sz="1650" i="0">
                <a:solidFill>
                  <a:srgbClr val="C3CCDA"/>
                </a:solidFill>
                <a:latin typeface="Courier New"/>
              </a:rPr>
              <a:t>)</a:t>
            </a:r>
          </a:p>
        </p:txBody>
      </p:sp>
      <p:sp>
        <p:nvSpPr>
          <p:cNvPr id="7" name="Output"/>
          <p:cNvSpPr/>
          <p:nvPr/>
        </p:nvSpPr>
        <p:spPr>
          <a:xfrm>
            <a:off x="7406335" y="2148840"/>
            <a:ext cx="4145280" cy="1362075"/>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900" i="0">
                <a:solidFill>
                  <a:srgbClr val="111111"/>
                </a:solidFill>
                <a:latin typeface="Courier New"/>
              </a:rPr>
              <a:t>banan</a:t>
            </a:r>
          </a:p>
          <a:p>
            <a:pPr algn="l"/>
            <a:r>
              <a:rPr sz="1900" i="0">
                <a:solidFill>
                  <a:srgbClr val="111111"/>
                </a:solidFill>
                <a:latin typeface="Courier New"/>
              </a:rPr>
              <a:t>["yog'", 'un', 'piyoz']</a:t>
            </a:r>
          </a:p>
          <a:p>
            <a:pPr algn="l"/>
            <a:r>
              <a:rPr sz="1900" i="0">
                <a:solidFill>
                  <a:srgbClr val="111111"/>
                </a:solidFill>
                <a:latin typeface="Courier New"/>
              </a:rPr>
              <a:t>['un', 'piyoz']</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QO'SHISH VA O'CHIRISH</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remove qiymat bo'yicha o'chiradi, faqat birinchisini</a:t>
            </a:r>
          </a:p>
        </p:txBody>
      </p:sp>
      <p:sp>
        <p:nvSpPr>
          <p:cNvPr id="4" name="Code panel"/>
          <p:cNvSpPr/>
          <p:nvPr/>
        </p:nvSpPr>
        <p:spPr>
          <a:xfrm>
            <a:off x="640080" y="2148840"/>
            <a:ext cx="7467295" cy="1424939"/>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1022603"/>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p:txBody>
      </p:sp>
      <p:sp>
        <p:nvSpPr>
          <p:cNvPr id="6" name="Code"/>
          <p:cNvSpPr txBox="1"/>
          <p:nvPr/>
        </p:nvSpPr>
        <p:spPr>
          <a:xfrm>
            <a:off x="1399031" y="2350008"/>
            <a:ext cx="6452311" cy="1022603"/>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hayvonlar</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it</a:t>
            </a:r>
            <a:r>
              <a:rPr sz="2200" i="0">
                <a:solidFill>
                  <a:srgbClr val="A5E3A1"/>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mushuk</a:t>
            </a:r>
            <a:r>
              <a:rPr sz="2200" i="0">
                <a:solidFill>
                  <a:srgbClr val="A5E3A1"/>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mushuk</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hayvonlar</a:t>
            </a:r>
            <a:r>
              <a:rPr sz="2200" i="0">
                <a:solidFill>
                  <a:srgbClr val="89DDFF"/>
                </a:solidFill>
                <a:latin typeface="Courier New"/>
              </a:rPr>
              <a:t>.</a:t>
            </a:r>
            <a:r>
              <a:rPr sz="2200" i="0">
                <a:solidFill>
                  <a:srgbClr val="E6E9EF"/>
                </a:solidFill>
                <a:latin typeface="Courier New"/>
              </a:rPr>
              <a:t>remove</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mushuk</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hayvonlar</a:t>
            </a:r>
            <a:r>
              <a:rPr sz="2200" i="0">
                <a:solidFill>
                  <a:srgbClr val="C3CCDA"/>
                </a:solidFill>
                <a:latin typeface="Courier New"/>
              </a:rPr>
              <a:t>)</a:t>
            </a:r>
          </a:p>
        </p:txBody>
      </p:sp>
      <p:sp>
        <p:nvSpPr>
          <p:cNvPr id="7" name="Output"/>
          <p:cNvSpPr/>
          <p:nvPr/>
        </p:nvSpPr>
        <p:spPr>
          <a:xfrm>
            <a:off x="8473135" y="2148840"/>
            <a:ext cx="3078479" cy="74295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800" i="0">
                <a:solidFill>
                  <a:srgbClr val="111111"/>
                </a:solidFill>
                <a:latin typeface="Courier New"/>
              </a:rPr>
              <a:t>['it', 'mushuk']</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QO'SHISH VA O'CHIRISH</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Ro'yxatda yo'q elementni o'chirishdan oldin in bilan tekshiring</a:t>
            </a:r>
          </a:p>
        </p:txBody>
      </p:sp>
      <p:sp>
        <p:nvSpPr>
          <p:cNvPr id="4" name="Code panel"/>
          <p:cNvSpPr/>
          <p:nvPr/>
        </p:nvSpPr>
        <p:spPr>
          <a:xfrm>
            <a:off x="640080" y="2148840"/>
            <a:ext cx="10911535" cy="2447543"/>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2045207"/>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a:p>
            <a:pPr>
              <a:lnSpc>
                <a:spcPts val="2684"/>
              </a:lnSpc>
              <a:spcBef>
                <a:spcPts val="0"/>
              </a:spcBef>
              <a:spcAft>
                <a:spcPts val="0"/>
              </a:spcAft>
            </a:pPr>
            <a:r>
              <a:rPr sz="2200" i="0">
                <a:solidFill>
                  <a:srgbClr val="8792A8"/>
                </a:solidFill>
                <a:latin typeface="Courier New"/>
              </a:rPr>
              <a:t>6</a:t>
            </a:r>
          </a:p>
        </p:txBody>
      </p:sp>
      <p:sp>
        <p:nvSpPr>
          <p:cNvPr id="6" name="Code"/>
          <p:cNvSpPr txBox="1"/>
          <p:nvPr/>
        </p:nvSpPr>
        <p:spPr>
          <a:xfrm>
            <a:off x="1399031" y="2350008"/>
            <a:ext cx="9896551" cy="2045207"/>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hayvonlar</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it</a:t>
            </a:r>
            <a:r>
              <a:rPr sz="2200" i="0">
                <a:solidFill>
                  <a:srgbClr val="A5E3A1"/>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sigir</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C792EA"/>
                </a:solidFill>
                <a:latin typeface="Courier New"/>
              </a:rPr>
              <a:t>if</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mushuk</a:t>
            </a:r>
            <a:r>
              <a:rPr sz="2200" i="0">
                <a:solidFill>
                  <a:srgbClr val="A5E3A1"/>
                </a:solidFill>
                <a:latin typeface="Courier New"/>
              </a:rPr>
              <a:t>"</a:t>
            </a:r>
            <a:r>
              <a:rPr sz="2200" i="0">
                <a:solidFill>
                  <a:srgbClr val="E6E9EF"/>
                </a:solidFill>
                <a:latin typeface="Courier New"/>
              </a:rPr>
              <a:t> </a:t>
            </a:r>
            <a:r>
              <a:rPr sz="2200" i="0">
                <a:solidFill>
                  <a:srgbClr val="C792EA"/>
                </a:solidFill>
                <a:latin typeface="Courier New"/>
              </a:rPr>
              <a:t>in</a:t>
            </a:r>
            <a:r>
              <a:rPr sz="2200" i="0">
                <a:solidFill>
                  <a:srgbClr val="E6E9EF"/>
                </a:solidFill>
                <a:latin typeface="Courier New"/>
              </a:rPr>
              <a:t> </a:t>
            </a:r>
            <a:r>
              <a:rPr sz="2200" i="0">
                <a:solidFill>
                  <a:srgbClr val="E6E9EF"/>
                </a:solidFill>
                <a:latin typeface="Courier New"/>
              </a:rPr>
              <a:t>hayvonlar</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r>
              <a:rPr sz="2200" i="0">
                <a:solidFill>
                  <a:srgbClr val="E6E9EF"/>
                </a:solidFill>
                <a:latin typeface="Courier New"/>
              </a:rPr>
              <a:t>hayvonlar</a:t>
            </a:r>
            <a:r>
              <a:rPr sz="2200" i="0">
                <a:solidFill>
                  <a:srgbClr val="89DDFF"/>
                </a:solidFill>
                <a:latin typeface="Courier New"/>
              </a:rPr>
              <a:t>.</a:t>
            </a:r>
            <a:r>
              <a:rPr sz="2200" i="0">
                <a:solidFill>
                  <a:srgbClr val="E6E9EF"/>
                </a:solidFill>
                <a:latin typeface="Courier New"/>
              </a:rPr>
              <a:t>remove</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mushuk</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C792EA"/>
                </a:solidFill>
                <a:latin typeface="Courier New"/>
              </a:rPr>
              <a:t>else</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r>
              <a:rPr sz="2200" i="0">
                <a:solidFill>
                  <a:srgbClr val="FFCB6B"/>
                </a:solidFill>
                <a:latin typeface="Courier New"/>
              </a:rPr>
              <a:t>print</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Mushuk ro</a:t>
            </a:r>
            <a:r>
              <a:rPr sz="2200" i="0">
                <a:solidFill>
                  <a:srgbClr val="A5E3A1"/>
                </a:solidFill>
                <a:latin typeface="Courier New"/>
              </a:rPr>
              <a:t>'</a:t>
            </a:r>
            <a:r>
              <a:rPr sz="2200" i="0">
                <a:solidFill>
                  <a:srgbClr val="A5E3A1"/>
                </a:solidFill>
                <a:latin typeface="Courier New"/>
              </a:rPr>
              <a:t>yxatda yo</a:t>
            </a:r>
            <a:r>
              <a:rPr sz="2200" i="0">
                <a:solidFill>
                  <a:srgbClr val="A5E3A1"/>
                </a:solidFill>
                <a:latin typeface="Courier New"/>
              </a:rPr>
              <a:t>'</a:t>
            </a:r>
            <a:r>
              <a:rPr sz="2200" i="0">
                <a:solidFill>
                  <a:srgbClr val="A5E3A1"/>
                </a:solidFill>
                <a:latin typeface="Courier New"/>
              </a:rPr>
              <a:t>q</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hayvonlar</a:t>
            </a:r>
            <a:r>
              <a:rPr sz="2200" i="0">
                <a:solidFill>
                  <a:srgbClr val="89DDFF"/>
                </a:solidFill>
                <a:latin typeface="Courier New"/>
              </a:rPr>
              <a:t>.</a:t>
            </a:r>
            <a:r>
              <a:rPr sz="2200" i="0">
                <a:solidFill>
                  <a:srgbClr val="E6E9EF"/>
                </a:solidFill>
                <a:latin typeface="Courier New"/>
              </a:rPr>
              <a:t>remove</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mushuk</a:t>
            </a:r>
            <a:r>
              <a:rPr sz="2200" i="0">
                <a:solidFill>
                  <a:srgbClr val="A5E3A1"/>
                </a:solidFill>
                <a:latin typeface="Courier New"/>
              </a:rPr>
              <a:t>"</a:t>
            </a:r>
            <a:r>
              <a:rPr sz="2200" i="0">
                <a:solidFill>
                  <a:srgbClr val="C3CCDA"/>
                </a:solidFill>
                <a:latin typeface="Courier New"/>
              </a:rPr>
              <a:t>)</a:t>
            </a:r>
          </a:p>
        </p:txBody>
      </p:sp>
      <p:sp>
        <p:nvSpPr>
          <p:cNvPr id="7" name="Output"/>
          <p:cNvSpPr/>
          <p:nvPr/>
        </p:nvSpPr>
        <p:spPr>
          <a:xfrm>
            <a:off x="640080" y="4824984"/>
            <a:ext cx="10911535" cy="12192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2400" i="0">
                <a:solidFill>
                  <a:srgbClr val="111111"/>
                </a:solidFill>
                <a:latin typeface="Courier New"/>
              </a:rPr>
              <a:t>Mushuk ro'yxatda yo'q</a:t>
            </a:r>
          </a:p>
          <a:p>
            <a:pPr algn="l"/>
            <a:r>
              <a:rPr sz="2400" i="0">
                <a:solidFill>
                  <a:srgbClr val="111111"/>
                </a:solidFill>
                <a:latin typeface="Courier New"/>
              </a:rPr>
              <a:t>ValueError: list.remove(x): x not in list</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O'YLAB KO'RING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000" b="1" i="0">
                <a:solidFill>
                  <a:srgbClr val="0052CC"/>
                </a:solidFill>
                <a:latin typeface="Courier New"/>
              </a:rPr>
              <a:t>bozorlik</a:t>
            </a:r>
            <a:r>
              <a:rPr sz="3000" b="1" i="0">
                <a:solidFill>
                  <a:srgbClr val="111111"/>
                </a:solidFill>
                <a:latin typeface="Arial"/>
              </a:rPr>
              <a:t> ro'yxatidan "banan" ni o'chirmoqchisiz, lekin uning o'rnini bilmaysiz. Qaysi yozuv to'g'ri?</a:t>
            </a:r>
          </a:p>
        </p:txBody>
      </p:sp>
      <p:sp>
        <p:nvSpPr>
          <p:cNvPr id="4" name="Choice A"/>
          <p:cNvSpPr/>
          <p:nvPr/>
        </p:nvSpPr>
        <p:spPr>
          <a:xfrm>
            <a:off x="640080" y="2148840"/>
            <a:ext cx="5318607" cy="1188720"/>
          </a:xfrm>
          <a:prstGeom prst="roundRect">
            <a:avLst>
              <a:gd name="adj" fmla="val 8000"/>
            </a:avLst>
          </a:prstGeom>
          <a:solidFill>
            <a:srgbClr val="EEF2F7"/>
          </a:solidFill>
          <a:ln>
            <a:noFill/>
          </a:ln>
        </p:spPr>
        <p:txBody>
          <a:bodyPr rtlCol="0" anchor="ctr"/>
          <a:lstStyle/>
          <a:p>
            <a:pPr algn="ctr"/>
          </a:p>
        </p:txBody>
      </p:sp>
      <p:sp>
        <p:nvSpPr>
          <p:cNvPr id="5" name="TextBox 4"/>
          <p:cNvSpPr txBox="1"/>
          <p:nvPr/>
        </p:nvSpPr>
        <p:spPr>
          <a:xfrm>
            <a:off x="868680"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A</a:t>
            </a:r>
          </a:p>
        </p:txBody>
      </p:sp>
      <p:sp>
        <p:nvSpPr>
          <p:cNvPr id="6" name="TextBox 5"/>
          <p:cNvSpPr txBox="1"/>
          <p:nvPr/>
        </p:nvSpPr>
        <p:spPr>
          <a:xfrm>
            <a:off x="1508760"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bozorlik.append("banan")</a:t>
            </a:r>
          </a:p>
        </p:txBody>
      </p:sp>
      <p:sp>
        <p:nvSpPr>
          <p:cNvPr id="7" name="Choice B"/>
          <p:cNvSpPr/>
          <p:nvPr/>
        </p:nvSpPr>
        <p:spPr>
          <a:xfrm>
            <a:off x="6233007" y="2148840"/>
            <a:ext cx="5318607" cy="1188720"/>
          </a:xfrm>
          <a:prstGeom prst="roundRect">
            <a:avLst>
              <a:gd name="adj" fmla="val 8000"/>
            </a:avLst>
          </a:prstGeom>
          <a:solidFill>
            <a:srgbClr val="EEF2F7"/>
          </a:solidFill>
          <a:ln>
            <a:noFill/>
          </a:ln>
        </p:spPr>
        <p:txBody>
          <a:bodyPr rtlCol="0" anchor="ctr"/>
          <a:lstStyle/>
          <a:p>
            <a:pPr algn="ctr"/>
          </a:p>
        </p:txBody>
      </p:sp>
      <p:sp>
        <p:nvSpPr>
          <p:cNvPr id="8" name="TextBox 7"/>
          <p:cNvSpPr txBox="1"/>
          <p:nvPr/>
        </p:nvSpPr>
        <p:spPr>
          <a:xfrm>
            <a:off x="6461607"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B</a:t>
            </a:r>
          </a:p>
        </p:txBody>
      </p:sp>
      <p:sp>
        <p:nvSpPr>
          <p:cNvPr id="9" name="TextBox 8"/>
          <p:cNvSpPr txBox="1"/>
          <p:nvPr/>
        </p:nvSpPr>
        <p:spPr>
          <a:xfrm>
            <a:off x="7101687"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bozorlik.remove("banan")</a:t>
            </a:r>
          </a:p>
        </p:txBody>
      </p:sp>
      <p:sp>
        <p:nvSpPr>
          <p:cNvPr id="10" name="Correct answer"/>
          <p:cNvSpPr/>
          <p:nvPr/>
        </p:nvSpPr>
        <p:spPr>
          <a:xfrm>
            <a:off x="6196431" y="2112264"/>
            <a:ext cx="5391759" cy="1261872"/>
          </a:xfrm>
          <a:prstGeom prst="roundRect">
            <a:avLst>
              <a:gd name="adj" fmla="val 8000"/>
            </a:avLst>
          </a:prstGeom>
          <a:solidFill>
            <a:srgbClr val="0052CC">
              <a:alpha val="18000"/>
            </a:srgbClr>
          </a:solidFill>
          <a:ln w="50800">
            <a:solidFill>
              <a:srgbClr val="0052CC"/>
            </a:solidFill>
          </a:ln>
        </p:spPr>
        <p:txBody>
          <a:bodyPr rtlCol="0" anchor="ctr"/>
          <a:lstStyle/>
          <a:p>
            <a:pPr algn="ctr"/>
          </a:p>
        </p:txBody>
      </p:sp>
      <p:sp>
        <p:nvSpPr>
          <p:cNvPr id="11" name="Choice C"/>
          <p:cNvSpPr/>
          <p:nvPr/>
        </p:nvSpPr>
        <p:spPr>
          <a:xfrm>
            <a:off x="640080" y="3611880"/>
            <a:ext cx="5318607" cy="1188720"/>
          </a:xfrm>
          <a:prstGeom prst="roundRect">
            <a:avLst>
              <a:gd name="adj" fmla="val 8000"/>
            </a:avLst>
          </a:prstGeom>
          <a:solidFill>
            <a:srgbClr val="EEF2F7"/>
          </a:solidFill>
          <a:ln>
            <a:noFill/>
          </a:ln>
        </p:spPr>
        <p:txBody>
          <a:bodyPr rtlCol="0" anchor="ctr"/>
          <a:lstStyle/>
          <a:p>
            <a:pPr algn="ctr"/>
          </a:p>
        </p:txBody>
      </p:sp>
      <p:sp>
        <p:nvSpPr>
          <p:cNvPr id="12" name="TextBox 11"/>
          <p:cNvSpPr txBox="1"/>
          <p:nvPr/>
        </p:nvSpPr>
        <p:spPr>
          <a:xfrm>
            <a:off x="868680"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C</a:t>
            </a:r>
          </a:p>
        </p:txBody>
      </p:sp>
      <p:sp>
        <p:nvSpPr>
          <p:cNvPr id="13" name="TextBox 12"/>
          <p:cNvSpPr txBox="1"/>
          <p:nvPr/>
        </p:nvSpPr>
        <p:spPr>
          <a:xfrm>
            <a:off x="1508760"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bozorlik.pop("banan")</a:t>
            </a:r>
          </a:p>
        </p:txBody>
      </p:sp>
      <p:sp>
        <p:nvSpPr>
          <p:cNvPr id="14" name="Choice D"/>
          <p:cNvSpPr/>
          <p:nvPr/>
        </p:nvSpPr>
        <p:spPr>
          <a:xfrm>
            <a:off x="6233007" y="3611880"/>
            <a:ext cx="5318607" cy="1188720"/>
          </a:xfrm>
          <a:prstGeom prst="roundRect">
            <a:avLst>
              <a:gd name="adj" fmla="val 8000"/>
            </a:avLst>
          </a:prstGeom>
          <a:solidFill>
            <a:srgbClr val="EEF2F7"/>
          </a:solidFill>
          <a:ln>
            <a:noFill/>
          </a:ln>
        </p:spPr>
        <p:txBody>
          <a:bodyPr rtlCol="0" anchor="ctr"/>
          <a:lstStyle/>
          <a:p>
            <a:pPr algn="ctr"/>
          </a:p>
        </p:txBody>
      </p:sp>
      <p:sp>
        <p:nvSpPr>
          <p:cNvPr id="15" name="TextBox 14"/>
          <p:cNvSpPr txBox="1"/>
          <p:nvPr/>
        </p:nvSpPr>
        <p:spPr>
          <a:xfrm>
            <a:off x="6461607"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D</a:t>
            </a:r>
          </a:p>
        </p:txBody>
      </p:sp>
      <p:sp>
        <p:nvSpPr>
          <p:cNvPr id="16" name="TextBox 15"/>
          <p:cNvSpPr txBox="1"/>
          <p:nvPr/>
        </p:nvSpPr>
        <p:spPr>
          <a:xfrm>
            <a:off x="7101687"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del bozorlik["banan"]</a:t>
            </a:r>
          </a:p>
        </p:txBody>
      </p:sp>
      <p:sp>
        <p:nvSpPr>
          <p:cNvPr id="17" name="Explanation"/>
          <p:cNvSpPr txBox="1"/>
          <p:nvPr/>
        </p:nvSpPr>
        <p:spPr>
          <a:xfrm>
            <a:off x="640080" y="5074920"/>
            <a:ext cx="10911535" cy="1005839"/>
          </a:xfrm>
          <a:prstGeom prst="rect">
            <a:avLst/>
          </a:prstGeom>
          <a:noFill/>
        </p:spPr>
        <p:txBody>
          <a:bodyPr wrap="square" anchor="t" lIns="0" rIns="0" tIns="0" bIns="0">
            <a:noAutofit/>
          </a:bodyPr>
          <a:lstStyle/>
          <a:p>
            <a:pPr algn="l">
              <a:lnSpc>
                <a:spcPct val="115000"/>
              </a:lnSpc>
              <a:spcBef>
                <a:spcPts val="0"/>
              </a:spcBef>
              <a:spcAft>
                <a:spcPts val="0"/>
              </a:spcAft>
            </a:pPr>
            <a:r>
              <a:rPr sz="2200" b="1" i="0">
                <a:solidFill>
                  <a:srgbClr val="111111"/>
                </a:solidFill>
                <a:latin typeface="Arial"/>
              </a:rPr>
              <a:t>Javob:</a:t>
            </a:r>
            <a:r>
              <a:rPr sz="2200" b="0" i="0">
                <a:solidFill>
                  <a:srgbClr val="111111"/>
                </a:solidFill>
                <a:latin typeface="Arial"/>
              </a:rPr>
              <a:t> remove qiymat bo'yicha o'chiradi. pop va del indeks, ya'ni son kutadi.</a:t>
            </a:r>
          </a:p>
        </p:txBody>
      </p:sp>
      <p:sp>
        <p:nvSpPr>
          <p:cNvPr id="1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03</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Kortej</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KORTEJ</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Kortej o'zgarmaydigan ro'yxat, yumaloq qavs bilan yoziladi</a:t>
            </a:r>
          </a:p>
        </p:txBody>
      </p:sp>
      <p:sp>
        <p:nvSpPr>
          <p:cNvPr id="4" name="Code panel"/>
          <p:cNvSpPr/>
          <p:nvPr/>
        </p:nvSpPr>
        <p:spPr>
          <a:xfrm>
            <a:off x="640080" y="2148840"/>
            <a:ext cx="10911535" cy="1765808"/>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1363472"/>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p:txBody>
      </p:sp>
      <p:sp>
        <p:nvSpPr>
          <p:cNvPr id="6" name="Code"/>
          <p:cNvSpPr txBox="1"/>
          <p:nvPr/>
        </p:nvSpPr>
        <p:spPr>
          <a:xfrm>
            <a:off x="1399031" y="2350008"/>
            <a:ext cx="9896551" cy="1363472"/>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koordinata</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F78C6C"/>
                </a:solidFill>
                <a:latin typeface="Courier New"/>
              </a:rPr>
              <a:t>41.3</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69.2</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koordinata</a:t>
            </a:r>
            <a:r>
              <a:rPr sz="2200" i="0">
                <a:solidFill>
                  <a:srgbClr val="C3CCDA"/>
                </a:solidFill>
                <a:latin typeface="Courier New"/>
              </a:rPr>
              <a:t>[</a:t>
            </a:r>
            <a:r>
              <a:rPr sz="2200" i="0">
                <a:solidFill>
                  <a:srgbClr val="F78C6C"/>
                </a:solidFill>
                <a:latin typeface="Courier New"/>
              </a:rPr>
              <a:t>0</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FFCB6B"/>
                </a:solidFill>
                <a:latin typeface="Courier New"/>
              </a:rPr>
              <a:t>len</a:t>
            </a:r>
            <a:r>
              <a:rPr sz="2200" i="0">
                <a:solidFill>
                  <a:srgbClr val="C3CCDA"/>
                </a:solidFill>
                <a:latin typeface="Courier New"/>
              </a:rPr>
              <a:t>(</a:t>
            </a:r>
            <a:r>
              <a:rPr sz="2200" i="0">
                <a:solidFill>
                  <a:srgbClr val="E6E9EF"/>
                </a:solidFill>
                <a:latin typeface="Courier New"/>
              </a:rPr>
              <a:t>koordinata</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koordinata</a:t>
            </a:r>
            <a:r>
              <a:rPr sz="2200" i="0">
                <a:solidFill>
                  <a:srgbClr val="C3CCDA"/>
                </a:solidFill>
                <a:latin typeface="Courier New"/>
              </a:rPr>
              <a:t>[</a:t>
            </a:r>
            <a:r>
              <a:rPr sz="2200" i="0">
                <a:solidFill>
                  <a:srgbClr val="F78C6C"/>
                </a:solidFill>
                <a:latin typeface="Courier New"/>
              </a:rPr>
              <a:t>0</a:t>
            </a:r>
            <a:r>
              <a:rPr sz="2200" i="0">
                <a:solidFill>
                  <a:srgbClr val="C3CCDA"/>
                </a:solidFill>
                <a:latin typeface="Courier New"/>
              </a:rPr>
              <a:t>]</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F78C6C"/>
                </a:solidFill>
                <a:latin typeface="Courier New"/>
              </a:rPr>
              <a:t>0</a:t>
            </a:r>
          </a:p>
        </p:txBody>
      </p:sp>
      <p:sp>
        <p:nvSpPr>
          <p:cNvPr id="7" name="Output"/>
          <p:cNvSpPr/>
          <p:nvPr/>
        </p:nvSpPr>
        <p:spPr>
          <a:xfrm>
            <a:off x="640080" y="4143247"/>
            <a:ext cx="10911535" cy="150495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2200" i="0">
                <a:solidFill>
                  <a:srgbClr val="111111"/>
                </a:solidFill>
                <a:latin typeface="Courier New"/>
              </a:rPr>
              <a:t>41.3</a:t>
            </a:r>
          </a:p>
          <a:p>
            <a:pPr algn="l"/>
            <a:r>
              <a:rPr sz="2200" i="0">
                <a:solidFill>
                  <a:srgbClr val="111111"/>
                </a:solidFill>
                <a:latin typeface="Courier New"/>
              </a:rPr>
              <a:t>2</a:t>
            </a:r>
          </a:p>
          <a:p>
            <a:pPr algn="l"/>
            <a:r>
              <a:rPr sz="2200" i="0">
                <a:solidFill>
                  <a:srgbClr val="111111"/>
                </a:solidFill>
                <a:latin typeface="Courier New"/>
              </a:rPr>
              <a:t>TypeError: 'tuple' object does not support item assignment</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KORTEJ</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O'zgarmasligi kerak bo'lgan ma'lumotni kortejga yozing</a:t>
            </a:r>
          </a:p>
        </p:txBody>
      </p:sp>
      <p:sp>
        <p:nvSpPr>
          <p:cNvPr id="4" name="Term 1"/>
          <p:cNvSpPr txBox="1"/>
          <p:nvPr/>
        </p:nvSpPr>
        <p:spPr>
          <a:xfrm>
            <a:off x="640080" y="214884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ro'yxat</a:t>
            </a:r>
          </a:p>
        </p:txBody>
      </p:sp>
      <p:sp>
        <p:nvSpPr>
          <p:cNvPr id="5" name="Meaning 1"/>
          <p:cNvSpPr txBox="1"/>
          <p:nvPr/>
        </p:nvSpPr>
        <p:spPr>
          <a:xfrm>
            <a:off x="4754880" y="216712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o'zgaradigan ma'lumot: mehmonlar, bozorlik</a:t>
            </a:r>
          </a:p>
        </p:txBody>
      </p:sp>
      <p:sp>
        <p:nvSpPr>
          <p:cNvPr id="6" name="Term 2"/>
          <p:cNvSpPr txBox="1"/>
          <p:nvPr/>
        </p:nvSpPr>
        <p:spPr>
          <a:xfrm>
            <a:off x="640080" y="301752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kortej</a:t>
            </a:r>
          </a:p>
        </p:txBody>
      </p:sp>
      <p:sp>
        <p:nvSpPr>
          <p:cNvPr id="7" name="Meaning 2"/>
          <p:cNvSpPr txBox="1"/>
          <p:nvPr/>
        </p:nvSpPr>
        <p:spPr>
          <a:xfrm>
            <a:off x="4754880" y="303580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o'zgarmaydigan ma'lumot: koordinata (41.3, 69.2)</a:t>
            </a:r>
          </a:p>
        </p:txBody>
      </p:sp>
      <p:sp>
        <p:nvSpPr>
          <p:cNvPr id="8" name="Term 3"/>
          <p:cNvSpPr txBox="1"/>
          <p:nvPr/>
        </p:nvSpPr>
        <p:spPr>
          <a:xfrm>
            <a:off x="640080" y="388620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xato</a:t>
            </a:r>
          </a:p>
        </p:txBody>
      </p:sp>
      <p:sp>
        <p:nvSpPr>
          <p:cNvPr id="9" name="Meaning 3"/>
          <p:cNvSpPr txBox="1"/>
          <p:nvPr/>
        </p:nvSpPr>
        <p:spPr>
          <a:xfrm>
            <a:off x="4754880" y="3904487"/>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kortejni tasodifan o'zgartirsangiz, Python to'xtatadi</a:t>
            </a:r>
          </a:p>
        </p:txBody>
      </p:sp>
      <p:sp>
        <p:nvSpPr>
          <p:cNvPr id="10"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04</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Havolalar: bitta ro'yxat, ikki nom</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NATIJANI TOPING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Bu kod nimani chiqaradi?</a:t>
            </a:r>
          </a:p>
        </p:txBody>
      </p:sp>
      <p:sp>
        <p:nvSpPr>
          <p:cNvPr id="4" name="Code panel"/>
          <p:cNvSpPr/>
          <p:nvPr/>
        </p:nvSpPr>
        <p:spPr>
          <a:xfrm>
            <a:off x="640080" y="2148840"/>
            <a:ext cx="6328690" cy="1765808"/>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1363472"/>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p:txBody>
      </p:sp>
      <p:sp>
        <p:nvSpPr>
          <p:cNvPr id="6" name="Code"/>
          <p:cNvSpPr txBox="1"/>
          <p:nvPr/>
        </p:nvSpPr>
        <p:spPr>
          <a:xfrm>
            <a:off x="1399031" y="2350008"/>
            <a:ext cx="5313706" cy="1363472"/>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a</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F78C6C"/>
                </a:solidFill>
                <a:latin typeface="Courier New"/>
              </a:rPr>
              <a:t>1</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2</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3</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b</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E6E9EF"/>
                </a:solidFill>
                <a:latin typeface="Courier New"/>
              </a:rPr>
              <a:t>a</a:t>
            </a:r>
          </a:p>
          <a:p>
            <a:pPr>
              <a:lnSpc>
                <a:spcPts val="2684"/>
              </a:lnSpc>
              <a:spcBef>
                <a:spcPts val="0"/>
              </a:spcBef>
              <a:spcAft>
                <a:spcPts val="0"/>
              </a:spcAft>
            </a:pPr>
            <a:r>
              <a:rPr sz="2200" i="0">
                <a:solidFill>
                  <a:srgbClr val="E6E9EF"/>
                </a:solidFill>
                <a:latin typeface="Courier New"/>
              </a:rPr>
              <a:t>b</a:t>
            </a:r>
            <a:r>
              <a:rPr sz="2200" i="0">
                <a:solidFill>
                  <a:srgbClr val="89DDFF"/>
                </a:solidFill>
                <a:latin typeface="Courier New"/>
              </a:rPr>
              <a:t>.</a:t>
            </a:r>
            <a:r>
              <a:rPr sz="2200" i="0">
                <a:solidFill>
                  <a:srgbClr val="E6E9EF"/>
                </a:solidFill>
                <a:latin typeface="Courier New"/>
              </a:rPr>
              <a:t>append</a:t>
            </a:r>
            <a:r>
              <a:rPr sz="2200" i="0">
                <a:solidFill>
                  <a:srgbClr val="C3CCDA"/>
                </a:solidFill>
                <a:latin typeface="Courier New"/>
              </a:rPr>
              <a:t>(</a:t>
            </a:r>
            <a:r>
              <a:rPr sz="2200" i="0">
                <a:solidFill>
                  <a:srgbClr val="F78C6C"/>
                </a:solidFill>
                <a:latin typeface="Courier New"/>
              </a:rPr>
              <a:t>4</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a</a:t>
            </a:r>
            <a:r>
              <a:rPr sz="2200" i="0">
                <a:solidFill>
                  <a:srgbClr val="C3CCDA"/>
                </a:solidFill>
                <a:latin typeface="Courier New"/>
              </a:rPr>
              <a:t>)</a:t>
            </a:r>
          </a:p>
        </p:txBody>
      </p:sp>
      <p:sp>
        <p:nvSpPr>
          <p:cNvPr id="7" name="TextBox 6"/>
          <p:cNvSpPr txBox="1"/>
          <p:nvPr/>
        </p:nvSpPr>
        <p:spPr>
          <a:xfrm>
            <a:off x="7334530" y="2148840"/>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A</a:t>
            </a:r>
          </a:p>
        </p:txBody>
      </p:sp>
      <p:sp>
        <p:nvSpPr>
          <p:cNvPr id="8" name="Choice A"/>
          <p:cNvSpPr txBox="1"/>
          <p:nvPr/>
        </p:nvSpPr>
        <p:spPr>
          <a:xfrm>
            <a:off x="7883170" y="2148840"/>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[1, 2, 3]</a:t>
            </a:r>
          </a:p>
        </p:txBody>
      </p:sp>
      <p:sp>
        <p:nvSpPr>
          <p:cNvPr id="9" name="TextBox 8"/>
          <p:cNvSpPr txBox="1"/>
          <p:nvPr/>
        </p:nvSpPr>
        <p:spPr>
          <a:xfrm>
            <a:off x="7334530" y="2715768"/>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B</a:t>
            </a:r>
          </a:p>
        </p:txBody>
      </p:sp>
      <p:sp>
        <p:nvSpPr>
          <p:cNvPr id="10" name="Choice B"/>
          <p:cNvSpPr txBox="1"/>
          <p:nvPr/>
        </p:nvSpPr>
        <p:spPr>
          <a:xfrm>
            <a:off x="7883170" y="2715768"/>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[1, 2, 3, 4]</a:t>
            </a:r>
          </a:p>
        </p:txBody>
      </p:sp>
      <p:sp>
        <p:nvSpPr>
          <p:cNvPr id="11" name="TextBox 10"/>
          <p:cNvSpPr txBox="1"/>
          <p:nvPr/>
        </p:nvSpPr>
        <p:spPr>
          <a:xfrm>
            <a:off x="7334530" y="3282696"/>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C</a:t>
            </a:r>
          </a:p>
        </p:txBody>
      </p:sp>
      <p:sp>
        <p:nvSpPr>
          <p:cNvPr id="12" name="Choice C"/>
          <p:cNvSpPr txBox="1"/>
          <p:nvPr/>
        </p:nvSpPr>
        <p:spPr>
          <a:xfrm>
            <a:off x="7883170" y="3282696"/>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[4]</a:t>
            </a:r>
          </a:p>
        </p:txBody>
      </p:sp>
      <p:sp>
        <p:nvSpPr>
          <p:cNvPr id="13" name="TextBox 12"/>
          <p:cNvSpPr txBox="1"/>
          <p:nvPr/>
        </p:nvSpPr>
        <p:spPr>
          <a:xfrm>
            <a:off x="7334530" y="3849624"/>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D</a:t>
            </a:r>
          </a:p>
        </p:txBody>
      </p:sp>
      <p:sp>
        <p:nvSpPr>
          <p:cNvPr id="14" name="Choice D"/>
          <p:cNvSpPr txBox="1"/>
          <p:nvPr/>
        </p:nvSpPr>
        <p:spPr>
          <a:xfrm>
            <a:off x="7883170" y="3849624"/>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Xato</a:t>
            </a:r>
          </a:p>
        </p:txBody>
      </p:sp>
      <p:sp>
        <p:nvSpPr>
          <p:cNvPr id="15" name="Answer card"/>
          <p:cNvSpPr/>
          <p:nvPr/>
        </p:nvSpPr>
        <p:spPr>
          <a:xfrm>
            <a:off x="7334530" y="4507992"/>
            <a:ext cx="4217084" cy="1572768"/>
          </a:xfrm>
          <a:prstGeom prst="roundRect">
            <a:avLst>
              <a:gd name="adj" fmla="val 5000"/>
            </a:avLst>
          </a:prstGeom>
          <a:solidFill>
            <a:srgbClr val="EEF2F7"/>
          </a:solidFill>
          <a:ln>
            <a:noFill/>
          </a:ln>
        </p:spPr>
        <p:txBody>
          <a:bodyPr rtlCol="0" anchor="t" wrap="square" lIns="228600" rIns="228600" tIns="182880" bIns="182880">
            <a:noAutofit/>
          </a:bodyPr>
          <a:lstStyle/>
          <a:p>
            <a:pPr algn="l">
              <a:lnSpc>
                <a:spcPct val="115000"/>
              </a:lnSpc>
              <a:spcBef>
                <a:spcPts val="0"/>
              </a:spcBef>
              <a:spcAft>
                <a:spcPts val="800"/>
              </a:spcAft>
            </a:pPr>
            <a:r>
              <a:rPr sz="2100" b="1" i="0">
                <a:solidFill>
                  <a:srgbClr val="111111"/>
                </a:solidFill>
                <a:latin typeface="Arial"/>
              </a:rPr>
              <a:t>Javob:</a:t>
            </a:r>
            <a:r>
              <a:rPr sz="2100" b="0" i="0">
                <a:solidFill>
                  <a:srgbClr val="111111"/>
                </a:solidFill>
                <a:latin typeface="Arial"/>
              </a:rPr>
              <a:t> B — [1, 2, 3, 4]</a:t>
            </a:r>
          </a:p>
          <a:p>
            <a:pPr algn="l">
              <a:lnSpc>
                <a:spcPct val="115000"/>
              </a:lnSpc>
              <a:spcBef>
                <a:spcPts val="0"/>
              </a:spcBef>
              <a:spcAft>
                <a:spcPts val="800"/>
              </a:spcAft>
            </a:pPr>
            <a:r>
              <a:rPr sz="2100" b="0" i="0">
                <a:solidFill>
                  <a:srgbClr val="111111"/>
                </a:solidFill>
                <a:latin typeface="Arial"/>
              </a:rPr>
              <a:t>a va b bitta ro'yxatga ishora qiladi.</a:t>
            </a:r>
          </a:p>
        </p:txBody>
      </p:sp>
      <p:sp>
        <p:nvSpPr>
          <p:cNvPr id="1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HAVOLALAR: BITTA RO'YXAT, IKKI NOM</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 = a ro'yxatni nusxalamaydi: ikki nom bitta ro'yxatga ishora qiladi</a:t>
            </a:r>
          </a:p>
        </p:txBody>
      </p:sp>
      <p:sp>
        <p:nvSpPr>
          <p:cNvPr id="4" name="Code panel"/>
          <p:cNvSpPr/>
          <p:nvPr/>
        </p:nvSpPr>
        <p:spPr>
          <a:xfrm>
            <a:off x="640080" y="2148840"/>
            <a:ext cx="7985455" cy="2447543"/>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2045207"/>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a:p>
            <a:pPr>
              <a:lnSpc>
                <a:spcPts val="2684"/>
              </a:lnSpc>
              <a:spcBef>
                <a:spcPts val="0"/>
              </a:spcBef>
              <a:spcAft>
                <a:spcPts val="0"/>
              </a:spcAft>
            </a:pPr>
            <a:r>
              <a:rPr sz="2200" i="0">
                <a:solidFill>
                  <a:srgbClr val="8792A8"/>
                </a:solidFill>
                <a:latin typeface="Courier New"/>
              </a:rPr>
              <a:t>6</a:t>
            </a:r>
          </a:p>
        </p:txBody>
      </p:sp>
      <p:sp>
        <p:nvSpPr>
          <p:cNvPr id="6" name="Code"/>
          <p:cNvSpPr txBox="1"/>
          <p:nvPr/>
        </p:nvSpPr>
        <p:spPr>
          <a:xfrm>
            <a:off x="1399031" y="2350008"/>
            <a:ext cx="6970471" cy="2045207"/>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a</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F78C6C"/>
                </a:solidFill>
                <a:latin typeface="Courier New"/>
              </a:rPr>
              <a:t>1</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2</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3</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b</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E6E9EF"/>
                </a:solidFill>
                <a:latin typeface="Courier New"/>
              </a:rPr>
              <a:t>a</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FFCB6B"/>
                </a:solidFill>
                <a:latin typeface="Courier New"/>
              </a:rPr>
              <a:t>id</a:t>
            </a:r>
            <a:r>
              <a:rPr sz="2200" i="0">
                <a:solidFill>
                  <a:srgbClr val="C3CCDA"/>
                </a:solidFill>
                <a:latin typeface="Courier New"/>
              </a:rPr>
              <a:t>(</a:t>
            </a:r>
            <a:r>
              <a:rPr sz="2200" i="0">
                <a:solidFill>
                  <a:srgbClr val="E6E9EF"/>
                </a:solidFill>
                <a:latin typeface="Courier New"/>
              </a:rPr>
              <a:t>a</a:t>
            </a:r>
            <a:r>
              <a:rPr sz="2200" i="0">
                <a:solidFill>
                  <a:srgbClr val="C3CCDA"/>
                </a:solidFill>
                <a:latin typeface="Courier New"/>
              </a:rPr>
              <a:t>)</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FFCB6B"/>
                </a:solidFill>
                <a:latin typeface="Courier New"/>
              </a:rPr>
              <a:t>id</a:t>
            </a:r>
            <a:r>
              <a:rPr sz="2200" i="0">
                <a:solidFill>
                  <a:srgbClr val="C3CCDA"/>
                </a:solidFill>
                <a:latin typeface="Courier New"/>
              </a:rPr>
              <a:t>(</a:t>
            </a:r>
            <a:r>
              <a:rPr sz="2200" i="0">
                <a:solidFill>
                  <a:srgbClr val="E6E9EF"/>
                </a:solidFill>
                <a:latin typeface="Courier New"/>
              </a:rPr>
              <a:t>b</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b</a:t>
            </a:r>
            <a:r>
              <a:rPr sz="2200" i="0">
                <a:solidFill>
                  <a:srgbClr val="89DDFF"/>
                </a:solidFill>
                <a:latin typeface="Courier New"/>
              </a:rPr>
              <a:t>.</a:t>
            </a:r>
            <a:r>
              <a:rPr sz="2200" i="0">
                <a:solidFill>
                  <a:srgbClr val="E6E9EF"/>
                </a:solidFill>
                <a:latin typeface="Courier New"/>
              </a:rPr>
              <a:t>append</a:t>
            </a:r>
            <a:r>
              <a:rPr sz="2200" i="0">
                <a:solidFill>
                  <a:srgbClr val="C3CCDA"/>
                </a:solidFill>
                <a:latin typeface="Courier New"/>
              </a:rPr>
              <a:t>(</a:t>
            </a:r>
            <a:r>
              <a:rPr sz="2200" i="0">
                <a:solidFill>
                  <a:srgbClr val="F78C6C"/>
                </a:solidFill>
                <a:latin typeface="Courier New"/>
              </a:rPr>
              <a:t>4</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a</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b</a:t>
            </a:r>
            <a:r>
              <a:rPr sz="2200" i="0">
                <a:solidFill>
                  <a:srgbClr val="C3CCDA"/>
                </a:solidFill>
                <a:latin typeface="Courier New"/>
              </a:rPr>
              <a:t>)</a:t>
            </a:r>
          </a:p>
        </p:txBody>
      </p:sp>
      <p:sp>
        <p:nvSpPr>
          <p:cNvPr id="7" name="Output"/>
          <p:cNvSpPr/>
          <p:nvPr/>
        </p:nvSpPr>
        <p:spPr>
          <a:xfrm>
            <a:off x="8991295" y="2148840"/>
            <a:ext cx="2560320" cy="1362075"/>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900" i="0">
                <a:solidFill>
                  <a:srgbClr val="111111"/>
                </a:solidFill>
                <a:latin typeface="Courier New"/>
              </a:rPr>
              <a:t>True</a:t>
            </a:r>
          </a:p>
          <a:p>
            <a:pPr algn="l"/>
            <a:r>
              <a:rPr sz="1900" i="0">
                <a:solidFill>
                  <a:srgbClr val="111111"/>
                </a:solidFill>
                <a:latin typeface="Courier New"/>
              </a:rPr>
              <a:t>[1, 2, 3, 4]</a:t>
            </a:r>
          </a:p>
          <a:p>
            <a:pPr algn="l"/>
            <a:r>
              <a:rPr sz="1900" i="0">
                <a:solidFill>
                  <a:srgbClr val="111111"/>
                </a:solidFill>
                <a:latin typeface="Courier New"/>
              </a:rPr>
              <a:t>[1, 2, 3, 4]</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HAVOLALAR: BITTA RO'YXAT, IKKI NOM</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a[:] ro'yxatning haqiqiy nusxasini beradi</a:t>
            </a:r>
          </a:p>
        </p:txBody>
      </p:sp>
      <p:sp>
        <p:nvSpPr>
          <p:cNvPr id="4" name="Code panel"/>
          <p:cNvSpPr/>
          <p:nvPr/>
        </p:nvSpPr>
        <p:spPr>
          <a:xfrm>
            <a:off x="640080" y="2148840"/>
            <a:ext cx="7985455" cy="2447543"/>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2045207"/>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a:p>
            <a:pPr>
              <a:lnSpc>
                <a:spcPts val="2684"/>
              </a:lnSpc>
              <a:spcBef>
                <a:spcPts val="0"/>
              </a:spcBef>
              <a:spcAft>
                <a:spcPts val="0"/>
              </a:spcAft>
            </a:pPr>
            <a:r>
              <a:rPr sz="2200" i="0">
                <a:solidFill>
                  <a:srgbClr val="8792A8"/>
                </a:solidFill>
                <a:latin typeface="Courier New"/>
              </a:rPr>
              <a:t>6</a:t>
            </a:r>
          </a:p>
        </p:txBody>
      </p:sp>
      <p:sp>
        <p:nvSpPr>
          <p:cNvPr id="6" name="Code"/>
          <p:cNvSpPr txBox="1"/>
          <p:nvPr/>
        </p:nvSpPr>
        <p:spPr>
          <a:xfrm>
            <a:off x="1399031" y="2350008"/>
            <a:ext cx="6970471" cy="2045207"/>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a</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F78C6C"/>
                </a:solidFill>
                <a:latin typeface="Courier New"/>
              </a:rPr>
              <a:t>1</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2</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3</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b</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E6E9EF"/>
                </a:solidFill>
                <a:latin typeface="Courier New"/>
              </a:rPr>
              <a:t>a</a:t>
            </a:r>
            <a:r>
              <a:rPr sz="2200" i="0">
                <a:solidFill>
                  <a:srgbClr val="C3CCDA"/>
                </a:solidFill>
                <a:latin typeface="Courier New"/>
              </a:rPr>
              <a:t>[</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FFCB6B"/>
                </a:solidFill>
                <a:latin typeface="Courier New"/>
              </a:rPr>
              <a:t>id</a:t>
            </a:r>
            <a:r>
              <a:rPr sz="2200" i="0">
                <a:solidFill>
                  <a:srgbClr val="C3CCDA"/>
                </a:solidFill>
                <a:latin typeface="Courier New"/>
              </a:rPr>
              <a:t>(</a:t>
            </a:r>
            <a:r>
              <a:rPr sz="2200" i="0">
                <a:solidFill>
                  <a:srgbClr val="E6E9EF"/>
                </a:solidFill>
                <a:latin typeface="Courier New"/>
              </a:rPr>
              <a:t>a</a:t>
            </a:r>
            <a:r>
              <a:rPr sz="2200" i="0">
                <a:solidFill>
                  <a:srgbClr val="C3CCDA"/>
                </a:solidFill>
                <a:latin typeface="Courier New"/>
              </a:rPr>
              <a:t>)</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FFCB6B"/>
                </a:solidFill>
                <a:latin typeface="Courier New"/>
              </a:rPr>
              <a:t>id</a:t>
            </a:r>
            <a:r>
              <a:rPr sz="2200" i="0">
                <a:solidFill>
                  <a:srgbClr val="C3CCDA"/>
                </a:solidFill>
                <a:latin typeface="Courier New"/>
              </a:rPr>
              <a:t>(</a:t>
            </a:r>
            <a:r>
              <a:rPr sz="2200" i="0">
                <a:solidFill>
                  <a:srgbClr val="E6E9EF"/>
                </a:solidFill>
                <a:latin typeface="Courier New"/>
              </a:rPr>
              <a:t>b</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b</a:t>
            </a:r>
            <a:r>
              <a:rPr sz="2200" i="0">
                <a:solidFill>
                  <a:srgbClr val="89DDFF"/>
                </a:solidFill>
                <a:latin typeface="Courier New"/>
              </a:rPr>
              <a:t>.</a:t>
            </a:r>
            <a:r>
              <a:rPr sz="2200" i="0">
                <a:solidFill>
                  <a:srgbClr val="E6E9EF"/>
                </a:solidFill>
                <a:latin typeface="Courier New"/>
              </a:rPr>
              <a:t>append</a:t>
            </a:r>
            <a:r>
              <a:rPr sz="2200" i="0">
                <a:solidFill>
                  <a:srgbClr val="C3CCDA"/>
                </a:solidFill>
                <a:latin typeface="Courier New"/>
              </a:rPr>
              <a:t>(</a:t>
            </a:r>
            <a:r>
              <a:rPr sz="2200" i="0">
                <a:solidFill>
                  <a:srgbClr val="F78C6C"/>
                </a:solidFill>
                <a:latin typeface="Courier New"/>
              </a:rPr>
              <a:t>4</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a</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b</a:t>
            </a:r>
            <a:r>
              <a:rPr sz="2200" i="0">
                <a:solidFill>
                  <a:srgbClr val="C3CCDA"/>
                </a:solidFill>
                <a:latin typeface="Courier New"/>
              </a:rPr>
              <a:t>)</a:t>
            </a:r>
          </a:p>
        </p:txBody>
      </p:sp>
      <p:sp>
        <p:nvSpPr>
          <p:cNvPr id="7" name="Output"/>
          <p:cNvSpPr/>
          <p:nvPr/>
        </p:nvSpPr>
        <p:spPr>
          <a:xfrm>
            <a:off x="8991295" y="2148840"/>
            <a:ext cx="2560320" cy="1362075"/>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900" i="0">
                <a:solidFill>
                  <a:srgbClr val="111111"/>
                </a:solidFill>
                <a:latin typeface="Courier New"/>
              </a:rPr>
              <a:t>False</a:t>
            </a:r>
          </a:p>
          <a:p>
            <a:pPr algn="l"/>
            <a:r>
              <a:rPr sz="1900" i="0">
                <a:solidFill>
                  <a:srgbClr val="111111"/>
                </a:solidFill>
                <a:latin typeface="Courier New"/>
              </a:rPr>
              <a:t>[1, 2, 3]</a:t>
            </a:r>
          </a:p>
          <a:p>
            <a:pPr algn="l"/>
            <a:r>
              <a:rPr sz="1900" i="0">
                <a:solidFill>
                  <a:srgbClr val="111111"/>
                </a:solidFill>
                <a:latin typeface="Courier New"/>
              </a:rPr>
              <a:t>[1, 2, 3, 4]</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HAVOLALAR: BITTA RO'YXAT, IKKI NOM</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Funksiyaga berilgan ro'yxat o'zgarsa, asl ro'yxat ham o'zgaradi</a:t>
            </a:r>
          </a:p>
        </p:txBody>
      </p:sp>
      <p:sp>
        <p:nvSpPr>
          <p:cNvPr id="4" name="Code panel"/>
          <p:cNvSpPr/>
          <p:nvPr/>
        </p:nvSpPr>
        <p:spPr>
          <a:xfrm>
            <a:off x="640080" y="2148840"/>
            <a:ext cx="7924495" cy="2788411"/>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2386076"/>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a:p>
            <a:pPr>
              <a:lnSpc>
                <a:spcPts val="2684"/>
              </a:lnSpc>
              <a:spcBef>
                <a:spcPts val="0"/>
              </a:spcBef>
              <a:spcAft>
                <a:spcPts val="0"/>
              </a:spcAft>
            </a:pPr>
            <a:r>
              <a:rPr sz="2200" i="0">
                <a:solidFill>
                  <a:srgbClr val="8792A8"/>
                </a:solidFill>
                <a:latin typeface="Courier New"/>
              </a:rPr>
              <a:t>6</a:t>
            </a:r>
          </a:p>
          <a:p>
            <a:pPr>
              <a:lnSpc>
                <a:spcPts val="2684"/>
              </a:lnSpc>
              <a:spcBef>
                <a:spcPts val="0"/>
              </a:spcBef>
              <a:spcAft>
                <a:spcPts val="0"/>
              </a:spcAft>
            </a:pPr>
            <a:r>
              <a:rPr sz="2200" i="0">
                <a:solidFill>
                  <a:srgbClr val="8792A8"/>
                </a:solidFill>
                <a:latin typeface="Courier New"/>
              </a:rPr>
              <a:t>7</a:t>
            </a:r>
          </a:p>
        </p:txBody>
      </p:sp>
      <p:sp>
        <p:nvSpPr>
          <p:cNvPr id="6" name="Code"/>
          <p:cNvSpPr txBox="1"/>
          <p:nvPr/>
        </p:nvSpPr>
        <p:spPr>
          <a:xfrm>
            <a:off x="1399031" y="2350008"/>
            <a:ext cx="6909511" cy="2386076"/>
          </a:xfrm>
          <a:prstGeom prst="rect">
            <a:avLst/>
          </a:prstGeom>
          <a:noFill/>
        </p:spPr>
        <p:txBody>
          <a:bodyPr wrap="none" lIns="0" rIns="0" tIns="0" bIns="0">
            <a:noAutofit/>
          </a:bodyPr>
          <a:lstStyle/>
          <a:p>
            <a:pPr>
              <a:lnSpc>
                <a:spcPts val="2684"/>
              </a:lnSpc>
              <a:spcBef>
                <a:spcPts val="0"/>
              </a:spcBef>
              <a:spcAft>
                <a:spcPts val="0"/>
              </a:spcAft>
            </a:pPr>
            <a:r>
              <a:rPr sz="2200" i="0">
                <a:solidFill>
                  <a:srgbClr val="C792EA"/>
                </a:solidFill>
                <a:latin typeface="Courier New"/>
              </a:rPr>
              <a:t>def</a:t>
            </a:r>
            <a:r>
              <a:rPr sz="2200" i="0">
                <a:solidFill>
                  <a:srgbClr val="E6E9EF"/>
                </a:solidFill>
                <a:latin typeface="Courier New"/>
              </a:rPr>
              <a:t> </a:t>
            </a:r>
            <a:r>
              <a:rPr sz="2200" i="0">
                <a:solidFill>
                  <a:srgbClr val="82AAFF"/>
                </a:solidFill>
                <a:latin typeface="Courier New"/>
              </a:rPr>
              <a:t>qosh</a:t>
            </a:r>
            <a:r>
              <a:rPr sz="2200" i="0">
                <a:solidFill>
                  <a:srgbClr val="C3CCDA"/>
                </a:solidFill>
                <a:latin typeface="Courier New"/>
              </a:rPr>
              <a:t>(</a:t>
            </a:r>
            <a:r>
              <a:rPr sz="2200" i="0">
                <a:solidFill>
                  <a:srgbClr val="E6E9EF"/>
                </a:solidFill>
                <a:latin typeface="Courier New"/>
              </a:rPr>
              <a:t>royxat</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r>
              <a:rPr sz="2200" i="0">
                <a:solidFill>
                  <a:srgbClr val="E6E9EF"/>
                </a:solidFill>
                <a:latin typeface="Courier New"/>
              </a:rPr>
              <a:t>royxat</a:t>
            </a:r>
            <a:r>
              <a:rPr sz="2200" i="0">
                <a:solidFill>
                  <a:srgbClr val="89DDFF"/>
                </a:solidFill>
                <a:latin typeface="Courier New"/>
              </a:rPr>
              <a:t>.</a:t>
            </a:r>
            <a:r>
              <a:rPr sz="2200" i="0">
                <a:solidFill>
                  <a:srgbClr val="E6E9EF"/>
                </a:solidFill>
                <a:latin typeface="Courier New"/>
              </a:rPr>
              <a:t>append</a:t>
            </a:r>
            <a:r>
              <a:rPr sz="2200" i="0">
                <a:solidFill>
                  <a:srgbClr val="C3CCDA"/>
                </a:solidFill>
                <a:latin typeface="Courier New"/>
              </a:rPr>
              <a:t>(</a:t>
            </a:r>
            <a:r>
              <a:rPr sz="2200" i="0">
                <a:solidFill>
                  <a:srgbClr val="F78C6C"/>
                </a:solidFill>
                <a:latin typeface="Courier New"/>
              </a:rPr>
              <a:t>10</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p>
          <a:p>
            <a:pPr>
              <a:lnSpc>
                <a:spcPts val="2684"/>
              </a:lnSpc>
              <a:spcBef>
                <a:spcPts val="0"/>
              </a:spcBef>
              <a:spcAft>
                <a:spcPts val="0"/>
              </a:spcAft>
            </a:pPr>
            <a:r>
              <a:rPr sz="2200" i="0">
                <a:solidFill>
                  <a:srgbClr val="E6E9EF"/>
                </a:solidFill>
                <a:latin typeface="Courier New"/>
              </a:rPr>
              <a:t> </a:t>
            </a:r>
          </a:p>
          <a:p>
            <a:pPr>
              <a:lnSpc>
                <a:spcPts val="2684"/>
              </a:lnSpc>
              <a:spcBef>
                <a:spcPts val="0"/>
              </a:spcBef>
              <a:spcAft>
                <a:spcPts val="0"/>
              </a:spcAft>
            </a:pPr>
            <a:r>
              <a:rPr sz="2200" i="0">
                <a:solidFill>
                  <a:srgbClr val="E6E9EF"/>
                </a:solidFill>
                <a:latin typeface="Courier New"/>
              </a:rPr>
              <a:t>sonlar</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F78C6C"/>
                </a:solidFill>
                <a:latin typeface="Courier New"/>
              </a:rPr>
              <a:t>1</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2</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3</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qosh</a:t>
            </a:r>
            <a:r>
              <a:rPr sz="2200" i="0">
                <a:solidFill>
                  <a:srgbClr val="C3CCDA"/>
                </a:solidFill>
                <a:latin typeface="Courier New"/>
              </a:rPr>
              <a:t>(</a:t>
            </a:r>
            <a:r>
              <a:rPr sz="2200" i="0">
                <a:solidFill>
                  <a:srgbClr val="E6E9EF"/>
                </a:solidFill>
                <a:latin typeface="Courier New"/>
              </a:rPr>
              <a:t>sonlar</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sonlar</a:t>
            </a:r>
            <a:r>
              <a:rPr sz="2200" i="0">
                <a:solidFill>
                  <a:srgbClr val="C3CCDA"/>
                </a:solidFill>
                <a:latin typeface="Courier New"/>
              </a:rPr>
              <a:t>)</a:t>
            </a:r>
          </a:p>
        </p:txBody>
      </p:sp>
      <p:sp>
        <p:nvSpPr>
          <p:cNvPr id="7" name="Output"/>
          <p:cNvSpPr/>
          <p:nvPr/>
        </p:nvSpPr>
        <p:spPr>
          <a:xfrm>
            <a:off x="8930335" y="2148840"/>
            <a:ext cx="2621279" cy="74295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800" i="0">
                <a:solidFill>
                  <a:srgbClr val="111111"/>
                </a:solidFill>
                <a:latin typeface="Courier New"/>
              </a:rPr>
              <a:t>[1, 2, 3, 10]</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HAVOLALAR: BITTA RO'YXAT, IKKI NOM</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sorted() yangi ro'yxat beradi, sort() asl ro'yxatni tartiblaydi</a:t>
            </a:r>
          </a:p>
        </p:txBody>
      </p:sp>
      <p:sp>
        <p:nvSpPr>
          <p:cNvPr id="4" name="Code panel"/>
          <p:cNvSpPr/>
          <p:nvPr/>
        </p:nvSpPr>
        <p:spPr>
          <a:xfrm>
            <a:off x="640080" y="2148840"/>
            <a:ext cx="7985455" cy="2106676"/>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1704340"/>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p:txBody>
      </p:sp>
      <p:sp>
        <p:nvSpPr>
          <p:cNvPr id="6" name="Code"/>
          <p:cNvSpPr txBox="1"/>
          <p:nvPr/>
        </p:nvSpPr>
        <p:spPr>
          <a:xfrm>
            <a:off x="1399031" y="2350008"/>
            <a:ext cx="6970471" cy="1704340"/>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sonlar</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F78C6C"/>
                </a:solidFill>
                <a:latin typeface="Courier New"/>
              </a:rPr>
              <a:t>4</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1</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3</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2</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FFCB6B"/>
                </a:solidFill>
                <a:latin typeface="Courier New"/>
              </a:rPr>
              <a:t>sorted</a:t>
            </a:r>
            <a:r>
              <a:rPr sz="2200" i="0">
                <a:solidFill>
                  <a:srgbClr val="C3CCDA"/>
                </a:solidFill>
                <a:latin typeface="Courier New"/>
              </a:rPr>
              <a:t>(</a:t>
            </a:r>
            <a:r>
              <a:rPr sz="2200" i="0">
                <a:solidFill>
                  <a:srgbClr val="E6E9EF"/>
                </a:solidFill>
                <a:latin typeface="Courier New"/>
              </a:rPr>
              <a:t>sonlar</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sonlar</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sonlar</a:t>
            </a:r>
            <a:r>
              <a:rPr sz="2200" i="0">
                <a:solidFill>
                  <a:srgbClr val="89DDFF"/>
                </a:solidFill>
                <a:latin typeface="Courier New"/>
              </a:rPr>
              <a:t>.</a:t>
            </a:r>
            <a:r>
              <a:rPr sz="2200" i="0">
                <a:solidFill>
                  <a:srgbClr val="E6E9EF"/>
                </a:solidFill>
                <a:latin typeface="Courier New"/>
              </a:rPr>
              <a:t>sort</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sonlar</a:t>
            </a:r>
            <a:r>
              <a:rPr sz="2200" i="0">
                <a:solidFill>
                  <a:srgbClr val="C3CCDA"/>
                </a:solidFill>
                <a:latin typeface="Courier New"/>
              </a:rPr>
              <a:t>)</a:t>
            </a:r>
          </a:p>
        </p:txBody>
      </p:sp>
      <p:sp>
        <p:nvSpPr>
          <p:cNvPr id="7" name="Output"/>
          <p:cNvSpPr/>
          <p:nvPr/>
        </p:nvSpPr>
        <p:spPr>
          <a:xfrm>
            <a:off x="8991295" y="2148840"/>
            <a:ext cx="2560320" cy="1362075"/>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900" i="0">
                <a:solidFill>
                  <a:srgbClr val="111111"/>
                </a:solidFill>
                <a:latin typeface="Courier New"/>
              </a:rPr>
              <a:t>[1, 2, 3, 4]</a:t>
            </a:r>
          </a:p>
          <a:p>
            <a:pPr algn="l"/>
            <a:r>
              <a:rPr sz="1900" i="0">
                <a:solidFill>
                  <a:srgbClr val="111111"/>
                </a:solidFill>
                <a:latin typeface="Courier New"/>
              </a:rPr>
              <a:t>[4, 1, 3, 2]</a:t>
            </a:r>
          </a:p>
          <a:p>
            <a:pPr algn="l"/>
            <a:r>
              <a:rPr sz="1900" i="0">
                <a:solidFill>
                  <a:srgbClr val="111111"/>
                </a:solidFill>
                <a:latin typeface="Courier New"/>
              </a:rPr>
              <a:t>[1, 2, 3, 4]</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NATIJANI TOPING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Bu kod nimani chiqaradi?</a:t>
            </a:r>
          </a:p>
        </p:txBody>
      </p:sp>
      <p:sp>
        <p:nvSpPr>
          <p:cNvPr id="4" name="Code panel"/>
          <p:cNvSpPr/>
          <p:nvPr/>
        </p:nvSpPr>
        <p:spPr>
          <a:xfrm>
            <a:off x="640080" y="2148840"/>
            <a:ext cx="6328690" cy="3129280"/>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2726944"/>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a:p>
            <a:pPr>
              <a:lnSpc>
                <a:spcPts val="2684"/>
              </a:lnSpc>
              <a:spcBef>
                <a:spcPts val="0"/>
              </a:spcBef>
              <a:spcAft>
                <a:spcPts val="0"/>
              </a:spcAft>
            </a:pPr>
            <a:r>
              <a:rPr sz="2200" i="0">
                <a:solidFill>
                  <a:srgbClr val="8792A8"/>
                </a:solidFill>
                <a:latin typeface="Courier New"/>
              </a:rPr>
              <a:t>6</a:t>
            </a:r>
          </a:p>
          <a:p>
            <a:pPr>
              <a:lnSpc>
                <a:spcPts val="2684"/>
              </a:lnSpc>
              <a:spcBef>
                <a:spcPts val="0"/>
              </a:spcBef>
              <a:spcAft>
                <a:spcPts val="0"/>
              </a:spcAft>
            </a:pPr>
            <a:r>
              <a:rPr sz="2200" i="0">
                <a:solidFill>
                  <a:srgbClr val="8792A8"/>
                </a:solidFill>
                <a:latin typeface="Courier New"/>
              </a:rPr>
              <a:t>7</a:t>
            </a:r>
          </a:p>
          <a:p>
            <a:pPr>
              <a:lnSpc>
                <a:spcPts val="2684"/>
              </a:lnSpc>
              <a:spcBef>
                <a:spcPts val="0"/>
              </a:spcBef>
              <a:spcAft>
                <a:spcPts val="0"/>
              </a:spcAft>
            </a:pPr>
            <a:r>
              <a:rPr sz="2200" i="0">
                <a:solidFill>
                  <a:srgbClr val="8792A8"/>
                </a:solidFill>
                <a:latin typeface="Courier New"/>
              </a:rPr>
              <a:t>8</a:t>
            </a:r>
          </a:p>
        </p:txBody>
      </p:sp>
      <p:sp>
        <p:nvSpPr>
          <p:cNvPr id="6" name="Code"/>
          <p:cNvSpPr txBox="1"/>
          <p:nvPr/>
        </p:nvSpPr>
        <p:spPr>
          <a:xfrm>
            <a:off x="1399031" y="2350008"/>
            <a:ext cx="5313706" cy="2726944"/>
          </a:xfrm>
          <a:prstGeom prst="rect">
            <a:avLst/>
          </a:prstGeom>
          <a:noFill/>
        </p:spPr>
        <p:txBody>
          <a:bodyPr wrap="none" lIns="0" rIns="0" tIns="0" bIns="0">
            <a:noAutofit/>
          </a:bodyPr>
          <a:lstStyle/>
          <a:p>
            <a:pPr>
              <a:lnSpc>
                <a:spcPts val="2684"/>
              </a:lnSpc>
              <a:spcBef>
                <a:spcPts val="0"/>
              </a:spcBef>
              <a:spcAft>
                <a:spcPts val="0"/>
              </a:spcAft>
            </a:pPr>
            <a:r>
              <a:rPr sz="2200" i="0">
                <a:solidFill>
                  <a:srgbClr val="C792EA"/>
                </a:solidFill>
                <a:latin typeface="Courier New"/>
              </a:rPr>
              <a:t>def</a:t>
            </a:r>
            <a:r>
              <a:rPr sz="2200" i="0">
                <a:solidFill>
                  <a:srgbClr val="E6E9EF"/>
                </a:solidFill>
                <a:latin typeface="Courier New"/>
              </a:rPr>
              <a:t> </a:t>
            </a:r>
            <a:r>
              <a:rPr sz="2200" i="0">
                <a:solidFill>
                  <a:srgbClr val="82AAFF"/>
                </a:solidFill>
                <a:latin typeface="Courier New"/>
              </a:rPr>
              <a:t>ikkinchi_kichik</a:t>
            </a:r>
            <a:r>
              <a:rPr sz="2200" i="0">
                <a:solidFill>
                  <a:srgbClr val="C3CCDA"/>
                </a:solidFill>
                <a:latin typeface="Courier New"/>
              </a:rPr>
              <a:t>(</a:t>
            </a:r>
            <a:r>
              <a:rPr sz="2200" i="0">
                <a:solidFill>
                  <a:srgbClr val="E6E9EF"/>
                </a:solidFill>
                <a:latin typeface="Courier New"/>
              </a:rPr>
              <a:t>royxat</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r>
              <a:rPr sz="2200" i="0">
                <a:solidFill>
                  <a:srgbClr val="E6E9EF"/>
                </a:solidFill>
                <a:latin typeface="Courier New"/>
              </a:rPr>
              <a:t>royxat</a:t>
            </a:r>
            <a:r>
              <a:rPr sz="2200" i="0">
                <a:solidFill>
                  <a:srgbClr val="89DDFF"/>
                </a:solidFill>
                <a:latin typeface="Courier New"/>
              </a:rPr>
              <a:t>.</a:t>
            </a:r>
            <a:r>
              <a:rPr sz="2200" i="0">
                <a:solidFill>
                  <a:srgbClr val="E6E9EF"/>
                </a:solidFill>
                <a:latin typeface="Courier New"/>
              </a:rPr>
              <a:t>sort</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r>
              <a:rPr sz="2200" i="0">
                <a:solidFill>
                  <a:srgbClr val="C792EA"/>
                </a:solidFill>
                <a:latin typeface="Courier New"/>
              </a:rPr>
              <a:t>return</a:t>
            </a:r>
            <a:r>
              <a:rPr sz="2200" i="0">
                <a:solidFill>
                  <a:srgbClr val="E6E9EF"/>
                </a:solidFill>
                <a:latin typeface="Courier New"/>
              </a:rPr>
              <a:t> </a:t>
            </a:r>
            <a:r>
              <a:rPr sz="2200" i="0">
                <a:solidFill>
                  <a:srgbClr val="E6E9EF"/>
                </a:solidFill>
                <a:latin typeface="Courier New"/>
              </a:rPr>
              <a:t>royxat</a:t>
            </a:r>
            <a:r>
              <a:rPr sz="2200" i="0">
                <a:solidFill>
                  <a:srgbClr val="C3CCDA"/>
                </a:solidFill>
                <a:latin typeface="Courier New"/>
              </a:rPr>
              <a:t>[</a:t>
            </a:r>
            <a:r>
              <a:rPr sz="2200" i="0">
                <a:solidFill>
                  <a:srgbClr val="F78C6C"/>
                </a:solidFill>
                <a:latin typeface="Courier New"/>
              </a:rPr>
              <a:t>1</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p>
          <a:p>
            <a:pPr>
              <a:lnSpc>
                <a:spcPts val="2684"/>
              </a:lnSpc>
              <a:spcBef>
                <a:spcPts val="0"/>
              </a:spcBef>
              <a:spcAft>
                <a:spcPts val="0"/>
              </a:spcAft>
            </a:pPr>
            <a:r>
              <a:rPr sz="2200" i="0">
                <a:solidFill>
                  <a:srgbClr val="E6E9EF"/>
                </a:solidFill>
                <a:latin typeface="Courier New"/>
              </a:rPr>
              <a:t> </a:t>
            </a:r>
          </a:p>
          <a:p>
            <a:pPr>
              <a:lnSpc>
                <a:spcPts val="2684"/>
              </a:lnSpc>
              <a:spcBef>
                <a:spcPts val="0"/>
              </a:spcBef>
              <a:spcAft>
                <a:spcPts val="0"/>
              </a:spcAft>
            </a:pPr>
            <a:r>
              <a:rPr sz="2200" i="0">
                <a:solidFill>
                  <a:srgbClr val="E6E9EF"/>
                </a:solidFill>
                <a:latin typeface="Courier New"/>
              </a:rPr>
              <a:t>sonlar</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F78C6C"/>
                </a:solidFill>
                <a:latin typeface="Courier New"/>
              </a:rPr>
              <a:t>4</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1</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3</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2</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ikkinchi_kichik</a:t>
            </a:r>
            <a:r>
              <a:rPr sz="2200" i="0">
                <a:solidFill>
                  <a:srgbClr val="C3CCDA"/>
                </a:solidFill>
                <a:latin typeface="Courier New"/>
              </a:rPr>
              <a:t>(</a:t>
            </a:r>
            <a:r>
              <a:rPr sz="2200" i="0">
                <a:solidFill>
                  <a:srgbClr val="E6E9EF"/>
                </a:solidFill>
                <a:latin typeface="Courier New"/>
              </a:rPr>
              <a:t>sonlar</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sonlar</a:t>
            </a:r>
            <a:r>
              <a:rPr sz="2200" i="0">
                <a:solidFill>
                  <a:srgbClr val="C3CCDA"/>
                </a:solidFill>
                <a:latin typeface="Courier New"/>
              </a:rPr>
              <a:t>)</a:t>
            </a:r>
          </a:p>
        </p:txBody>
      </p:sp>
      <p:sp>
        <p:nvSpPr>
          <p:cNvPr id="7" name="TextBox 6"/>
          <p:cNvSpPr txBox="1"/>
          <p:nvPr/>
        </p:nvSpPr>
        <p:spPr>
          <a:xfrm>
            <a:off x="7334530" y="2148840"/>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A</a:t>
            </a:r>
          </a:p>
        </p:txBody>
      </p:sp>
      <p:sp>
        <p:nvSpPr>
          <p:cNvPr id="8" name="Choice A"/>
          <p:cNvSpPr txBox="1"/>
          <p:nvPr/>
        </p:nvSpPr>
        <p:spPr>
          <a:xfrm>
            <a:off x="7883170" y="2148840"/>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2 va [4, 1, 3, 2]</a:t>
            </a:r>
          </a:p>
        </p:txBody>
      </p:sp>
      <p:sp>
        <p:nvSpPr>
          <p:cNvPr id="9" name="TextBox 8"/>
          <p:cNvSpPr txBox="1"/>
          <p:nvPr/>
        </p:nvSpPr>
        <p:spPr>
          <a:xfrm>
            <a:off x="7334530" y="2715768"/>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B</a:t>
            </a:r>
          </a:p>
        </p:txBody>
      </p:sp>
      <p:sp>
        <p:nvSpPr>
          <p:cNvPr id="10" name="Choice B"/>
          <p:cNvSpPr txBox="1"/>
          <p:nvPr/>
        </p:nvSpPr>
        <p:spPr>
          <a:xfrm>
            <a:off x="7883170" y="2715768"/>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2 va [1, 2, 3, 4]</a:t>
            </a:r>
          </a:p>
        </p:txBody>
      </p:sp>
      <p:sp>
        <p:nvSpPr>
          <p:cNvPr id="11" name="TextBox 10"/>
          <p:cNvSpPr txBox="1"/>
          <p:nvPr/>
        </p:nvSpPr>
        <p:spPr>
          <a:xfrm>
            <a:off x="7334530" y="3282696"/>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C</a:t>
            </a:r>
          </a:p>
        </p:txBody>
      </p:sp>
      <p:sp>
        <p:nvSpPr>
          <p:cNvPr id="12" name="Choice C"/>
          <p:cNvSpPr txBox="1"/>
          <p:nvPr/>
        </p:nvSpPr>
        <p:spPr>
          <a:xfrm>
            <a:off x="7883170" y="3282696"/>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1 va [1, 2, 3, 4]</a:t>
            </a:r>
          </a:p>
        </p:txBody>
      </p:sp>
      <p:sp>
        <p:nvSpPr>
          <p:cNvPr id="13" name="TextBox 12"/>
          <p:cNvSpPr txBox="1"/>
          <p:nvPr/>
        </p:nvSpPr>
        <p:spPr>
          <a:xfrm>
            <a:off x="7334530" y="3849624"/>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D</a:t>
            </a:r>
          </a:p>
        </p:txBody>
      </p:sp>
      <p:sp>
        <p:nvSpPr>
          <p:cNvPr id="14" name="Choice D"/>
          <p:cNvSpPr txBox="1"/>
          <p:nvPr/>
        </p:nvSpPr>
        <p:spPr>
          <a:xfrm>
            <a:off x="7883170" y="3849624"/>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Xato</a:t>
            </a:r>
          </a:p>
        </p:txBody>
      </p:sp>
      <p:sp>
        <p:nvSpPr>
          <p:cNvPr id="15" name="Answer card"/>
          <p:cNvSpPr/>
          <p:nvPr/>
        </p:nvSpPr>
        <p:spPr>
          <a:xfrm>
            <a:off x="7334530" y="4507992"/>
            <a:ext cx="4217084" cy="1572768"/>
          </a:xfrm>
          <a:prstGeom prst="roundRect">
            <a:avLst>
              <a:gd name="adj" fmla="val 5000"/>
            </a:avLst>
          </a:prstGeom>
          <a:solidFill>
            <a:srgbClr val="EEF2F7"/>
          </a:solidFill>
          <a:ln>
            <a:noFill/>
          </a:ln>
        </p:spPr>
        <p:txBody>
          <a:bodyPr rtlCol="0" anchor="t" wrap="square" lIns="228600" rIns="228600" tIns="182880" bIns="182880">
            <a:noAutofit/>
          </a:bodyPr>
          <a:lstStyle/>
          <a:p>
            <a:pPr algn="l">
              <a:lnSpc>
                <a:spcPct val="115000"/>
              </a:lnSpc>
              <a:spcBef>
                <a:spcPts val="0"/>
              </a:spcBef>
              <a:spcAft>
                <a:spcPts val="800"/>
              </a:spcAft>
            </a:pPr>
            <a:r>
              <a:rPr sz="1900" b="1" i="0">
                <a:solidFill>
                  <a:srgbClr val="111111"/>
                </a:solidFill>
                <a:latin typeface="Arial"/>
              </a:rPr>
              <a:t>Javob:</a:t>
            </a:r>
            <a:r>
              <a:rPr sz="1900" b="0" i="0">
                <a:solidFill>
                  <a:srgbClr val="111111"/>
                </a:solidFill>
                <a:latin typeface="Arial"/>
              </a:rPr>
              <a:t> B — 2 va [1, 2, 3, 4]</a:t>
            </a:r>
          </a:p>
          <a:p>
            <a:pPr algn="l">
              <a:lnSpc>
                <a:spcPct val="115000"/>
              </a:lnSpc>
              <a:spcBef>
                <a:spcPts val="0"/>
              </a:spcBef>
              <a:spcAft>
                <a:spcPts val="800"/>
              </a:spcAft>
            </a:pPr>
            <a:r>
              <a:rPr sz="1900" b="0" i="0">
                <a:solidFill>
                  <a:srgbClr val="111111"/>
                </a:solidFill>
                <a:latin typeface="Arial"/>
              </a:rPr>
              <a:t>sort() asl ro'yxatni ham tartiblab qo'ydi.</a:t>
            </a:r>
          </a:p>
        </p:txBody>
      </p:sp>
      <p:sp>
        <p:nvSpPr>
          <p:cNvPr id="1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HAVOLALAR: BITTA RO'YXAT, IKKI NOM</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sorted() asl ro'yxatni saqlaydi: funksiya yon ta'sirsiz bo'ladi</a:t>
            </a:r>
          </a:p>
        </p:txBody>
      </p:sp>
      <p:sp>
        <p:nvSpPr>
          <p:cNvPr id="4" name="Code panel"/>
          <p:cNvSpPr/>
          <p:nvPr/>
        </p:nvSpPr>
        <p:spPr>
          <a:xfrm>
            <a:off x="640080" y="2148840"/>
            <a:ext cx="7985455" cy="3129280"/>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2726944"/>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a:p>
            <a:pPr>
              <a:lnSpc>
                <a:spcPts val="2684"/>
              </a:lnSpc>
              <a:spcBef>
                <a:spcPts val="0"/>
              </a:spcBef>
              <a:spcAft>
                <a:spcPts val="0"/>
              </a:spcAft>
            </a:pPr>
            <a:r>
              <a:rPr sz="2200" i="0">
                <a:solidFill>
                  <a:srgbClr val="8792A8"/>
                </a:solidFill>
                <a:latin typeface="Courier New"/>
              </a:rPr>
              <a:t>6</a:t>
            </a:r>
          </a:p>
          <a:p>
            <a:pPr>
              <a:lnSpc>
                <a:spcPts val="2684"/>
              </a:lnSpc>
              <a:spcBef>
                <a:spcPts val="0"/>
              </a:spcBef>
              <a:spcAft>
                <a:spcPts val="0"/>
              </a:spcAft>
            </a:pPr>
            <a:r>
              <a:rPr sz="2200" i="0">
                <a:solidFill>
                  <a:srgbClr val="8792A8"/>
                </a:solidFill>
                <a:latin typeface="Courier New"/>
              </a:rPr>
              <a:t>7</a:t>
            </a:r>
          </a:p>
          <a:p>
            <a:pPr>
              <a:lnSpc>
                <a:spcPts val="2684"/>
              </a:lnSpc>
              <a:spcBef>
                <a:spcPts val="0"/>
              </a:spcBef>
              <a:spcAft>
                <a:spcPts val="0"/>
              </a:spcAft>
            </a:pPr>
            <a:r>
              <a:rPr sz="2200" i="0">
                <a:solidFill>
                  <a:srgbClr val="8792A8"/>
                </a:solidFill>
                <a:latin typeface="Courier New"/>
              </a:rPr>
              <a:t>8</a:t>
            </a:r>
          </a:p>
        </p:txBody>
      </p:sp>
      <p:sp>
        <p:nvSpPr>
          <p:cNvPr id="6" name="Code"/>
          <p:cNvSpPr txBox="1"/>
          <p:nvPr/>
        </p:nvSpPr>
        <p:spPr>
          <a:xfrm>
            <a:off x="1399031" y="2350008"/>
            <a:ext cx="6970471" cy="2726944"/>
          </a:xfrm>
          <a:prstGeom prst="rect">
            <a:avLst/>
          </a:prstGeom>
          <a:noFill/>
        </p:spPr>
        <p:txBody>
          <a:bodyPr wrap="none" lIns="0" rIns="0" tIns="0" bIns="0">
            <a:noAutofit/>
          </a:bodyPr>
          <a:lstStyle/>
          <a:p>
            <a:pPr>
              <a:lnSpc>
                <a:spcPts val="2684"/>
              </a:lnSpc>
              <a:spcBef>
                <a:spcPts val="0"/>
              </a:spcBef>
              <a:spcAft>
                <a:spcPts val="0"/>
              </a:spcAft>
            </a:pPr>
            <a:r>
              <a:rPr sz="2200" i="0">
                <a:solidFill>
                  <a:srgbClr val="C792EA"/>
                </a:solidFill>
                <a:latin typeface="Courier New"/>
              </a:rPr>
              <a:t>def</a:t>
            </a:r>
            <a:r>
              <a:rPr sz="2200" i="0">
                <a:solidFill>
                  <a:srgbClr val="E6E9EF"/>
                </a:solidFill>
                <a:latin typeface="Courier New"/>
              </a:rPr>
              <a:t> </a:t>
            </a:r>
            <a:r>
              <a:rPr sz="2200" i="0">
                <a:solidFill>
                  <a:srgbClr val="82AAFF"/>
                </a:solidFill>
                <a:latin typeface="Courier New"/>
              </a:rPr>
              <a:t>ikkinchi_kichik</a:t>
            </a:r>
            <a:r>
              <a:rPr sz="2200" i="0">
                <a:solidFill>
                  <a:srgbClr val="C3CCDA"/>
                </a:solidFill>
                <a:latin typeface="Courier New"/>
              </a:rPr>
              <a:t>(</a:t>
            </a:r>
            <a:r>
              <a:rPr sz="2200" i="0">
                <a:solidFill>
                  <a:srgbClr val="E6E9EF"/>
                </a:solidFill>
                <a:latin typeface="Courier New"/>
              </a:rPr>
              <a:t>royxat</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r>
              <a:rPr sz="2200" i="0">
                <a:solidFill>
                  <a:srgbClr val="E6E9EF"/>
                </a:solidFill>
                <a:latin typeface="Courier New"/>
              </a:rPr>
              <a:t>nusxa</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FFCB6B"/>
                </a:solidFill>
                <a:latin typeface="Courier New"/>
              </a:rPr>
              <a:t>sorted</a:t>
            </a:r>
            <a:r>
              <a:rPr sz="2200" i="0">
                <a:solidFill>
                  <a:srgbClr val="C3CCDA"/>
                </a:solidFill>
                <a:latin typeface="Courier New"/>
              </a:rPr>
              <a:t>(</a:t>
            </a:r>
            <a:r>
              <a:rPr sz="2200" i="0">
                <a:solidFill>
                  <a:srgbClr val="E6E9EF"/>
                </a:solidFill>
                <a:latin typeface="Courier New"/>
              </a:rPr>
              <a:t>royxat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r>
              <a:rPr sz="2200" i="0">
                <a:solidFill>
                  <a:srgbClr val="C792EA"/>
                </a:solidFill>
                <a:latin typeface="Courier New"/>
              </a:rPr>
              <a:t>return</a:t>
            </a:r>
            <a:r>
              <a:rPr sz="2200" i="0">
                <a:solidFill>
                  <a:srgbClr val="E6E9EF"/>
                </a:solidFill>
                <a:latin typeface="Courier New"/>
              </a:rPr>
              <a:t> </a:t>
            </a:r>
            <a:r>
              <a:rPr sz="2200" i="0">
                <a:solidFill>
                  <a:srgbClr val="E6E9EF"/>
                </a:solidFill>
                <a:latin typeface="Courier New"/>
              </a:rPr>
              <a:t>nusxa</a:t>
            </a:r>
            <a:r>
              <a:rPr sz="2200" i="0">
                <a:solidFill>
                  <a:srgbClr val="C3CCDA"/>
                </a:solidFill>
                <a:latin typeface="Courier New"/>
              </a:rPr>
              <a:t>[</a:t>
            </a:r>
            <a:r>
              <a:rPr sz="2200" i="0">
                <a:solidFill>
                  <a:srgbClr val="F78C6C"/>
                </a:solidFill>
                <a:latin typeface="Courier New"/>
              </a:rPr>
              <a:t>1</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p>
          <a:p>
            <a:pPr>
              <a:lnSpc>
                <a:spcPts val="2684"/>
              </a:lnSpc>
              <a:spcBef>
                <a:spcPts val="0"/>
              </a:spcBef>
              <a:spcAft>
                <a:spcPts val="0"/>
              </a:spcAft>
            </a:pPr>
            <a:r>
              <a:rPr sz="2200" i="0">
                <a:solidFill>
                  <a:srgbClr val="E6E9EF"/>
                </a:solidFill>
                <a:latin typeface="Courier New"/>
              </a:rPr>
              <a:t> </a:t>
            </a:r>
          </a:p>
          <a:p>
            <a:pPr>
              <a:lnSpc>
                <a:spcPts val="2684"/>
              </a:lnSpc>
              <a:spcBef>
                <a:spcPts val="0"/>
              </a:spcBef>
              <a:spcAft>
                <a:spcPts val="0"/>
              </a:spcAft>
            </a:pPr>
            <a:r>
              <a:rPr sz="2200" i="0">
                <a:solidFill>
                  <a:srgbClr val="E6E9EF"/>
                </a:solidFill>
                <a:latin typeface="Courier New"/>
              </a:rPr>
              <a:t>sonlar</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F78C6C"/>
                </a:solidFill>
                <a:latin typeface="Courier New"/>
              </a:rPr>
              <a:t>4</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1</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3</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2</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ikkinchi_kichik</a:t>
            </a:r>
            <a:r>
              <a:rPr sz="2200" i="0">
                <a:solidFill>
                  <a:srgbClr val="C3CCDA"/>
                </a:solidFill>
                <a:latin typeface="Courier New"/>
              </a:rPr>
              <a:t>(</a:t>
            </a:r>
            <a:r>
              <a:rPr sz="2200" i="0">
                <a:solidFill>
                  <a:srgbClr val="E6E9EF"/>
                </a:solidFill>
                <a:latin typeface="Courier New"/>
              </a:rPr>
              <a:t>sonlar</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sonlar</a:t>
            </a:r>
            <a:r>
              <a:rPr sz="2200" i="0">
                <a:solidFill>
                  <a:srgbClr val="C3CCDA"/>
                </a:solidFill>
                <a:latin typeface="Courier New"/>
              </a:rPr>
              <a:t>)</a:t>
            </a:r>
          </a:p>
        </p:txBody>
      </p:sp>
      <p:sp>
        <p:nvSpPr>
          <p:cNvPr id="7" name="Output"/>
          <p:cNvSpPr/>
          <p:nvPr/>
        </p:nvSpPr>
        <p:spPr>
          <a:xfrm>
            <a:off x="8991295" y="2148840"/>
            <a:ext cx="2560320" cy="106045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900" i="0">
                <a:solidFill>
                  <a:srgbClr val="111111"/>
                </a:solidFill>
                <a:latin typeface="Courier New"/>
              </a:rPr>
              <a:t>2</a:t>
            </a:r>
          </a:p>
          <a:p>
            <a:pPr algn="l"/>
            <a:r>
              <a:rPr sz="1900" i="0">
                <a:solidFill>
                  <a:srgbClr val="111111"/>
                </a:solidFill>
                <a:latin typeface="Courier New"/>
              </a:rPr>
              <a:t>[4, 1, 3, 2]</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HAVOLALAR: BITTA RO'YXAT, IKKI NOM</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Ro'yxat parametr bo'lsa, funksiya istalgan sondagi ball uchun ishlaydi</a:t>
            </a:r>
          </a:p>
        </p:txBody>
      </p:sp>
      <p:sp>
        <p:nvSpPr>
          <p:cNvPr id="4" name="Code panel"/>
          <p:cNvSpPr/>
          <p:nvPr/>
        </p:nvSpPr>
        <p:spPr>
          <a:xfrm>
            <a:off x="640080" y="2148840"/>
            <a:ext cx="7314895" cy="3470148"/>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3067812"/>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a:p>
            <a:pPr>
              <a:lnSpc>
                <a:spcPts val="2684"/>
              </a:lnSpc>
              <a:spcBef>
                <a:spcPts val="0"/>
              </a:spcBef>
              <a:spcAft>
                <a:spcPts val="0"/>
              </a:spcAft>
            </a:pPr>
            <a:r>
              <a:rPr sz="2200" i="0">
                <a:solidFill>
                  <a:srgbClr val="8792A8"/>
                </a:solidFill>
                <a:latin typeface="Courier New"/>
              </a:rPr>
              <a:t>6</a:t>
            </a:r>
          </a:p>
          <a:p>
            <a:pPr>
              <a:lnSpc>
                <a:spcPts val="2684"/>
              </a:lnSpc>
              <a:spcBef>
                <a:spcPts val="0"/>
              </a:spcBef>
              <a:spcAft>
                <a:spcPts val="0"/>
              </a:spcAft>
            </a:pPr>
            <a:r>
              <a:rPr sz="2200" i="0">
                <a:solidFill>
                  <a:srgbClr val="8792A8"/>
                </a:solidFill>
                <a:latin typeface="Courier New"/>
              </a:rPr>
              <a:t>7</a:t>
            </a:r>
          </a:p>
          <a:p>
            <a:pPr>
              <a:lnSpc>
                <a:spcPts val="2684"/>
              </a:lnSpc>
              <a:spcBef>
                <a:spcPts val="0"/>
              </a:spcBef>
              <a:spcAft>
                <a:spcPts val="0"/>
              </a:spcAft>
            </a:pPr>
            <a:r>
              <a:rPr sz="2200" i="0">
                <a:solidFill>
                  <a:srgbClr val="8792A8"/>
                </a:solidFill>
                <a:latin typeface="Courier New"/>
              </a:rPr>
              <a:t>8</a:t>
            </a:r>
          </a:p>
          <a:p>
            <a:pPr>
              <a:lnSpc>
                <a:spcPts val="2684"/>
              </a:lnSpc>
              <a:spcBef>
                <a:spcPts val="0"/>
              </a:spcBef>
              <a:spcAft>
                <a:spcPts val="0"/>
              </a:spcAft>
            </a:pPr>
            <a:r>
              <a:rPr sz="2200" i="0">
                <a:solidFill>
                  <a:srgbClr val="8792A8"/>
                </a:solidFill>
                <a:latin typeface="Courier New"/>
              </a:rPr>
              <a:t>9</a:t>
            </a:r>
          </a:p>
        </p:txBody>
      </p:sp>
      <p:sp>
        <p:nvSpPr>
          <p:cNvPr id="6" name="Code"/>
          <p:cNvSpPr txBox="1"/>
          <p:nvPr/>
        </p:nvSpPr>
        <p:spPr>
          <a:xfrm>
            <a:off x="1399031" y="2350008"/>
            <a:ext cx="6299911" cy="3067812"/>
          </a:xfrm>
          <a:prstGeom prst="rect">
            <a:avLst/>
          </a:prstGeom>
          <a:noFill/>
        </p:spPr>
        <p:txBody>
          <a:bodyPr wrap="none" lIns="0" rIns="0" tIns="0" bIns="0">
            <a:noAutofit/>
          </a:bodyPr>
          <a:lstStyle/>
          <a:p>
            <a:pPr>
              <a:lnSpc>
                <a:spcPts val="2684"/>
              </a:lnSpc>
              <a:spcBef>
                <a:spcPts val="0"/>
              </a:spcBef>
              <a:spcAft>
                <a:spcPts val="0"/>
              </a:spcAft>
            </a:pPr>
            <a:r>
              <a:rPr sz="2200" i="0">
                <a:solidFill>
                  <a:srgbClr val="C792EA"/>
                </a:solidFill>
                <a:latin typeface="Courier New"/>
              </a:rPr>
              <a:t>def</a:t>
            </a:r>
            <a:r>
              <a:rPr sz="2200" i="0">
                <a:solidFill>
                  <a:srgbClr val="E6E9EF"/>
                </a:solidFill>
                <a:latin typeface="Courier New"/>
              </a:rPr>
              <a:t> </a:t>
            </a:r>
            <a:r>
              <a:rPr sz="2200" i="0">
                <a:solidFill>
                  <a:srgbClr val="82AAFF"/>
                </a:solidFill>
                <a:latin typeface="Courier New"/>
              </a:rPr>
              <a:t>ortacha</a:t>
            </a:r>
            <a:r>
              <a:rPr sz="2200" i="0">
                <a:solidFill>
                  <a:srgbClr val="C3CCDA"/>
                </a:solidFill>
                <a:latin typeface="Courier New"/>
              </a:rPr>
              <a:t>(</a:t>
            </a:r>
            <a:r>
              <a:rPr sz="2200" i="0">
                <a:solidFill>
                  <a:srgbClr val="E6E9EF"/>
                </a:solidFill>
                <a:latin typeface="Courier New"/>
              </a:rPr>
              <a:t>ballar</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r>
              <a:rPr sz="2200" i="0">
                <a:solidFill>
                  <a:srgbClr val="E6E9EF"/>
                </a:solidFill>
                <a:latin typeface="Courier New"/>
              </a:rPr>
              <a:t>jami</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F78C6C"/>
                </a:solidFill>
                <a:latin typeface="Courier New"/>
              </a:rPr>
              <a:t>0</a:t>
            </a:r>
          </a:p>
          <a:p>
            <a:pPr>
              <a:lnSpc>
                <a:spcPts val="2684"/>
              </a:lnSpc>
              <a:spcBef>
                <a:spcPts val="0"/>
              </a:spcBef>
              <a:spcAft>
                <a:spcPts val="0"/>
              </a:spcAft>
            </a:pPr>
            <a:r>
              <a:rPr sz="2200" i="0">
                <a:solidFill>
                  <a:srgbClr val="E6E9EF"/>
                </a:solidFill>
                <a:latin typeface="Courier New"/>
              </a:rPr>
              <a:t>    </a:t>
            </a:r>
            <a:r>
              <a:rPr sz="2200" i="0">
                <a:solidFill>
                  <a:srgbClr val="C792EA"/>
                </a:solidFill>
                <a:latin typeface="Courier New"/>
              </a:rPr>
              <a:t>for</a:t>
            </a:r>
            <a:r>
              <a:rPr sz="2200" i="0">
                <a:solidFill>
                  <a:srgbClr val="E6E9EF"/>
                </a:solidFill>
                <a:latin typeface="Courier New"/>
              </a:rPr>
              <a:t> </a:t>
            </a:r>
            <a:r>
              <a:rPr sz="2200" i="0">
                <a:solidFill>
                  <a:srgbClr val="E6E9EF"/>
                </a:solidFill>
                <a:latin typeface="Courier New"/>
              </a:rPr>
              <a:t>ball</a:t>
            </a:r>
            <a:r>
              <a:rPr sz="2200" i="0">
                <a:solidFill>
                  <a:srgbClr val="E6E9EF"/>
                </a:solidFill>
                <a:latin typeface="Courier New"/>
              </a:rPr>
              <a:t> </a:t>
            </a:r>
            <a:r>
              <a:rPr sz="2200" i="0">
                <a:solidFill>
                  <a:srgbClr val="C792EA"/>
                </a:solidFill>
                <a:latin typeface="Courier New"/>
              </a:rPr>
              <a:t>in</a:t>
            </a:r>
            <a:r>
              <a:rPr sz="2200" i="0">
                <a:solidFill>
                  <a:srgbClr val="E6E9EF"/>
                </a:solidFill>
                <a:latin typeface="Courier New"/>
              </a:rPr>
              <a:t> </a:t>
            </a:r>
            <a:r>
              <a:rPr sz="2200" i="0">
                <a:solidFill>
                  <a:srgbClr val="E6E9EF"/>
                </a:solidFill>
                <a:latin typeface="Courier New"/>
              </a:rPr>
              <a:t>ballar</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r>
              <a:rPr sz="2200" i="0">
                <a:solidFill>
                  <a:srgbClr val="E6E9EF"/>
                </a:solidFill>
                <a:latin typeface="Courier New"/>
              </a:rPr>
              <a:t>jami</a:t>
            </a:r>
            <a:r>
              <a:rPr sz="2200" i="0">
                <a:solidFill>
                  <a:srgbClr val="E6E9EF"/>
                </a:solidFill>
                <a:latin typeface="Courier New"/>
              </a:rPr>
              <a:t> </a:t>
            </a:r>
            <a:r>
              <a:rPr sz="2200" i="0">
                <a:solidFill>
                  <a:srgbClr val="89DDFF"/>
                </a:solidFill>
                <a:latin typeface="Courier New"/>
              </a:rPr>
              <a:t>+</a:t>
            </a:r>
            <a:r>
              <a:rPr sz="2200" i="0">
                <a:solidFill>
                  <a:srgbClr val="89DDFF"/>
                </a:solidFill>
                <a:latin typeface="Courier New"/>
              </a:rPr>
              <a:t>=</a:t>
            </a:r>
            <a:r>
              <a:rPr sz="2200" i="0">
                <a:solidFill>
                  <a:srgbClr val="E6E9EF"/>
                </a:solidFill>
                <a:latin typeface="Courier New"/>
              </a:rPr>
              <a:t> </a:t>
            </a:r>
            <a:r>
              <a:rPr sz="2200" i="0">
                <a:solidFill>
                  <a:srgbClr val="E6E9EF"/>
                </a:solidFill>
                <a:latin typeface="Courier New"/>
              </a:rPr>
              <a:t>ball</a:t>
            </a:r>
          </a:p>
          <a:p>
            <a:pPr>
              <a:lnSpc>
                <a:spcPts val="2684"/>
              </a:lnSpc>
              <a:spcBef>
                <a:spcPts val="0"/>
              </a:spcBef>
              <a:spcAft>
                <a:spcPts val="0"/>
              </a:spcAft>
            </a:pPr>
            <a:r>
              <a:rPr sz="2200" i="0">
                <a:solidFill>
                  <a:srgbClr val="E6E9EF"/>
                </a:solidFill>
                <a:latin typeface="Courier New"/>
              </a:rPr>
              <a:t>    </a:t>
            </a:r>
            <a:r>
              <a:rPr sz="2200" i="0">
                <a:solidFill>
                  <a:srgbClr val="C792EA"/>
                </a:solidFill>
                <a:latin typeface="Courier New"/>
              </a:rPr>
              <a:t>return</a:t>
            </a:r>
            <a:r>
              <a:rPr sz="2200" i="0">
                <a:solidFill>
                  <a:srgbClr val="E6E9EF"/>
                </a:solidFill>
                <a:latin typeface="Courier New"/>
              </a:rPr>
              <a:t> </a:t>
            </a:r>
            <a:r>
              <a:rPr sz="2200" i="0">
                <a:solidFill>
                  <a:srgbClr val="E6E9EF"/>
                </a:solidFill>
                <a:latin typeface="Courier New"/>
              </a:rPr>
              <a:t>jami</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FFCB6B"/>
                </a:solidFill>
                <a:latin typeface="Courier New"/>
              </a:rPr>
              <a:t>len</a:t>
            </a:r>
            <a:r>
              <a:rPr sz="2200" i="0">
                <a:solidFill>
                  <a:srgbClr val="C3CCDA"/>
                </a:solidFill>
                <a:latin typeface="Courier New"/>
              </a:rPr>
              <a:t>(</a:t>
            </a:r>
            <a:r>
              <a:rPr sz="2200" i="0">
                <a:solidFill>
                  <a:srgbClr val="E6E9EF"/>
                </a:solidFill>
                <a:latin typeface="Courier New"/>
              </a:rPr>
              <a:t>ballar</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 </a:t>
            </a:r>
          </a:p>
          <a:p>
            <a:pPr>
              <a:lnSpc>
                <a:spcPts val="2684"/>
              </a:lnSpc>
              <a:spcBef>
                <a:spcPts val="0"/>
              </a:spcBef>
              <a:spcAft>
                <a:spcPts val="0"/>
              </a:spcAft>
            </a:pPr>
            <a:r>
              <a:rPr sz="2200" i="0">
                <a:solidFill>
                  <a:srgbClr val="E6E9EF"/>
                </a:solidFill>
                <a:latin typeface="Courier New"/>
              </a:rPr>
              <a:t> </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ortacha</a:t>
            </a:r>
            <a:r>
              <a:rPr sz="2200" i="0">
                <a:solidFill>
                  <a:srgbClr val="C3CCDA"/>
                </a:solidFill>
                <a:latin typeface="Courier New"/>
              </a:rPr>
              <a:t>(</a:t>
            </a:r>
            <a:r>
              <a:rPr sz="2200" i="0">
                <a:solidFill>
                  <a:srgbClr val="C3CCDA"/>
                </a:solidFill>
                <a:latin typeface="Courier New"/>
              </a:rPr>
              <a:t>[</a:t>
            </a:r>
            <a:r>
              <a:rPr sz="2200" i="0">
                <a:solidFill>
                  <a:srgbClr val="F78C6C"/>
                </a:solidFill>
                <a:latin typeface="Courier New"/>
              </a:rPr>
              <a:t>70</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85</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90</a:t>
            </a:r>
            <a:r>
              <a:rPr sz="2200" i="0">
                <a:solidFill>
                  <a:srgbClr val="C3CCDA"/>
                </a:solidFill>
                <a:latin typeface="Courier New"/>
              </a:rPr>
              <a:t>]</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ortacha</a:t>
            </a:r>
            <a:r>
              <a:rPr sz="2200" i="0">
                <a:solidFill>
                  <a:srgbClr val="C3CCDA"/>
                </a:solidFill>
                <a:latin typeface="Courier New"/>
              </a:rPr>
              <a:t>(</a:t>
            </a:r>
            <a:r>
              <a:rPr sz="2200" i="0">
                <a:solidFill>
                  <a:srgbClr val="C3CCDA"/>
                </a:solidFill>
                <a:latin typeface="Courier New"/>
              </a:rPr>
              <a:t>[</a:t>
            </a:r>
            <a:r>
              <a:rPr sz="2200" i="0">
                <a:solidFill>
                  <a:srgbClr val="F78C6C"/>
                </a:solidFill>
                <a:latin typeface="Courier New"/>
              </a:rPr>
              <a:t>70</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85</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90</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60</a:t>
            </a:r>
            <a:r>
              <a:rPr sz="2200" i="0">
                <a:solidFill>
                  <a:srgbClr val="C3CCDA"/>
                </a:solidFill>
                <a:latin typeface="Courier New"/>
              </a:rPr>
              <a:t>]</a:t>
            </a:r>
            <a:r>
              <a:rPr sz="2200" i="0">
                <a:solidFill>
                  <a:srgbClr val="C3CCDA"/>
                </a:solidFill>
                <a:latin typeface="Courier New"/>
              </a:rPr>
              <a:t>)</a:t>
            </a:r>
            <a:r>
              <a:rPr sz="2200" i="0">
                <a:solidFill>
                  <a:srgbClr val="C3CCDA"/>
                </a:solidFill>
                <a:latin typeface="Courier New"/>
              </a:rPr>
              <a:t>)</a:t>
            </a:r>
          </a:p>
        </p:txBody>
      </p:sp>
      <p:sp>
        <p:nvSpPr>
          <p:cNvPr id="7" name="Output"/>
          <p:cNvSpPr/>
          <p:nvPr/>
        </p:nvSpPr>
        <p:spPr>
          <a:xfrm>
            <a:off x="8320735" y="2148840"/>
            <a:ext cx="3230880" cy="10287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800" i="0">
                <a:solidFill>
                  <a:srgbClr val="111111"/>
                </a:solidFill>
                <a:latin typeface="Courier New"/>
              </a:rPr>
              <a:t>81.66666666666667</a:t>
            </a:r>
          </a:p>
          <a:p>
            <a:pPr algn="l"/>
            <a:r>
              <a:rPr sz="1800" i="0">
                <a:solidFill>
                  <a:srgbClr val="111111"/>
                </a:solidFill>
                <a:latin typeface="Courier New"/>
              </a:rPr>
              <a:t>76.25</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05</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To'plam</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TO'PLAM</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To'plam har bir qiymatni faqat bir marta saqlaydi</a:t>
            </a:r>
          </a:p>
        </p:txBody>
      </p:sp>
      <p:sp>
        <p:nvSpPr>
          <p:cNvPr id="4" name="Code panel"/>
          <p:cNvSpPr/>
          <p:nvPr/>
        </p:nvSpPr>
        <p:spPr>
          <a:xfrm>
            <a:off x="640080" y="2148840"/>
            <a:ext cx="7985455" cy="1548892"/>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422909" cy="1146556"/>
          </a:xfrm>
          <a:prstGeom prst="rect">
            <a:avLst/>
          </a:prstGeom>
          <a:noFill/>
        </p:spPr>
        <p:txBody>
          <a:bodyPr wrap="none" lIns="0" rIns="0" tIns="0" bIns="0">
            <a:noAutofit/>
          </a:bodyPr>
          <a:lstStyle/>
          <a:p>
            <a:pPr>
              <a:lnSpc>
                <a:spcPts val="2257"/>
              </a:lnSpc>
              <a:spcBef>
                <a:spcPts val="0"/>
              </a:spcBef>
              <a:spcAft>
                <a:spcPts val="0"/>
              </a:spcAft>
            </a:pPr>
            <a:r>
              <a:rPr sz="1850" i="0">
                <a:solidFill>
                  <a:srgbClr val="8792A8"/>
                </a:solidFill>
                <a:latin typeface="Courier New"/>
              </a:rPr>
              <a:t>1</a:t>
            </a:r>
          </a:p>
          <a:p>
            <a:pPr>
              <a:lnSpc>
                <a:spcPts val="2257"/>
              </a:lnSpc>
              <a:spcBef>
                <a:spcPts val="0"/>
              </a:spcBef>
              <a:spcAft>
                <a:spcPts val="0"/>
              </a:spcAft>
            </a:pPr>
            <a:r>
              <a:rPr sz="1850" i="0">
                <a:solidFill>
                  <a:srgbClr val="8792A8"/>
                </a:solidFill>
                <a:latin typeface="Courier New"/>
              </a:rPr>
              <a:t>2</a:t>
            </a:r>
          </a:p>
          <a:p>
            <a:pPr>
              <a:lnSpc>
                <a:spcPts val="2257"/>
              </a:lnSpc>
              <a:spcBef>
                <a:spcPts val="0"/>
              </a:spcBef>
              <a:spcAft>
                <a:spcPts val="0"/>
              </a:spcAft>
            </a:pPr>
            <a:r>
              <a:rPr sz="1850" i="0">
                <a:solidFill>
                  <a:srgbClr val="8792A8"/>
                </a:solidFill>
                <a:latin typeface="Courier New"/>
              </a:rPr>
              <a:t>3</a:t>
            </a:r>
          </a:p>
          <a:p>
            <a:pPr>
              <a:lnSpc>
                <a:spcPts val="2257"/>
              </a:lnSpc>
              <a:spcBef>
                <a:spcPts val="0"/>
              </a:spcBef>
              <a:spcAft>
                <a:spcPts val="0"/>
              </a:spcAft>
            </a:pPr>
            <a:r>
              <a:rPr sz="1850" i="0">
                <a:solidFill>
                  <a:srgbClr val="8792A8"/>
                </a:solidFill>
                <a:latin typeface="Courier New"/>
              </a:rPr>
              <a:t>4</a:t>
            </a:r>
          </a:p>
        </p:txBody>
      </p:sp>
      <p:sp>
        <p:nvSpPr>
          <p:cNvPr id="6" name="Code"/>
          <p:cNvSpPr txBox="1"/>
          <p:nvPr/>
        </p:nvSpPr>
        <p:spPr>
          <a:xfrm>
            <a:off x="1319022" y="2350008"/>
            <a:ext cx="7050481" cy="1146556"/>
          </a:xfrm>
          <a:prstGeom prst="rect">
            <a:avLst/>
          </a:prstGeom>
          <a:noFill/>
        </p:spPr>
        <p:txBody>
          <a:bodyPr wrap="none" lIns="0" rIns="0" tIns="0" bIns="0">
            <a:noAutofit/>
          </a:bodyPr>
          <a:lstStyle/>
          <a:p>
            <a:pPr>
              <a:lnSpc>
                <a:spcPts val="2257"/>
              </a:lnSpc>
              <a:spcBef>
                <a:spcPts val="0"/>
              </a:spcBef>
              <a:spcAft>
                <a:spcPts val="0"/>
              </a:spcAft>
            </a:pPr>
            <a:r>
              <a:rPr sz="1850" i="0">
                <a:solidFill>
                  <a:srgbClr val="E6E9EF"/>
                </a:solidFill>
                <a:latin typeface="Courier New"/>
              </a:rPr>
              <a:t>shaharlar</a:t>
            </a:r>
            <a:r>
              <a:rPr sz="1850" i="0">
                <a:solidFill>
                  <a:srgbClr val="E6E9EF"/>
                </a:solidFill>
                <a:latin typeface="Courier New"/>
              </a:rPr>
              <a:t> </a:t>
            </a:r>
            <a:r>
              <a:rPr sz="1850" i="0">
                <a:solidFill>
                  <a:srgbClr val="89DDFF"/>
                </a:solidFill>
                <a:latin typeface="Courier New"/>
              </a:rPr>
              <a:t>=</a:t>
            </a:r>
            <a:r>
              <a:rPr sz="1850" i="0">
                <a:solidFill>
                  <a:srgbClr val="E6E9EF"/>
                </a:solidFill>
                <a:latin typeface="Courier New"/>
              </a:rPr>
              <a:t> </a:t>
            </a:r>
            <a:r>
              <a:rPr sz="1850" i="0">
                <a:solidFill>
                  <a:srgbClr val="C3CCDA"/>
                </a:solidFill>
                <a:latin typeface="Courier New"/>
              </a:rPr>
              <a:t>{</a:t>
            </a:r>
            <a:r>
              <a:rPr sz="1850" i="0">
                <a:solidFill>
                  <a:srgbClr val="A5E3A1"/>
                </a:solidFill>
                <a:latin typeface="Courier New"/>
              </a:rPr>
              <a:t>"</a:t>
            </a:r>
            <a:r>
              <a:rPr sz="1850" i="0">
                <a:solidFill>
                  <a:srgbClr val="A5E3A1"/>
                </a:solidFill>
                <a:latin typeface="Courier New"/>
              </a:rPr>
              <a:t>Toshkent</a:t>
            </a:r>
            <a:r>
              <a:rPr sz="1850" i="0">
                <a:solidFill>
                  <a:srgbClr val="A5E3A1"/>
                </a:solidFill>
                <a:latin typeface="Courier New"/>
              </a:rPr>
              <a:t>"</a:t>
            </a:r>
            <a:r>
              <a:rPr sz="1850" i="0">
                <a:solidFill>
                  <a:srgbClr val="C3CCDA"/>
                </a:solidFill>
                <a:latin typeface="Courier New"/>
              </a:rPr>
              <a:t>,</a:t>
            </a:r>
            <a:r>
              <a:rPr sz="1850" i="0">
                <a:solidFill>
                  <a:srgbClr val="E6E9EF"/>
                </a:solidFill>
                <a:latin typeface="Courier New"/>
              </a:rPr>
              <a:t> </a:t>
            </a:r>
            <a:r>
              <a:rPr sz="1850" i="0">
                <a:solidFill>
                  <a:srgbClr val="A5E3A1"/>
                </a:solidFill>
                <a:latin typeface="Courier New"/>
              </a:rPr>
              <a:t>"</a:t>
            </a:r>
            <a:r>
              <a:rPr sz="1850" i="0">
                <a:solidFill>
                  <a:srgbClr val="A5E3A1"/>
                </a:solidFill>
                <a:latin typeface="Courier New"/>
              </a:rPr>
              <a:t>Samarqand</a:t>
            </a:r>
            <a:r>
              <a:rPr sz="1850" i="0">
                <a:solidFill>
                  <a:srgbClr val="A5E3A1"/>
                </a:solidFill>
                <a:latin typeface="Courier New"/>
              </a:rPr>
              <a:t>"</a:t>
            </a:r>
            <a:r>
              <a:rPr sz="1850" i="0">
                <a:solidFill>
                  <a:srgbClr val="C3CCDA"/>
                </a:solidFill>
                <a:latin typeface="Courier New"/>
              </a:rPr>
              <a:t>,</a:t>
            </a:r>
            <a:r>
              <a:rPr sz="1850" i="0">
                <a:solidFill>
                  <a:srgbClr val="E6E9EF"/>
                </a:solidFill>
                <a:latin typeface="Courier New"/>
              </a:rPr>
              <a:t> </a:t>
            </a:r>
            <a:r>
              <a:rPr sz="1850" i="0">
                <a:solidFill>
                  <a:srgbClr val="A5E3A1"/>
                </a:solidFill>
                <a:latin typeface="Courier New"/>
              </a:rPr>
              <a:t>"</a:t>
            </a:r>
            <a:r>
              <a:rPr sz="1850" i="0">
                <a:solidFill>
                  <a:srgbClr val="A5E3A1"/>
                </a:solidFill>
                <a:latin typeface="Courier New"/>
              </a:rPr>
              <a:t>Toshkent</a:t>
            </a:r>
            <a:r>
              <a:rPr sz="1850" i="0">
                <a:solidFill>
                  <a:srgbClr val="A5E3A1"/>
                </a:solidFill>
                <a:latin typeface="Courier New"/>
              </a:rPr>
              <a:t>"</a:t>
            </a:r>
            <a:r>
              <a:rPr sz="1850" i="0">
                <a:solidFill>
                  <a:srgbClr val="C3CCDA"/>
                </a:solidFill>
                <a:latin typeface="Courier New"/>
              </a:rPr>
              <a:t>}</a:t>
            </a:r>
          </a:p>
          <a:p>
            <a:pPr>
              <a:lnSpc>
                <a:spcPts val="2257"/>
              </a:lnSpc>
              <a:spcBef>
                <a:spcPts val="0"/>
              </a:spcBef>
              <a:spcAft>
                <a:spcPts val="0"/>
              </a:spcAft>
            </a:pPr>
            <a:r>
              <a:rPr sz="1850" i="0">
                <a:solidFill>
                  <a:srgbClr val="FFCB6B"/>
                </a:solidFill>
                <a:latin typeface="Courier New"/>
              </a:rPr>
              <a:t>print</a:t>
            </a:r>
            <a:r>
              <a:rPr sz="1850" i="0">
                <a:solidFill>
                  <a:srgbClr val="C3CCDA"/>
                </a:solidFill>
                <a:latin typeface="Courier New"/>
              </a:rPr>
              <a:t>(</a:t>
            </a:r>
            <a:r>
              <a:rPr sz="1850" i="0">
                <a:solidFill>
                  <a:srgbClr val="FFCB6B"/>
                </a:solidFill>
                <a:latin typeface="Courier New"/>
              </a:rPr>
              <a:t>len</a:t>
            </a:r>
            <a:r>
              <a:rPr sz="1850" i="0">
                <a:solidFill>
                  <a:srgbClr val="C3CCDA"/>
                </a:solidFill>
                <a:latin typeface="Courier New"/>
              </a:rPr>
              <a:t>(</a:t>
            </a:r>
            <a:r>
              <a:rPr sz="1850" i="0">
                <a:solidFill>
                  <a:srgbClr val="E6E9EF"/>
                </a:solidFill>
                <a:latin typeface="Courier New"/>
              </a:rPr>
              <a:t>shaharlar</a:t>
            </a:r>
            <a:r>
              <a:rPr sz="1850" i="0">
                <a:solidFill>
                  <a:srgbClr val="C3CCDA"/>
                </a:solidFill>
                <a:latin typeface="Courier New"/>
              </a:rPr>
              <a:t>)</a:t>
            </a:r>
            <a:r>
              <a:rPr sz="1850" i="0">
                <a:solidFill>
                  <a:srgbClr val="C3CCDA"/>
                </a:solidFill>
                <a:latin typeface="Courier New"/>
              </a:rPr>
              <a:t>)</a:t>
            </a:r>
          </a:p>
          <a:p>
            <a:pPr>
              <a:lnSpc>
                <a:spcPts val="2257"/>
              </a:lnSpc>
              <a:spcBef>
                <a:spcPts val="0"/>
              </a:spcBef>
              <a:spcAft>
                <a:spcPts val="0"/>
              </a:spcAft>
            </a:pPr>
            <a:r>
              <a:rPr sz="1850" i="0">
                <a:solidFill>
                  <a:srgbClr val="E6E9EF"/>
                </a:solidFill>
                <a:latin typeface="Courier New"/>
              </a:rPr>
              <a:t>bosh</a:t>
            </a:r>
            <a:r>
              <a:rPr sz="1850" i="0">
                <a:solidFill>
                  <a:srgbClr val="E6E9EF"/>
                </a:solidFill>
                <a:latin typeface="Courier New"/>
              </a:rPr>
              <a:t> </a:t>
            </a:r>
            <a:r>
              <a:rPr sz="1850" i="0">
                <a:solidFill>
                  <a:srgbClr val="89DDFF"/>
                </a:solidFill>
                <a:latin typeface="Courier New"/>
              </a:rPr>
              <a:t>=</a:t>
            </a:r>
            <a:r>
              <a:rPr sz="1850" i="0">
                <a:solidFill>
                  <a:srgbClr val="E6E9EF"/>
                </a:solidFill>
                <a:latin typeface="Courier New"/>
              </a:rPr>
              <a:t> </a:t>
            </a:r>
            <a:r>
              <a:rPr sz="1850" i="0">
                <a:solidFill>
                  <a:srgbClr val="FFCB6B"/>
                </a:solidFill>
                <a:latin typeface="Courier New"/>
              </a:rPr>
              <a:t>set</a:t>
            </a:r>
            <a:r>
              <a:rPr sz="1850" i="0">
                <a:solidFill>
                  <a:srgbClr val="C3CCDA"/>
                </a:solidFill>
                <a:latin typeface="Courier New"/>
              </a:rPr>
              <a:t>(</a:t>
            </a:r>
            <a:r>
              <a:rPr sz="1850" i="0">
                <a:solidFill>
                  <a:srgbClr val="C3CCDA"/>
                </a:solidFill>
                <a:latin typeface="Courier New"/>
              </a:rPr>
              <a:t>)</a:t>
            </a:r>
          </a:p>
          <a:p>
            <a:pPr>
              <a:lnSpc>
                <a:spcPts val="2257"/>
              </a:lnSpc>
              <a:spcBef>
                <a:spcPts val="0"/>
              </a:spcBef>
              <a:spcAft>
                <a:spcPts val="0"/>
              </a:spcAft>
            </a:pPr>
            <a:r>
              <a:rPr sz="1850" i="0">
                <a:solidFill>
                  <a:srgbClr val="FFCB6B"/>
                </a:solidFill>
                <a:latin typeface="Courier New"/>
              </a:rPr>
              <a:t>print</a:t>
            </a:r>
            <a:r>
              <a:rPr sz="1850" i="0">
                <a:solidFill>
                  <a:srgbClr val="C3CCDA"/>
                </a:solidFill>
                <a:latin typeface="Courier New"/>
              </a:rPr>
              <a:t>(</a:t>
            </a:r>
            <a:r>
              <a:rPr sz="1850" i="0">
                <a:solidFill>
                  <a:srgbClr val="FFCB6B"/>
                </a:solidFill>
                <a:latin typeface="Courier New"/>
              </a:rPr>
              <a:t>len</a:t>
            </a:r>
            <a:r>
              <a:rPr sz="1850" i="0">
                <a:solidFill>
                  <a:srgbClr val="C3CCDA"/>
                </a:solidFill>
                <a:latin typeface="Courier New"/>
              </a:rPr>
              <a:t>(</a:t>
            </a:r>
            <a:r>
              <a:rPr sz="1850" i="0">
                <a:solidFill>
                  <a:srgbClr val="E6E9EF"/>
                </a:solidFill>
                <a:latin typeface="Courier New"/>
              </a:rPr>
              <a:t>bosh</a:t>
            </a:r>
            <a:r>
              <a:rPr sz="1850" i="0">
                <a:solidFill>
                  <a:srgbClr val="C3CCDA"/>
                </a:solidFill>
                <a:latin typeface="Courier New"/>
              </a:rPr>
              <a:t>)</a:t>
            </a:r>
            <a:r>
              <a:rPr sz="1850" i="0">
                <a:solidFill>
                  <a:srgbClr val="C3CCDA"/>
                </a:solidFill>
                <a:latin typeface="Courier New"/>
              </a:rPr>
              <a:t>)</a:t>
            </a:r>
          </a:p>
        </p:txBody>
      </p:sp>
      <p:sp>
        <p:nvSpPr>
          <p:cNvPr id="7" name="Output"/>
          <p:cNvSpPr/>
          <p:nvPr/>
        </p:nvSpPr>
        <p:spPr>
          <a:xfrm>
            <a:off x="8991295" y="2148840"/>
            <a:ext cx="2560320" cy="12192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2400" i="0">
                <a:solidFill>
                  <a:srgbClr val="111111"/>
                </a:solidFill>
                <a:latin typeface="Courier New"/>
              </a:rPr>
              <a:t>2</a:t>
            </a:r>
          </a:p>
          <a:p>
            <a:pPr algn="l"/>
            <a:r>
              <a:rPr sz="2400" i="0">
                <a:solidFill>
                  <a:srgbClr val="111111"/>
                </a:solidFill>
                <a:latin typeface="Courier New"/>
              </a:rPr>
              <a:t>0</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TO'PLAM</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To'plamda tartib yo'q, shuning uchun indeks ham yo'q</a:t>
            </a:r>
          </a:p>
        </p:txBody>
      </p:sp>
      <p:sp>
        <p:nvSpPr>
          <p:cNvPr id="4" name="Code panel"/>
          <p:cNvSpPr/>
          <p:nvPr/>
        </p:nvSpPr>
        <p:spPr>
          <a:xfrm>
            <a:off x="640080" y="2148840"/>
            <a:ext cx="10911535" cy="1084072"/>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681736"/>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p:txBody>
      </p:sp>
      <p:sp>
        <p:nvSpPr>
          <p:cNvPr id="6" name="Code"/>
          <p:cNvSpPr txBox="1"/>
          <p:nvPr/>
        </p:nvSpPr>
        <p:spPr>
          <a:xfrm>
            <a:off x="1399031" y="2350008"/>
            <a:ext cx="9896551" cy="681736"/>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shaharlar</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Toshkent</a:t>
            </a:r>
            <a:r>
              <a:rPr sz="2200" i="0">
                <a:solidFill>
                  <a:srgbClr val="A5E3A1"/>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Samarqand</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E6E9EF"/>
                </a:solidFill>
                <a:latin typeface="Courier New"/>
              </a:rPr>
              <a:t>shaharlar</a:t>
            </a:r>
            <a:r>
              <a:rPr sz="2200" i="0">
                <a:solidFill>
                  <a:srgbClr val="C3CCDA"/>
                </a:solidFill>
                <a:latin typeface="Courier New"/>
              </a:rPr>
              <a:t>[</a:t>
            </a:r>
            <a:r>
              <a:rPr sz="2200" i="0">
                <a:solidFill>
                  <a:srgbClr val="F78C6C"/>
                </a:solidFill>
                <a:latin typeface="Courier New"/>
              </a:rPr>
              <a:t>0</a:t>
            </a:r>
            <a:r>
              <a:rPr sz="2200" i="0">
                <a:solidFill>
                  <a:srgbClr val="C3CCDA"/>
                </a:solidFill>
                <a:latin typeface="Courier New"/>
              </a:rPr>
              <a:t>]</a:t>
            </a:r>
            <a:r>
              <a:rPr sz="2200" i="0">
                <a:solidFill>
                  <a:srgbClr val="C3CCDA"/>
                </a:solidFill>
                <a:latin typeface="Courier New"/>
              </a:rPr>
              <a:t>)</a:t>
            </a:r>
          </a:p>
        </p:txBody>
      </p:sp>
      <p:sp>
        <p:nvSpPr>
          <p:cNvPr id="7" name="Output"/>
          <p:cNvSpPr/>
          <p:nvPr/>
        </p:nvSpPr>
        <p:spPr>
          <a:xfrm>
            <a:off x="640080" y="3461512"/>
            <a:ext cx="10911535" cy="8382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2400" i="0">
                <a:solidFill>
                  <a:srgbClr val="111111"/>
                </a:solidFill>
                <a:latin typeface="Courier New"/>
              </a:rPr>
              <a:t>TypeError: 'set' object is not subscriptable</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TO'PLAM</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add qo'shadi, discard o'chiradi, yo'q qiymatda remove xato beradi</a:t>
            </a:r>
          </a:p>
        </p:txBody>
      </p:sp>
      <p:sp>
        <p:nvSpPr>
          <p:cNvPr id="4" name="Code panel"/>
          <p:cNvSpPr/>
          <p:nvPr/>
        </p:nvSpPr>
        <p:spPr>
          <a:xfrm>
            <a:off x="640080" y="2148840"/>
            <a:ext cx="7467295" cy="2788411"/>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2386076"/>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a:p>
            <a:pPr>
              <a:lnSpc>
                <a:spcPts val="2684"/>
              </a:lnSpc>
              <a:spcBef>
                <a:spcPts val="0"/>
              </a:spcBef>
              <a:spcAft>
                <a:spcPts val="0"/>
              </a:spcAft>
            </a:pPr>
            <a:r>
              <a:rPr sz="2200" i="0">
                <a:solidFill>
                  <a:srgbClr val="8792A8"/>
                </a:solidFill>
                <a:latin typeface="Courier New"/>
              </a:rPr>
              <a:t>6</a:t>
            </a:r>
          </a:p>
          <a:p>
            <a:pPr>
              <a:lnSpc>
                <a:spcPts val="2684"/>
              </a:lnSpc>
              <a:spcBef>
                <a:spcPts val="0"/>
              </a:spcBef>
              <a:spcAft>
                <a:spcPts val="0"/>
              </a:spcAft>
            </a:pPr>
            <a:r>
              <a:rPr sz="2200" i="0">
                <a:solidFill>
                  <a:srgbClr val="8792A8"/>
                </a:solidFill>
                <a:latin typeface="Courier New"/>
              </a:rPr>
              <a:t>7</a:t>
            </a:r>
          </a:p>
        </p:txBody>
      </p:sp>
      <p:sp>
        <p:nvSpPr>
          <p:cNvPr id="6" name="Code"/>
          <p:cNvSpPr txBox="1"/>
          <p:nvPr/>
        </p:nvSpPr>
        <p:spPr>
          <a:xfrm>
            <a:off x="1399031" y="2350008"/>
            <a:ext cx="6452311" cy="2386076"/>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shaharlar</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Toshkent</a:t>
            </a:r>
            <a:r>
              <a:rPr sz="2200" i="0">
                <a:solidFill>
                  <a:srgbClr val="A5E3A1"/>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Samarqand</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shaharlar</a:t>
            </a:r>
            <a:r>
              <a:rPr sz="2200" i="0">
                <a:solidFill>
                  <a:srgbClr val="89DDFF"/>
                </a:solidFill>
                <a:latin typeface="Courier New"/>
              </a:rPr>
              <a:t>.</a:t>
            </a:r>
            <a:r>
              <a:rPr sz="2200" i="0">
                <a:solidFill>
                  <a:srgbClr val="E6E9EF"/>
                </a:solidFill>
                <a:latin typeface="Courier New"/>
              </a:rPr>
              <a:t>add</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Buxoro</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shaharlar</a:t>
            </a:r>
            <a:r>
              <a:rPr sz="2200" i="0">
                <a:solidFill>
                  <a:srgbClr val="89DDFF"/>
                </a:solidFill>
                <a:latin typeface="Courier New"/>
              </a:rPr>
              <a:t>.</a:t>
            </a:r>
            <a:r>
              <a:rPr sz="2200" i="0">
                <a:solidFill>
                  <a:srgbClr val="E6E9EF"/>
                </a:solidFill>
                <a:latin typeface="Courier New"/>
              </a:rPr>
              <a:t>add</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Buxoro</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FFCB6B"/>
                </a:solidFill>
                <a:latin typeface="Courier New"/>
              </a:rPr>
              <a:t>len</a:t>
            </a:r>
            <a:r>
              <a:rPr sz="2200" i="0">
                <a:solidFill>
                  <a:srgbClr val="C3CCDA"/>
                </a:solidFill>
                <a:latin typeface="Courier New"/>
              </a:rPr>
              <a:t>(</a:t>
            </a:r>
            <a:r>
              <a:rPr sz="2200" i="0">
                <a:solidFill>
                  <a:srgbClr val="E6E9EF"/>
                </a:solidFill>
                <a:latin typeface="Courier New"/>
              </a:rPr>
              <a:t>shaharlar</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Buxoro</a:t>
            </a:r>
            <a:r>
              <a:rPr sz="2200" i="0">
                <a:solidFill>
                  <a:srgbClr val="A5E3A1"/>
                </a:solidFill>
                <a:latin typeface="Courier New"/>
              </a:rPr>
              <a:t>"</a:t>
            </a:r>
            <a:r>
              <a:rPr sz="2200" i="0">
                <a:solidFill>
                  <a:srgbClr val="E6E9EF"/>
                </a:solidFill>
                <a:latin typeface="Courier New"/>
              </a:rPr>
              <a:t> </a:t>
            </a:r>
            <a:r>
              <a:rPr sz="2200" i="0">
                <a:solidFill>
                  <a:srgbClr val="C792EA"/>
                </a:solidFill>
                <a:latin typeface="Courier New"/>
              </a:rPr>
              <a:t>in</a:t>
            </a:r>
            <a:r>
              <a:rPr sz="2200" i="0">
                <a:solidFill>
                  <a:srgbClr val="E6E9EF"/>
                </a:solidFill>
                <a:latin typeface="Courier New"/>
              </a:rPr>
              <a:t> </a:t>
            </a:r>
            <a:r>
              <a:rPr sz="2200" i="0">
                <a:solidFill>
                  <a:srgbClr val="E6E9EF"/>
                </a:solidFill>
                <a:latin typeface="Courier New"/>
              </a:rPr>
              <a:t>shaharlar</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shaharlar</a:t>
            </a:r>
            <a:r>
              <a:rPr sz="2200" i="0">
                <a:solidFill>
                  <a:srgbClr val="89DDFF"/>
                </a:solidFill>
                <a:latin typeface="Courier New"/>
              </a:rPr>
              <a:t>.</a:t>
            </a:r>
            <a:r>
              <a:rPr sz="2200" i="0">
                <a:solidFill>
                  <a:srgbClr val="E6E9EF"/>
                </a:solidFill>
                <a:latin typeface="Courier New"/>
              </a:rPr>
              <a:t>discard</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Xiva</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E6E9EF"/>
                </a:solidFill>
                <a:latin typeface="Courier New"/>
              </a:rPr>
              <a:t>shaharlar</a:t>
            </a:r>
            <a:r>
              <a:rPr sz="2200" i="0">
                <a:solidFill>
                  <a:srgbClr val="89DDFF"/>
                </a:solidFill>
                <a:latin typeface="Courier New"/>
              </a:rPr>
              <a:t>.</a:t>
            </a:r>
            <a:r>
              <a:rPr sz="2200" i="0">
                <a:solidFill>
                  <a:srgbClr val="E6E9EF"/>
                </a:solidFill>
                <a:latin typeface="Courier New"/>
              </a:rPr>
              <a:t>remove</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Xiva</a:t>
            </a:r>
            <a:r>
              <a:rPr sz="2200" i="0">
                <a:solidFill>
                  <a:srgbClr val="A5E3A1"/>
                </a:solidFill>
                <a:latin typeface="Courier New"/>
              </a:rPr>
              <a:t>"</a:t>
            </a:r>
            <a:r>
              <a:rPr sz="2200" i="0">
                <a:solidFill>
                  <a:srgbClr val="C3CCDA"/>
                </a:solidFill>
                <a:latin typeface="Courier New"/>
              </a:rPr>
              <a:t>)</a:t>
            </a:r>
          </a:p>
        </p:txBody>
      </p:sp>
      <p:sp>
        <p:nvSpPr>
          <p:cNvPr id="7" name="Output"/>
          <p:cNvSpPr/>
          <p:nvPr/>
        </p:nvSpPr>
        <p:spPr>
          <a:xfrm>
            <a:off x="8473135" y="2148840"/>
            <a:ext cx="3078479" cy="131445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800" i="0">
                <a:solidFill>
                  <a:srgbClr val="111111"/>
                </a:solidFill>
                <a:latin typeface="Courier New"/>
              </a:rPr>
              <a:t>3</a:t>
            </a:r>
          </a:p>
          <a:p>
            <a:pPr algn="l"/>
            <a:r>
              <a:rPr sz="1800" i="0">
                <a:solidFill>
                  <a:srgbClr val="111111"/>
                </a:solidFill>
                <a:latin typeface="Courier New"/>
              </a:rPr>
              <a:t>True</a:t>
            </a:r>
          </a:p>
          <a:p>
            <a:pPr algn="l"/>
            <a:r>
              <a:rPr sz="1800" i="0">
                <a:solidFill>
                  <a:srgbClr val="111111"/>
                </a:solidFill>
                <a:latin typeface="Courier New"/>
              </a:rPr>
              <a:t>KeyError: 'Xiva'</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TO'PLAM</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set() ro'yxatdagi takrorlarni olib tashlaydi</a:t>
            </a:r>
          </a:p>
        </p:txBody>
      </p:sp>
      <p:sp>
        <p:nvSpPr>
          <p:cNvPr id="4" name="Code panel"/>
          <p:cNvSpPr/>
          <p:nvPr/>
        </p:nvSpPr>
        <p:spPr>
          <a:xfrm>
            <a:off x="640080" y="2148840"/>
            <a:ext cx="10911535" cy="1424939"/>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1022603"/>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p:txBody>
      </p:sp>
      <p:sp>
        <p:nvSpPr>
          <p:cNvPr id="6" name="Code"/>
          <p:cNvSpPr txBox="1"/>
          <p:nvPr/>
        </p:nvSpPr>
        <p:spPr>
          <a:xfrm>
            <a:off x="1399031" y="2350008"/>
            <a:ext cx="9896551" cy="1022603"/>
          </a:xfrm>
          <a:prstGeom prst="rect">
            <a:avLst/>
          </a:prstGeom>
          <a:noFill/>
        </p:spPr>
        <p:txBody>
          <a:bodyPr wrap="none" lIns="0" rIns="0" tIns="0" bIns="0">
            <a:noAutofit/>
          </a:bodyPr>
          <a:lstStyle/>
          <a:p>
            <a:pPr>
              <a:lnSpc>
                <a:spcPts val="2684"/>
              </a:lnSpc>
              <a:spcBef>
                <a:spcPts val="0"/>
              </a:spcBef>
              <a:spcAft>
                <a:spcPts val="0"/>
              </a:spcAft>
            </a:pPr>
            <a:r>
              <a:rPr sz="2200" i="0">
                <a:solidFill>
                  <a:srgbClr val="E6E9EF"/>
                </a:solidFill>
                <a:latin typeface="Courier New"/>
              </a:rPr>
              <a:t>kelganlar</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A5E3A1"/>
                </a:solidFill>
                <a:latin typeface="Courier New"/>
              </a:rPr>
              <a:t>"</a:t>
            </a:r>
            <a:r>
              <a:rPr sz="2200" i="0">
                <a:solidFill>
                  <a:srgbClr val="A5E3A1"/>
                </a:solidFill>
                <a:latin typeface="Courier New"/>
              </a:rPr>
              <a:t>Ali</a:t>
            </a:r>
            <a:r>
              <a:rPr sz="2200" i="0">
                <a:solidFill>
                  <a:srgbClr val="A5E3A1"/>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Vali</a:t>
            </a:r>
            <a:r>
              <a:rPr sz="2200" i="0">
                <a:solidFill>
                  <a:srgbClr val="A5E3A1"/>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Ali</a:t>
            </a:r>
            <a:r>
              <a:rPr sz="2200" i="0">
                <a:solidFill>
                  <a:srgbClr val="A5E3A1"/>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Hasan</a:t>
            </a:r>
            <a:r>
              <a:rPr sz="2200" i="0">
                <a:solidFill>
                  <a:srgbClr val="A5E3A1"/>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Vali</a:t>
            </a:r>
            <a:r>
              <a:rPr sz="2200" i="0">
                <a:solidFill>
                  <a:srgbClr val="A5E3A1"/>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Ali</a:t>
            </a:r>
            <a:r>
              <a:rPr sz="2200" i="0">
                <a:solidFill>
                  <a:srgbClr val="A5E3A1"/>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FFCB6B"/>
                </a:solidFill>
                <a:latin typeface="Courier New"/>
              </a:rPr>
              <a:t>len</a:t>
            </a:r>
            <a:r>
              <a:rPr sz="2200" i="0">
                <a:solidFill>
                  <a:srgbClr val="C3CCDA"/>
                </a:solidFill>
                <a:latin typeface="Courier New"/>
              </a:rPr>
              <a:t>(</a:t>
            </a:r>
            <a:r>
              <a:rPr sz="2200" i="0">
                <a:solidFill>
                  <a:srgbClr val="E6E9EF"/>
                </a:solidFill>
                <a:latin typeface="Courier New"/>
              </a:rPr>
              <a:t>kelganlar</a:t>
            </a:r>
            <a:r>
              <a:rPr sz="2200" i="0">
                <a:solidFill>
                  <a:srgbClr val="C3CCDA"/>
                </a:solidFill>
                <a:latin typeface="Courier New"/>
              </a:rPr>
              <a:t>)</a:t>
            </a:r>
            <a:r>
              <a:rPr sz="2200" i="0">
                <a:solidFill>
                  <a:srgbClr val="C3CCDA"/>
                </a:solidFill>
                <a:latin typeface="Courier New"/>
              </a:rPr>
              <a:t>)</a:t>
            </a:r>
          </a:p>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FFCB6B"/>
                </a:solidFill>
                <a:latin typeface="Courier New"/>
              </a:rPr>
              <a:t>len</a:t>
            </a:r>
            <a:r>
              <a:rPr sz="2200" i="0">
                <a:solidFill>
                  <a:srgbClr val="C3CCDA"/>
                </a:solidFill>
                <a:latin typeface="Courier New"/>
              </a:rPr>
              <a:t>(</a:t>
            </a:r>
            <a:r>
              <a:rPr sz="2200" i="0">
                <a:solidFill>
                  <a:srgbClr val="FFCB6B"/>
                </a:solidFill>
                <a:latin typeface="Courier New"/>
              </a:rPr>
              <a:t>set</a:t>
            </a:r>
            <a:r>
              <a:rPr sz="2200" i="0">
                <a:solidFill>
                  <a:srgbClr val="C3CCDA"/>
                </a:solidFill>
                <a:latin typeface="Courier New"/>
              </a:rPr>
              <a:t>(</a:t>
            </a:r>
            <a:r>
              <a:rPr sz="2200" i="0">
                <a:solidFill>
                  <a:srgbClr val="E6E9EF"/>
                </a:solidFill>
                <a:latin typeface="Courier New"/>
              </a:rPr>
              <a:t>kelganlar</a:t>
            </a:r>
            <a:r>
              <a:rPr sz="2200" i="0">
                <a:solidFill>
                  <a:srgbClr val="C3CCDA"/>
                </a:solidFill>
                <a:latin typeface="Courier New"/>
              </a:rPr>
              <a:t>)</a:t>
            </a:r>
            <a:r>
              <a:rPr sz="2200" i="0">
                <a:solidFill>
                  <a:srgbClr val="C3CCDA"/>
                </a:solidFill>
                <a:latin typeface="Courier New"/>
              </a:rPr>
              <a:t>)</a:t>
            </a:r>
            <a:r>
              <a:rPr sz="2200" i="0">
                <a:solidFill>
                  <a:srgbClr val="C3CCDA"/>
                </a:solidFill>
                <a:latin typeface="Courier New"/>
              </a:rPr>
              <a:t>)</a:t>
            </a:r>
          </a:p>
        </p:txBody>
      </p:sp>
      <p:sp>
        <p:nvSpPr>
          <p:cNvPr id="7" name="Output"/>
          <p:cNvSpPr/>
          <p:nvPr/>
        </p:nvSpPr>
        <p:spPr>
          <a:xfrm>
            <a:off x="640080" y="3802380"/>
            <a:ext cx="10911535" cy="12192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2400" i="0">
                <a:solidFill>
                  <a:srgbClr val="111111"/>
                </a:solidFill>
                <a:latin typeface="Courier New"/>
              </a:rPr>
              <a:t>6</a:t>
            </a:r>
          </a:p>
          <a:p>
            <a:pPr algn="l"/>
            <a:r>
              <a:rPr sz="2400" i="0">
                <a:solidFill>
                  <a:srgbClr val="111111"/>
                </a:solidFill>
                <a:latin typeface="Courier New"/>
              </a:rPr>
              <a:t>3</a:t>
            </a:r>
          </a:p>
        </p:txBody>
      </p:sp>
      <p:sp>
        <p:nvSpPr>
          <p:cNvPr id="8"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NATIJANI TOPING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Bu kod nimani chiqaradi?</a:t>
            </a:r>
          </a:p>
        </p:txBody>
      </p:sp>
      <p:sp>
        <p:nvSpPr>
          <p:cNvPr id="4" name="Code panel"/>
          <p:cNvSpPr/>
          <p:nvPr/>
        </p:nvSpPr>
        <p:spPr>
          <a:xfrm>
            <a:off x="640080" y="2148840"/>
            <a:ext cx="6328690" cy="914400"/>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02919" cy="512064"/>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p:txBody>
      </p:sp>
      <p:sp>
        <p:nvSpPr>
          <p:cNvPr id="6" name="Code"/>
          <p:cNvSpPr txBox="1"/>
          <p:nvPr/>
        </p:nvSpPr>
        <p:spPr>
          <a:xfrm>
            <a:off x="1399031" y="2350008"/>
            <a:ext cx="5313706" cy="512064"/>
          </a:xfrm>
          <a:prstGeom prst="rect">
            <a:avLst/>
          </a:prstGeom>
          <a:noFill/>
        </p:spPr>
        <p:txBody>
          <a:bodyPr wrap="none" lIns="0" rIns="0" tIns="0" bIns="0">
            <a:noAutofit/>
          </a:bodyPr>
          <a:lstStyle/>
          <a:p>
            <a:pPr>
              <a:lnSpc>
                <a:spcPts val="2684"/>
              </a:lnSpc>
              <a:spcBef>
                <a:spcPts val="0"/>
              </a:spcBef>
              <a:spcAft>
                <a:spcPts val="0"/>
              </a:spcAft>
            </a:pPr>
            <a:r>
              <a:rPr sz="2200" i="0">
                <a:solidFill>
                  <a:srgbClr val="FFCB6B"/>
                </a:solidFill>
                <a:latin typeface="Courier New"/>
              </a:rPr>
              <a:t>print</a:t>
            </a:r>
            <a:r>
              <a:rPr sz="2200" i="0">
                <a:solidFill>
                  <a:srgbClr val="C3CCDA"/>
                </a:solidFill>
                <a:latin typeface="Courier New"/>
              </a:rPr>
              <a:t>(</a:t>
            </a:r>
            <a:r>
              <a:rPr sz="2200" i="0">
                <a:solidFill>
                  <a:srgbClr val="FFCB6B"/>
                </a:solidFill>
                <a:latin typeface="Courier New"/>
              </a:rPr>
              <a:t>len</a:t>
            </a:r>
            <a:r>
              <a:rPr sz="2200" i="0">
                <a:solidFill>
                  <a:srgbClr val="C3CCDA"/>
                </a:solidFill>
                <a:latin typeface="Courier New"/>
              </a:rPr>
              <a:t>(</a:t>
            </a:r>
            <a:r>
              <a:rPr sz="2200" i="0">
                <a:solidFill>
                  <a:srgbClr val="C3CCDA"/>
                </a:solidFill>
                <a:latin typeface="Courier New"/>
              </a:rPr>
              <a:t>{</a:t>
            </a:r>
            <a:r>
              <a:rPr sz="2200" i="0">
                <a:solidFill>
                  <a:srgbClr val="F78C6C"/>
                </a:solidFill>
                <a:latin typeface="Courier New"/>
              </a:rPr>
              <a:t>1</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2</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2</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3</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3</a:t>
            </a:r>
            <a:r>
              <a:rPr sz="2200" i="0">
                <a:solidFill>
                  <a:srgbClr val="C3CCDA"/>
                </a:solidFill>
                <a:latin typeface="Courier New"/>
              </a:rPr>
              <a:t>,</a:t>
            </a:r>
            <a:r>
              <a:rPr sz="2200" i="0">
                <a:solidFill>
                  <a:srgbClr val="E6E9EF"/>
                </a:solidFill>
                <a:latin typeface="Courier New"/>
              </a:rPr>
              <a:t> </a:t>
            </a:r>
            <a:r>
              <a:rPr sz="2200" i="0">
                <a:solidFill>
                  <a:srgbClr val="F78C6C"/>
                </a:solidFill>
                <a:latin typeface="Courier New"/>
              </a:rPr>
              <a:t>3</a:t>
            </a:r>
            <a:r>
              <a:rPr sz="2200" i="0">
                <a:solidFill>
                  <a:srgbClr val="C3CCDA"/>
                </a:solidFill>
                <a:latin typeface="Courier New"/>
              </a:rPr>
              <a:t>}</a:t>
            </a:r>
            <a:r>
              <a:rPr sz="2200" i="0">
                <a:solidFill>
                  <a:srgbClr val="C3CCDA"/>
                </a:solidFill>
                <a:latin typeface="Courier New"/>
              </a:rPr>
              <a:t>)</a:t>
            </a:r>
            <a:r>
              <a:rPr sz="2200" i="0">
                <a:solidFill>
                  <a:srgbClr val="C3CCDA"/>
                </a:solidFill>
                <a:latin typeface="Courier New"/>
              </a:rPr>
              <a:t>)</a:t>
            </a:r>
          </a:p>
        </p:txBody>
      </p:sp>
      <p:sp>
        <p:nvSpPr>
          <p:cNvPr id="7" name="TextBox 6"/>
          <p:cNvSpPr txBox="1"/>
          <p:nvPr/>
        </p:nvSpPr>
        <p:spPr>
          <a:xfrm>
            <a:off x="7334530" y="2148840"/>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A</a:t>
            </a:r>
          </a:p>
        </p:txBody>
      </p:sp>
      <p:sp>
        <p:nvSpPr>
          <p:cNvPr id="8" name="Choice A"/>
          <p:cNvSpPr txBox="1"/>
          <p:nvPr/>
        </p:nvSpPr>
        <p:spPr>
          <a:xfrm>
            <a:off x="7883170" y="2148840"/>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6</a:t>
            </a:r>
          </a:p>
        </p:txBody>
      </p:sp>
      <p:sp>
        <p:nvSpPr>
          <p:cNvPr id="9" name="TextBox 8"/>
          <p:cNvSpPr txBox="1"/>
          <p:nvPr/>
        </p:nvSpPr>
        <p:spPr>
          <a:xfrm>
            <a:off x="7334530" y="2715768"/>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B</a:t>
            </a:r>
          </a:p>
        </p:txBody>
      </p:sp>
      <p:sp>
        <p:nvSpPr>
          <p:cNvPr id="10" name="Choice B"/>
          <p:cNvSpPr txBox="1"/>
          <p:nvPr/>
        </p:nvSpPr>
        <p:spPr>
          <a:xfrm>
            <a:off x="7883170" y="2715768"/>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3</a:t>
            </a:r>
          </a:p>
        </p:txBody>
      </p:sp>
      <p:sp>
        <p:nvSpPr>
          <p:cNvPr id="11" name="TextBox 10"/>
          <p:cNvSpPr txBox="1"/>
          <p:nvPr/>
        </p:nvSpPr>
        <p:spPr>
          <a:xfrm>
            <a:off x="7334530" y="3282696"/>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C</a:t>
            </a:r>
          </a:p>
        </p:txBody>
      </p:sp>
      <p:sp>
        <p:nvSpPr>
          <p:cNvPr id="12" name="Choice C"/>
          <p:cNvSpPr txBox="1"/>
          <p:nvPr/>
        </p:nvSpPr>
        <p:spPr>
          <a:xfrm>
            <a:off x="7883170" y="3282696"/>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1</a:t>
            </a:r>
          </a:p>
        </p:txBody>
      </p:sp>
      <p:sp>
        <p:nvSpPr>
          <p:cNvPr id="13" name="TextBox 12"/>
          <p:cNvSpPr txBox="1"/>
          <p:nvPr/>
        </p:nvSpPr>
        <p:spPr>
          <a:xfrm>
            <a:off x="7334530" y="3849624"/>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D</a:t>
            </a:r>
          </a:p>
        </p:txBody>
      </p:sp>
      <p:sp>
        <p:nvSpPr>
          <p:cNvPr id="14" name="Choice D"/>
          <p:cNvSpPr txBox="1"/>
          <p:nvPr/>
        </p:nvSpPr>
        <p:spPr>
          <a:xfrm>
            <a:off x="7883170" y="3849624"/>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Xato</a:t>
            </a:r>
          </a:p>
        </p:txBody>
      </p:sp>
      <p:sp>
        <p:nvSpPr>
          <p:cNvPr id="15" name="Answer card"/>
          <p:cNvSpPr/>
          <p:nvPr/>
        </p:nvSpPr>
        <p:spPr>
          <a:xfrm>
            <a:off x="7334530" y="4507992"/>
            <a:ext cx="4217084" cy="1572768"/>
          </a:xfrm>
          <a:prstGeom prst="roundRect">
            <a:avLst>
              <a:gd name="adj" fmla="val 5000"/>
            </a:avLst>
          </a:prstGeom>
          <a:solidFill>
            <a:srgbClr val="EEF2F7"/>
          </a:solidFill>
          <a:ln>
            <a:noFill/>
          </a:ln>
        </p:spPr>
        <p:txBody>
          <a:bodyPr rtlCol="0" anchor="t" wrap="square" lIns="228600" rIns="228600" tIns="182880" bIns="182880">
            <a:noAutofit/>
          </a:bodyPr>
          <a:lstStyle/>
          <a:p>
            <a:pPr algn="l">
              <a:lnSpc>
                <a:spcPct val="115000"/>
              </a:lnSpc>
              <a:spcBef>
                <a:spcPts val="0"/>
              </a:spcBef>
              <a:spcAft>
                <a:spcPts val="800"/>
              </a:spcAft>
            </a:pPr>
            <a:r>
              <a:rPr sz="2100" b="1" i="0">
                <a:solidFill>
                  <a:srgbClr val="111111"/>
                </a:solidFill>
                <a:latin typeface="Arial"/>
              </a:rPr>
              <a:t>Javob:</a:t>
            </a:r>
            <a:r>
              <a:rPr sz="2100" b="0" i="0">
                <a:solidFill>
                  <a:srgbClr val="111111"/>
                </a:solidFill>
                <a:latin typeface="Arial"/>
              </a:rPr>
              <a:t> B — 3</a:t>
            </a:r>
          </a:p>
          <a:p>
            <a:pPr algn="l">
              <a:lnSpc>
                <a:spcPct val="115000"/>
              </a:lnSpc>
              <a:spcBef>
                <a:spcPts val="0"/>
              </a:spcBef>
              <a:spcAft>
                <a:spcPts val="800"/>
              </a:spcAft>
            </a:pPr>
            <a:r>
              <a:rPr sz="2100" b="0" i="0">
                <a:solidFill>
                  <a:srgbClr val="111111"/>
                </a:solidFill>
                <a:latin typeface="Arial"/>
              </a:rPr>
              <a:t>Takrorlar bir marta sanaladi: 1, 2, 3.</a:t>
            </a:r>
          </a:p>
        </p:txBody>
      </p:sp>
      <p:sp>
        <p:nvSpPr>
          <p:cNvPr id="1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F4C3A"/>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FFC20E"/>
                </a:solidFill>
                <a:latin typeface="Courier New"/>
              </a:rPr>
              <a:t>JONLI KODLASH · AVVAL KUZATING, KEYIN O'ZINGIZ</a:t>
            </a:r>
          </a:p>
        </p:txBody>
      </p:sp>
      <p:sp>
        <p:nvSpPr>
          <p:cNvPr id="3" name="Headline"/>
          <p:cNvSpPr txBox="1"/>
          <p:nvPr/>
        </p:nvSpPr>
        <p:spPr>
          <a:xfrm>
            <a:off x="640080" y="749808"/>
            <a:ext cx="8899855" cy="1234440"/>
          </a:xfrm>
          <a:prstGeom prst="rect">
            <a:avLst/>
          </a:prstGeom>
          <a:noFill/>
        </p:spPr>
        <p:txBody>
          <a:bodyPr wrap="square" anchor="t" lIns="0" rIns="0" tIns="0" bIns="0">
            <a:noAutofit/>
          </a:bodyPr>
          <a:lstStyle/>
          <a:p>
            <a:pPr algn="l">
              <a:lnSpc>
                <a:spcPct val="105000"/>
              </a:lnSpc>
              <a:spcBef>
                <a:spcPts val="0"/>
              </a:spcBef>
              <a:spcAft>
                <a:spcPts val="0"/>
              </a:spcAft>
            </a:pPr>
            <a:r>
              <a:rPr sz="3600" b="1" i="0">
                <a:solidFill>
                  <a:srgbClr val="FFFFFF"/>
                </a:solidFill>
                <a:latin typeface="Arial"/>
              </a:rPr>
              <a:t>Mehmonlar ro'yxatini birga yozamiz</a:t>
            </a:r>
          </a:p>
        </p:txBody>
      </p:sp>
      <p:sp>
        <p:nvSpPr>
          <p:cNvPr id="4" name="Chip"/>
          <p:cNvSpPr/>
          <p:nvPr/>
        </p:nvSpPr>
        <p:spPr>
          <a:xfrm>
            <a:off x="9997135" y="795528"/>
            <a:ext cx="969264" cy="402336"/>
          </a:xfrm>
          <a:prstGeom prst="roundRect">
            <a:avLst>
              <a:gd name="adj" fmla="val 50000"/>
            </a:avLst>
          </a:prstGeom>
          <a:solidFill>
            <a:srgbClr val="FFC20E"/>
          </a:solidFill>
          <a:ln>
            <a:noFill/>
          </a:ln>
        </p:spPr>
        <p:txBody>
          <a:bodyPr rtlCol="0" anchor="ctr" wrap="square" lIns="45720" rIns="45720" tIns="0" bIns="0">
            <a:noAutofit/>
          </a:bodyPr>
          <a:lstStyle/>
          <a:p>
            <a:pPr algn="ctr">
              <a:lnSpc>
                <a:spcPct val="115000"/>
              </a:lnSpc>
              <a:spcBef>
                <a:spcPts val="0"/>
              </a:spcBef>
              <a:spcAft>
                <a:spcPts val="0"/>
              </a:spcAft>
            </a:pPr>
            <a:r>
              <a:rPr sz="1500" b="1" i="0">
                <a:solidFill>
                  <a:srgbClr val="111111"/>
                </a:solidFill>
                <a:latin typeface="Courier New"/>
              </a:rPr>
              <a:t>5 DAQ</a:t>
            </a:r>
          </a:p>
        </p:txBody>
      </p:sp>
      <p:sp>
        <p:nvSpPr>
          <p:cNvPr id="5" name="Starter file"/>
          <p:cNvSpPr txBox="1"/>
          <p:nvPr/>
        </p:nvSpPr>
        <p:spPr>
          <a:xfrm>
            <a:off x="640080" y="2057400"/>
            <a:ext cx="10911535" cy="457200"/>
          </a:xfrm>
          <a:prstGeom prst="rect">
            <a:avLst/>
          </a:prstGeom>
          <a:noFill/>
        </p:spPr>
        <p:txBody>
          <a:bodyPr wrap="square" anchor="t" lIns="0" rIns="0" tIns="0" bIns="0">
            <a:noAutofit/>
          </a:bodyPr>
          <a:lstStyle/>
          <a:p>
            <a:pPr algn="l">
              <a:lnSpc>
                <a:spcPct val="115000"/>
              </a:lnSpc>
              <a:spcBef>
                <a:spcPts val="0"/>
              </a:spcBef>
              <a:spcAft>
                <a:spcPts val="0"/>
              </a:spcAft>
            </a:pPr>
            <a:r>
              <a:rPr sz="1800" b="0" i="0">
                <a:solidFill>
                  <a:srgbClr val="C3CCDA"/>
                </a:solidFill>
                <a:latin typeface="Courier New"/>
              </a:rPr>
              <a:t>boshlang'ich fayl: livecode/starter/mehmonlar.py</a:t>
            </a:r>
          </a:p>
        </p:txBody>
      </p:sp>
      <p:sp>
        <p:nvSpPr>
          <p:cNvPr id="6" name="Goals"/>
          <p:cNvSpPr txBox="1"/>
          <p:nvPr/>
        </p:nvSpPr>
        <p:spPr>
          <a:xfrm>
            <a:off x="640080" y="2651760"/>
            <a:ext cx="10911535" cy="338328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200"/>
              </a:spcAft>
              <a:buClr>
                <a:srgbClr val="FFC20E"/>
              </a:buClr>
              <a:buFont typeface="Arial"/>
              <a:buChar char="•"/>
            </a:pPr>
            <a:r>
              <a:rPr sz="2600" b="0" i="0">
                <a:solidFill>
                  <a:srgbClr val="FFC20E"/>
                </a:solidFill>
                <a:latin typeface="Courier New"/>
              </a:rPr>
              <a:t>append</a:t>
            </a:r>
            <a:r>
              <a:rPr sz="2600" b="0" i="0">
                <a:solidFill>
                  <a:srgbClr val="FFFFFF"/>
                </a:solidFill>
                <a:latin typeface="Arial"/>
              </a:rPr>
              <a:t>, </a:t>
            </a:r>
            <a:r>
              <a:rPr sz="2600" b="0" i="0">
                <a:solidFill>
                  <a:srgbClr val="FFC20E"/>
                </a:solidFill>
                <a:latin typeface="Courier New"/>
              </a:rPr>
              <a:t>remove</a:t>
            </a:r>
            <a:r>
              <a:rPr sz="2600" b="0" i="0">
                <a:solidFill>
                  <a:srgbClr val="FFFFFF"/>
                </a:solidFill>
                <a:latin typeface="Arial"/>
              </a:rPr>
              <a:t> va </a:t>
            </a:r>
            <a:r>
              <a:rPr sz="2600" b="0" i="0">
                <a:solidFill>
                  <a:srgbClr val="FFC20E"/>
                </a:solidFill>
                <a:latin typeface="Courier New"/>
              </a:rPr>
              <a:t>pop(0)</a:t>
            </a:r>
            <a:r>
              <a:rPr sz="2600" b="0" i="0">
                <a:solidFill>
                  <a:srgbClr val="FFFFFF"/>
                </a:solidFill>
                <a:latin typeface="Arial"/>
              </a:rPr>
              <a:t> bilan ro'yxatni o'zgartirish</a:t>
            </a:r>
          </a:p>
          <a:p>
            <a:pPr algn="l" marL="384048" indent="-384048">
              <a:lnSpc>
                <a:spcPct val="115000"/>
              </a:lnSpc>
              <a:spcBef>
                <a:spcPts val="0"/>
              </a:spcBef>
              <a:spcAft>
                <a:spcPts val="1200"/>
              </a:spcAft>
              <a:buClr>
                <a:srgbClr val="FFC20E"/>
              </a:buClr>
              <a:buFont typeface="Arial"/>
              <a:buChar char="•"/>
            </a:pPr>
            <a:r>
              <a:rPr sz="2600" b="0" i="0">
                <a:solidFill>
                  <a:srgbClr val="FFC20E"/>
                </a:solidFill>
                <a:latin typeface="Courier New"/>
              </a:rPr>
              <a:t>for</a:t>
            </a:r>
            <a:r>
              <a:rPr sz="2600" b="0" i="0">
                <a:solidFill>
                  <a:srgbClr val="FFFFFF"/>
                </a:solidFill>
                <a:latin typeface="Arial"/>
              </a:rPr>
              <a:t> bilan qolganlarni chiqarish</a:t>
            </a:r>
          </a:p>
          <a:p>
            <a:pPr algn="l" marL="384048" indent="-384048">
              <a:lnSpc>
                <a:spcPct val="115000"/>
              </a:lnSpc>
              <a:spcBef>
                <a:spcPts val="0"/>
              </a:spcBef>
              <a:spcAft>
                <a:spcPts val="1200"/>
              </a:spcAft>
              <a:buClr>
                <a:srgbClr val="FFC20E"/>
              </a:buClr>
              <a:buFont typeface="Arial"/>
              <a:buChar char="•"/>
            </a:pPr>
            <a:r>
              <a:rPr sz="2600" b="0" i="0">
                <a:solidFill>
                  <a:srgbClr val="FFC20E"/>
                </a:solidFill>
                <a:latin typeface="Courier New"/>
              </a:rPr>
              <a:t>set()</a:t>
            </a:r>
            <a:r>
              <a:rPr sz="2600" b="0" i="0">
                <a:solidFill>
                  <a:srgbClr val="FFFFFF"/>
                </a:solidFill>
                <a:latin typeface="Arial"/>
              </a:rPr>
              <a:t> bilan turli odamlar sonini topish</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C3CCDA"/>
                </a:solidFill>
                <a:latin typeface="Arial"/>
              </a:rPr>
              <a:t>39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4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4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4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F4C3A"/>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FFC20E"/>
                </a:solidFill>
                <a:latin typeface="Courier New"/>
              </a:rPr>
              <a:t>NAVBAT SIZDA · JUFTLIKDA</a:t>
            </a:r>
          </a:p>
        </p:txBody>
      </p:sp>
      <p:sp>
        <p:nvSpPr>
          <p:cNvPr id="3" name="Headline"/>
          <p:cNvSpPr txBox="1"/>
          <p:nvPr/>
        </p:nvSpPr>
        <p:spPr>
          <a:xfrm>
            <a:off x="640080" y="749808"/>
            <a:ext cx="8899855" cy="1234440"/>
          </a:xfrm>
          <a:prstGeom prst="rect">
            <a:avLst/>
          </a:prstGeom>
          <a:noFill/>
        </p:spPr>
        <p:txBody>
          <a:bodyPr wrap="square" anchor="t" lIns="0" rIns="0" tIns="0" bIns="0">
            <a:noAutofit/>
          </a:bodyPr>
          <a:lstStyle/>
          <a:p>
            <a:pPr algn="l">
              <a:lnSpc>
                <a:spcPct val="105000"/>
              </a:lnSpc>
              <a:spcBef>
                <a:spcPts val="0"/>
              </a:spcBef>
              <a:spcAft>
                <a:spcPts val="0"/>
              </a:spcAft>
            </a:pPr>
            <a:r>
              <a:rPr sz="3600" b="1" i="0">
                <a:solidFill>
                  <a:srgbClr val="FFFFFF"/>
                </a:solidFill>
                <a:latin typeface="Arial"/>
              </a:rPr>
              <a:t>Asl ro'yxatni o'zgartirmaydigan funksiya yozing</a:t>
            </a:r>
          </a:p>
        </p:txBody>
      </p:sp>
      <p:sp>
        <p:nvSpPr>
          <p:cNvPr id="4" name="Chip"/>
          <p:cNvSpPr/>
          <p:nvPr/>
        </p:nvSpPr>
        <p:spPr>
          <a:xfrm>
            <a:off x="9997135" y="795528"/>
            <a:ext cx="969264" cy="402336"/>
          </a:xfrm>
          <a:prstGeom prst="roundRect">
            <a:avLst>
              <a:gd name="adj" fmla="val 50000"/>
            </a:avLst>
          </a:prstGeom>
          <a:solidFill>
            <a:srgbClr val="FFC20E"/>
          </a:solidFill>
          <a:ln>
            <a:noFill/>
          </a:ln>
        </p:spPr>
        <p:txBody>
          <a:bodyPr rtlCol="0" anchor="ctr" wrap="square" lIns="45720" rIns="45720" tIns="0" bIns="0">
            <a:noAutofit/>
          </a:bodyPr>
          <a:lstStyle/>
          <a:p>
            <a:pPr algn="ctr">
              <a:lnSpc>
                <a:spcPct val="115000"/>
              </a:lnSpc>
              <a:spcBef>
                <a:spcPts val="0"/>
              </a:spcBef>
              <a:spcAft>
                <a:spcPts val="0"/>
              </a:spcAft>
            </a:pPr>
            <a:r>
              <a:rPr sz="1500" b="1" i="0">
                <a:solidFill>
                  <a:srgbClr val="111111"/>
                </a:solidFill>
                <a:latin typeface="Courier New"/>
              </a:rPr>
              <a:t>4 DAQ</a:t>
            </a:r>
          </a:p>
        </p:txBody>
      </p:sp>
      <p:sp>
        <p:nvSpPr>
          <p:cNvPr id="5" name="Starter file"/>
          <p:cNvSpPr txBox="1"/>
          <p:nvPr/>
        </p:nvSpPr>
        <p:spPr>
          <a:xfrm>
            <a:off x="640080" y="2057400"/>
            <a:ext cx="10911535" cy="457200"/>
          </a:xfrm>
          <a:prstGeom prst="rect">
            <a:avLst/>
          </a:prstGeom>
          <a:noFill/>
        </p:spPr>
        <p:txBody>
          <a:bodyPr wrap="square" anchor="t" lIns="0" rIns="0" tIns="0" bIns="0">
            <a:noAutofit/>
          </a:bodyPr>
          <a:lstStyle/>
          <a:p>
            <a:pPr algn="l">
              <a:lnSpc>
                <a:spcPct val="115000"/>
              </a:lnSpc>
              <a:spcBef>
                <a:spcPts val="0"/>
              </a:spcBef>
              <a:spcAft>
                <a:spcPts val="0"/>
              </a:spcAft>
            </a:pPr>
            <a:r>
              <a:rPr sz="1800" b="0" i="0">
                <a:solidFill>
                  <a:srgbClr val="C3CCDA"/>
                </a:solidFill>
                <a:latin typeface="Courier New"/>
              </a:rPr>
              <a:t>oching: livecode/starter/qosh.py</a:t>
            </a:r>
          </a:p>
        </p:txBody>
      </p:sp>
      <p:sp>
        <p:nvSpPr>
          <p:cNvPr id="6" name="Steps"/>
          <p:cNvSpPr txBox="1"/>
          <p:nvPr/>
        </p:nvSpPr>
        <p:spPr>
          <a:xfrm>
            <a:off x="640080" y="2651760"/>
            <a:ext cx="10911535" cy="3429000"/>
          </a:xfrm>
          <a:prstGeom prst="rect">
            <a:avLst/>
          </a:prstGeom>
          <a:noFill/>
        </p:spPr>
        <p:txBody>
          <a:bodyPr wrap="square" anchor="t" lIns="45720" rIns="45720" tIns="27432" bIns="27432">
            <a:noAutofit/>
          </a:bodyPr>
          <a:lstStyle/>
          <a:p>
            <a:pPr algn="l" marL="457200" indent="-457200">
              <a:lnSpc>
                <a:spcPct val="115000"/>
              </a:lnSpc>
              <a:spcBef>
                <a:spcPts val="0"/>
              </a:spcBef>
              <a:spcAft>
                <a:spcPts val="1200"/>
              </a:spcAft>
              <a:buClr>
                <a:srgbClr val="FFC20E"/>
              </a:buClr>
              <a:buFont typeface="Arial"/>
              <a:buAutoNum type="arabicPeriod"/>
            </a:pPr>
            <a:r>
              <a:rPr sz="2400" b="0" i="0">
                <a:solidFill>
                  <a:srgbClr val="FFFFFF"/>
                </a:solidFill>
                <a:latin typeface="Arial"/>
              </a:rPr>
              <a:t>Boshlang'ich </a:t>
            </a:r>
            <a:r>
              <a:rPr sz="2400" b="0" i="0">
                <a:solidFill>
                  <a:srgbClr val="FFC20E"/>
                </a:solidFill>
                <a:latin typeface="Courier New"/>
              </a:rPr>
              <a:t>qosh(royxat)</a:t>
            </a:r>
            <a:r>
              <a:rPr sz="2400" b="0" i="0">
                <a:solidFill>
                  <a:srgbClr val="FFFFFF"/>
                </a:solidFill>
                <a:latin typeface="Arial"/>
              </a:rPr>
              <a:t> funksiyasini ishga tushiring: </a:t>
            </a:r>
            <a:r>
              <a:rPr sz="2400" b="0" i="0">
                <a:solidFill>
                  <a:srgbClr val="FFC20E"/>
                </a:solidFill>
                <a:latin typeface="Courier New"/>
              </a:rPr>
              <a:t>sonlar</a:t>
            </a:r>
            <a:r>
              <a:rPr sz="2400" b="0" i="0">
                <a:solidFill>
                  <a:srgbClr val="FFFFFF"/>
                </a:solidFill>
                <a:latin typeface="Arial"/>
              </a:rPr>
              <a:t> ni qanday o'zgartirdi?</a:t>
            </a:r>
          </a:p>
          <a:p>
            <a:pPr algn="l" marL="457200" indent="-457200">
              <a:lnSpc>
                <a:spcPct val="115000"/>
              </a:lnSpc>
              <a:spcBef>
                <a:spcPts val="0"/>
              </a:spcBef>
              <a:spcAft>
                <a:spcPts val="1200"/>
              </a:spcAft>
              <a:buClr>
                <a:srgbClr val="FFC20E"/>
              </a:buClr>
              <a:buFont typeface="Arial"/>
              <a:buAutoNum type="arabicPeriod"/>
            </a:pPr>
            <a:r>
              <a:rPr sz="2400" b="0" i="0">
                <a:solidFill>
                  <a:srgbClr val="FFFFFF"/>
                </a:solidFill>
                <a:latin typeface="Arial"/>
              </a:rPr>
              <a:t>Funksiyani o'zgartiring: </a:t>
            </a:r>
            <a:r>
              <a:rPr sz="2400" b="0" i="0">
                <a:solidFill>
                  <a:srgbClr val="FFC20E"/>
                </a:solidFill>
                <a:latin typeface="Courier New"/>
              </a:rPr>
              <a:t>[:]</a:t>
            </a:r>
            <a:r>
              <a:rPr sz="2400" b="0" i="0">
                <a:solidFill>
                  <a:srgbClr val="FFFFFF"/>
                </a:solidFill>
                <a:latin typeface="Arial"/>
              </a:rPr>
              <a:t> bilan nusxa olib, yangi ro'yxat qaytarsin</a:t>
            </a:r>
          </a:p>
          <a:p>
            <a:pPr algn="l" marL="457200" indent="-457200">
              <a:lnSpc>
                <a:spcPct val="115000"/>
              </a:lnSpc>
              <a:spcBef>
                <a:spcPts val="0"/>
              </a:spcBef>
              <a:spcAft>
                <a:spcPts val="1200"/>
              </a:spcAft>
              <a:buClr>
                <a:srgbClr val="FFC20E"/>
              </a:buClr>
              <a:buFont typeface="Arial"/>
              <a:buAutoNum type="arabicPeriod"/>
            </a:pPr>
            <a:r>
              <a:rPr sz="2400" b="0" i="0">
                <a:solidFill>
                  <a:srgbClr val="FFFFFF"/>
                </a:solidFill>
                <a:latin typeface="Arial"/>
              </a:rPr>
              <a:t>Tekshiring: </a:t>
            </a:r>
            <a:r>
              <a:rPr sz="2400" b="0" i="0">
                <a:solidFill>
                  <a:srgbClr val="FFC20E"/>
                </a:solidFill>
                <a:latin typeface="Courier New"/>
              </a:rPr>
              <a:t>print(sonlar)</a:t>
            </a:r>
            <a:r>
              <a:rPr sz="2400" b="0" i="0">
                <a:solidFill>
                  <a:srgbClr val="FFFFFF"/>
                </a:solidFill>
                <a:latin typeface="Arial"/>
              </a:rPr>
              <a:t> → </a:t>
            </a:r>
            <a:r>
              <a:rPr sz="2400" b="0" i="0">
                <a:solidFill>
                  <a:srgbClr val="FFC20E"/>
                </a:solidFill>
                <a:latin typeface="Courier New"/>
              </a:rPr>
              <a:t>[1, 2, 3]</a:t>
            </a:r>
            <a:r>
              <a:rPr sz="2400" b="0" i="0">
                <a:solidFill>
                  <a:srgbClr val="FFFFFF"/>
                </a:solidFill>
                <a:latin typeface="Arial"/>
              </a:rPr>
              <a:t>, </a:t>
            </a:r>
            <a:r>
              <a:rPr sz="2400" b="0" i="0">
                <a:solidFill>
                  <a:srgbClr val="FFC20E"/>
                </a:solidFill>
                <a:latin typeface="Courier New"/>
              </a:rPr>
              <a:t>print(yangi)</a:t>
            </a:r>
            <a:r>
              <a:rPr sz="2400" b="0" i="0">
                <a:solidFill>
                  <a:srgbClr val="FFFFFF"/>
                </a:solidFill>
                <a:latin typeface="Arial"/>
              </a:rPr>
              <a:t> → </a:t>
            </a:r>
            <a:r>
              <a:rPr sz="2400" b="0" i="0">
                <a:solidFill>
                  <a:srgbClr val="FFC20E"/>
                </a:solidFill>
                <a:latin typeface="Courier New"/>
              </a:rPr>
              <a:t>[1, 2, 3, 10]</a:t>
            </a:r>
          </a:p>
          <a:p>
            <a:pPr algn="l" marL="457200" indent="-457200">
              <a:lnSpc>
                <a:spcPct val="115000"/>
              </a:lnSpc>
              <a:spcBef>
                <a:spcPts val="0"/>
              </a:spcBef>
              <a:spcAft>
                <a:spcPts val="1200"/>
              </a:spcAft>
              <a:buClr>
                <a:srgbClr val="FFC20E"/>
              </a:buClr>
              <a:buFont typeface="Arial"/>
              <a:buAutoNum type="arabicPeriod"/>
            </a:pPr>
            <a:r>
              <a:rPr sz="2400" b="0" i="0">
                <a:solidFill>
                  <a:srgbClr val="FFFFFF"/>
                </a:solidFill>
                <a:latin typeface="Arial"/>
              </a:rPr>
              <a:t>Tez tugatdingizmi? 10 o'rniga ikkinchi parametr </a:t>
            </a:r>
            <a:r>
              <a:rPr sz="2400" b="0" i="0">
                <a:solidFill>
                  <a:srgbClr val="FFC20E"/>
                </a:solidFill>
                <a:latin typeface="Courier New"/>
              </a:rPr>
              <a:t>son</a:t>
            </a:r>
            <a:r>
              <a:rPr sz="2400" b="0" i="0">
                <a:solidFill>
                  <a:srgbClr val="FFFFFF"/>
                </a:solidFill>
                <a:latin typeface="Arial"/>
              </a:rPr>
              <a:t> qo'shing</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C3CCDA"/>
                </a:solidFill>
                <a:latin typeface="Arial"/>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TO'PLAM</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Ro'yxat o'zgaradi, kortej o'zgarmaydi, to'plam takrorlamaydi</a:t>
            </a:r>
          </a:p>
        </p:txBody>
      </p:sp>
      <p:graphicFrame>
        <p:nvGraphicFramePr>
          <p:cNvPr id="4" name="Table"/>
          <p:cNvGraphicFramePr>
            <a:graphicFrameLocks noGrp="1"/>
          </p:cNvGraphicFramePr>
          <p:nvPr/>
        </p:nvGraphicFramePr>
        <p:xfrm>
          <a:off x="640080" y="2148840"/>
          <a:ext cx="10911535" cy="3200400"/>
        </p:xfrm>
        <a:graphic>
          <a:graphicData uri="http://schemas.openxmlformats.org/drawingml/2006/table">
            <a:tbl>
              <a:tblPr firstRow="1" bandRow="1">
                <a:tableStyleId>{5C22544A-7EE6-4342-B048-85BDC9FD1C3A}</a:tableStyleId>
              </a:tblPr>
              <a:tblGrid>
                <a:gridCol w="2727883"/>
                <a:gridCol w="2727883"/>
                <a:gridCol w="2727883"/>
                <a:gridCol w="2727886"/>
              </a:tblGrid>
              <a:tr h="640080">
                <a:tc>
                  <a:txBody>
                    <a:bodyPr wrap="square" anchor="t" lIns="109728" rIns="109728" tIns="27432" bIns="27432">
                      <a:noAutofit/>
                    </a:bodyPr>
                    <a:lstStyle/>
                    <a:p>
                      <a:pPr algn="l">
                        <a:lnSpc>
                          <a:spcPct val="115000"/>
                        </a:lnSpc>
                        <a:spcBef>
                          <a:spcPts val="0"/>
                        </a:spcBef>
                        <a:spcAft>
                          <a:spcPts val="0"/>
                        </a:spcAft>
                      </a:pP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Ro'yxat</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Kortej</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To'plam</a:t>
                      </a:r>
                    </a:p>
                  </a:txBody>
                  <a:tcPr anchor="ctr">
                    <a:solidFill>
                      <a:srgbClr val="0052CC"/>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Qavs</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 ]</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 )</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 }</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O'zgaradi</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ha</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yo'q</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ha</a:t>
                      </a:r>
                    </a:p>
                  </a:txBody>
                  <a:tcPr anchor="ctr">
                    <a:solidFill>
                      <a:srgbClr val="EEF2F7"/>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Tartib va indeks</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bor</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bor</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yo'q</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Takrorlar</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mumkin</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mumkin</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yo'q</a:t>
                      </a:r>
                    </a:p>
                  </a:txBody>
                  <a:tcPr anchor="ctr">
                    <a:solidFill>
                      <a:srgbClr val="EEF2F7"/>
                    </a:solidFill>
                  </a:tcPr>
                </a:tc>
              </a:tr>
            </a:tbl>
          </a:graphicData>
        </a:graphic>
      </p:graphicFrame>
      <p:sp>
        <p:nvSpPr>
          <p:cNvPr id="5"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XULOSA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Nimani eslab qolish kerak</a:t>
            </a:r>
          </a:p>
        </p:txBody>
      </p:sp>
      <p:sp>
        <p:nvSpPr>
          <p:cNvPr id="4" name="Number 1"/>
          <p:cNvSpPr txBox="1"/>
          <p:nvPr/>
        </p:nvSpPr>
        <p:spPr>
          <a:xfrm>
            <a:off x="640080" y="214884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01</a:t>
            </a:r>
          </a:p>
        </p:txBody>
      </p:sp>
      <p:sp>
        <p:nvSpPr>
          <p:cNvPr id="5" name="Item 1"/>
          <p:cNvSpPr txBox="1"/>
          <p:nvPr/>
        </p:nvSpPr>
        <p:spPr>
          <a:xfrm>
            <a:off x="1645920" y="218541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Ro'yxat ko'p qiymatni bitta nom ostida saqlaydi va indeks bilan o'zgaradi</a:t>
            </a:r>
          </a:p>
        </p:txBody>
      </p:sp>
      <p:sp>
        <p:nvSpPr>
          <p:cNvPr id="6" name="Number 2"/>
          <p:cNvSpPr txBox="1"/>
          <p:nvPr/>
        </p:nvSpPr>
        <p:spPr>
          <a:xfrm>
            <a:off x="640080" y="313182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02</a:t>
            </a:r>
          </a:p>
        </p:txBody>
      </p:sp>
      <p:sp>
        <p:nvSpPr>
          <p:cNvPr id="7" name="Item 2"/>
          <p:cNvSpPr txBox="1"/>
          <p:nvPr/>
        </p:nvSpPr>
        <p:spPr>
          <a:xfrm>
            <a:off x="1645920" y="316839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0052CC"/>
                </a:solidFill>
                <a:latin typeface="Courier New"/>
              </a:rPr>
              <a:t>append</a:t>
            </a:r>
            <a:r>
              <a:rPr sz="2600" b="0" i="0">
                <a:solidFill>
                  <a:srgbClr val="111111"/>
                </a:solidFill>
                <a:latin typeface="Arial"/>
              </a:rPr>
              <a:t>, </a:t>
            </a:r>
            <a:r>
              <a:rPr sz="2600" b="0" i="0">
                <a:solidFill>
                  <a:srgbClr val="0052CC"/>
                </a:solidFill>
                <a:latin typeface="Courier New"/>
              </a:rPr>
              <a:t>insert</a:t>
            </a:r>
            <a:r>
              <a:rPr sz="2600" b="0" i="0">
                <a:solidFill>
                  <a:srgbClr val="111111"/>
                </a:solidFill>
                <a:latin typeface="Arial"/>
              </a:rPr>
              <a:t> qo'shadi; </a:t>
            </a:r>
            <a:r>
              <a:rPr sz="2600" b="0" i="0">
                <a:solidFill>
                  <a:srgbClr val="0052CC"/>
                </a:solidFill>
                <a:latin typeface="Courier New"/>
              </a:rPr>
              <a:t>pop</a:t>
            </a:r>
            <a:r>
              <a:rPr sz="2600" b="0" i="0">
                <a:solidFill>
                  <a:srgbClr val="111111"/>
                </a:solidFill>
                <a:latin typeface="Arial"/>
              </a:rPr>
              <a:t>, </a:t>
            </a:r>
            <a:r>
              <a:rPr sz="2600" b="0" i="0">
                <a:solidFill>
                  <a:srgbClr val="0052CC"/>
                </a:solidFill>
                <a:latin typeface="Courier New"/>
              </a:rPr>
              <a:t>del</a:t>
            </a:r>
            <a:r>
              <a:rPr sz="2600" b="0" i="0">
                <a:solidFill>
                  <a:srgbClr val="111111"/>
                </a:solidFill>
                <a:latin typeface="Arial"/>
              </a:rPr>
              <a:t> indeks bo'yicha, </a:t>
            </a:r>
            <a:r>
              <a:rPr sz="2600" b="0" i="0">
                <a:solidFill>
                  <a:srgbClr val="0052CC"/>
                </a:solidFill>
                <a:latin typeface="Courier New"/>
              </a:rPr>
              <a:t>remove</a:t>
            </a:r>
            <a:r>
              <a:rPr sz="2600" b="0" i="0">
                <a:solidFill>
                  <a:srgbClr val="111111"/>
                </a:solidFill>
                <a:latin typeface="Arial"/>
              </a:rPr>
              <a:t> qiymat bo'yicha o'chiradi</a:t>
            </a:r>
          </a:p>
        </p:txBody>
      </p:sp>
      <p:sp>
        <p:nvSpPr>
          <p:cNvPr id="8" name="Number 3"/>
          <p:cNvSpPr txBox="1"/>
          <p:nvPr/>
        </p:nvSpPr>
        <p:spPr>
          <a:xfrm>
            <a:off x="640080" y="411480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03</a:t>
            </a:r>
          </a:p>
        </p:txBody>
      </p:sp>
      <p:sp>
        <p:nvSpPr>
          <p:cNvPr id="9" name="Item 3"/>
          <p:cNvSpPr txBox="1"/>
          <p:nvPr/>
        </p:nvSpPr>
        <p:spPr>
          <a:xfrm>
            <a:off x="1645920" y="415137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Kortej o'zgarmaydi; to'plam takrorlarni saqlamaydi</a:t>
            </a:r>
          </a:p>
        </p:txBody>
      </p:sp>
      <p:sp>
        <p:nvSpPr>
          <p:cNvPr id="10" name="Number 4"/>
          <p:cNvSpPr txBox="1"/>
          <p:nvPr/>
        </p:nvSpPr>
        <p:spPr>
          <a:xfrm>
            <a:off x="640080" y="509778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04</a:t>
            </a:r>
          </a:p>
        </p:txBody>
      </p:sp>
      <p:sp>
        <p:nvSpPr>
          <p:cNvPr id="11" name="Item 4"/>
          <p:cNvSpPr txBox="1"/>
          <p:nvPr/>
        </p:nvSpPr>
        <p:spPr>
          <a:xfrm>
            <a:off x="1645920" y="513435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0052CC"/>
                </a:solidFill>
                <a:latin typeface="Courier New"/>
              </a:rPr>
              <a:t>b = a</a:t>
            </a:r>
            <a:r>
              <a:rPr sz="2600" b="0" i="0">
                <a:solidFill>
                  <a:srgbClr val="111111"/>
                </a:solidFill>
                <a:latin typeface="Arial"/>
              </a:rPr>
              <a:t> nusxa emas, ikkinchi nom; nusxa uchun </a:t>
            </a:r>
            <a:r>
              <a:rPr sz="2600" b="0" i="0">
                <a:solidFill>
                  <a:srgbClr val="0052CC"/>
                </a:solidFill>
                <a:latin typeface="Courier New"/>
              </a:rPr>
              <a:t>a[:]</a:t>
            </a:r>
          </a:p>
        </p:txBody>
      </p:sp>
      <p:sp>
        <p:nvSpPr>
          <p:cNvPr id="12"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42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CHIQISH SAVOLI · 3 DAQIQA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Ketishdan oldin qog'ozga javob yozing</a:t>
            </a:r>
          </a:p>
        </p:txBody>
      </p:sp>
      <p:sp>
        <p:nvSpPr>
          <p:cNvPr id="4" name="Exit questions"/>
          <p:cNvSpPr txBox="1"/>
          <p:nvPr/>
        </p:nvSpPr>
        <p:spPr>
          <a:xfrm>
            <a:off x="640080" y="2148840"/>
            <a:ext cx="10911535" cy="3017520"/>
          </a:xfrm>
          <a:prstGeom prst="rect">
            <a:avLst/>
          </a:prstGeom>
          <a:noFill/>
        </p:spPr>
        <p:txBody>
          <a:bodyPr wrap="square" anchor="t" lIns="45720" rIns="45720" tIns="27432" bIns="27432">
            <a:noAutofit/>
          </a:bodyPr>
          <a:lstStyle/>
          <a:p>
            <a:pPr algn="l" marL="457200" indent="-457200">
              <a:lnSpc>
                <a:spcPct val="115000"/>
              </a:lnSpc>
              <a:spcBef>
                <a:spcPts val="0"/>
              </a:spcBef>
              <a:spcAft>
                <a:spcPts val="1400"/>
              </a:spcAft>
              <a:buClr>
                <a:srgbClr val="0052CC"/>
              </a:buClr>
              <a:buFont typeface="Arial"/>
              <a:buAutoNum type="arabicPeriod"/>
            </a:pPr>
            <a:r>
              <a:rPr sz="2800" b="0" i="0">
                <a:solidFill>
                  <a:srgbClr val="0052CC"/>
                </a:solidFill>
                <a:latin typeface="Courier New"/>
              </a:rPr>
              <a:t>a = [1, 2]</a:t>
            </a:r>
            <a:r>
              <a:rPr sz="2800" b="0" i="0">
                <a:solidFill>
                  <a:srgbClr val="111111"/>
                </a:solidFill>
                <a:latin typeface="Arial"/>
              </a:rPr>
              <a:t>, </a:t>
            </a:r>
            <a:r>
              <a:rPr sz="2800" b="0" i="0">
                <a:solidFill>
                  <a:srgbClr val="0052CC"/>
                </a:solidFill>
                <a:latin typeface="Courier New"/>
              </a:rPr>
              <a:t>b = a</a:t>
            </a:r>
            <a:r>
              <a:rPr sz="2800" b="0" i="0">
                <a:solidFill>
                  <a:srgbClr val="111111"/>
                </a:solidFill>
                <a:latin typeface="Arial"/>
              </a:rPr>
              <a:t>, </a:t>
            </a:r>
            <a:r>
              <a:rPr sz="2800" b="0" i="0">
                <a:solidFill>
                  <a:srgbClr val="0052CC"/>
                </a:solidFill>
                <a:latin typeface="Courier New"/>
              </a:rPr>
              <a:t>b.append(3)</a:t>
            </a:r>
            <a:r>
              <a:rPr sz="2800" b="0" i="0">
                <a:solidFill>
                  <a:srgbClr val="111111"/>
                </a:solidFill>
                <a:latin typeface="Arial"/>
              </a:rPr>
              <a:t> dan keyin </a:t>
            </a:r>
            <a:r>
              <a:rPr sz="2800" b="0" i="0">
                <a:solidFill>
                  <a:srgbClr val="0052CC"/>
                </a:solidFill>
                <a:latin typeface="Courier New"/>
              </a:rPr>
              <a:t>print(a)</a:t>
            </a:r>
            <a:r>
              <a:rPr sz="2800" b="0" i="0">
                <a:solidFill>
                  <a:srgbClr val="111111"/>
                </a:solidFill>
                <a:latin typeface="Arial"/>
              </a:rPr>
              <a:t> nimani chiqaradi?</a:t>
            </a:r>
          </a:p>
          <a:p>
            <a:pPr algn="l" marL="457200" indent="-457200">
              <a:lnSpc>
                <a:spcPct val="115000"/>
              </a:lnSpc>
              <a:spcBef>
                <a:spcPts val="0"/>
              </a:spcBef>
              <a:spcAft>
                <a:spcPts val="1400"/>
              </a:spcAft>
              <a:buClr>
                <a:srgbClr val="0052CC"/>
              </a:buClr>
              <a:buFont typeface="Arial"/>
              <a:buAutoNum type="arabicPeriod"/>
            </a:pPr>
            <a:r>
              <a:rPr sz="2800" b="0" i="0">
                <a:solidFill>
                  <a:srgbClr val="111111"/>
                </a:solidFill>
                <a:latin typeface="Arial"/>
              </a:rPr>
              <a:t>Ro'yxatdan "Ali" ni qiymati bo'yicha o'chiradigan yozuvni yozing.</a:t>
            </a:r>
          </a:p>
        </p:txBody>
      </p:sp>
      <p:sp>
        <p:nvSpPr>
          <p:cNvPr id="5"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43</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