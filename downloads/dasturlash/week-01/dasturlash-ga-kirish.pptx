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90"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5600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Talabalarni kutib oling. O'zingizni qisqacha tanishtiring (ismingiz, yo'nalishingiz, nega bu fanni
o'qitasiz). Bugungi ma'ruzaning ohangi: bu "katta manzara" ma'ruzasi — hali kod yo'q. Maqsad —
talabalar bu sohaning aslida nima ekanligini, kompyuter olimlari qanday fikrlashini, ma'lumot
mashina ichida qanday ifodalanishini, bu daraja qanday kasblarni ochishini va sun'iy intellekt
ularga kerak bo'lgan narsani qanday o'zgartirishini (va o'zgartirmasligini) tushunib chiqishlari.
Agar kerak bo'lsa, tashkiliy masalalarni qisqa ayting (dastur, qabul soatlari) — 1 daqiqadan
oshirmang, bu ma'ruza zich.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Oltita bo'limni tez o'qib bering. Talabalarga ayting: "Ushbu 80 daqiqa oxirida siz bu soha
aslida nima ekanligini, kompyuter olimi kabi qanday fikrlashni, kompyuter matndan rangga qadar
hamma narsani raqamlar sifatida qanday ifodalashini, bu daraja bilan nima qila olishingizni va
sun'iy intellekt vositalari o'quvchi sifatidagi ishingizni qanday o'zgartirishini tushunib
olasiz." Buni 1 daqiqadan kam vaqtda o'ting — bu xarita, muhokama emas.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O'tish slaydi. Auditoriyadan so'rang: "Agar hozir sizdan — kompyuter fani nima? — deb so'rasam,
nima deb javob berardingiz?" 2-3 talabaga ovoz chiqarib javob berishga ruxsat bering (baribir
ma'ruza uslubida, faqat qisqa 'harorat tekshiruvi', tuzilgan mashq emas). Ularning javoblarini
keyingi ikki slaydni tayyorlash uchun ishlating.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 bir noto'g'ri tushunchani ko'rib chiqing. Oxirgisiga eng ko'p urg'u bering: "Bu
kompyuterlar haqida" — eng katta noto'g'ri tushuncha. Kompyuter fani tushuncha sifatida
elektron kompyuterlardan oldin ham mavjud edi — Turing, Church va boshqalar 1930-yillarda
qog'oz va qalam bilan kompyuter fanini qilishgan. Fan nimani hisoblash mumkinligi va buni
qanday samarali qilish haqida, mashinaning o'zi haqida emas. Bu keyingi slayddagi ta'rifni
tayyorlaydi.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butun kurs uchun ishchi ta'rif. Iqtibos slaydini sekin, ovoz chiqarib o'qing — u zich.
Keyin uchta qismni yoritib bering: muammo, jarayon, yechim. Noto'g'ri tushunchalar slaydiga
qaytaring: "E'tibor bering — bu ta'rifda hech qayerda 'kod yozing' deyilmagan. Kod — bu
jarayonni mashinaga ifodalashning shunchaki bir usuli." Bu bugungi qolgan qismning falsafiy
asosidir.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O'tish. Hisoblash tafakkuri "muammolarni yechish" ostidagi umumiy ko'nikma. Bu faqat
kompyuter olimlariga xos emasligini tushuntiring — yaxshi oshpazlar, shifokorlar va
muhandislar ham buni ishlatishadi — lekin kompyuter fani buni to'rtta nomlangan ko'nikmaga
rasmiylashtiradi, ularni birma-bir ko'rib chiqamiz, so'ng bittasiga birgalikda qo'llaymiz.</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Umumiy ko'rinishni tez bering — har bir ustun uchun bitta jumla, hali chuqur kirmang, har
biri keyingi slaydda alohida beriladi. Talabalarga ayting: "Endi har birini alohida ko'rib
chiqamiz, so'ng hammasini birgalikda bitta misolda qo'llaymiz — massivda eng katta sonni
topish — shunda ular amaliyotda qanday birlashishini ko'rasiz."</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Dekompozitsiya eng tushunarli ustun — talabalar buni kundalik hayotda allaqachon qilishadi
(sayohat rejalashtirish, ovqat tayyorlash). Urg'u bering: veb-sayt "bitta muammo" emas, bu
birgalikda to'plangan o'nlab kichikroq muammolar. Ko'nikma — chok qayerda ekanligini bilish —
katta noaniq muammoni kichikroq, yaxshi belgilangan muammolarga qanday bo'lish kerakligini,
shunda ularni birma-bir haqiqatan ham yechish mumkin.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Asosiy nuqta: kompyuter fanida "qayta ishlatiladigan" bilim shu sababdan mavjud — saralashni
bir marta yaxshi o'rgangach, uni qayta yechish shart emas, naqshni tanib, yechimni qayta
ishlatasiz. Bu ko'p sohalardan farq qiladi, u yerda har bir muammo o'ziga xosdek tuyuladi.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Abstraktsiya birinchi kurs talabalari uchun eng qiyin ustun, shuning uchun bu yerda biroz
ko'proq vaqt sarflang. Misolni kompyuter faniga bevosita bog'liq qiling: "Saqlash" tugmasi
ortida operatsion tizim, fayl tizimi va disk drayverlari bilan bog'liq ko'plab qatlamlar
yashiringan — dasturchi sifatida siz "faylni saqla" deb chaqirasiz va qolganiga ishonasiz.
Buni oldinga bog'lang: "Kompyuterning har bir qatlami — siz bosgan tugma, uning ortidagi kod,
tagidagi mikrosxemalar — bir-birining ustiga qurilgan abstraktsiyalardir. Butun daraja davomida
shu qatlamlar bo'ylab yuqoriga va pastga harakatlanishni o'rganasiz." Bu keyingi darslarni
yaxshi tayyorlaydi.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ustun bevosita "Muammolarni Yechish" bo'limiga olib boradi. "Aniq" va "tartib"
so'zlariga urg'u bering — noaniqlik algoritmning dushmani. "Tayyor bo'lguncha pishiring"
deydigan retsept yomon algoritm; "180°C da 25 daqiqa pishiring" — yaxshi algoritm. Tez orada
"yaxshi vs yomon algoritm"ni rasmiylashtiramiz.</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hisoblash tafakkuri bo'limining yakuniy natijasi. Jarayonni og'zaki tasvirlab bering:
birinchi talabaning ballini qog'ozga yozing (yoki xayolda tuting) va uni "hozirgi rekord" deb
ataymiz. Keyin ikkinchi ballga qarang — agar u kattaroq bo'lsa, rekordni yangilaymiz, aks holda
davom etamiz. Shu tarzda oxirigacha. 60 ta ball uchun aniq 59 ta solishtirish kifoya (har bir
yangi ball uchun bitta solishtirish) — hech qanday ball qoldirilmaydi, lekin hech qanday
ortiqcha ish ham qilinmaydi. Bu misol keyinroq talabalar haqiqiy algoritmlarni yozishni
o'rganganda qayta uchraydi — bu "maksimal topish" algoritmining eng oddiy va samarali
shakli.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O'tish. Muammolarni yechish — hisoblash tafakkuri olib keladigan rasmiy jarayon. Kirish →
Algoritm → Chiqish modelini ular yozadigan har qanday dasturning skeleti sifatida kiriting.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ASOSIY skelet. Har bir dastur: kirishni qabul qiladi, algoritmni ishga tushiradi,
chiqishni hosil qiladi. Og'zaki oddiy misol bering: kirish = ikkita son, algoritm = ularni
qo'shish, chiqish = yig'indi. Keyin qiziqroq misol: kirish = fotosurat, algoritm = yuzni
aniqlash jarayoni, chiqish = yuzlar atrofida chizilgan ramkalar. Urg'u bering: o'rtadagi
katak — algoritm — kompyuter fani haqiqatan ham nima haqida yaxshi loyihalashni o'rgatishi
haqida.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Keyingi slayd uchun tayyorlang. Talabalarga ayting: "Endi algoritm bu uchtadan birini
noto'g'ri qilganda nima bo'lishini ko'raylik." Keyin voqea slaydiga o'ting.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misolni jonli namoyish qiling — deyarli har bir talaba buni allaqachon qilgan. Yomon usul:
1-betdan boshlab, har bir betni birma-bir varaqlab, so'zni qidiring. 1000 betlik lug'atda bu
o'rtacha 500 marta varaqlashni talab qiladi. Yaxshi usul: lug'atni taxminan o'rtadan oching —
so'z u yerdan oldinmi yoki keyinmi, shuni ko'ring, so'ng shu yarmini tanlab, yana o'rtadan
oching. Har safar qolgan betlar sonini deyarli ikki baravar kamaytirasiz. Talabalar bilan
hisoblang: 1000, 500, 250, 125... atigi 10 ta ochishdan keyin bitta betga qolasiz. Ikkala usul
ham "to'g'ri" — ikkalasi ham so'zni topadi — lekin biri necha yuz marta ko'proq ish talab
qiladi. Xulosa: to'g'rilikning o'zi yetarli emas — samaradorlik ham algoritmni haqiqatan ham
yaxshi qiladigan narsaning bir qismi. Bu keyinroq kursda rasmiylashtiriladigan "murakkablikni
tahlil qilish" ("Big O") tushunchasining oldindan ko'rsatmasi — bugun uni nomlash shart
emas, faqat intuitsiyani urug'lantiring. (Eslatma: bu xuddi 12-slayddagi "eng katta ballni
topish" bilan bir xil emas — u yerda butun ro'yxatni ko'rib chiqish kerak edi, bu yerda esa
har safar qidiruv maydonini yarmiga qisqartiramiz.)</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Ma'ruzaning texnik yadrosiga o'ting — bu yerga haqiqiy vaqt ajrating (~25 daqiqa). Talabalarga
ayting, bu bo'lim chuqur savolga javob beradi: kompyuterlar elektr sxemalari. Elektr tok yo yuradi,
yo yo'q. Xo'sh, yoniq/o'chiq kalitlar to'plami qanday qilib ismingizni, itingiz fotosuratini
yoki bugun yuborgan emojingizni saqlab qoladi? Keyingi slaydlar to'plami shunga javob beradi.</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Buni jismoniy va konkret tarzda saqlang. Tranzistor — kichik elektr kaliti — kuchlanish bor
yoki yo'q. Bu holatlarni kelishuv bo'yicha 1 va 0 deb belgilaymiz. Ushbu bo'limning qolgan
qismi bitta g'oya haqida: qanday qilib boshqa hamma narsani (sonlar, harflar, ranglar) faqat
shu ikki belgining uzun ketma-ketliklaridan qurish mumkin? Shoshilmang — bu qayta
tushuncha ko'plab birinchi kurs talabalari uchun "aha" lahzasi.</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Unar tizim — bu "chiziqchalar bilan sanash" tizimi. Tushunish oson, kengaytirish yomon.
Bu faqat nega bizga yaxshiroq narsa kerakligini asoslash uchun mavjud — bu ikkilik tizim.
Ritorik savol bering: "Bir millionni unar tizimda qanday yozgan bo'lardingiz? Bir million
nuqtami?" Buni his qildiring, so'ng ikkilik tizimga o'ting.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MUHIM: bu slaydda chapga qo'shilgan qator yorliqlariga ishora qiling — "O'nlik son" va
"Ikkilik yozuvi" — shunda talabalar yuqori qator shunchaki tanish sanoq ekanligini, pastki
qora qator esa XUDDI SHU SONNING boshqa tizimdagi yozuvi ekanligini, ikkita bog'liqsiz qiymat
emasligini aniq tushunishadi. Naqshni chapdan o'ngga o'qing: 0, 1 — keyin o'nlik tizim 9 dan
keyin raqamlari tugagani kabi, ikkilik tizim 1 dan keyin tugaydi, shuning uchun keyingi ustunga
o'tadi: 10 (bu "bir-nol" deb o'qiladi, "o'n" emas — ikki sonini bildiradi). Urg'u bering:
"bir-nol" deb ovoz chiqarib ayting, "o'n" demang, shunda talabalar chalkashmaydi. Jadval
bo'ylab tabiiy sur'atda davom eting. Bu keyingi slayddagi o'rin qiymatini tayyorlaydi.</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butun texnik bo'limning asosiy slaydi — bu yerda sekinlashing. Har bir ustunga ishora
qiling: yuqori qator ikkining darajalarini ko'rsatadi (128, 64, 32...), pastki qator esa o'sha
ustun "yoniq" (1) yoki "o'chiq" (0) ekanligini ko'rsatadi. Faqat 1 bo'lgan ustunlarni qo'shing:
32 + 8 + 4 + 1 = 45. Kalitlar slaydiga bog'lang: har bir ustun aynan bitta tranzistorning
yoniq yoki o'chiq holatidir. Xohlasangiz, talabalardan birini hisobni ovoz chiqarib
tekshirishga taklif qiling.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Ataylab yana 45 sonini ishlating — ikkilik tizim slaydidagi bilan bir xil son — shunda
talabalar 00101101 ikkilik tizimda va 045 o'nlik tizimda aynan bir xil qiymat ekanligini,
faqat boshqa asosda yozilganligini to'g'ridan-to'g'ri ko'rishlari mumkin. Ushbu "aha, bu bir
xil son" lahzasi — shu slaydning butun maqsadi. Qisqa qiling; o'nlik tizim ular uchun allaqachon
intuitiv.</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ASCII = American Standard Code for Information Interchange, 1960-yillardan. Jadval bo'ylab
o'ting: bosh A harfi o'nlik tizimda 65, bu 8-bitli ikkilik tizimda 01000001 — xuddi shu
ikkilik-o'nlik konversiya, endi son o'rniga harflarni belgilash uchun ishlatilmoqda. Kichik
"a" harfi bosh "A" dan (65) boshqa son (97) ekanligini ta'kidlang — katta-kichik harf
kompyuter uchun muhim. Cheklovga o'ting: ASCII ingliz tilida so'zlashuvchilar tomonidan va
ular uchun yaratilgan — 128 ta belgi urg'uli harflar, lotin bo'lmagan yozuvlar yoki
emojilar uchun umuman yetarli emas. Bu keyingi Unicode uchun asos bo'ladi.</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 prefiksiga ishora qiling — bu standart Unicode yozuvi, va bu shunchaki belgining
sonini o'nlik yoki ikkilik o'rniga o'n oltilik tizimda yozilishidir (agar kerak bo'lsa, faqat
qisqacha eslating — bugun shart emas). Qatordagi xilma-xillikni ko'rsating: lotin A, urg'uli
é, xitoycha 中, arabcha م va emoji — hammasi aynan bir xil asosiy g'oya bilan
boshqariladi, har bir belgi uchun bitta son. UTF-8 ni faqat nom sifatida qisqa eslating —
bu ushbu sonlarni samarali saqlashga imkon beruvchi "qadoqlash sxemasi" — lekin bugun
bayt darajasidagi tafsilotlarga kirmang; bu keyingi ma'ruza uchun.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Oq va qora naqshlarga alohida ishora qiling: oq — uchalasining maksimumi (255,255,255),
qora — uchalasining minimumi (0,0,0) — bu odatda qorani biror maxsus qiymat deb kutgan
talabalarni hayratda qoldiradi. Ta'kidlang: shu uchta sondan (0-255) har biri 8 bitga sig'adi,
ASCII belgilari uchun ishlatgan ikkilik ifodaning aynan o'zi. Rangda hech qanday sehr yo'q —
bu har bir piksel uchun uchta kichik son, ekran esa millionlab piksellardan iborat, xolos.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butun ifodalash bo'limining hissiy/kontseptual natijasi. Zanjirni ovoz chiqarib o'qing,
pastdan yuqoriga yoki yuqoridan pastga — matn va rang ikkalasi ham sonlarga tushadi, sonlar
ikkilik tizimga tushadi, ikkilik tizim jismoniy kalitning yoniq yoki o'chiq holatiga tushadi.
Bu slayddan keyin pauza qiling — bu karyeralarga o'tishdan oldin qisqa 10 soniyalik tin
olish uchun yaxshi lahza.</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Ma'ruzaning ko'proq motivatsion bo'limiga o'ting. Talabalar ko'pincha faqat "dasturiy
ta'minot muhandisi"ni yagona kasb sifatida bilishadi — bu yerdagi maqsad ularning nima
mumkinligi haqidagi tushunchasini kengaytirish va bugungi ko'nikmalar (hisoblash tafakkuri,
muammolarni yechish, ifodalash) shu rollarning barchasi ostidagi umumiy ip ekanligiga
ishontirish.</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 bir rolni qisqacha o'ting — bir-ikki jumla, agar o'z tarmog'ingiz yoki mahalliy
sanoatdan haqiqiy misol bo'lsa, ayting. Bu ro'yxat to'liq emasligini ta'kidlang; maqsad —
kenglik. Agar so'nggi bitiruvchilar natijalarini bilsangiz, shu yerda eslating — aniq,
mahalliy misollar umumiy ro'yxatlardan ancha yaxshi ta'sir qiladi.</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Kasblar bo'limini rag'batlantiruvchi, halol notada yakunlang: lavozim nomlari doimo
o'zgaradi, lekin hisoblash tafakkuri va muammolarni yechish eskirmaydi. Bu keyingi bir necha
yil davomidagi dasturlari ularni oldingi slayddagi har qanday yo'nalishga ixtisoslashishga
imkon berishini eslatish uchun yaxshi lahza — bugun shunchaki xarita.</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Yakuniy mazmun bo'limiga o'ting. Ohangni asosli va hype'siz ushlab turing — na sun'iy
intellekt vositalarini mensimang, na ularni haddan tashqari maqtang. Maqsad — ushbu
vositalar bilan birga kod yozishni o'rganadigan talabalar uchun real kutishlarni
shakllantirish.</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Sun'iy intellekt kod vositalarini dasturchilarni ishlaydigan abstraktsiya darajasini
oshirgan uzoq vositalar zanjiridagi so'nggisi sifatida ko'rsating — kompilyatorlar, yuqori
darajali tillar, IDE'lar va endi sun'iy intellekt yordamchilari — hammasi dasturchilarga
"qanday"dan ko'ra "nima"ga ko'proq e'tibor qaratish imkonini beradi. Konkret bo'lib qoling:
bu vositalar andozaviy kod va xatolarni tuzatishni tezlashtirish uchun haqiqatan ham foydali
ekanligini ayting, lekin ular yaratilgan kod haqiqatan ham to'g'ri ekanligini bilish
zaruratini almashtirmaydi.</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asosiy ishontirish slaydi: ko'pchilik birinchi kurs talabalari sun'iy intellekt
darajalarini ma'nosiz qilib qo'yishidan xavotirlanadi. Buni to'g'ridan-to'g'ri rad eting:
sun'iy intellekt vositalari asoslarni kamroq emas, KO'PROQ qadrli qiladi — kimdir hali ham
muammolarni dekompozitsiya qilishi, ularni aniq belgilashi va natijaga ishonish mumkinligini
baholashi kerak. Bugun o'qitilgan hamma narsa (hisoblash tafakkuri, ifodalash) aynan sun'iy
intellekt vositalari almashtirmaydigan qatlam ekanligini ta'kidlang — bu sun'iy intellekt
vositalaridan yaxshi foydalanish uchun kerak bo'lgan qatlam.</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a:effectLst/>
      </p:bgPr>
    </p:bg>
    <p:spTree>
      <p:nvGrpSpPr>
        <p:cNvPr id="1" name=""/>
        <p:cNvGrpSpPr/>
        <p:nvPr/>
      </p:nvGrpSpPr>
      <p:grpSpPr>
        <a:xfrm>
          <a:off x="0" y="0"/>
          <a:ext cx="0" cy="0"/>
          <a:chOff x="0" y="0"/>
          <a:chExt cx="0" cy="0"/>
        </a:xfrm>
      </p:grpSpPr>
      <p:sp>
        <p:nvSpPr>
          <p:cNvPr id="2" name="Text 0"/>
          <p:cNvSpPr txBox="1"/>
          <p:nvPr/>
        </p:nvSpPr>
        <p:spPr>
          <a:xfrm>
            <a:off x="822960" y="2286000"/>
            <a:ext cx="7315200" cy="548640"/>
          </a:xfrm>
          <a:prstGeom prst="rect">
            <a:avLst/>
          </a:prstGeom>
          <a:noFill/>
          <a:ln/>
        </p:spPr>
        <p:txBody>
          <a:bodyPr wrap="square" lIns="0" tIns="0" rIns="0" bIns="0" rtlCol="0" anchor="ctr"/>
          <a:lstStyle/>
          <a:p>
            <a:pPr marL="0" indent="0">
              <a:buNone/>
            </a:pPr>
            <a:endParaRPr lang="en-US" sz="1800" dirty="0"/>
          </a:p>
        </p:txBody>
      </p:sp>
      <p:sp>
        <p:nvSpPr>
          <p:cNvPr id="3" name="Text 1"/>
          <p:cNvSpPr txBox="1"/>
          <p:nvPr/>
        </p:nvSpPr>
        <p:spPr>
          <a:xfrm>
            <a:off x="822960" y="2743200"/>
            <a:ext cx="10515600" cy="1554480"/>
          </a:xfrm>
          <a:prstGeom prst="rect">
            <a:avLst/>
          </a:prstGeom>
          <a:noFill/>
          <a:ln/>
        </p:spPr>
        <p:txBody>
          <a:bodyPr wrap="square" lIns="0" tIns="0" rIns="0" bIns="0" rtlCol="0" anchor="ctr"/>
          <a:lstStyle/>
          <a:p>
            <a:pPr marL="0" indent="0">
              <a:buNone/>
            </a:pPr>
            <a:r>
              <a:rPr lang="en-US" sz="4600" b="1" dirty="0" err="1">
                <a:solidFill>
                  <a:srgbClr val="FFFFFF"/>
                </a:solidFill>
                <a:latin typeface="Cambria" pitchFamily="34" charset="0"/>
                <a:ea typeface="Cambria" pitchFamily="34" charset="-122"/>
                <a:cs typeface="Cambria" pitchFamily="34" charset="-120"/>
              </a:rPr>
              <a:t>Dasturlash</a:t>
            </a:r>
            <a:r>
              <a:rPr lang="en-US" sz="4600" b="1" dirty="0">
                <a:solidFill>
                  <a:srgbClr val="FFFFFF"/>
                </a:solidFill>
                <a:latin typeface="Cambria" pitchFamily="34" charset="0"/>
                <a:ea typeface="Cambria" pitchFamily="34" charset="-122"/>
                <a:cs typeface="Cambria" pitchFamily="34" charset="-120"/>
              </a:rPr>
              <a:t> 1, 2</a:t>
            </a:r>
            <a:endParaRPr lang="en-US" sz="4600" dirty="0"/>
          </a:p>
        </p:txBody>
      </p:sp>
      <p:sp>
        <p:nvSpPr>
          <p:cNvPr id="4" name="Text 2"/>
          <p:cNvSpPr txBox="1"/>
          <p:nvPr/>
        </p:nvSpPr>
        <p:spPr>
          <a:xfrm>
            <a:off x="822960" y="3977640"/>
            <a:ext cx="10058400" cy="548640"/>
          </a:xfrm>
          <a:prstGeom prst="rect">
            <a:avLst/>
          </a:prstGeom>
          <a:noFill/>
          <a:ln/>
        </p:spPr>
        <p:txBody>
          <a:bodyPr wrap="square" lIns="0" tIns="0" rIns="0" bIns="0" rtlCol="0" anchor="ctr"/>
          <a:lstStyle/>
          <a:p>
            <a:pPr marL="0" indent="0">
              <a:buNone/>
            </a:pPr>
            <a:endParaRPr lang="en-US" sz="2000" dirty="0"/>
          </a:p>
        </p:txBody>
      </p:sp>
      <p:sp>
        <p:nvSpPr>
          <p:cNvPr id="5" name="Shape 3"/>
          <p:cNvSpPr/>
          <p:nvPr/>
        </p:nvSpPr>
        <p:spPr>
          <a:xfrm>
            <a:off x="640080" y="4709160"/>
            <a:ext cx="10911535" cy="0"/>
          </a:xfrm>
          <a:prstGeom prst="line">
            <a:avLst/>
          </a:prstGeom>
          <a:noFill/>
          <a:ln w="15875">
            <a:solidFill>
              <a:srgbClr val="3A3A3A"/>
            </a:solidFill>
            <a:prstDash val="solid"/>
          </a:ln>
        </p:spPr>
        <p:txBody>
          <a:bodyPr/>
          <a:lstStyle/>
          <a:p>
            <a:endParaRPr lang="en-US"/>
          </a:p>
        </p:txBody>
      </p:sp>
      <p:sp>
        <p:nvSpPr>
          <p:cNvPr id="6" name="Text 4"/>
          <p:cNvSpPr txBox="1"/>
          <p:nvPr/>
        </p:nvSpPr>
        <p:spPr>
          <a:xfrm>
            <a:off x="822960" y="4892040"/>
            <a:ext cx="7315200" cy="365760"/>
          </a:xfrm>
          <a:prstGeom prst="rect">
            <a:avLst/>
          </a:prstGeom>
          <a:noFill/>
          <a:ln/>
        </p:spPr>
        <p:txBody>
          <a:bodyPr wrap="square" lIns="0" tIns="0" rIns="0" bIns="0" rtlCol="0" anchor="ctr"/>
          <a:lstStyle/>
          <a:p>
            <a:pPr marL="0" indent="0">
              <a:buNone/>
            </a:pP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8686800" cy="365760"/>
          </a:xfrm>
          <a:prstGeom prst="rect">
            <a:avLst/>
          </a:prstGeom>
          <a:noFill/>
          <a:ln/>
        </p:spPr>
        <p:txBody>
          <a:bodyPr wrap="square" lIns="0" tIns="0" rIns="0" bIns="0" rtlCol="0" anchor="ctr"/>
          <a:lstStyle/>
          <a:p>
            <a:pPr marL="0" indent="0">
              <a:buNone/>
            </a:pPr>
            <a:endParaRPr lang="en-US" sz="1500" dirty="0"/>
          </a:p>
        </p:txBody>
      </p:sp>
      <p:sp>
        <p:nvSpPr>
          <p:cNvPr id="3" name="Text 1"/>
          <p:cNvSpPr txBox="1"/>
          <p:nvPr/>
        </p:nvSpPr>
        <p:spPr>
          <a:xfrm>
            <a:off x="640080" y="868680"/>
            <a:ext cx="10881360" cy="1005840"/>
          </a:xfrm>
          <a:prstGeom prst="rect">
            <a:avLst/>
          </a:prstGeom>
          <a:noFill/>
          <a:ln/>
        </p:spPr>
        <p:txBody>
          <a:bodyPr wrap="square" lIns="0" tIns="0" rIns="0" bIns="0" rtlCol="0" anchor="ctr"/>
          <a:lstStyle/>
          <a:p>
            <a:pPr marL="0" indent="0" algn="l">
              <a:buNone/>
            </a:pPr>
            <a:r>
              <a:rPr lang="en-US" sz="3400" b="1" dirty="0">
                <a:solidFill>
                  <a:srgbClr val="000000"/>
                </a:solidFill>
                <a:latin typeface="Cambria" pitchFamily="34" charset="0"/>
                <a:ea typeface="Cambria" pitchFamily="34" charset="-122"/>
                <a:cs typeface="Cambria" pitchFamily="34" charset="-120"/>
              </a:rPr>
              <a:t>Kun Tartibi</a:t>
            </a:r>
            <a:endParaRPr lang="en-US" sz="3400" dirty="0"/>
          </a:p>
        </p:txBody>
      </p:sp>
      <p:sp>
        <p:nvSpPr>
          <p:cNvPr id="4" name="Shape 2"/>
          <p:cNvSpPr/>
          <p:nvPr/>
        </p:nvSpPr>
        <p:spPr>
          <a:xfrm>
            <a:off x="640080" y="1874520"/>
            <a:ext cx="10911535" cy="0"/>
          </a:xfrm>
          <a:prstGeom prst="line">
            <a:avLst/>
          </a:prstGeom>
          <a:noFill/>
          <a:ln w="15875">
            <a:solidFill>
              <a:srgbClr val="D9D9D9"/>
            </a:solidFill>
            <a:prstDash val="solid"/>
          </a:ln>
        </p:spPr>
        <p:txBody>
          <a:bodyPr/>
          <a:lstStyle/>
          <a:p>
            <a:endParaRPr lang="en-US"/>
          </a:p>
        </p:txBody>
      </p:sp>
      <p:sp>
        <p:nvSpPr>
          <p:cNvPr id="5" name="Text 3"/>
          <p:cNvSpPr txBox="1"/>
          <p:nvPr/>
        </p:nvSpPr>
        <p:spPr>
          <a:xfrm>
            <a:off x="640080" y="2286000"/>
            <a:ext cx="914400" cy="1005840"/>
          </a:xfrm>
          <a:prstGeom prst="rect">
            <a:avLst/>
          </a:prstGeom>
          <a:noFill/>
          <a:ln/>
        </p:spPr>
        <p:txBody>
          <a:bodyPr wrap="square" lIns="0" tIns="0" rIns="0" bIns="0" rtlCol="0" anchor="ctr"/>
          <a:lstStyle/>
          <a:p>
            <a:pPr marL="0" indent="0">
              <a:buNone/>
            </a:pPr>
            <a:r>
              <a:rPr lang="en-US" sz="3000" b="1" dirty="0">
                <a:latin typeface="Cambria" pitchFamily="34" charset="0"/>
                <a:ea typeface="Cambria" pitchFamily="34" charset="-122"/>
                <a:cs typeface="Cambria" pitchFamily="34" charset="-120"/>
              </a:rPr>
              <a:t>01</a:t>
            </a:r>
            <a:endParaRPr lang="en-US" sz="3000" dirty="0"/>
          </a:p>
        </p:txBody>
      </p:sp>
      <p:sp>
        <p:nvSpPr>
          <p:cNvPr id="6" name="Text 4"/>
          <p:cNvSpPr txBox="1"/>
          <p:nvPr/>
        </p:nvSpPr>
        <p:spPr>
          <a:xfrm>
            <a:off x="1600200" y="2286000"/>
            <a:ext cx="4251960" cy="1005840"/>
          </a:xfrm>
          <a:prstGeom prst="rect">
            <a:avLst/>
          </a:prstGeom>
          <a:noFill/>
          <a:ln/>
        </p:spPr>
        <p:txBody>
          <a:bodyPr wrap="square" lIns="0" tIns="0" rIns="0" bIns="0" rtlCol="0" anchor="ctr"/>
          <a:lstStyle/>
          <a:p>
            <a:pPr marL="0" indent="0">
              <a:buNone/>
            </a:pPr>
            <a:r>
              <a:rPr lang="en-US" sz="2000" dirty="0" err="1">
                <a:solidFill>
                  <a:srgbClr val="1A1A1A"/>
                </a:solidFill>
                <a:latin typeface="Calibri" pitchFamily="34" charset="0"/>
                <a:ea typeface="Calibri" pitchFamily="34" charset="-122"/>
                <a:cs typeface="Calibri" pitchFamily="34" charset="-120"/>
              </a:rPr>
              <a:t>Dasturlash</a:t>
            </a:r>
            <a:r>
              <a:rPr lang="en-US" sz="2000" dirty="0">
                <a:solidFill>
                  <a:srgbClr val="1A1A1A"/>
                </a:solidFill>
                <a:latin typeface="Calibri" pitchFamily="34" charset="0"/>
                <a:ea typeface="Calibri" pitchFamily="34" charset="-122"/>
                <a:cs typeface="Calibri" pitchFamily="34" charset="-120"/>
              </a:rPr>
              <a:t> 1, 2 Nima?</a:t>
            </a:r>
            <a:endParaRPr lang="en-US" sz="2000" dirty="0"/>
          </a:p>
        </p:txBody>
      </p:sp>
      <p:sp>
        <p:nvSpPr>
          <p:cNvPr id="7" name="Shape 5"/>
          <p:cNvSpPr/>
          <p:nvPr/>
        </p:nvSpPr>
        <p:spPr>
          <a:xfrm>
            <a:off x="640080" y="3319272"/>
            <a:ext cx="5212080" cy="0"/>
          </a:xfrm>
          <a:prstGeom prst="line">
            <a:avLst/>
          </a:prstGeom>
          <a:noFill/>
          <a:ln w="12700">
            <a:solidFill>
              <a:srgbClr val="D9D9D9"/>
            </a:solidFill>
            <a:prstDash val="solid"/>
          </a:ln>
        </p:spPr>
        <p:txBody>
          <a:bodyPr/>
          <a:lstStyle/>
          <a:p>
            <a:endParaRPr lang="en-US"/>
          </a:p>
        </p:txBody>
      </p:sp>
      <p:sp>
        <p:nvSpPr>
          <p:cNvPr id="8" name="Text 6"/>
          <p:cNvSpPr txBox="1"/>
          <p:nvPr/>
        </p:nvSpPr>
        <p:spPr>
          <a:xfrm>
            <a:off x="6217920" y="2286000"/>
            <a:ext cx="914400" cy="1005840"/>
          </a:xfrm>
          <a:prstGeom prst="rect">
            <a:avLst/>
          </a:prstGeom>
          <a:noFill/>
          <a:ln/>
        </p:spPr>
        <p:txBody>
          <a:bodyPr wrap="square" lIns="0" tIns="0" rIns="0" bIns="0" rtlCol="0" anchor="ctr"/>
          <a:lstStyle/>
          <a:p>
            <a:pPr marL="0" indent="0">
              <a:buNone/>
            </a:pPr>
            <a:r>
              <a:rPr lang="en-US" sz="3000" b="1" dirty="0">
                <a:latin typeface="Cambria" pitchFamily="34" charset="0"/>
                <a:ea typeface="Cambria" pitchFamily="34" charset="-122"/>
                <a:cs typeface="Cambria" pitchFamily="34" charset="-120"/>
              </a:rPr>
              <a:t>02</a:t>
            </a:r>
            <a:endParaRPr lang="en-US" sz="3000" b="1" dirty="0"/>
          </a:p>
        </p:txBody>
      </p:sp>
      <p:sp>
        <p:nvSpPr>
          <p:cNvPr id="9" name="Text 7"/>
          <p:cNvSpPr txBox="1"/>
          <p:nvPr/>
        </p:nvSpPr>
        <p:spPr>
          <a:xfrm>
            <a:off x="7178040" y="2286000"/>
            <a:ext cx="4251960" cy="1005840"/>
          </a:xfrm>
          <a:prstGeom prst="rect">
            <a:avLst/>
          </a:prstGeom>
          <a:noFill/>
          <a:ln/>
        </p:spPr>
        <p:txBody>
          <a:bodyPr wrap="square" lIns="0" tIns="0" rIns="0" bIns="0" rtlCol="0" anchor="ctr"/>
          <a:lstStyle/>
          <a:p>
            <a:pPr marL="0" indent="0">
              <a:buNone/>
            </a:pPr>
            <a:r>
              <a:rPr lang="en-US" sz="2000" dirty="0">
                <a:solidFill>
                  <a:srgbClr val="1A1A1A"/>
                </a:solidFill>
                <a:latin typeface="Calibri" pitchFamily="34" charset="0"/>
                <a:ea typeface="Calibri" pitchFamily="34" charset="-122"/>
                <a:cs typeface="Calibri" pitchFamily="34" charset="-120"/>
              </a:rPr>
              <a:t>Computational thinking</a:t>
            </a:r>
            <a:endParaRPr lang="en-US" sz="2000" dirty="0"/>
          </a:p>
        </p:txBody>
      </p:sp>
      <p:sp>
        <p:nvSpPr>
          <p:cNvPr id="10" name="Shape 8"/>
          <p:cNvSpPr/>
          <p:nvPr/>
        </p:nvSpPr>
        <p:spPr>
          <a:xfrm>
            <a:off x="6217920" y="3319272"/>
            <a:ext cx="5212080" cy="0"/>
          </a:xfrm>
          <a:prstGeom prst="line">
            <a:avLst/>
          </a:prstGeom>
          <a:noFill/>
          <a:ln w="12700">
            <a:solidFill>
              <a:srgbClr val="D9D9D9"/>
            </a:solidFill>
            <a:prstDash val="solid"/>
          </a:ln>
        </p:spPr>
        <p:txBody>
          <a:bodyPr/>
          <a:lstStyle/>
          <a:p>
            <a:endParaRPr lang="en-US"/>
          </a:p>
        </p:txBody>
      </p:sp>
      <p:sp>
        <p:nvSpPr>
          <p:cNvPr id="11" name="Text 9"/>
          <p:cNvSpPr txBox="1"/>
          <p:nvPr/>
        </p:nvSpPr>
        <p:spPr>
          <a:xfrm>
            <a:off x="640080" y="3520440"/>
            <a:ext cx="914400" cy="1005840"/>
          </a:xfrm>
          <a:prstGeom prst="rect">
            <a:avLst/>
          </a:prstGeom>
          <a:noFill/>
          <a:ln/>
        </p:spPr>
        <p:txBody>
          <a:bodyPr wrap="square" lIns="0" tIns="0" rIns="0" bIns="0" rtlCol="0" anchor="ctr"/>
          <a:lstStyle/>
          <a:p>
            <a:pPr marL="0" indent="0">
              <a:buNone/>
            </a:pPr>
            <a:r>
              <a:rPr lang="en-US" sz="3000" b="1" dirty="0">
                <a:latin typeface="Cambria" pitchFamily="34" charset="0"/>
                <a:ea typeface="Cambria" pitchFamily="34" charset="-122"/>
                <a:cs typeface="Cambria" pitchFamily="34" charset="-120"/>
              </a:rPr>
              <a:t>03</a:t>
            </a:r>
            <a:endParaRPr lang="en-US" sz="3000" dirty="0"/>
          </a:p>
        </p:txBody>
      </p:sp>
      <p:sp>
        <p:nvSpPr>
          <p:cNvPr id="12" name="Text 10"/>
          <p:cNvSpPr txBox="1"/>
          <p:nvPr/>
        </p:nvSpPr>
        <p:spPr>
          <a:xfrm>
            <a:off x="1600200" y="3520440"/>
            <a:ext cx="4251960" cy="1005840"/>
          </a:xfrm>
          <a:prstGeom prst="rect">
            <a:avLst/>
          </a:prstGeom>
          <a:noFill/>
          <a:ln/>
        </p:spPr>
        <p:txBody>
          <a:bodyPr wrap="square" lIns="0" tIns="0" rIns="0" bIns="0" rtlCol="0" anchor="ctr"/>
          <a:lstStyle/>
          <a:p>
            <a:pPr marL="0" indent="0">
              <a:buNone/>
            </a:pPr>
            <a:r>
              <a:rPr lang="en-US" sz="2000" dirty="0">
                <a:solidFill>
                  <a:srgbClr val="1A1A1A"/>
                </a:solidFill>
                <a:latin typeface="Calibri" pitchFamily="34" charset="0"/>
                <a:ea typeface="Calibri" pitchFamily="34" charset="-122"/>
                <a:cs typeface="Calibri" pitchFamily="34" charset="-120"/>
              </a:rPr>
              <a:t>Muammolarni Yechish</a:t>
            </a:r>
            <a:endParaRPr lang="en-US" sz="2000" dirty="0"/>
          </a:p>
        </p:txBody>
      </p:sp>
      <p:sp>
        <p:nvSpPr>
          <p:cNvPr id="13" name="Shape 11"/>
          <p:cNvSpPr/>
          <p:nvPr/>
        </p:nvSpPr>
        <p:spPr>
          <a:xfrm>
            <a:off x="640080" y="4553712"/>
            <a:ext cx="5212080" cy="0"/>
          </a:xfrm>
          <a:prstGeom prst="line">
            <a:avLst/>
          </a:prstGeom>
          <a:noFill/>
          <a:ln w="12700">
            <a:solidFill>
              <a:srgbClr val="D9D9D9"/>
            </a:solidFill>
            <a:prstDash val="solid"/>
          </a:ln>
        </p:spPr>
        <p:txBody>
          <a:bodyPr/>
          <a:lstStyle/>
          <a:p>
            <a:endParaRPr lang="en-US"/>
          </a:p>
        </p:txBody>
      </p:sp>
      <p:sp>
        <p:nvSpPr>
          <p:cNvPr id="14" name="Text 12"/>
          <p:cNvSpPr txBox="1"/>
          <p:nvPr/>
        </p:nvSpPr>
        <p:spPr>
          <a:xfrm>
            <a:off x="6217920" y="3520440"/>
            <a:ext cx="914400" cy="1005840"/>
          </a:xfrm>
          <a:prstGeom prst="rect">
            <a:avLst/>
          </a:prstGeom>
          <a:noFill/>
          <a:ln/>
        </p:spPr>
        <p:txBody>
          <a:bodyPr wrap="square" lIns="0" tIns="0" rIns="0" bIns="0" rtlCol="0" anchor="ctr"/>
          <a:lstStyle/>
          <a:p>
            <a:pPr marL="0" indent="0">
              <a:buNone/>
            </a:pPr>
            <a:r>
              <a:rPr lang="en-US" sz="3000" b="1" dirty="0">
                <a:latin typeface="Cambria" pitchFamily="34" charset="0"/>
                <a:ea typeface="Cambria" pitchFamily="34" charset="-122"/>
                <a:cs typeface="Cambria" pitchFamily="34" charset="-120"/>
              </a:rPr>
              <a:t>04</a:t>
            </a:r>
            <a:endParaRPr lang="en-US" sz="3000" dirty="0"/>
          </a:p>
        </p:txBody>
      </p:sp>
      <p:sp>
        <p:nvSpPr>
          <p:cNvPr id="15" name="Text 13"/>
          <p:cNvSpPr txBox="1"/>
          <p:nvPr/>
        </p:nvSpPr>
        <p:spPr>
          <a:xfrm>
            <a:off x="7178040" y="3520440"/>
            <a:ext cx="4251960" cy="1005840"/>
          </a:xfrm>
          <a:prstGeom prst="rect">
            <a:avLst/>
          </a:prstGeom>
          <a:noFill/>
          <a:ln/>
        </p:spPr>
        <p:txBody>
          <a:bodyPr wrap="square" lIns="0" tIns="0" rIns="0" bIns="0" rtlCol="0" anchor="ctr"/>
          <a:lstStyle/>
          <a:p>
            <a:pPr marL="0" indent="0">
              <a:buNone/>
            </a:pPr>
            <a:r>
              <a:rPr lang="en-US" sz="2000" dirty="0">
                <a:solidFill>
                  <a:srgbClr val="1A1A1A"/>
                </a:solidFill>
                <a:latin typeface="Calibri" pitchFamily="34" charset="0"/>
                <a:ea typeface="Calibri" pitchFamily="34" charset="-122"/>
                <a:cs typeface="Calibri" pitchFamily="34" charset="-120"/>
              </a:rPr>
              <a:t>Ma'lumotni Ifodalash</a:t>
            </a:r>
            <a:endParaRPr lang="en-US" sz="2000" dirty="0"/>
          </a:p>
        </p:txBody>
      </p:sp>
      <p:sp>
        <p:nvSpPr>
          <p:cNvPr id="16" name="Shape 14"/>
          <p:cNvSpPr/>
          <p:nvPr/>
        </p:nvSpPr>
        <p:spPr>
          <a:xfrm>
            <a:off x="6217920" y="4553712"/>
            <a:ext cx="5212080" cy="0"/>
          </a:xfrm>
          <a:prstGeom prst="line">
            <a:avLst/>
          </a:prstGeom>
          <a:noFill/>
          <a:ln w="12700">
            <a:solidFill>
              <a:srgbClr val="D9D9D9"/>
            </a:solidFill>
            <a:prstDash val="solid"/>
          </a:ln>
        </p:spPr>
        <p:txBody>
          <a:bodyPr/>
          <a:lstStyle/>
          <a:p>
            <a:endParaRPr lang="en-US"/>
          </a:p>
        </p:txBody>
      </p:sp>
      <p:sp>
        <p:nvSpPr>
          <p:cNvPr id="17" name="Text 15"/>
          <p:cNvSpPr txBox="1"/>
          <p:nvPr/>
        </p:nvSpPr>
        <p:spPr>
          <a:xfrm>
            <a:off x="640080" y="4754880"/>
            <a:ext cx="914400" cy="1005840"/>
          </a:xfrm>
          <a:prstGeom prst="rect">
            <a:avLst/>
          </a:prstGeom>
          <a:noFill/>
          <a:ln/>
        </p:spPr>
        <p:txBody>
          <a:bodyPr wrap="square" lIns="0" tIns="0" rIns="0" bIns="0" rtlCol="0" anchor="ctr"/>
          <a:lstStyle/>
          <a:p>
            <a:pPr marL="0" indent="0">
              <a:buNone/>
            </a:pPr>
            <a:r>
              <a:rPr lang="en-US" sz="3000" b="1" dirty="0">
                <a:latin typeface="Cambria" pitchFamily="34" charset="0"/>
                <a:ea typeface="Cambria" pitchFamily="34" charset="-122"/>
                <a:cs typeface="Cambria" pitchFamily="34" charset="-120"/>
              </a:rPr>
              <a:t>05</a:t>
            </a:r>
            <a:endParaRPr lang="en-US" sz="3000" dirty="0"/>
          </a:p>
        </p:txBody>
      </p:sp>
      <p:sp>
        <p:nvSpPr>
          <p:cNvPr id="18" name="Text 16"/>
          <p:cNvSpPr txBox="1"/>
          <p:nvPr/>
        </p:nvSpPr>
        <p:spPr>
          <a:xfrm>
            <a:off x="1600200" y="4754880"/>
            <a:ext cx="4251960" cy="1005840"/>
          </a:xfrm>
          <a:prstGeom prst="rect">
            <a:avLst/>
          </a:prstGeom>
          <a:noFill/>
          <a:ln/>
        </p:spPr>
        <p:txBody>
          <a:bodyPr wrap="square" lIns="0" tIns="0" rIns="0" bIns="0" rtlCol="0" anchor="ctr"/>
          <a:lstStyle/>
          <a:p>
            <a:pPr marL="0" indent="0">
              <a:buNone/>
            </a:pPr>
            <a:r>
              <a:rPr lang="en-US" sz="2000" dirty="0">
                <a:solidFill>
                  <a:srgbClr val="1A1A1A"/>
                </a:solidFill>
                <a:latin typeface="Calibri" pitchFamily="34" charset="0"/>
                <a:ea typeface="Calibri" pitchFamily="34" charset="-122"/>
                <a:cs typeface="Calibri" pitchFamily="34" charset="-120"/>
              </a:rPr>
              <a:t>CSE Dan Keyingi Kasblar</a:t>
            </a:r>
            <a:endParaRPr lang="en-US" sz="2000" dirty="0"/>
          </a:p>
        </p:txBody>
      </p:sp>
      <p:sp>
        <p:nvSpPr>
          <p:cNvPr id="19" name="Shape 17"/>
          <p:cNvSpPr/>
          <p:nvPr/>
        </p:nvSpPr>
        <p:spPr>
          <a:xfrm>
            <a:off x="640080" y="5788152"/>
            <a:ext cx="5212080" cy="0"/>
          </a:xfrm>
          <a:prstGeom prst="line">
            <a:avLst/>
          </a:prstGeom>
          <a:noFill/>
          <a:ln w="12700">
            <a:solidFill>
              <a:srgbClr val="D9D9D9"/>
            </a:solidFill>
            <a:prstDash val="solid"/>
          </a:ln>
        </p:spPr>
        <p:txBody>
          <a:bodyPr/>
          <a:lstStyle/>
          <a:p>
            <a:endParaRPr lang="en-US"/>
          </a:p>
        </p:txBody>
      </p:sp>
      <p:sp>
        <p:nvSpPr>
          <p:cNvPr id="20" name="Text 18"/>
          <p:cNvSpPr txBox="1"/>
          <p:nvPr/>
        </p:nvSpPr>
        <p:spPr>
          <a:xfrm>
            <a:off x="6217920" y="4754880"/>
            <a:ext cx="914400" cy="1005840"/>
          </a:xfrm>
          <a:prstGeom prst="rect">
            <a:avLst/>
          </a:prstGeom>
          <a:noFill/>
          <a:ln/>
        </p:spPr>
        <p:txBody>
          <a:bodyPr wrap="square" lIns="0" tIns="0" rIns="0" bIns="0" rtlCol="0" anchor="ctr"/>
          <a:lstStyle/>
          <a:p>
            <a:pPr marL="0" indent="0">
              <a:buNone/>
            </a:pPr>
            <a:r>
              <a:rPr lang="en-US" sz="3000" b="1" dirty="0">
                <a:latin typeface="Cambria" pitchFamily="34" charset="0"/>
                <a:ea typeface="Cambria" pitchFamily="34" charset="-122"/>
                <a:cs typeface="Cambria" pitchFamily="34" charset="-120"/>
              </a:rPr>
              <a:t>06</a:t>
            </a:r>
            <a:endParaRPr lang="en-US" sz="3000" dirty="0"/>
          </a:p>
        </p:txBody>
      </p:sp>
      <p:sp>
        <p:nvSpPr>
          <p:cNvPr id="21" name="Text 19"/>
          <p:cNvSpPr txBox="1"/>
          <p:nvPr/>
        </p:nvSpPr>
        <p:spPr>
          <a:xfrm>
            <a:off x="7178040" y="4754880"/>
            <a:ext cx="4251960" cy="1005840"/>
          </a:xfrm>
          <a:prstGeom prst="rect">
            <a:avLst/>
          </a:prstGeom>
          <a:noFill/>
          <a:ln/>
        </p:spPr>
        <p:txBody>
          <a:bodyPr wrap="square" lIns="0" tIns="0" rIns="0" bIns="0" rtlCol="0" anchor="ctr"/>
          <a:lstStyle/>
          <a:p>
            <a:pPr marL="0" indent="0">
              <a:buNone/>
            </a:pPr>
            <a:r>
              <a:rPr lang="en-US" sz="2000" dirty="0">
                <a:solidFill>
                  <a:srgbClr val="1A1A1A"/>
                </a:solidFill>
                <a:latin typeface="Calibri" pitchFamily="34" charset="0"/>
                <a:ea typeface="Calibri" pitchFamily="34" charset="-122"/>
                <a:cs typeface="Calibri" pitchFamily="34" charset="-120"/>
              </a:rPr>
              <a:t>Dasturlashda Sun'iy Intellekt</a:t>
            </a:r>
            <a:endParaRPr lang="en-US" sz="2000" dirty="0"/>
          </a:p>
        </p:txBody>
      </p:sp>
      <p:sp>
        <p:nvSpPr>
          <p:cNvPr id="22" name="Shape 20"/>
          <p:cNvSpPr/>
          <p:nvPr/>
        </p:nvSpPr>
        <p:spPr>
          <a:xfrm>
            <a:off x="6217920" y="5788152"/>
            <a:ext cx="5212080" cy="0"/>
          </a:xfrm>
          <a:prstGeom prst="line">
            <a:avLst/>
          </a:prstGeom>
          <a:noFill/>
          <a:ln w="12700">
            <a:solidFill>
              <a:srgbClr val="D9D9D9"/>
            </a:solidFill>
            <a:prstDash val="solid"/>
          </a:ln>
        </p:spPr>
        <p:txBody>
          <a:bodyPr/>
          <a:lstStyle/>
          <a:p>
            <a:endParaRPr lang="en-US"/>
          </a:p>
        </p:txBody>
      </p:sp>
      <p:sp>
        <p:nvSpPr>
          <p:cNvPr id="23" name="Text 21"/>
          <p:cNvSpPr txBox="1"/>
          <p:nvPr/>
        </p:nvSpPr>
        <p:spPr>
          <a:xfrm>
            <a:off x="11368735" y="6355080"/>
            <a:ext cx="548640" cy="320040"/>
          </a:xfrm>
          <a:prstGeom prst="rect">
            <a:avLst/>
          </a:prstGeom>
          <a:noFill/>
          <a:ln/>
        </p:spPr>
        <p:txBody>
          <a:bodyPr wrap="square" lIns="0" tIns="0" rIns="0" bIns="0" rtlCol="0" anchor="ctr"/>
          <a:lstStyle/>
          <a:p>
            <a:pPr marL="0" indent="0" algn="r">
              <a:buNone/>
            </a:pPr>
            <a:r>
              <a:rPr lang="en-US" sz="1200" dirty="0">
                <a:solidFill>
                  <a:srgbClr val="6E6E6E"/>
                </a:solidFill>
                <a:latin typeface="Calibri" pitchFamily="34" charset="0"/>
                <a:ea typeface="Calibri" pitchFamily="34" charset="-122"/>
                <a:cs typeface="Calibri"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E1B040-40CC-6D48-24E7-2AFABB1D1326}"/>
              </a:ext>
            </a:extLst>
          </p:cNvPr>
          <p:cNvSpPr txBox="1"/>
          <p:nvPr/>
        </p:nvSpPr>
        <p:spPr>
          <a:xfrm>
            <a:off x="1554480" y="2618323"/>
            <a:ext cx="9083040" cy="830997"/>
          </a:xfrm>
          <a:prstGeom prst="rect">
            <a:avLst/>
          </a:prstGeom>
          <a:noFill/>
        </p:spPr>
        <p:txBody>
          <a:bodyPr wrap="square" rtlCol="0">
            <a:spAutoFit/>
          </a:bodyPr>
          <a:lstStyle/>
          <a:p>
            <a:r>
              <a:rPr lang="en-US" sz="4800" dirty="0" err="1"/>
              <a:t>Dasturlash</a:t>
            </a:r>
            <a:r>
              <a:rPr lang="en-US" sz="4800" dirty="0"/>
              <a:t> 1, 2 = Computer Science</a:t>
            </a:r>
          </a:p>
        </p:txBody>
      </p:sp>
    </p:spTree>
    <p:extLst>
      <p:ext uri="{BB962C8B-B14F-4D97-AF65-F5344CB8AC3E}">
        <p14:creationId xmlns:p14="http://schemas.microsoft.com/office/powerpoint/2010/main" val="463322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640080" y="1965960"/>
            <a:ext cx="10911535" cy="0"/>
          </a:xfrm>
          <a:prstGeom prst="line">
            <a:avLst/>
          </a:prstGeom>
          <a:noFill/>
          <a:ln w="15875">
            <a:solidFill>
              <a:srgbClr val="3A3A3A"/>
            </a:solidFill>
            <a:prstDash val="solid"/>
          </a:ln>
        </p:spPr>
        <p:txBody>
          <a:bodyPr/>
          <a:lstStyle/>
          <a:p>
            <a:endParaRPr lang="en-US"/>
          </a:p>
        </p:txBody>
      </p:sp>
      <p:sp>
        <p:nvSpPr>
          <p:cNvPr id="3" name="Text 1"/>
          <p:cNvSpPr txBox="1"/>
          <p:nvPr/>
        </p:nvSpPr>
        <p:spPr>
          <a:xfrm>
            <a:off x="822960" y="2194560"/>
            <a:ext cx="2743200" cy="502920"/>
          </a:xfrm>
          <a:prstGeom prst="rect">
            <a:avLst/>
          </a:prstGeom>
          <a:noFill/>
          <a:ln/>
        </p:spPr>
        <p:txBody>
          <a:bodyPr wrap="square" lIns="0" tIns="0" rIns="0" bIns="0" rtlCol="0" anchor="ctr"/>
          <a:lstStyle/>
          <a:p>
            <a:pPr marL="0" indent="0">
              <a:buNone/>
            </a:pPr>
            <a:r>
              <a:rPr lang="en-US" sz="2400" dirty="0">
                <a:solidFill>
                  <a:srgbClr val="D9D9D9"/>
                </a:solidFill>
                <a:latin typeface="Cambria" pitchFamily="34" charset="0"/>
                <a:ea typeface="Cambria" pitchFamily="34" charset="-122"/>
                <a:cs typeface="Cambria" pitchFamily="34" charset="-120"/>
              </a:rPr>
              <a:t>01</a:t>
            </a:r>
            <a:endParaRPr lang="en-US" sz="2400" dirty="0"/>
          </a:p>
        </p:txBody>
      </p:sp>
      <p:sp>
        <p:nvSpPr>
          <p:cNvPr id="4" name="Text 2"/>
          <p:cNvSpPr txBox="1"/>
          <p:nvPr/>
        </p:nvSpPr>
        <p:spPr>
          <a:xfrm>
            <a:off x="838200" y="2743200"/>
            <a:ext cx="10515600" cy="1005840"/>
          </a:xfrm>
          <a:prstGeom prst="rect">
            <a:avLst/>
          </a:prstGeom>
          <a:noFill/>
          <a:ln/>
        </p:spPr>
        <p:txBody>
          <a:bodyPr wrap="square" lIns="0" tIns="0" rIns="0" bIns="0" rtlCol="0" anchor="t"/>
          <a:lstStyle/>
          <a:p>
            <a:pPr marL="0" indent="0">
              <a:buNone/>
            </a:pPr>
            <a:r>
              <a:rPr lang="en-US" sz="4200" b="1" dirty="0" err="1">
                <a:solidFill>
                  <a:srgbClr val="FFFFFF"/>
                </a:solidFill>
                <a:latin typeface="Cambria" pitchFamily="34" charset="0"/>
                <a:ea typeface="Cambria" pitchFamily="34" charset="-122"/>
                <a:cs typeface="Cambria" pitchFamily="34" charset="-120"/>
              </a:rPr>
              <a:t>Dasturlash</a:t>
            </a:r>
            <a:r>
              <a:rPr lang="en-US" sz="4200" b="1" dirty="0">
                <a:solidFill>
                  <a:srgbClr val="FFFFFF"/>
                </a:solidFill>
                <a:latin typeface="Cambria" pitchFamily="34" charset="0"/>
                <a:ea typeface="Cambria" pitchFamily="34" charset="-122"/>
                <a:cs typeface="Cambria" pitchFamily="34" charset="-120"/>
              </a:rPr>
              <a:t> 1, 2?</a:t>
            </a:r>
            <a:endParaRPr lang="en-US" sz="4200" dirty="0"/>
          </a:p>
        </p:txBody>
      </p:sp>
      <p:sp>
        <p:nvSpPr>
          <p:cNvPr id="5" name="Text 3"/>
          <p:cNvSpPr txBox="1"/>
          <p:nvPr/>
        </p:nvSpPr>
        <p:spPr>
          <a:xfrm>
            <a:off x="822960" y="3977640"/>
            <a:ext cx="9875520" cy="822960"/>
          </a:xfrm>
          <a:prstGeom prst="rect">
            <a:avLst/>
          </a:prstGeom>
          <a:noFill/>
          <a:ln/>
        </p:spPr>
        <p:txBody>
          <a:bodyPr wrap="square" lIns="0" tIns="0" rIns="0" bIns="0" rtlCol="0" anchor="ctr"/>
          <a:lstStyle/>
          <a:p>
            <a:pPr marL="0" indent="0">
              <a:lnSpc>
                <a:spcPct val="125000"/>
              </a:lnSpc>
              <a:buNone/>
            </a:pP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8686800" cy="365760"/>
          </a:xfrm>
          <a:prstGeom prst="rect">
            <a:avLst/>
          </a:prstGeom>
          <a:noFill/>
          <a:ln/>
        </p:spPr>
        <p:txBody>
          <a:bodyPr wrap="square" lIns="0" tIns="0" rIns="0" bIns="0" rtlCol="0" anchor="ctr"/>
          <a:lstStyle/>
          <a:p>
            <a:pPr marL="0" indent="0">
              <a:buNone/>
            </a:pPr>
            <a:r>
              <a:rPr lang="en-US" sz="1500" b="1" kern="0" spc="200" dirty="0">
                <a:solidFill>
                  <a:srgbClr val="6E6E6E"/>
                </a:solidFill>
                <a:latin typeface="Calibri" pitchFamily="34" charset="0"/>
                <a:ea typeface="Calibri" pitchFamily="34" charset="-122"/>
                <a:cs typeface="Calibri" pitchFamily="34" charset="-120"/>
              </a:rPr>
              <a:t>KENG TARQALGAN NOTO'G'RI TUSHUNCHALAR</a:t>
            </a:r>
            <a:endParaRPr lang="en-US" sz="1500" dirty="0"/>
          </a:p>
        </p:txBody>
      </p:sp>
      <p:sp>
        <p:nvSpPr>
          <p:cNvPr id="3" name="Text 1"/>
          <p:cNvSpPr txBox="1"/>
          <p:nvPr/>
        </p:nvSpPr>
        <p:spPr>
          <a:xfrm>
            <a:off x="640080" y="868680"/>
            <a:ext cx="10881360" cy="1005840"/>
          </a:xfrm>
          <a:prstGeom prst="rect">
            <a:avLst/>
          </a:prstGeom>
          <a:noFill/>
          <a:ln/>
        </p:spPr>
        <p:txBody>
          <a:bodyPr wrap="square" lIns="0" tIns="0" rIns="0" bIns="0" rtlCol="0" anchor="ctr"/>
          <a:lstStyle/>
          <a:p>
            <a:pPr marL="0" indent="0" algn="l">
              <a:buNone/>
            </a:pPr>
            <a:r>
              <a:rPr lang="en-US" sz="3200" b="1" dirty="0">
                <a:solidFill>
                  <a:srgbClr val="000000"/>
                </a:solidFill>
                <a:latin typeface="Cambria" pitchFamily="34" charset="0"/>
                <a:ea typeface="Cambria" pitchFamily="34" charset="-122"/>
                <a:cs typeface="Cambria" pitchFamily="34" charset="-120"/>
              </a:rPr>
              <a:t>Bu Siz O'ylagandek Emas</a:t>
            </a:r>
            <a:endParaRPr lang="en-US" sz="3200" dirty="0"/>
          </a:p>
        </p:txBody>
      </p:sp>
      <p:sp>
        <p:nvSpPr>
          <p:cNvPr id="4" name="Shape 2"/>
          <p:cNvSpPr/>
          <p:nvPr/>
        </p:nvSpPr>
        <p:spPr>
          <a:xfrm>
            <a:off x="640080" y="1874520"/>
            <a:ext cx="10911535" cy="0"/>
          </a:xfrm>
          <a:prstGeom prst="line">
            <a:avLst/>
          </a:prstGeom>
          <a:noFill/>
          <a:ln w="15875">
            <a:solidFill>
              <a:srgbClr val="D9D9D9"/>
            </a:solidFill>
            <a:prstDash val="solid"/>
          </a:ln>
        </p:spPr>
        <p:txBody>
          <a:bodyPr/>
          <a:lstStyle/>
          <a:p>
            <a:endParaRPr lang="en-US"/>
          </a:p>
        </p:txBody>
      </p:sp>
      <p:sp>
        <p:nvSpPr>
          <p:cNvPr id="5" name="Text 3"/>
          <p:cNvSpPr txBox="1"/>
          <p:nvPr/>
        </p:nvSpPr>
        <p:spPr>
          <a:xfrm>
            <a:off x="640080" y="2286000"/>
            <a:ext cx="10515600" cy="3657600"/>
          </a:xfrm>
          <a:prstGeom prst="rect">
            <a:avLst/>
          </a:prstGeom>
          <a:noFill/>
          <a:ln/>
        </p:spPr>
        <p:txBody>
          <a:bodyPr wrap="square" lIns="0" tIns="0" rIns="0" bIns="0" rtlCol="0" anchor="t"/>
          <a:lstStyle/>
          <a:p>
            <a:pPr marL="279400" indent="-279400">
              <a:lnSpc>
                <a:spcPct val="115000"/>
              </a:lnSpc>
              <a:spcAft>
                <a:spcPts val="200"/>
              </a:spcAft>
              <a:buSzPct val="100000"/>
              <a:buChar char="•"/>
            </a:pPr>
            <a:r>
              <a:rPr lang="en-US" sz="2100" dirty="0">
                <a:solidFill>
                  <a:srgbClr val="3D3D3D"/>
                </a:solidFill>
                <a:latin typeface="Calibri" pitchFamily="34" charset="0"/>
                <a:ea typeface="Calibri" pitchFamily="34" charset="-122"/>
                <a:cs typeface="Calibri" pitchFamily="34" charset="-120"/>
              </a:rPr>
              <a:t>“Computer science= Dasturlash”</a:t>
            </a:r>
            <a:endParaRPr lang="en-US" sz="2100" dirty="0"/>
          </a:p>
          <a:p>
            <a:pPr marL="0" indent="0">
              <a:lnSpc>
                <a:spcPct val="115000"/>
              </a:lnSpc>
              <a:spcAft>
                <a:spcPts val="1800"/>
              </a:spcAft>
              <a:buNone/>
            </a:pPr>
            <a:r>
              <a:rPr lang="en-US" sz="1600" dirty="0">
                <a:solidFill>
                  <a:srgbClr val="6E6E6E"/>
                </a:solidFill>
                <a:latin typeface="Calibri" pitchFamily="34" charset="0"/>
                <a:ea typeface="Calibri" pitchFamily="34" charset="-122"/>
                <a:cs typeface="Calibri" pitchFamily="34" charset="-120"/>
              </a:rPr>
              <a:t>Dasturlash — bu biz ishlatadigan vosita, fanning o'zi emas</a:t>
            </a:r>
            <a:endParaRPr lang="en-US" sz="2100" dirty="0"/>
          </a:p>
          <a:p>
            <a:pPr marL="279400" indent="-279400">
              <a:lnSpc>
                <a:spcPct val="115000"/>
              </a:lnSpc>
              <a:spcAft>
                <a:spcPts val="200"/>
              </a:spcAft>
              <a:buSzPct val="100000"/>
              <a:buChar char="•"/>
            </a:pPr>
            <a:r>
              <a:rPr lang="en-US" sz="2100" dirty="0">
                <a:solidFill>
                  <a:srgbClr val="3D3D3D"/>
                </a:solidFill>
                <a:latin typeface="Calibri" pitchFamily="34" charset="0"/>
                <a:ea typeface="Calibri" pitchFamily="34" charset="-122"/>
                <a:cs typeface="Calibri" pitchFamily="34" charset="-120"/>
              </a:rPr>
              <a:t>“Computer science = Matematika”</a:t>
            </a:r>
            <a:endParaRPr lang="en-US" sz="2100" dirty="0"/>
          </a:p>
          <a:p>
            <a:pPr marL="0" indent="0">
              <a:lnSpc>
                <a:spcPct val="115000"/>
              </a:lnSpc>
              <a:spcAft>
                <a:spcPts val="1800"/>
              </a:spcAft>
              <a:buNone/>
            </a:pPr>
            <a:r>
              <a:rPr lang="en-US" sz="1600" dirty="0">
                <a:solidFill>
                  <a:srgbClr val="6E6E6E"/>
                </a:solidFill>
                <a:latin typeface="Calibri" pitchFamily="34" charset="0"/>
                <a:ea typeface="Calibri" pitchFamily="34" charset="-122"/>
                <a:cs typeface="Calibri" pitchFamily="34" charset="-120"/>
              </a:rPr>
              <a:t>Matematika — bu asos, lekin maqsad emas</a:t>
            </a:r>
            <a:endParaRPr lang="en-US" sz="2100" dirty="0"/>
          </a:p>
          <a:p>
            <a:pPr marL="279400" indent="-279400">
              <a:lnSpc>
                <a:spcPct val="115000"/>
              </a:lnSpc>
              <a:spcAft>
                <a:spcPts val="200"/>
              </a:spcAft>
              <a:buSzPct val="100000"/>
              <a:buChar char="•"/>
            </a:pPr>
            <a:r>
              <a:rPr lang="en-US" sz="2100" dirty="0">
                <a:solidFill>
                  <a:srgbClr val="3D3D3D"/>
                </a:solidFill>
                <a:latin typeface="Calibri" pitchFamily="34" charset="0"/>
                <a:ea typeface="Calibri" pitchFamily="34" charset="-122"/>
                <a:cs typeface="Calibri" pitchFamily="34" charset="-120"/>
              </a:rPr>
              <a:t>“</a:t>
            </a:r>
            <a:r>
              <a:rPr lang="en-US" sz="2100" dirty="0" err="1">
                <a:solidFill>
                  <a:srgbClr val="3D3D3D"/>
                </a:solidFill>
                <a:latin typeface="Calibri" pitchFamily="34" charset="0"/>
                <a:ea typeface="Calibri" pitchFamily="34" charset="-122"/>
                <a:cs typeface="Calibri" pitchFamily="34" charset="-120"/>
              </a:rPr>
              <a:t>Judayam</a:t>
            </a:r>
            <a:r>
              <a:rPr lang="en-US" sz="2100" dirty="0">
                <a:solidFill>
                  <a:srgbClr val="3D3D3D"/>
                </a:solidFill>
                <a:latin typeface="Calibri" pitchFamily="34" charset="0"/>
                <a:ea typeface="Calibri" pitchFamily="34" charset="-122"/>
                <a:cs typeface="Calibri" pitchFamily="34" charset="-120"/>
              </a:rPr>
              <a:t> </a:t>
            </a:r>
            <a:r>
              <a:rPr lang="en-US" sz="2100" dirty="0" err="1">
                <a:solidFill>
                  <a:srgbClr val="3D3D3D"/>
                </a:solidFill>
                <a:latin typeface="Calibri" pitchFamily="34" charset="0"/>
                <a:ea typeface="Calibri" pitchFamily="34" charset="-122"/>
                <a:cs typeface="Calibri" pitchFamily="34" charset="-120"/>
              </a:rPr>
              <a:t>aqqlik</a:t>
            </a:r>
            <a:r>
              <a:rPr lang="en-US" sz="2100" dirty="0">
                <a:solidFill>
                  <a:srgbClr val="3D3D3D"/>
                </a:solidFill>
                <a:latin typeface="Calibri" pitchFamily="34" charset="0"/>
                <a:ea typeface="Calibri" pitchFamily="34" charset="-122"/>
                <a:cs typeface="Calibri" pitchFamily="34" charset="-120"/>
              </a:rPr>
              <a:t> bo'lish kerak”</a:t>
            </a:r>
            <a:endParaRPr lang="en-US" sz="2100" dirty="0"/>
          </a:p>
          <a:p>
            <a:pPr marL="0" indent="0">
              <a:lnSpc>
                <a:spcPct val="115000"/>
              </a:lnSpc>
              <a:spcAft>
                <a:spcPts val="1800"/>
              </a:spcAft>
              <a:buNone/>
            </a:pPr>
            <a:r>
              <a:rPr lang="en-US" sz="1600" dirty="0">
                <a:solidFill>
                  <a:srgbClr val="6E6E6E"/>
                </a:solidFill>
                <a:latin typeface="Calibri" pitchFamily="34" charset="0"/>
                <a:ea typeface="Calibri" pitchFamily="34" charset="-122"/>
                <a:cs typeface="Calibri" pitchFamily="34" charset="-120"/>
              </a:rPr>
              <a:t>Sabr-toqatli, qiziquvchan va tizimli bo'lish kerak</a:t>
            </a:r>
            <a:endParaRPr lang="en-US" sz="2100" dirty="0"/>
          </a:p>
          <a:p>
            <a:pPr marL="279400" indent="-279400">
              <a:lnSpc>
                <a:spcPct val="115000"/>
              </a:lnSpc>
              <a:spcAft>
                <a:spcPts val="200"/>
              </a:spcAft>
              <a:buSzPct val="100000"/>
              <a:buChar char="•"/>
            </a:pPr>
            <a:r>
              <a:rPr lang="en-US" sz="2100" dirty="0">
                <a:solidFill>
                  <a:srgbClr val="3D3D3D"/>
                </a:solidFill>
                <a:latin typeface="Calibri" pitchFamily="34" charset="0"/>
                <a:ea typeface="Calibri" pitchFamily="34" charset="-122"/>
                <a:cs typeface="Calibri" pitchFamily="34" charset="-120"/>
              </a:rPr>
              <a:t>“Bu kompyuterlar haqida”</a:t>
            </a:r>
            <a:endParaRPr lang="en-US" sz="2100" dirty="0"/>
          </a:p>
          <a:p>
            <a:pPr marL="0" indent="0">
              <a:lnSpc>
                <a:spcPct val="115000"/>
              </a:lnSpc>
              <a:spcAft>
                <a:spcPts val="1800"/>
              </a:spcAft>
              <a:buNone/>
            </a:pPr>
            <a:r>
              <a:rPr lang="en-US" sz="1600" dirty="0">
                <a:solidFill>
                  <a:srgbClr val="6E6E6E"/>
                </a:solidFill>
                <a:latin typeface="Calibri" pitchFamily="34" charset="0"/>
                <a:ea typeface="Calibri" pitchFamily="34" charset="-122"/>
                <a:cs typeface="Calibri" pitchFamily="34" charset="-120"/>
              </a:rPr>
              <a:t>Bu muammolar haqida — kompyuter shunchaki vosita</a:t>
            </a:r>
            <a:endParaRPr lang="en-US" sz="2100" dirty="0"/>
          </a:p>
        </p:txBody>
      </p:sp>
      <p:sp>
        <p:nvSpPr>
          <p:cNvPr id="6" name="Text 4"/>
          <p:cNvSpPr txBox="1"/>
          <p:nvPr/>
        </p:nvSpPr>
        <p:spPr>
          <a:xfrm>
            <a:off x="11368735" y="6355080"/>
            <a:ext cx="548640" cy="320040"/>
          </a:xfrm>
          <a:prstGeom prst="rect">
            <a:avLst/>
          </a:prstGeom>
          <a:noFill/>
          <a:ln/>
        </p:spPr>
        <p:txBody>
          <a:bodyPr wrap="square" lIns="0" tIns="0" rIns="0" bIns="0" rtlCol="0" anchor="ctr"/>
          <a:lstStyle/>
          <a:p>
            <a:pPr marL="0" indent="0" algn="r">
              <a:buNone/>
            </a:pPr>
            <a:r>
              <a:rPr lang="en-US" sz="1200" dirty="0">
                <a:solidFill>
                  <a:srgbClr val="6E6E6E"/>
                </a:solidFill>
                <a:latin typeface="Calibri" pitchFamily="34" charset="0"/>
                <a:ea typeface="Calibri" pitchFamily="34" charset="-122"/>
                <a:cs typeface="Calibri" pitchFamily="34" charset="-120"/>
              </a:rPr>
              <a:t>4</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8686800" cy="365760"/>
          </a:xfrm>
          <a:prstGeom prst="rect">
            <a:avLst/>
          </a:prstGeom>
          <a:noFill/>
          <a:ln/>
        </p:spPr>
        <p:txBody>
          <a:bodyPr wrap="square" lIns="0" tIns="0" rIns="0" bIns="0" rtlCol="0" anchor="ctr"/>
          <a:lstStyle/>
          <a:p>
            <a:pPr marL="0" indent="0">
              <a:buNone/>
            </a:pPr>
            <a:endParaRPr lang="en-US" sz="1500" dirty="0"/>
          </a:p>
        </p:txBody>
      </p:sp>
      <p:sp>
        <p:nvSpPr>
          <p:cNvPr id="3" name="Text 1"/>
          <p:cNvSpPr txBox="1"/>
          <p:nvPr/>
        </p:nvSpPr>
        <p:spPr>
          <a:xfrm>
            <a:off x="640080" y="868680"/>
            <a:ext cx="10881360" cy="1005840"/>
          </a:xfrm>
          <a:prstGeom prst="rect">
            <a:avLst/>
          </a:prstGeom>
          <a:noFill/>
          <a:ln/>
        </p:spPr>
        <p:txBody>
          <a:bodyPr wrap="square" lIns="0" tIns="0" rIns="0" bIns="0" rtlCol="0" anchor="ctr"/>
          <a:lstStyle/>
          <a:p>
            <a:pPr marL="0" indent="0" algn="l">
              <a:buNone/>
            </a:pPr>
            <a:r>
              <a:rPr lang="en-US" sz="3200" b="1" dirty="0">
                <a:solidFill>
                  <a:srgbClr val="000000"/>
                </a:solidFill>
                <a:latin typeface="Cambria" pitchFamily="34" charset="0"/>
                <a:ea typeface="Cambria" pitchFamily="34" charset="-122"/>
                <a:cs typeface="Cambria" pitchFamily="34" charset="-120"/>
              </a:rPr>
              <a:t>Muammolarni Yechish Fani</a:t>
            </a:r>
            <a:endParaRPr lang="en-US" sz="3200" dirty="0"/>
          </a:p>
        </p:txBody>
      </p:sp>
      <p:sp>
        <p:nvSpPr>
          <p:cNvPr id="4" name="Shape 2"/>
          <p:cNvSpPr/>
          <p:nvPr/>
        </p:nvSpPr>
        <p:spPr>
          <a:xfrm>
            <a:off x="640080" y="1874520"/>
            <a:ext cx="10911535" cy="0"/>
          </a:xfrm>
          <a:prstGeom prst="line">
            <a:avLst/>
          </a:prstGeom>
          <a:noFill/>
          <a:ln w="15875">
            <a:solidFill>
              <a:srgbClr val="D9D9D9"/>
            </a:solidFill>
            <a:prstDash val="solid"/>
          </a:ln>
        </p:spPr>
        <p:txBody>
          <a:bodyPr/>
          <a:lstStyle/>
          <a:p>
            <a:endParaRPr lang="en-US"/>
          </a:p>
        </p:txBody>
      </p:sp>
      <p:sp>
        <p:nvSpPr>
          <p:cNvPr id="5" name="Text 3"/>
          <p:cNvSpPr txBox="1"/>
          <p:nvPr/>
        </p:nvSpPr>
        <p:spPr>
          <a:xfrm>
            <a:off x="640080" y="2286000"/>
            <a:ext cx="10607040" cy="1188720"/>
          </a:xfrm>
          <a:prstGeom prst="rect">
            <a:avLst/>
          </a:prstGeom>
          <a:noFill/>
          <a:ln/>
        </p:spPr>
        <p:txBody>
          <a:bodyPr wrap="square" lIns="0" tIns="0" rIns="0" bIns="0" rtlCol="0" anchor="ctr"/>
          <a:lstStyle/>
          <a:p>
            <a:pPr marL="0" indent="0">
              <a:buNone/>
            </a:pPr>
            <a:r>
              <a:rPr lang="en-US" sz="2500" i="1" dirty="0">
                <a:solidFill>
                  <a:srgbClr val="1A1A1A"/>
                </a:solidFill>
                <a:latin typeface="Cambria" pitchFamily="34" charset="0"/>
                <a:ea typeface="Cambria" pitchFamily="34" charset="-122"/>
                <a:cs typeface="Cambria" pitchFamily="34" charset="-120"/>
              </a:rPr>
              <a:t>Computer Science— bu muammolar, ularni yechish jarayoni va shu jarayondan</a:t>
            </a:r>
            <a:endParaRPr lang="en-US" sz="2500" dirty="0"/>
          </a:p>
          <a:p>
            <a:pPr marL="0" indent="0">
              <a:buNone/>
            </a:pPr>
            <a:r>
              <a:rPr lang="en-US" sz="2500" i="1" dirty="0">
                <a:solidFill>
                  <a:srgbClr val="1A1A1A"/>
                </a:solidFill>
                <a:latin typeface="Cambria" pitchFamily="34" charset="0"/>
                <a:ea typeface="Cambria" pitchFamily="34" charset="-122"/>
                <a:cs typeface="Cambria" pitchFamily="34" charset="-120"/>
              </a:rPr>
              <a:t>kelib chiqadigan yechimlarni o'rganish fanidir.</a:t>
            </a:r>
            <a:endParaRPr lang="en-US" sz="2500" dirty="0"/>
          </a:p>
        </p:txBody>
      </p:sp>
      <p:sp>
        <p:nvSpPr>
          <p:cNvPr id="6" name="Shape 4"/>
          <p:cNvSpPr/>
          <p:nvPr/>
        </p:nvSpPr>
        <p:spPr>
          <a:xfrm>
            <a:off x="640080" y="3657600"/>
            <a:ext cx="10911535" cy="0"/>
          </a:xfrm>
          <a:prstGeom prst="line">
            <a:avLst/>
          </a:prstGeom>
          <a:noFill/>
          <a:ln w="15875">
            <a:solidFill>
              <a:srgbClr val="D9D9D9"/>
            </a:solidFill>
            <a:prstDash val="solid"/>
          </a:ln>
        </p:spPr>
        <p:txBody>
          <a:bodyPr/>
          <a:lstStyle/>
          <a:p>
            <a:endParaRPr lang="en-US"/>
          </a:p>
        </p:txBody>
      </p:sp>
      <p:sp>
        <p:nvSpPr>
          <p:cNvPr id="13" name="Text 11"/>
          <p:cNvSpPr txBox="1"/>
          <p:nvPr/>
        </p:nvSpPr>
        <p:spPr>
          <a:xfrm>
            <a:off x="11368735" y="6355080"/>
            <a:ext cx="548640" cy="320040"/>
          </a:xfrm>
          <a:prstGeom prst="rect">
            <a:avLst/>
          </a:prstGeom>
          <a:noFill/>
          <a:ln/>
        </p:spPr>
        <p:txBody>
          <a:bodyPr wrap="square" lIns="0" tIns="0" rIns="0" bIns="0" rtlCol="0" anchor="ctr"/>
          <a:lstStyle/>
          <a:p>
            <a:pPr marL="0" indent="0" algn="r">
              <a:buNone/>
            </a:pPr>
            <a:r>
              <a:rPr lang="en-US" sz="1200" dirty="0">
                <a:solidFill>
                  <a:srgbClr val="6E6E6E"/>
                </a:solidFill>
                <a:latin typeface="Calibri" pitchFamily="34" charset="0"/>
                <a:ea typeface="Calibri" pitchFamily="34" charset="-122"/>
                <a:cs typeface="Calibri" pitchFamily="34" charset="-120"/>
              </a:rPr>
              <a:t>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640080" y="1965960"/>
            <a:ext cx="10911535" cy="0"/>
          </a:xfrm>
          <a:prstGeom prst="line">
            <a:avLst/>
          </a:prstGeom>
          <a:noFill/>
          <a:ln w="15875">
            <a:solidFill>
              <a:srgbClr val="3A3A3A"/>
            </a:solidFill>
            <a:prstDash val="solid"/>
          </a:ln>
        </p:spPr>
        <p:txBody>
          <a:bodyPr/>
          <a:lstStyle/>
          <a:p>
            <a:endParaRPr lang="en-US"/>
          </a:p>
        </p:txBody>
      </p:sp>
      <p:sp>
        <p:nvSpPr>
          <p:cNvPr id="3" name="Text 1"/>
          <p:cNvSpPr txBox="1"/>
          <p:nvPr/>
        </p:nvSpPr>
        <p:spPr>
          <a:xfrm>
            <a:off x="822960" y="2194560"/>
            <a:ext cx="2743200" cy="502920"/>
          </a:xfrm>
          <a:prstGeom prst="rect">
            <a:avLst/>
          </a:prstGeom>
          <a:noFill/>
          <a:ln/>
        </p:spPr>
        <p:txBody>
          <a:bodyPr wrap="square" lIns="0" tIns="0" rIns="0" bIns="0" rtlCol="0" anchor="ctr"/>
          <a:lstStyle/>
          <a:p>
            <a:pPr marL="0" indent="0">
              <a:buNone/>
            </a:pPr>
            <a:r>
              <a:rPr lang="en-US" sz="2400" dirty="0">
                <a:solidFill>
                  <a:srgbClr val="D9D9D9"/>
                </a:solidFill>
                <a:latin typeface="Cambria" pitchFamily="34" charset="0"/>
                <a:ea typeface="Cambria" pitchFamily="34" charset="-122"/>
                <a:cs typeface="Cambria" pitchFamily="34" charset="-120"/>
              </a:rPr>
              <a:t>02</a:t>
            </a:r>
            <a:endParaRPr lang="en-US" sz="2400" dirty="0"/>
          </a:p>
        </p:txBody>
      </p:sp>
      <p:sp>
        <p:nvSpPr>
          <p:cNvPr id="4" name="Text 2"/>
          <p:cNvSpPr txBox="1"/>
          <p:nvPr/>
        </p:nvSpPr>
        <p:spPr>
          <a:xfrm>
            <a:off x="822960" y="2743200"/>
            <a:ext cx="10515600" cy="1005840"/>
          </a:xfrm>
          <a:prstGeom prst="rect">
            <a:avLst/>
          </a:prstGeom>
          <a:noFill/>
          <a:ln/>
        </p:spPr>
        <p:txBody>
          <a:bodyPr wrap="square" lIns="0" tIns="0" rIns="0" bIns="0" rtlCol="0" anchor="t"/>
          <a:lstStyle/>
          <a:p>
            <a:pPr marL="0" indent="0">
              <a:buNone/>
            </a:pPr>
            <a:r>
              <a:rPr lang="en-US" sz="4200" b="1" dirty="0">
                <a:solidFill>
                  <a:srgbClr val="FFFFFF"/>
                </a:solidFill>
                <a:latin typeface="Cambria" pitchFamily="34" charset="0"/>
                <a:ea typeface="Cambria" pitchFamily="34" charset="-122"/>
                <a:cs typeface="Cambria" pitchFamily="34" charset="-120"/>
              </a:rPr>
              <a:t>Computational thinking</a:t>
            </a:r>
            <a:endParaRPr lang="en-US" sz="4200" dirty="0"/>
          </a:p>
        </p:txBody>
      </p:sp>
      <p:sp>
        <p:nvSpPr>
          <p:cNvPr id="5" name="Text 3"/>
          <p:cNvSpPr txBox="1"/>
          <p:nvPr/>
        </p:nvSpPr>
        <p:spPr>
          <a:xfrm>
            <a:off x="822960" y="3977640"/>
            <a:ext cx="9875520" cy="822960"/>
          </a:xfrm>
          <a:prstGeom prst="rect">
            <a:avLst/>
          </a:prstGeom>
          <a:noFill/>
          <a:ln/>
        </p:spPr>
        <p:txBody>
          <a:bodyPr wrap="square" lIns="0" tIns="0" rIns="0" bIns="0" rtlCol="0" anchor="ctr"/>
          <a:lstStyle/>
          <a:p>
            <a:pPr marL="0" indent="0">
              <a:lnSpc>
                <a:spcPct val="125000"/>
              </a:lnSpc>
              <a:buNone/>
            </a:pP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8686800" cy="365760"/>
          </a:xfrm>
          <a:prstGeom prst="rect">
            <a:avLst/>
          </a:prstGeom>
          <a:noFill/>
          <a:ln/>
        </p:spPr>
        <p:txBody>
          <a:bodyPr wrap="square" lIns="0" tIns="0" rIns="0" bIns="0" rtlCol="0" anchor="ctr"/>
          <a:lstStyle/>
          <a:p>
            <a:pPr marL="0" indent="0">
              <a:buNone/>
            </a:pPr>
            <a:r>
              <a:rPr lang="en-US" sz="1500" b="1" kern="0" spc="200" dirty="0">
                <a:solidFill>
                  <a:srgbClr val="6E6E6E"/>
                </a:solidFill>
                <a:latin typeface="Calibri" pitchFamily="34" charset="0"/>
                <a:ea typeface="Calibri" pitchFamily="34" charset="-122"/>
                <a:cs typeface="Calibri" pitchFamily="34" charset="-120"/>
              </a:rPr>
              <a:t>TO'RTTA USTUN</a:t>
            </a:r>
            <a:endParaRPr lang="en-US" sz="1500" dirty="0"/>
          </a:p>
        </p:txBody>
      </p:sp>
      <p:sp>
        <p:nvSpPr>
          <p:cNvPr id="3" name="Text 1"/>
          <p:cNvSpPr txBox="1"/>
          <p:nvPr/>
        </p:nvSpPr>
        <p:spPr>
          <a:xfrm>
            <a:off x="640080" y="868680"/>
            <a:ext cx="10881360" cy="1005840"/>
          </a:xfrm>
          <a:prstGeom prst="rect">
            <a:avLst/>
          </a:prstGeom>
          <a:noFill/>
          <a:ln/>
        </p:spPr>
        <p:txBody>
          <a:bodyPr wrap="square" lIns="0" tIns="0" rIns="0" bIns="0" rtlCol="0" anchor="ctr"/>
          <a:lstStyle/>
          <a:p>
            <a:pPr marL="0" indent="0" algn="l">
              <a:buNone/>
            </a:pPr>
            <a:r>
              <a:rPr lang="en-US" sz="3200" b="1" dirty="0">
                <a:solidFill>
                  <a:srgbClr val="000000"/>
                </a:solidFill>
                <a:latin typeface="Cambria" pitchFamily="34" charset="0"/>
                <a:ea typeface="Cambria" pitchFamily="34" charset="-122"/>
                <a:cs typeface="Cambria" pitchFamily="34" charset="-120"/>
              </a:rPr>
              <a:t>Kompyuter Olimlari Muammolarga Qanday Yondashadi</a:t>
            </a:r>
            <a:endParaRPr lang="en-US" sz="3200" dirty="0"/>
          </a:p>
        </p:txBody>
      </p:sp>
      <p:sp>
        <p:nvSpPr>
          <p:cNvPr id="4" name="Shape 2"/>
          <p:cNvSpPr/>
          <p:nvPr/>
        </p:nvSpPr>
        <p:spPr>
          <a:xfrm>
            <a:off x="640080" y="1874520"/>
            <a:ext cx="10911535" cy="0"/>
          </a:xfrm>
          <a:prstGeom prst="line">
            <a:avLst/>
          </a:prstGeom>
          <a:noFill/>
          <a:ln w="15875">
            <a:solidFill>
              <a:srgbClr val="D9D9D9"/>
            </a:solidFill>
            <a:prstDash val="solid"/>
          </a:ln>
        </p:spPr>
        <p:txBody>
          <a:bodyPr/>
          <a:lstStyle/>
          <a:p>
            <a:endParaRPr lang="en-US"/>
          </a:p>
        </p:txBody>
      </p:sp>
      <p:sp>
        <p:nvSpPr>
          <p:cNvPr id="5" name="Shape 3"/>
          <p:cNvSpPr/>
          <p:nvPr/>
        </p:nvSpPr>
        <p:spPr>
          <a:xfrm>
            <a:off x="1554480" y="2423160"/>
            <a:ext cx="777240" cy="777240"/>
          </a:xfrm>
          <a:prstGeom prst="ellipse">
            <a:avLst/>
          </a:prstGeom>
          <a:solidFill>
            <a:srgbClr val="000000"/>
          </a:solidFill>
          <a:ln/>
        </p:spPr>
        <p:txBody>
          <a:bodyPr/>
          <a:lstStyle/>
          <a:p>
            <a:endParaRPr lang="en-US"/>
          </a:p>
        </p:txBody>
      </p:sp>
      <p:sp>
        <p:nvSpPr>
          <p:cNvPr id="6" name="Text 4"/>
          <p:cNvSpPr txBox="1"/>
          <p:nvPr/>
        </p:nvSpPr>
        <p:spPr>
          <a:xfrm>
            <a:off x="1554480" y="2423160"/>
            <a:ext cx="777240" cy="777240"/>
          </a:xfrm>
          <a:prstGeom prst="rect">
            <a:avLst/>
          </a:prstGeom>
          <a:noFill/>
          <a:ln/>
        </p:spPr>
        <p:txBody>
          <a:bodyPr wrap="square" lIns="0" tIns="0" rIns="0" bIns="0" rtlCol="0" anchor="ctr"/>
          <a:lstStyle/>
          <a:p>
            <a:pPr marL="0" indent="0" algn="ctr">
              <a:buNone/>
            </a:pPr>
            <a:r>
              <a:rPr lang="en-US" sz="2890" b="1" dirty="0">
                <a:solidFill>
                  <a:srgbClr val="FFFFFF"/>
                </a:solidFill>
                <a:latin typeface="Cambria" pitchFamily="34" charset="0"/>
                <a:ea typeface="Cambria" pitchFamily="34" charset="-122"/>
                <a:cs typeface="Cambria" pitchFamily="34" charset="-120"/>
              </a:rPr>
              <a:t>1</a:t>
            </a:r>
            <a:endParaRPr lang="en-US" sz="2890" dirty="0"/>
          </a:p>
        </p:txBody>
      </p:sp>
      <p:sp>
        <p:nvSpPr>
          <p:cNvPr id="7" name="Text 5"/>
          <p:cNvSpPr txBox="1"/>
          <p:nvPr/>
        </p:nvSpPr>
        <p:spPr>
          <a:xfrm>
            <a:off x="640080" y="3429000"/>
            <a:ext cx="2606040" cy="640080"/>
          </a:xfrm>
          <a:prstGeom prst="rect">
            <a:avLst/>
          </a:prstGeom>
          <a:noFill/>
          <a:ln/>
        </p:spPr>
        <p:txBody>
          <a:bodyPr wrap="square" lIns="0" tIns="0" rIns="0" bIns="0" rtlCol="0" anchor="ctr"/>
          <a:lstStyle/>
          <a:p>
            <a:pPr marL="0" indent="0" algn="ctr">
              <a:buNone/>
            </a:pPr>
            <a:r>
              <a:rPr lang="en-US" sz="1600" b="1" dirty="0">
                <a:solidFill>
                  <a:srgbClr val="000000"/>
                </a:solidFill>
                <a:latin typeface="Calibri" pitchFamily="34" charset="0"/>
                <a:ea typeface="Calibri" pitchFamily="34" charset="-122"/>
                <a:cs typeface="Calibri" pitchFamily="34" charset="-120"/>
              </a:rPr>
              <a:t>Dekompozitsiya</a:t>
            </a:r>
            <a:endParaRPr lang="en-US" sz="1600" dirty="0"/>
          </a:p>
        </p:txBody>
      </p:sp>
      <p:sp>
        <p:nvSpPr>
          <p:cNvPr id="8" name="Text 6"/>
          <p:cNvSpPr txBox="1"/>
          <p:nvPr/>
        </p:nvSpPr>
        <p:spPr>
          <a:xfrm>
            <a:off x="640080" y="4069080"/>
            <a:ext cx="2606040" cy="1188720"/>
          </a:xfrm>
          <a:prstGeom prst="rect">
            <a:avLst/>
          </a:prstGeom>
          <a:noFill/>
          <a:ln/>
        </p:spPr>
        <p:txBody>
          <a:bodyPr wrap="square" lIns="0" tIns="0" rIns="0" bIns="0" rtlCol="0" anchor="ctr"/>
          <a:lstStyle/>
          <a:p>
            <a:pPr marL="0" indent="0" algn="ctr">
              <a:buNone/>
            </a:pPr>
            <a:r>
              <a:rPr lang="en-US" sz="1250" dirty="0">
                <a:solidFill>
                  <a:srgbClr val="6E6E6E"/>
                </a:solidFill>
                <a:latin typeface="Calibri" pitchFamily="34" charset="0"/>
                <a:ea typeface="Calibri" pitchFamily="34" charset="-122"/>
                <a:cs typeface="Calibri" pitchFamily="34" charset="-120"/>
              </a:rPr>
              <a:t>Katta muammoni kichikroq qismlarga bo'lish</a:t>
            </a:r>
            <a:endParaRPr lang="en-US" sz="1250" dirty="0"/>
          </a:p>
        </p:txBody>
      </p:sp>
      <p:sp>
        <p:nvSpPr>
          <p:cNvPr id="9" name="Shape 7"/>
          <p:cNvSpPr/>
          <p:nvPr/>
        </p:nvSpPr>
        <p:spPr>
          <a:xfrm>
            <a:off x="4297680" y="2423160"/>
            <a:ext cx="777240" cy="777240"/>
          </a:xfrm>
          <a:prstGeom prst="ellipse">
            <a:avLst/>
          </a:prstGeom>
          <a:solidFill>
            <a:srgbClr val="000000"/>
          </a:solidFill>
          <a:ln/>
        </p:spPr>
        <p:txBody>
          <a:bodyPr/>
          <a:lstStyle/>
          <a:p>
            <a:endParaRPr lang="en-US"/>
          </a:p>
        </p:txBody>
      </p:sp>
      <p:sp>
        <p:nvSpPr>
          <p:cNvPr id="10" name="Text 8"/>
          <p:cNvSpPr txBox="1"/>
          <p:nvPr/>
        </p:nvSpPr>
        <p:spPr>
          <a:xfrm>
            <a:off x="4297680" y="2423160"/>
            <a:ext cx="777240" cy="777240"/>
          </a:xfrm>
          <a:prstGeom prst="rect">
            <a:avLst/>
          </a:prstGeom>
          <a:noFill/>
          <a:ln/>
        </p:spPr>
        <p:txBody>
          <a:bodyPr wrap="square" lIns="0" tIns="0" rIns="0" bIns="0" rtlCol="0" anchor="ctr"/>
          <a:lstStyle/>
          <a:p>
            <a:pPr marL="0" indent="0" algn="ctr">
              <a:buNone/>
            </a:pPr>
            <a:r>
              <a:rPr lang="en-US" sz="2890" b="1" dirty="0">
                <a:solidFill>
                  <a:srgbClr val="FFFFFF"/>
                </a:solidFill>
                <a:latin typeface="Cambria" pitchFamily="34" charset="0"/>
                <a:ea typeface="Cambria" pitchFamily="34" charset="-122"/>
                <a:cs typeface="Cambria" pitchFamily="34" charset="-120"/>
              </a:rPr>
              <a:t>2</a:t>
            </a:r>
            <a:endParaRPr lang="en-US" sz="2890" dirty="0"/>
          </a:p>
        </p:txBody>
      </p:sp>
      <p:sp>
        <p:nvSpPr>
          <p:cNvPr id="11" name="Text 9"/>
          <p:cNvSpPr txBox="1"/>
          <p:nvPr/>
        </p:nvSpPr>
        <p:spPr>
          <a:xfrm>
            <a:off x="3383280" y="3429000"/>
            <a:ext cx="2606040" cy="640080"/>
          </a:xfrm>
          <a:prstGeom prst="rect">
            <a:avLst/>
          </a:prstGeom>
          <a:noFill/>
          <a:ln/>
        </p:spPr>
        <p:txBody>
          <a:bodyPr wrap="square" lIns="0" tIns="0" rIns="0" bIns="0" rtlCol="0" anchor="ctr"/>
          <a:lstStyle/>
          <a:p>
            <a:pPr marL="0" indent="0" algn="ctr">
              <a:buNone/>
            </a:pPr>
            <a:r>
              <a:rPr lang="en-US" sz="1600" b="1" dirty="0" err="1">
                <a:solidFill>
                  <a:srgbClr val="000000"/>
                </a:solidFill>
                <a:latin typeface="Calibri" pitchFamily="34" charset="0"/>
                <a:ea typeface="Calibri" pitchFamily="34" charset="-122"/>
                <a:cs typeface="Calibri" pitchFamily="34" charset="-120"/>
              </a:rPr>
              <a:t>Uxshashliklarni</a:t>
            </a:r>
            <a:r>
              <a:rPr lang="en-US" sz="1600" b="1" dirty="0">
                <a:solidFill>
                  <a:srgbClr val="000000"/>
                </a:solidFill>
                <a:latin typeface="Calibri" pitchFamily="34" charset="0"/>
                <a:ea typeface="Calibri" pitchFamily="34" charset="-122"/>
                <a:cs typeface="Calibri" pitchFamily="34" charset="-120"/>
              </a:rPr>
              <a:t> Aniqlash</a:t>
            </a:r>
            <a:endParaRPr lang="en-US" sz="1600" dirty="0"/>
          </a:p>
        </p:txBody>
      </p:sp>
      <p:sp>
        <p:nvSpPr>
          <p:cNvPr id="12" name="Text 10"/>
          <p:cNvSpPr txBox="1"/>
          <p:nvPr/>
        </p:nvSpPr>
        <p:spPr>
          <a:xfrm>
            <a:off x="3383280" y="4069080"/>
            <a:ext cx="2606040" cy="1188720"/>
          </a:xfrm>
          <a:prstGeom prst="rect">
            <a:avLst/>
          </a:prstGeom>
          <a:noFill/>
          <a:ln/>
        </p:spPr>
        <p:txBody>
          <a:bodyPr wrap="square" lIns="0" tIns="0" rIns="0" bIns="0" rtlCol="0" anchor="ctr"/>
          <a:lstStyle/>
          <a:p>
            <a:pPr marL="0" indent="0" algn="ctr">
              <a:buNone/>
            </a:pPr>
            <a:r>
              <a:rPr lang="en-US" sz="1250" dirty="0">
                <a:solidFill>
                  <a:srgbClr val="6E6E6E"/>
                </a:solidFill>
                <a:latin typeface="Calibri" pitchFamily="34" charset="0"/>
                <a:ea typeface="Calibri" pitchFamily="34" charset="-122"/>
                <a:cs typeface="Calibri" pitchFamily="34" charset="-120"/>
              </a:rPr>
              <a:t>Muammolar orasidagi o'xshashliklarni topish</a:t>
            </a:r>
            <a:endParaRPr lang="en-US" sz="1250" dirty="0"/>
          </a:p>
        </p:txBody>
      </p:sp>
      <p:sp>
        <p:nvSpPr>
          <p:cNvPr id="13" name="Shape 11"/>
          <p:cNvSpPr/>
          <p:nvPr/>
        </p:nvSpPr>
        <p:spPr>
          <a:xfrm>
            <a:off x="7040880" y="2423160"/>
            <a:ext cx="777240" cy="777240"/>
          </a:xfrm>
          <a:prstGeom prst="ellipse">
            <a:avLst/>
          </a:prstGeom>
          <a:solidFill>
            <a:srgbClr val="000000"/>
          </a:solidFill>
          <a:ln/>
        </p:spPr>
        <p:txBody>
          <a:bodyPr/>
          <a:lstStyle/>
          <a:p>
            <a:endParaRPr lang="en-US"/>
          </a:p>
        </p:txBody>
      </p:sp>
      <p:sp>
        <p:nvSpPr>
          <p:cNvPr id="14" name="Text 12"/>
          <p:cNvSpPr txBox="1"/>
          <p:nvPr/>
        </p:nvSpPr>
        <p:spPr>
          <a:xfrm>
            <a:off x="7040880" y="2423160"/>
            <a:ext cx="777240" cy="777240"/>
          </a:xfrm>
          <a:prstGeom prst="rect">
            <a:avLst/>
          </a:prstGeom>
          <a:noFill/>
          <a:ln/>
        </p:spPr>
        <p:txBody>
          <a:bodyPr wrap="square" lIns="0" tIns="0" rIns="0" bIns="0" rtlCol="0" anchor="ctr"/>
          <a:lstStyle/>
          <a:p>
            <a:pPr marL="0" indent="0" algn="ctr">
              <a:buNone/>
            </a:pPr>
            <a:r>
              <a:rPr lang="en-US" sz="2890" b="1" dirty="0">
                <a:solidFill>
                  <a:srgbClr val="FFFFFF"/>
                </a:solidFill>
                <a:latin typeface="Cambria" pitchFamily="34" charset="0"/>
                <a:ea typeface="Cambria" pitchFamily="34" charset="-122"/>
                <a:cs typeface="Cambria" pitchFamily="34" charset="-120"/>
              </a:rPr>
              <a:t>3</a:t>
            </a:r>
            <a:endParaRPr lang="en-US" sz="2890" dirty="0"/>
          </a:p>
        </p:txBody>
      </p:sp>
      <p:sp>
        <p:nvSpPr>
          <p:cNvPr id="15" name="Text 13"/>
          <p:cNvSpPr txBox="1"/>
          <p:nvPr/>
        </p:nvSpPr>
        <p:spPr>
          <a:xfrm>
            <a:off x="6126480" y="3429000"/>
            <a:ext cx="2606040" cy="640080"/>
          </a:xfrm>
          <a:prstGeom prst="rect">
            <a:avLst/>
          </a:prstGeom>
          <a:noFill/>
          <a:ln/>
        </p:spPr>
        <p:txBody>
          <a:bodyPr wrap="square" lIns="0" tIns="0" rIns="0" bIns="0" rtlCol="0" anchor="ctr"/>
          <a:lstStyle/>
          <a:p>
            <a:pPr marL="0" indent="0" algn="ctr">
              <a:buNone/>
            </a:pPr>
            <a:r>
              <a:rPr lang="en-US" sz="1600" b="1" dirty="0">
                <a:solidFill>
                  <a:srgbClr val="000000"/>
                </a:solidFill>
                <a:latin typeface="Calibri" pitchFamily="34" charset="0"/>
                <a:ea typeface="Calibri" pitchFamily="34" charset="-122"/>
                <a:cs typeface="Calibri" pitchFamily="34" charset="-120"/>
              </a:rPr>
              <a:t>Abstraktsiya</a:t>
            </a:r>
            <a:endParaRPr lang="en-US" sz="1600" dirty="0"/>
          </a:p>
        </p:txBody>
      </p:sp>
      <p:sp>
        <p:nvSpPr>
          <p:cNvPr id="16" name="Text 14"/>
          <p:cNvSpPr txBox="1"/>
          <p:nvPr/>
        </p:nvSpPr>
        <p:spPr>
          <a:xfrm>
            <a:off x="6126480" y="4069080"/>
            <a:ext cx="2606040" cy="1188720"/>
          </a:xfrm>
          <a:prstGeom prst="rect">
            <a:avLst/>
          </a:prstGeom>
          <a:noFill/>
          <a:ln/>
        </p:spPr>
        <p:txBody>
          <a:bodyPr wrap="square" lIns="0" tIns="0" rIns="0" bIns="0" rtlCol="0" anchor="ctr"/>
          <a:lstStyle/>
          <a:p>
            <a:pPr marL="0" indent="0" algn="ctr">
              <a:buNone/>
            </a:pPr>
            <a:r>
              <a:rPr lang="en-US" sz="1250" dirty="0">
                <a:solidFill>
                  <a:srgbClr val="6E6E6E"/>
                </a:solidFill>
                <a:latin typeface="Calibri" pitchFamily="34" charset="0"/>
                <a:ea typeface="Calibri" pitchFamily="34" charset="-122"/>
                <a:cs typeface="Calibri" pitchFamily="34" charset="-120"/>
              </a:rPr>
              <a:t>Hozir muhim bo'lmagan detallarni e'tiborsiz qoldirish</a:t>
            </a:r>
            <a:endParaRPr lang="en-US" sz="1250" dirty="0"/>
          </a:p>
        </p:txBody>
      </p:sp>
      <p:sp>
        <p:nvSpPr>
          <p:cNvPr id="17" name="Shape 15"/>
          <p:cNvSpPr/>
          <p:nvPr/>
        </p:nvSpPr>
        <p:spPr>
          <a:xfrm>
            <a:off x="9784080" y="2423160"/>
            <a:ext cx="777240" cy="777240"/>
          </a:xfrm>
          <a:prstGeom prst="ellipse">
            <a:avLst/>
          </a:prstGeom>
          <a:solidFill>
            <a:srgbClr val="000000"/>
          </a:solidFill>
          <a:ln/>
        </p:spPr>
        <p:txBody>
          <a:bodyPr/>
          <a:lstStyle/>
          <a:p>
            <a:endParaRPr lang="en-US"/>
          </a:p>
        </p:txBody>
      </p:sp>
      <p:sp>
        <p:nvSpPr>
          <p:cNvPr id="18" name="Text 16"/>
          <p:cNvSpPr txBox="1"/>
          <p:nvPr/>
        </p:nvSpPr>
        <p:spPr>
          <a:xfrm>
            <a:off x="9784080" y="2423160"/>
            <a:ext cx="777240" cy="777240"/>
          </a:xfrm>
          <a:prstGeom prst="rect">
            <a:avLst/>
          </a:prstGeom>
          <a:noFill/>
          <a:ln/>
        </p:spPr>
        <p:txBody>
          <a:bodyPr wrap="square" lIns="0" tIns="0" rIns="0" bIns="0" rtlCol="0" anchor="ctr"/>
          <a:lstStyle/>
          <a:p>
            <a:pPr marL="0" indent="0" algn="ctr">
              <a:buNone/>
            </a:pPr>
            <a:r>
              <a:rPr lang="en-US" sz="2890" b="1" dirty="0">
                <a:solidFill>
                  <a:srgbClr val="FFFFFF"/>
                </a:solidFill>
                <a:latin typeface="Cambria" pitchFamily="34" charset="0"/>
                <a:ea typeface="Cambria" pitchFamily="34" charset="-122"/>
                <a:cs typeface="Cambria" pitchFamily="34" charset="-120"/>
              </a:rPr>
              <a:t>4</a:t>
            </a:r>
            <a:endParaRPr lang="en-US" sz="2890" dirty="0"/>
          </a:p>
        </p:txBody>
      </p:sp>
      <p:sp>
        <p:nvSpPr>
          <p:cNvPr id="19" name="Text 17"/>
          <p:cNvSpPr txBox="1"/>
          <p:nvPr/>
        </p:nvSpPr>
        <p:spPr>
          <a:xfrm>
            <a:off x="8869680" y="3429000"/>
            <a:ext cx="2606040" cy="640080"/>
          </a:xfrm>
          <a:prstGeom prst="rect">
            <a:avLst/>
          </a:prstGeom>
          <a:noFill/>
          <a:ln/>
        </p:spPr>
        <p:txBody>
          <a:bodyPr wrap="square" lIns="0" tIns="0" rIns="0" bIns="0" rtlCol="0" anchor="ctr"/>
          <a:lstStyle/>
          <a:p>
            <a:pPr marL="0" indent="0" algn="ctr">
              <a:buNone/>
            </a:pPr>
            <a:r>
              <a:rPr lang="en-US" sz="1600" b="1" dirty="0">
                <a:solidFill>
                  <a:srgbClr val="000000"/>
                </a:solidFill>
                <a:latin typeface="Calibri" pitchFamily="34" charset="0"/>
                <a:ea typeface="Calibri" pitchFamily="34" charset="-122"/>
                <a:cs typeface="Calibri" pitchFamily="34" charset="-120"/>
              </a:rPr>
              <a:t>Algoritm Yaratish</a:t>
            </a:r>
            <a:endParaRPr lang="en-US" sz="1600" dirty="0"/>
          </a:p>
        </p:txBody>
      </p:sp>
      <p:sp>
        <p:nvSpPr>
          <p:cNvPr id="20" name="Text 18"/>
          <p:cNvSpPr txBox="1"/>
          <p:nvPr/>
        </p:nvSpPr>
        <p:spPr>
          <a:xfrm>
            <a:off x="8869680" y="4069080"/>
            <a:ext cx="2606040" cy="1188720"/>
          </a:xfrm>
          <a:prstGeom prst="rect">
            <a:avLst/>
          </a:prstGeom>
          <a:noFill/>
          <a:ln/>
        </p:spPr>
        <p:txBody>
          <a:bodyPr wrap="square" lIns="0" tIns="0" rIns="0" bIns="0" rtlCol="0" anchor="ctr"/>
          <a:lstStyle/>
          <a:p>
            <a:pPr marL="0" indent="0" algn="ctr">
              <a:buNone/>
            </a:pPr>
            <a:r>
              <a:rPr lang="en-US" sz="1250" dirty="0">
                <a:solidFill>
                  <a:srgbClr val="6E6E6E"/>
                </a:solidFill>
                <a:latin typeface="Calibri" pitchFamily="34" charset="0"/>
                <a:ea typeface="Calibri" pitchFamily="34" charset="-122"/>
                <a:cs typeface="Calibri" pitchFamily="34" charset="-120"/>
              </a:rPr>
              <a:t>Yechimga olib boradigan aniq qadamlarni yozish</a:t>
            </a:r>
            <a:endParaRPr lang="en-US" sz="1250" dirty="0"/>
          </a:p>
        </p:txBody>
      </p:sp>
      <p:sp>
        <p:nvSpPr>
          <p:cNvPr id="21" name="Text 19"/>
          <p:cNvSpPr txBox="1"/>
          <p:nvPr/>
        </p:nvSpPr>
        <p:spPr>
          <a:xfrm>
            <a:off x="11368735" y="6355080"/>
            <a:ext cx="548640" cy="320040"/>
          </a:xfrm>
          <a:prstGeom prst="rect">
            <a:avLst/>
          </a:prstGeom>
          <a:noFill/>
          <a:ln/>
        </p:spPr>
        <p:txBody>
          <a:bodyPr wrap="square" lIns="0" tIns="0" rIns="0" bIns="0" rtlCol="0" anchor="ctr"/>
          <a:lstStyle/>
          <a:p>
            <a:pPr marL="0" indent="0" algn="r">
              <a:buNone/>
            </a:pPr>
            <a:r>
              <a:rPr lang="en-US" sz="1200" dirty="0">
                <a:solidFill>
                  <a:srgbClr val="6E6E6E"/>
                </a:solidFill>
                <a:latin typeface="Calibri" pitchFamily="34" charset="0"/>
                <a:ea typeface="Calibri" pitchFamily="34" charset="-122"/>
                <a:cs typeface="Calibri" pitchFamily="34" charset="-120"/>
              </a:rPr>
              <a:t>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8686800" cy="365760"/>
          </a:xfrm>
          <a:prstGeom prst="rect">
            <a:avLst/>
          </a:prstGeom>
          <a:noFill/>
          <a:ln/>
        </p:spPr>
        <p:txBody>
          <a:bodyPr wrap="square" lIns="0" tIns="0" rIns="0" bIns="0" rtlCol="0" anchor="ctr"/>
          <a:lstStyle/>
          <a:p>
            <a:pPr marL="0" indent="0">
              <a:buNone/>
            </a:pPr>
            <a:r>
              <a:rPr lang="en-US" sz="1500" b="1" kern="0" spc="200" dirty="0">
                <a:solidFill>
                  <a:srgbClr val="6E6E6E"/>
                </a:solidFill>
                <a:latin typeface="Calibri" pitchFamily="34" charset="0"/>
                <a:ea typeface="Calibri" pitchFamily="34" charset="-122"/>
                <a:cs typeface="Calibri" pitchFamily="34" charset="-120"/>
              </a:rPr>
              <a:t>1-USTUN</a:t>
            </a:r>
            <a:endParaRPr lang="en-US" sz="1500" dirty="0"/>
          </a:p>
        </p:txBody>
      </p:sp>
      <p:sp>
        <p:nvSpPr>
          <p:cNvPr id="3" name="Text 1"/>
          <p:cNvSpPr txBox="1"/>
          <p:nvPr/>
        </p:nvSpPr>
        <p:spPr>
          <a:xfrm>
            <a:off x="640080" y="868680"/>
            <a:ext cx="10881360" cy="1005840"/>
          </a:xfrm>
          <a:prstGeom prst="rect">
            <a:avLst/>
          </a:prstGeom>
          <a:noFill/>
          <a:ln/>
        </p:spPr>
        <p:txBody>
          <a:bodyPr wrap="square" lIns="0" tIns="0" rIns="0" bIns="0" rtlCol="0" anchor="ctr"/>
          <a:lstStyle/>
          <a:p>
            <a:pPr marL="0" indent="0" algn="l">
              <a:buNone/>
            </a:pPr>
            <a:r>
              <a:rPr lang="en-US" sz="3200" b="1" dirty="0">
                <a:solidFill>
                  <a:srgbClr val="000000"/>
                </a:solidFill>
                <a:latin typeface="Cambria" pitchFamily="34" charset="0"/>
                <a:ea typeface="Cambria" pitchFamily="34" charset="-122"/>
                <a:cs typeface="Cambria" pitchFamily="34" charset="-120"/>
              </a:rPr>
              <a:t>Dekompozitsiya</a:t>
            </a:r>
            <a:endParaRPr lang="en-US" sz="3200" dirty="0"/>
          </a:p>
        </p:txBody>
      </p:sp>
      <p:sp>
        <p:nvSpPr>
          <p:cNvPr id="4" name="Shape 2"/>
          <p:cNvSpPr/>
          <p:nvPr/>
        </p:nvSpPr>
        <p:spPr>
          <a:xfrm>
            <a:off x="640080" y="1874520"/>
            <a:ext cx="10911535" cy="0"/>
          </a:xfrm>
          <a:prstGeom prst="line">
            <a:avLst/>
          </a:prstGeom>
          <a:noFill/>
          <a:ln w="15875">
            <a:solidFill>
              <a:srgbClr val="D9D9D9"/>
            </a:solidFill>
            <a:prstDash val="solid"/>
          </a:ln>
        </p:spPr>
        <p:txBody>
          <a:bodyPr/>
          <a:lstStyle/>
          <a:p>
            <a:endParaRPr lang="en-US"/>
          </a:p>
        </p:txBody>
      </p:sp>
      <p:sp>
        <p:nvSpPr>
          <p:cNvPr id="5" name="Shape 3"/>
          <p:cNvSpPr/>
          <p:nvPr/>
        </p:nvSpPr>
        <p:spPr>
          <a:xfrm>
            <a:off x="640080" y="2286000"/>
            <a:ext cx="640080" cy="640080"/>
          </a:xfrm>
          <a:prstGeom prst="ellipse">
            <a:avLst/>
          </a:prstGeom>
          <a:solidFill>
            <a:srgbClr val="000000"/>
          </a:solidFill>
          <a:ln/>
        </p:spPr>
        <p:txBody>
          <a:bodyPr/>
          <a:lstStyle/>
          <a:p>
            <a:endParaRPr lang="en-US"/>
          </a:p>
        </p:txBody>
      </p:sp>
      <p:sp>
        <p:nvSpPr>
          <p:cNvPr id="6" name="Text 4"/>
          <p:cNvSpPr txBox="1"/>
          <p:nvPr/>
        </p:nvSpPr>
        <p:spPr>
          <a:xfrm>
            <a:off x="640080" y="2286000"/>
            <a:ext cx="640080" cy="640080"/>
          </a:xfrm>
          <a:prstGeom prst="rect">
            <a:avLst/>
          </a:prstGeom>
          <a:noFill/>
          <a:ln/>
        </p:spPr>
        <p:txBody>
          <a:bodyPr wrap="square" lIns="0" tIns="0" rIns="0" bIns="0" rtlCol="0" anchor="ctr"/>
          <a:lstStyle/>
          <a:p>
            <a:pPr marL="0" indent="0" algn="ctr">
              <a:buNone/>
            </a:pPr>
            <a:r>
              <a:rPr lang="en-US" sz="2380" b="1" dirty="0">
                <a:solidFill>
                  <a:srgbClr val="FFFFFF"/>
                </a:solidFill>
                <a:latin typeface="Cambria" pitchFamily="34" charset="0"/>
                <a:ea typeface="Cambria" pitchFamily="34" charset="-122"/>
                <a:cs typeface="Cambria" pitchFamily="34" charset="-120"/>
              </a:rPr>
              <a:t>1</a:t>
            </a:r>
            <a:endParaRPr lang="en-US" sz="2380" dirty="0"/>
          </a:p>
        </p:txBody>
      </p:sp>
      <p:sp>
        <p:nvSpPr>
          <p:cNvPr id="7" name="Text 5"/>
          <p:cNvSpPr txBox="1"/>
          <p:nvPr/>
        </p:nvSpPr>
        <p:spPr>
          <a:xfrm>
            <a:off x="1508760" y="2331720"/>
            <a:ext cx="9509760" cy="640080"/>
          </a:xfrm>
          <a:prstGeom prst="rect">
            <a:avLst/>
          </a:prstGeom>
          <a:noFill/>
          <a:ln/>
        </p:spPr>
        <p:txBody>
          <a:bodyPr wrap="square" lIns="0" tIns="0" rIns="0" bIns="0" rtlCol="0" anchor="ctr"/>
          <a:lstStyle/>
          <a:p>
            <a:pPr marL="0" indent="0">
              <a:buNone/>
            </a:pPr>
            <a:r>
              <a:rPr lang="en-US" sz="2100" i="1" dirty="0">
                <a:solidFill>
                  <a:srgbClr val="1A1A1A"/>
                </a:solidFill>
                <a:latin typeface="Cambria" pitchFamily="34" charset="0"/>
                <a:ea typeface="Cambria" pitchFamily="34" charset="-122"/>
                <a:cs typeface="Cambria" pitchFamily="34" charset="-120"/>
              </a:rPr>
              <a:t>Murakkab muammoni kichikroq, boshqarish osonroq qismlarga bo'lish.</a:t>
            </a:r>
            <a:endParaRPr lang="en-US" sz="2100" dirty="0"/>
          </a:p>
        </p:txBody>
      </p:sp>
      <p:sp>
        <p:nvSpPr>
          <p:cNvPr id="8" name="Shape 6"/>
          <p:cNvSpPr/>
          <p:nvPr/>
        </p:nvSpPr>
        <p:spPr>
          <a:xfrm>
            <a:off x="640080" y="3200400"/>
            <a:ext cx="10911535" cy="0"/>
          </a:xfrm>
          <a:prstGeom prst="line">
            <a:avLst/>
          </a:prstGeom>
          <a:noFill/>
          <a:ln w="15875">
            <a:solidFill>
              <a:srgbClr val="D9D9D9"/>
            </a:solidFill>
            <a:prstDash val="solid"/>
          </a:ln>
        </p:spPr>
        <p:txBody>
          <a:bodyPr/>
          <a:lstStyle/>
          <a:p>
            <a:endParaRPr lang="en-US"/>
          </a:p>
        </p:txBody>
      </p:sp>
      <p:sp>
        <p:nvSpPr>
          <p:cNvPr id="9" name="Shape 7"/>
          <p:cNvSpPr/>
          <p:nvPr/>
        </p:nvSpPr>
        <p:spPr>
          <a:xfrm>
            <a:off x="640080" y="3520440"/>
            <a:ext cx="10607040" cy="2377440"/>
          </a:xfrm>
          <a:prstGeom prst="roundRect">
            <a:avLst>
              <a:gd name="adj" fmla="val 3077"/>
            </a:avLst>
          </a:prstGeom>
          <a:solidFill>
            <a:srgbClr val="F2F2F2"/>
          </a:solidFill>
          <a:ln w="12700">
            <a:solidFill>
              <a:srgbClr val="D9D9D9"/>
            </a:solidFill>
            <a:prstDash val="solid"/>
          </a:ln>
        </p:spPr>
        <p:txBody>
          <a:bodyPr/>
          <a:lstStyle/>
          <a:p>
            <a:endParaRPr lang="en-US"/>
          </a:p>
        </p:txBody>
      </p:sp>
      <p:sp>
        <p:nvSpPr>
          <p:cNvPr id="10" name="Text 8"/>
          <p:cNvSpPr txBox="1"/>
          <p:nvPr/>
        </p:nvSpPr>
        <p:spPr>
          <a:xfrm>
            <a:off x="1005840" y="3749040"/>
            <a:ext cx="10058400" cy="365760"/>
          </a:xfrm>
          <a:prstGeom prst="rect">
            <a:avLst/>
          </a:prstGeom>
          <a:noFill/>
          <a:ln/>
        </p:spPr>
        <p:txBody>
          <a:bodyPr wrap="square" lIns="0" tIns="0" rIns="0" bIns="0" rtlCol="0" anchor="ctr"/>
          <a:lstStyle/>
          <a:p>
            <a:pPr marL="0" indent="0">
              <a:buNone/>
            </a:pPr>
            <a:r>
              <a:rPr lang="en-US" sz="1600" b="1" dirty="0">
                <a:solidFill>
                  <a:srgbClr val="000000"/>
                </a:solidFill>
                <a:latin typeface="Calibri" pitchFamily="34" charset="0"/>
                <a:ea typeface="Calibri" pitchFamily="34" charset="-122"/>
                <a:cs typeface="Calibri" pitchFamily="34" charset="-120"/>
              </a:rPr>
              <a:t>Misol: Veb-sayt yaratish</a:t>
            </a:r>
            <a:endParaRPr lang="en-US" sz="1600" dirty="0"/>
          </a:p>
        </p:txBody>
      </p:sp>
      <p:sp>
        <p:nvSpPr>
          <p:cNvPr id="11" name="Text 9"/>
          <p:cNvSpPr txBox="1"/>
          <p:nvPr/>
        </p:nvSpPr>
        <p:spPr>
          <a:xfrm>
            <a:off x="1005840" y="4206240"/>
            <a:ext cx="9875520" cy="1645920"/>
          </a:xfrm>
          <a:prstGeom prst="rect">
            <a:avLst/>
          </a:prstGeom>
          <a:noFill/>
          <a:ln/>
        </p:spPr>
        <p:txBody>
          <a:bodyPr wrap="square" lIns="0" tIns="0" rIns="0" bIns="0" rtlCol="0" anchor="t"/>
          <a:lstStyle/>
          <a:p>
            <a:pPr marL="279400" indent="-279400">
              <a:lnSpc>
                <a:spcPct val="115000"/>
              </a:lnSpc>
              <a:spcAft>
                <a:spcPts val="800"/>
              </a:spcAft>
              <a:buSzPct val="100000"/>
              <a:buChar char="•"/>
            </a:pPr>
            <a:r>
              <a:rPr lang="en-US" sz="1600" dirty="0">
                <a:solidFill>
                  <a:srgbClr val="3D3D3D"/>
                </a:solidFill>
                <a:latin typeface="Calibri" pitchFamily="34" charset="0"/>
                <a:ea typeface="Calibri" pitchFamily="34" charset="-122"/>
                <a:cs typeface="Calibri" pitchFamily="34" charset="-120"/>
              </a:rPr>
              <a:t>Dizayn va tartibni loyihalash</a:t>
            </a:r>
            <a:endParaRPr lang="en-US" sz="1600" dirty="0"/>
          </a:p>
          <a:p>
            <a:pPr marL="279400" indent="-279400">
              <a:lnSpc>
                <a:spcPct val="115000"/>
              </a:lnSpc>
              <a:spcAft>
                <a:spcPts val="800"/>
              </a:spcAft>
              <a:buSzPct val="100000"/>
              <a:buChar char="•"/>
            </a:pPr>
            <a:r>
              <a:rPr lang="en-US" sz="1600" dirty="0">
                <a:solidFill>
                  <a:srgbClr val="3D3D3D"/>
                </a:solidFill>
                <a:latin typeface="Calibri" pitchFamily="34" charset="0"/>
                <a:ea typeface="Calibri" pitchFamily="34" charset="-122"/>
                <a:cs typeface="Calibri" pitchFamily="34" charset="-120"/>
              </a:rPr>
              <a:t>Ma'lumotlar bazasini qurish</a:t>
            </a:r>
            <a:endParaRPr lang="en-US" sz="1600" dirty="0"/>
          </a:p>
          <a:p>
            <a:pPr marL="279400" indent="-279400">
              <a:lnSpc>
                <a:spcPct val="115000"/>
              </a:lnSpc>
              <a:spcAft>
                <a:spcPts val="800"/>
              </a:spcAft>
              <a:buSzPct val="100000"/>
              <a:buChar char="•"/>
            </a:pPr>
            <a:r>
              <a:rPr lang="en-US" sz="1600" dirty="0">
                <a:solidFill>
                  <a:srgbClr val="3D3D3D"/>
                </a:solidFill>
                <a:latin typeface="Calibri" pitchFamily="34" charset="0"/>
                <a:ea typeface="Calibri" pitchFamily="34" charset="-122"/>
                <a:cs typeface="Calibri" pitchFamily="34" charset="-120"/>
              </a:rPr>
              <a:t>Server mantig'ini yozish</a:t>
            </a:r>
            <a:endParaRPr lang="en-US" sz="1600" dirty="0"/>
          </a:p>
          <a:p>
            <a:pPr marL="279400" indent="-279400">
              <a:lnSpc>
                <a:spcPct val="115000"/>
              </a:lnSpc>
              <a:spcAft>
                <a:spcPts val="800"/>
              </a:spcAft>
              <a:buSzPct val="100000"/>
              <a:buChar char="•"/>
            </a:pPr>
            <a:r>
              <a:rPr lang="en-US" sz="1600" dirty="0">
                <a:solidFill>
                  <a:srgbClr val="3D3D3D"/>
                </a:solidFill>
                <a:latin typeface="Calibri" pitchFamily="34" charset="0"/>
                <a:ea typeface="Calibri" pitchFamily="34" charset="-122"/>
                <a:cs typeface="Calibri" pitchFamily="34" charset="-120"/>
              </a:rPr>
              <a:t>Foydalanuvchi hisoblari va xavfsizlikni ta'minlash</a:t>
            </a:r>
            <a:endParaRPr lang="en-US" sz="1600" dirty="0"/>
          </a:p>
        </p:txBody>
      </p:sp>
      <p:sp>
        <p:nvSpPr>
          <p:cNvPr id="12" name="Text 10"/>
          <p:cNvSpPr txBox="1"/>
          <p:nvPr/>
        </p:nvSpPr>
        <p:spPr>
          <a:xfrm>
            <a:off x="11368735" y="6355080"/>
            <a:ext cx="548640" cy="320040"/>
          </a:xfrm>
          <a:prstGeom prst="rect">
            <a:avLst/>
          </a:prstGeom>
          <a:noFill/>
          <a:ln/>
        </p:spPr>
        <p:txBody>
          <a:bodyPr wrap="square" lIns="0" tIns="0" rIns="0" bIns="0" rtlCol="0" anchor="ctr"/>
          <a:lstStyle/>
          <a:p>
            <a:pPr marL="0" indent="0" algn="r">
              <a:buNone/>
            </a:pPr>
            <a:r>
              <a:rPr lang="en-US" sz="1200" dirty="0">
                <a:solidFill>
                  <a:srgbClr val="6E6E6E"/>
                </a:solidFill>
                <a:latin typeface="Calibri" pitchFamily="34" charset="0"/>
                <a:ea typeface="Calibri" pitchFamily="34" charset="-122"/>
                <a:cs typeface="Calibri" pitchFamily="34" charset="-120"/>
              </a:rPr>
              <a:t>8</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8686800" cy="365760"/>
          </a:xfrm>
          <a:prstGeom prst="rect">
            <a:avLst/>
          </a:prstGeom>
          <a:noFill/>
          <a:ln/>
        </p:spPr>
        <p:txBody>
          <a:bodyPr wrap="square" lIns="0" tIns="0" rIns="0" bIns="0" rtlCol="0" anchor="ctr"/>
          <a:lstStyle/>
          <a:p>
            <a:pPr marL="0" indent="0">
              <a:buNone/>
            </a:pPr>
            <a:r>
              <a:rPr lang="en-US" sz="1500" b="1" kern="0" spc="200" dirty="0">
                <a:solidFill>
                  <a:srgbClr val="6E6E6E"/>
                </a:solidFill>
                <a:latin typeface="Calibri" pitchFamily="34" charset="0"/>
                <a:ea typeface="Calibri" pitchFamily="34" charset="-122"/>
                <a:cs typeface="Calibri" pitchFamily="34" charset="-120"/>
              </a:rPr>
              <a:t>2-USTUN</a:t>
            </a:r>
            <a:endParaRPr lang="en-US" sz="1500" dirty="0"/>
          </a:p>
        </p:txBody>
      </p:sp>
      <p:sp>
        <p:nvSpPr>
          <p:cNvPr id="3" name="Text 1"/>
          <p:cNvSpPr txBox="1"/>
          <p:nvPr/>
        </p:nvSpPr>
        <p:spPr>
          <a:xfrm>
            <a:off x="640080" y="868680"/>
            <a:ext cx="10881360" cy="1005840"/>
          </a:xfrm>
          <a:prstGeom prst="rect">
            <a:avLst/>
          </a:prstGeom>
          <a:noFill/>
          <a:ln/>
        </p:spPr>
        <p:txBody>
          <a:bodyPr wrap="square" lIns="0" tIns="0" rIns="0" bIns="0" rtlCol="0" anchor="ctr"/>
          <a:lstStyle/>
          <a:p>
            <a:pPr marL="0" indent="0" algn="l">
              <a:buNone/>
            </a:pPr>
            <a:r>
              <a:rPr lang="en-US" sz="3200" b="1" dirty="0">
                <a:solidFill>
                  <a:srgbClr val="000000"/>
                </a:solidFill>
                <a:latin typeface="Cambria" pitchFamily="34" charset="0"/>
                <a:ea typeface="Cambria" pitchFamily="34" charset="-122"/>
                <a:cs typeface="Cambria" pitchFamily="34" charset="-120"/>
              </a:rPr>
              <a:t>Naqsh Aniqlash</a:t>
            </a:r>
            <a:endParaRPr lang="en-US" sz="3200" dirty="0"/>
          </a:p>
        </p:txBody>
      </p:sp>
      <p:sp>
        <p:nvSpPr>
          <p:cNvPr id="4" name="Shape 2"/>
          <p:cNvSpPr/>
          <p:nvPr/>
        </p:nvSpPr>
        <p:spPr>
          <a:xfrm>
            <a:off x="640080" y="1874520"/>
            <a:ext cx="10911535" cy="0"/>
          </a:xfrm>
          <a:prstGeom prst="line">
            <a:avLst/>
          </a:prstGeom>
          <a:noFill/>
          <a:ln w="15875">
            <a:solidFill>
              <a:srgbClr val="D9D9D9"/>
            </a:solidFill>
            <a:prstDash val="solid"/>
          </a:ln>
        </p:spPr>
        <p:txBody>
          <a:bodyPr/>
          <a:lstStyle/>
          <a:p>
            <a:endParaRPr lang="en-US"/>
          </a:p>
        </p:txBody>
      </p:sp>
      <p:sp>
        <p:nvSpPr>
          <p:cNvPr id="5" name="Shape 3"/>
          <p:cNvSpPr/>
          <p:nvPr/>
        </p:nvSpPr>
        <p:spPr>
          <a:xfrm>
            <a:off x="640080" y="2286000"/>
            <a:ext cx="640080" cy="640080"/>
          </a:xfrm>
          <a:prstGeom prst="ellipse">
            <a:avLst/>
          </a:prstGeom>
          <a:solidFill>
            <a:srgbClr val="000000"/>
          </a:solidFill>
          <a:ln/>
        </p:spPr>
        <p:txBody>
          <a:bodyPr/>
          <a:lstStyle/>
          <a:p>
            <a:endParaRPr lang="en-US"/>
          </a:p>
        </p:txBody>
      </p:sp>
      <p:sp>
        <p:nvSpPr>
          <p:cNvPr id="6" name="Text 4"/>
          <p:cNvSpPr txBox="1"/>
          <p:nvPr/>
        </p:nvSpPr>
        <p:spPr>
          <a:xfrm>
            <a:off x="640080" y="2286000"/>
            <a:ext cx="640080" cy="640080"/>
          </a:xfrm>
          <a:prstGeom prst="rect">
            <a:avLst/>
          </a:prstGeom>
          <a:noFill/>
          <a:ln/>
        </p:spPr>
        <p:txBody>
          <a:bodyPr wrap="square" lIns="0" tIns="0" rIns="0" bIns="0" rtlCol="0" anchor="ctr"/>
          <a:lstStyle/>
          <a:p>
            <a:pPr marL="0" indent="0" algn="ctr">
              <a:buNone/>
            </a:pPr>
            <a:r>
              <a:rPr lang="en-US" sz="2380" b="1" dirty="0">
                <a:solidFill>
                  <a:srgbClr val="FFFFFF"/>
                </a:solidFill>
                <a:latin typeface="Cambria" pitchFamily="34" charset="0"/>
                <a:ea typeface="Cambria" pitchFamily="34" charset="-122"/>
                <a:cs typeface="Cambria" pitchFamily="34" charset="-120"/>
              </a:rPr>
              <a:t>2</a:t>
            </a:r>
            <a:endParaRPr lang="en-US" sz="2380" dirty="0"/>
          </a:p>
        </p:txBody>
      </p:sp>
      <p:sp>
        <p:nvSpPr>
          <p:cNvPr id="7" name="Text 5"/>
          <p:cNvSpPr txBox="1"/>
          <p:nvPr/>
        </p:nvSpPr>
        <p:spPr>
          <a:xfrm>
            <a:off x="1508760" y="2331720"/>
            <a:ext cx="9509760" cy="640080"/>
          </a:xfrm>
          <a:prstGeom prst="rect">
            <a:avLst/>
          </a:prstGeom>
          <a:noFill/>
          <a:ln/>
        </p:spPr>
        <p:txBody>
          <a:bodyPr wrap="square" lIns="0" tIns="0" rIns="0" bIns="0" rtlCol="0" anchor="ctr"/>
          <a:lstStyle/>
          <a:p>
            <a:pPr marL="0" indent="0">
              <a:buNone/>
            </a:pPr>
            <a:r>
              <a:rPr lang="en-US" sz="2000" i="1" dirty="0">
                <a:solidFill>
                  <a:srgbClr val="1A1A1A"/>
                </a:solidFill>
                <a:latin typeface="Cambria" pitchFamily="34" charset="0"/>
                <a:ea typeface="Cambria" pitchFamily="34" charset="-122"/>
                <a:cs typeface="Cambria" pitchFamily="34" charset="-120"/>
              </a:rPr>
              <a:t>Yangi muammo va avval yechgan muammolaringiz orasidagi o'xshashliklarni sezish.</a:t>
            </a:r>
            <a:endParaRPr lang="en-US" sz="2000" dirty="0"/>
          </a:p>
        </p:txBody>
      </p:sp>
      <p:sp>
        <p:nvSpPr>
          <p:cNvPr id="8" name="Shape 6"/>
          <p:cNvSpPr/>
          <p:nvPr/>
        </p:nvSpPr>
        <p:spPr>
          <a:xfrm>
            <a:off x="640080" y="3200400"/>
            <a:ext cx="10911535" cy="0"/>
          </a:xfrm>
          <a:prstGeom prst="line">
            <a:avLst/>
          </a:prstGeom>
          <a:noFill/>
          <a:ln w="15875">
            <a:solidFill>
              <a:srgbClr val="D9D9D9"/>
            </a:solidFill>
            <a:prstDash val="solid"/>
          </a:ln>
        </p:spPr>
        <p:txBody>
          <a:bodyPr/>
          <a:lstStyle/>
          <a:p>
            <a:endParaRPr lang="en-US"/>
          </a:p>
        </p:txBody>
      </p:sp>
      <p:sp>
        <p:nvSpPr>
          <p:cNvPr id="9" name="Shape 7"/>
          <p:cNvSpPr/>
          <p:nvPr/>
        </p:nvSpPr>
        <p:spPr>
          <a:xfrm>
            <a:off x="640080" y="3520440"/>
            <a:ext cx="10607040" cy="2377440"/>
          </a:xfrm>
          <a:prstGeom prst="roundRect">
            <a:avLst>
              <a:gd name="adj" fmla="val 3077"/>
            </a:avLst>
          </a:prstGeom>
          <a:solidFill>
            <a:srgbClr val="F2F2F2"/>
          </a:solidFill>
          <a:ln w="12700">
            <a:solidFill>
              <a:srgbClr val="D9D9D9"/>
            </a:solidFill>
            <a:prstDash val="solid"/>
          </a:ln>
        </p:spPr>
        <p:txBody>
          <a:bodyPr/>
          <a:lstStyle/>
          <a:p>
            <a:endParaRPr lang="en-US"/>
          </a:p>
        </p:txBody>
      </p:sp>
      <p:sp>
        <p:nvSpPr>
          <p:cNvPr id="10" name="Text 8"/>
          <p:cNvSpPr txBox="1"/>
          <p:nvPr/>
        </p:nvSpPr>
        <p:spPr>
          <a:xfrm>
            <a:off x="1005840" y="3749040"/>
            <a:ext cx="10058400" cy="365760"/>
          </a:xfrm>
          <a:prstGeom prst="rect">
            <a:avLst/>
          </a:prstGeom>
          <a:noFill/>
          <a:ln/>
        </p:spPr>
        <p:txBody>
          <a:bodyPr wrap="square" lIns="0" tIns="0" rIns="0" bIns="0" rtlCol="0" anchor="ctr"/>
          <a:lstStyle/>
          <a:p>
            <a:pPr marL="0" indent="0">
              <a:buNone/>
            </a:pPr>
            <a:r>
              <a:rPr lang="en-US" sz="1600" b="1" dirty="0">
                <a:solidFill>
                  <a:srgbClr val="000000"/>
                </a:solidFill>
                <a:latin typeface="Calibri" pitchFamily="34" charset="0"/>
                <a:ea typeface="Calibri" pitchFamily="34" charset="-122"/>
                <a:cs typeface="Calibri" pitchFamily="34" charset="-120"/>
              </a:rPr>
              <a:t>Misol: Saralash</a:t>
            </a:r>
            <a:endParaRPr lang="en-US" sz="1600" dirty="0"/>
          </a:p>
        </p:txBody>
      </p:sp>
      <p:sp>
        <p:nvSpPr>
          <p:cNvPr id="11" name="Text 9"/>
          <p:cNvSpPr txBox="1"/>
          <p:nvPr/>
        </p:nvSpPr>
        <p:spPr>
          <a:xfrm>
            <a:off x="1005840" y="4206240"/>
            <a:ext cx="9875520" cy="1463040"/>
          </a:xfrm>
          <a:prstGeom prst="rect">
            <a:avLst/>
          </a:prstGeom>
          <a:noFill/>
          <a:ln/>
        </p:spPr>
        <p:txBody>
          <a:bodyPr wrap="square" lIns="0" tIns="0" rIns="0" bIns="0" rtlCol="0" anchor="ctr"/>
          <a:lstStyle/>
          <a:p>
            <a:pPr marL="0" indent="0">
              <a:lnSpc>
                <a:spcPct val="125000"/>
              </a:lnSpc>
              <a:buNone/>
            </a:pPr>
            <a:r>
              <a:rPr lang="en-US" sz="1500" dirty="0">
                <a:solidFill>
                  <a:srgbClr val="3D3D3D"/>
                </a:solidFill>
                <a:latin typeface="Calibri" pitchFamily="34" charset="0"/>
                <a:ea typeface="Calibri" pitchFamily="34" charset="-122"/>
                <a:cs typeface="Calibri" pitchFamily="34" charset="-120"/>
              </a:rPr>
              <a:t>Guruh ro'yxatini ism bo'yicha, reyting jadvalini ball bo'yicha va qidiruv</a:t>
            </a:r>
            <a:endParaRPr lang="en-US" sz="1500" dirty="0"/>
          </a:p>
          <a:p>
            <a:pPr marL="0" indent="0">
              <a:lnSpc>
                <a:spcPct val="125000"/>
              </a:lnSpc>
              <a:buNone/>
            </a:pPr>
            <a:r>
              <a:rPr lang="en-US" sz="1500" dirty="0">
                <a:solidFill>
                  <a:srgbClr val="3D3D3D"/>
                </a:solidFill>
                <a:latin typeface="Calibri" pitchFamily="34" charset="0"/>
                <a:ea typeface="Calibri" pitchFamily="34" charset="-122"/>
                <a:cs typeface="Calibri" pitchFamily="34" charset="-120"/>
              </a:rPr>
              <a:t>natijalarini moslik bo'yicha saralash — bularning barchasi bitta xil</a:t>
            </a:r>
            <a:endParaRPr lang="en-US" sz="1500" dirty="0"/>
          </a:p>
          <a:p>
            <a:pPr marL="0" indent="0">
              <a:lnSpc>
                <a:spcPct val="125000"/>
              </a:lnSpc>
              <a:buNone/>
            </a:pPr>
            <a:r>
              <a:rPr lang="en-US" sz="1500" dirty="0">
                <a:solidFill>
                  <a:srgbClr val="3D3D3D"/>
                </a:solidFill>
                <a:latin typeface="Calibri" pitchFamily="34" charset="0"/>
                <a:ea typeface="Calibri" pitchFamily="34" charset="-122"/>
                <a:cs typeface="Calibri" pitchFamily="34" charset="-120"/>
              </a:rPr>
              <a:t>asosiy muammoga tushadi: narsalarni tartibga solish. Bitta yaxshi</a:t>
            </a:r>
            <a:endParaRPr lang="en-US" sz="1500" dirty="0"/>
          </a:p>
          <a:p>
            <a:pPr marL="0" indent="0">
              <a:lnSpc>
                <a:spcPct val="125000"/>
              </a:lnSpc>
              <a:buNone/>
            </a:pPr>
            <a:r>
              <a:rPr lang="en-US" sz="1500" dirty="0">
                <a:solidFill>
                  <a:srgbClr val="3D3D3D"/>
                </a:solidFill>
                <a:latin typeface="Calibri" pitchFamily="34" charset="0"/>
                <a:ea typeface="Calibri" pitchFamily="34" charset="-122"/>
                <a:cs typeface="Calibri" pitchFamily="34" charset="-120"/>
              </a:rPr>
              <a:t>saralash usulini o'rganing, uni hamma joyda qayta ishlating.</a:t>
            </a:r>
            <a:endParaRPr lang="en-US" sz="1500" dirty="0"/>
          </a:p>
        </p:txBody>
      </p:sp>
      <p:sp>
        <p:nvSpPr>
          <p:cNvPr id="12" name="Text 10"/>
          <p:cNvSpPr txBox="1"/>
          <p:nvPr/>
        </p:nvSpPr>
        <p:spPr>
          <a:xfrm>
            <a:off x="11368735" y="6355080"/>
            <a:ext cx="548640" cy="320040"/>
          </a:xfrm>
          <a:prstGeom prst="rect">
            <a:avLst/>
          </a:prstGeom>
          <a:noFill/>
          <a:ln/>
        </p:spPr>
        <p:txBody>
          <a:bodyPr wrap="square" lIns="0" tIns="0" rIns="0" bIns="0" rtlCol="0" anchor="ctr"/>
          <a:lstStyle/>
          <a:p>
            <a:pPr marL="0" indent="0" algn="r">
              <a:buNone/>
            </a:pPr>
            <a:r>
              <a:rPr lang="en-US" sz="1200" dirty="0">
                <a:solidFill>
                  <a:srgbClr val="6E6E6E"/>
                </a:solidFill>
                <a:latin typeface="Calibri" pitchFamily="34" charset="0"/>
                <a:ea typeface="Calibri" pitchFamily="34" charset="-122"/>
                <a:cs typeface="Calibri" pitchFamily="34" charset="-120"/>
              </a:rPr>
              <a:t>9</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8686800" cy="365760"/>
          </a:xfrm>
          <a:prstGeom prst="rect">
            <a:avLst/>
          </a:prstGeom>
          <a:noFill/>
          <a:ln/>
        </p:spPr>
        <p:txBody>
          <a:bodyPr wrap="square" lIns="0" tIns="0" rIns="0" bIns="0" rtlCol="0" anchor="ctr"/>
          <a:lstStyle/>
          <a:p>
            <a:pPr marL="0" indent="0">
              <a:buNone/>
            </a:pPr>
            <a:r>
              <a:rPr lang="en-US" sz="1500" b="1" kern="0" spc="200" dirty="0">
                <a:solidFill>
                  <a:srgbClr val="6E6E6E"/>
                </a:solidFill>
                <a:latin typeface="Calibri" pitchFamily="34" charset="0"/>
                <a:ea typeface="Calibri" pitchFamily="34" charset="-122"/>
                <a:cs typeface="Calibri" pitchFamily="34" charset="-120"/>
              </a:rPr>
              <a:t>3-USTUN</a:t>
            </a:r>
            <a:endParaRPr lang="en-US" sz="1500" dirty="0"/>
          </a:p>
        </p:txBody>
      </p:sp>
      <p:sp>
        <p:nvSpPr>
          <p:cNvPr id="3" name="Text 1"/>
          <p:cNvSpPr txBox="1"/>
          <p:nvPr/>
        </p:nvSpPr>
        <p:spPr>
          <a:xfrm>
            <a:off x="640080" y="868680"/>
            <a:ext cx="10881360" cy="1005840"/>
          </a:xfrm>
          <a:prstGeom prst="rect">
            <a:avLst/>
          </a:prstGeom>
          <a:noFill/>
          <a:ln/>
        </p:spPr>
        <p:txBody>
          <a:bodyPr wrap="square" lIns="0" tIns="0" rIns="0" bIns="0" rtlCol="0" anchor="ctr"/>
          <a:lstStyle/>
          <a:p>
            <a:pPr marL="0" indent="0" algn="l">
              <a:buNone/>
            </a:pPr>
            <a:r>
              <a:rPr lang="en-US" sz="3200" b="1" dirty="0">
                <a:solidFill>
                  <a:srgbClr val="000000"/>
                </a:solidFill>
                <a:latin typeface="Cambria" pitchFamily="34" charset="0"/>
                <a:ea typeface="Cambria" pitchFamily="34" charset="-122"/>
                <a:cs typeface="Cambria" pitchFamily="34" charset="-120"/>
              </a:rPr>
              <a:t>Abstraktsiya</a:t>
            </a:r>
            <a:endParaRPr lang="en-US" sz="3200" dirty="0"/>
          </a:p>
        </p:txBody>
      </p:sp>
      <p:sp>
        <p:nvSpPr>
          <p:cNvPr id="4" name="Shape 2"/>
          <p:cNvSpPr/>
          <p:nvPr/>
        </p:nvSpPr>
        <p:spPr>
          <a:xfrm>
            <a:off x="640080" y="1874520"/>
            <a:ext cx="10911535" cy="0"/>
          </a:xfrm>
          <a:prstGeom prst="line">
            <a:avLst/>
          </a:prstGeom>
          <a:noFill/>
          <a:ln w="15875">
            <a:solidFill>
              <a:srgbClr val="D9D9D9"/>
            </a:solidFill>
            <a:prstDash val="solid"/>
          </a:ln>
        </p:spPr>
        <p:txBody>
          <a:bodyPr/>
          <a:lstStyle/>
          <a:p>
            <a:endParaRPr lang="en-US"/>
          </a:p>
        </p:txBody>
      </p:sp>
      <p:sp>
        <p:nvSpPr>
          <p:cNvPr id="5" name="Shape 3"/>
          <p:cNvSpPr/>
          <p:nvPr/>
        </p:nvSpPr>
        <p:spPr>
          <a:xfrm>
            <a:off x="640080" y="2286000"/>
            <a:ext cx="640080" cy="640080"/>
          </a:xfrm>
          <a:prstGeom prst="ellipse">
            <a:avLst/>
          </a:prstGeom>
          <a:solidFill>
            <a:srgbClr val="000000"/>
          </a:solidFill>
          <a:ln/>
        </p:spPr>
        <p:txBody>
          <a:bodyPr/>
          <a:lstStyle/>
          <a:p>
            <a:endParaRPr lang="en-US"/>
          </a:p>
        </p:txBody>
      </p:sp>
      <p:sp>
        <p:nvSpPr>
          <p:cNvPr id="6" name="Text 4"/>
          <p:cNvSpPr txBox="1"/>
          <p:nvPr/>
        </p:nvSpPr>
        <p:spPr>
          <a:xfrm>
            <a:off x="640080" y="2286000"/>
            <a:ext cx="640080" cy="640080"/>
          </a:xfrm>
          <a:prstGeom prst="rect">
            <a:avLst/>
          </a:prstGeom>
          <a:noFill/>
          <a:ln/>
        </p:spPr>
        <p:txBody>
          <a:bodyPr wrap="square" lIns="0" tIns="0" rIns="0" bIns="0" rtlCol="0" anchor="ctr"/>
          <a:lstStyle/>
          <a:p>
            <a:pPr marL="0" indent="0" algn="ctr">
              <a:buNone/>
            </a:pPr>
            <a:r>
              <a:rPr lang="en-US" sz="2380" b="1" dirty="0">
                <a:solidFill>
                  <a:srgbClr val="FFFFFF"/>
                </a:solidFill>
                <a:latin typeface="Cambria" pitchFamily="34" charset="0"/>
                <a:ea typeface="Cambria" pitchFamily="34" charset="-122"/>
                <a:cs typeface="Cambria" pitchFamily="34" charset="-120"/>
              </a:rPr>
              <a:t>3</a:t>
            </a:r>
            <a:endParaRPr lang="en-US" sz="2380" dirty="0"/>
          </a:p>
        </p:txBody>
      </p:sp>
      <p:sp>
        <p:nvSpPr>
          <p:cNvPr id="7" name="Text 5"/>
          <p:cNvSpPr txBox="1"/>
          <p:nvPr/>
        </p:nvSpPr>
        <p:spPr>
          <a:xfrm>
            <a:off x="1508760" y="2331720"/>
            <a:ext cx="9509760" cy="640080"/>
          </a:xfrm>
          <a:prstGeom prst="rect">
            <a:avLst/>
          </a:prstGeom>
          <a:noFill/>
          <a:ln/>
        </p:spPr>
        <p:txBody>
          <a:bodyPr wrap="square" lIns="0" tIns="0" rIns="0" bIns="0" rtlCol="0" anchor="ctr"/>
          <a:lstStyle/>
          <a:p>
            <a:pPr marL="0" indent="0">
              <a:buNone/>
            </a:pPr>
            <a:r>
              <a:rPr lang="en-US" sz="2100" i="1" dirty="0">
                <a:solidFill>
                  <a:srgbClr val="1A1A1A"/>
                </a:solidFill>
                <a:latin typeface="Cambria" pitchFamily="34" charset="0"/>
                <a:ea typeface="Cambria" pitchFamily="34" charset="-122"/>
                <a:cs typeface="Cambria" pitchFamily="34" charset="-120"/>
              </a:rPr>
              <a:t>Muhim bo'lmagan detallarni yashirib, muhim narsaga e'tibor qaratish.</a:t>
            </a:r>
            <a:endParaRPr lang="en-US" sz="2100" dirty="0"/>
          </a:p>
        </p:txBody>
      </p:sp>
      <p:sp>
        <p:nvSpPr>
          <p:cNvPr id="8" name="Shape 6"/>
          <p:cNvSpPr/>
          <p:nvPr/>
        </p:nvSpPr>
        <p:spPr>
          <a:xfrm>
            <a:off x="640080" y="3200400"/>
            <a:ext cx="10911535" cy="0"/>
          </a:xfrm>
          <a:prstGeom prst="line">
            <a:avLst/>
          </a:prstGeom>
          <a:noFill/>
          <a:ln w="15875">
            <a:solidFill>
              <a:srgbClr val="D9D9D9"/>
            </a:solidFill>
            <a:prstDash val="solid"/>
          </a:ln>
        </p:spPr>
        <p:txBody>
          <a:bodyPr/>
          <a:lstStyle/>
          <a:p>
            <a:endParaRPr lang="en-US"/>
          </a:p>
        </p:txBody>
      </p:sp>
      <p:sp>
        <p:nvSpPr>
          <p:cNvPr id="9" name="Shape 7"/>
          <p:cNvSpPr/>
          <p:nvPr/>
        </p:nvSpPr>
        <p:spPr>
          <a:xfrm>
            <a:off x="640080" y="3520440"/>
            <a:ext cx="10607040" cy="2377440"/>
          </a:xfrm>
          <a:prstGeom prst="roundRect">
            <a:avLst>
              <a:gd name="adj" fmla="val 3077"/>
            </a:avLst>
          </a:prstGeom>
          <a:solidFill>
            <a:srgbClr val="F2F2F2"/>
          </a:solidFill>
          <a:ln w="12700">
            <a:solidFill>
              <a:srgbClr val="D9D9D9"/>
            </a:solidFill>
            <a:prstDash val="solid"/>
          </a:ln>
        </p:spPr>
        <p:txBody>
          <a:bodyPr/>
          <a:lstStyle/>
          <a:p>
            <a:endParaRPr lang="en-US"/>
          </a:p>
        </p:txBody>
      </p:sp>
      <p:sp>
        <p:nvSpPr>
          <p:cNvPr id="10" name="Text 8"/>
          <p:cNvSpPr txBox="1"/>
          <p:nvPr/>
        </p:nvSpPr>
        <p:spPr>
          <a:xfrm>
            <a:off x="1005840" y="3749040"/>
            <a:ext cx="10058400" cy="365760"/>
          </a:xfrm>
          <a:prstGeom prst="rect">
            <a:avLst/>
          </a:prstGeom>
          <a:noFill/>
          <a:ln/>
        </p:spPr>
        <p:txBody>
          <a:bodyPr wrap="square" lIns="0" tIns="0" rIns="0" bIns="0" rtlCol="0" anchor="ctr"/>
          <a:lstStyle/>
          <a:p>
            <a:pPr marL="0" indent="0">
              <a:buNone/>
            </a:pPr>
            <a:r>
              <a:rPr lang="en-US" sz="1600" b="1" dirty="0">
                <a:solidFill>
                  <a:srgbClr val="000000"/>
                </a:solidFill>
                <a:latin typeface="Calibri" pitchFamily="34" charset="0"/>
                <a:ea typeface="Calibri" pitchFamily="34" charset="-122"/>
                <a:cs typeface="Calibri" pitchFamily="34" charset="-120"/>
              </a:rPr>
              <a:t>Misol: Faylni saqlash tugmasi</a:t>
            </a:r>
            <a:endParaRPr lang="en-US" sz="1600" dirty="0"/>
          </a:p>
        </p:txBody>
      </p:sp>
      <p:sp>
        <p:nvSpPr>
          <p:cNvPr id="11" name="Text 9"/>
          <p:cNvSpPr txBox="1"/>
          <p:nvPr/>
        </p:nvSpPr>
        <p:spPr>
          <a:xfrm>
            <a:off x="1005840" y="4206240"/>
            <a:ext cx="9875520" cy="1645920"/>
          </a:xfrm>
          <a:prstGeom prst="rect">
            <a:avLst/>
          </a:prstGeom>
          <a:noFill/>
          <a:ln/>
        </p:spPr>
        <p:txBody>
          <a:bodyPr wrap="square" lIns="0" tIns="0" rIns="0" bIns="0" rtlCol="0" anchor="ctr"/>
          <a:lstStyle/>
          <a:p>
            <a:pPr marL="0" indent="0">
              <a:lnSpc>
                <a:spcPct val="130000"/>
              </a:lnSpc>
              <a:buNone/>
            </a:pPr>
            <a:r>
              <a:rPr lang="en-US" sz="1500" dirty="0">
                <a:solidFill>
                  <a:srgbClr val="3D3D3D"/>
                </a:solidFill>
                <a:latin typeface="Calibri" pitchFamily="34" charset="0"/>
                <a:ea typeface="Calibri" pitchFamily="34" charset="-122"/>
                <a:cs typeface="Calibri" pitchFamily="34" charset="-120"/>
              </a:rPr>
              <a:t>“Saqlash” tugmasini bosganingizda, siz operatsion tizim diskka qanday murojaat</a:t>
            </a:r>
            <a:endParaRPr lang="en-US" sz="1500" dirty="0"/>
          </a:p>
          <a:p>
            <a:pPr marL="0" indent="0">
              <a:lnSpc>
                <a:spcPct val="130000"/>
              </a:lnSpc>
              <a:buNone/>
            </a:pPr>
            <a:r>
              <a:rPr lang="en-US" sz="1500" dirty="0">
                <a:solidFill>
                  <a:srgbClr val="3D3D3D"/>
                </a:solidFill>
                <a:latin typeface="Calibri" pitchFamily="34" charset="0"/>
                <a:ea typeface="Calibri" pitchFamily="34" charset="-122"/>
                <a:cs typeface="Calibri" pitchFamily="34" charset="-120"/>
              </a:rPr>
              <a:t>qilishini, fayl qanday formatda yozilishini yoki xotira qanday boshqarilishini</a:t>
            </a:r>
            <a:endParaRPr lang="en-US" sz="1500" dirty="0"/>
          </a:p>
          <a:p>
            <a:pPr marL="0" indent="0">
              <a:lnSpc>
                <a:spcPct val="130000"/>
              </a:lnSpc>
              <a:buNone/>
            </a:pPr>
            <a:r>
              <a:rPr lang="en-US" sz="1500" dirty="0">
                <a:solidFill>
                  <a:srgbClr val="3D3D3D"/>
                </a:solidFill>
                <a:latin typeface="Calibri" pitchFamily="34" charset="0"/>
                <a:ea typeface="Calibri" pitchFamily="34" charset="-122"/>
                <a:cs typeface="Calibri" pitchFamily="34" charset="-120"/>
              </a:rPr>
              <a:t>bilishingiz shart emas. Bu murakkablik hali ham mavjud — u shunchaki oddiy</a:t>
            </a:r>
            <a:endParaRPr lang="en-US" sz="1500" dirty="0"/>
          </a:p>
          <a:p>
            <a:pPr marL="0" indent="0">
              <a:lnSpc>
                <a:spcPct val="130000"/>
              </a:lnSpc>
              <a:buNone/>
            </a:pPr>
            <a:r>
              <a:rPr lang="en-US" sz="1500" dirty="0">
                <a:solidFill>
                  <a:srgbClr val="3D3D3D"/>
                </a:solidFill>
                <a:latin typeface="Calibri" pitchFamily="34" charset="0"/>
                <a:ea typeface="Calibri" pitchFamily="34" charset="-122"/>
                <a:cs typeface="Calibri" pitchFamily="34" charset="-120"/>
              </a:rPr>
              <a:t>interfeys ortida yashiringan: bitta tugma.</a:t>
            </a:r>
            <a:endParaRPr lang="en-US" sz="1500" dirty="0"/>
          </a:p>
        </p:txBody>
      </p:sp>
      <p:sp>
        <p:nvSpPr>
          <p:cNvPr id="12" name="Text 10"/>
          <p:cNvSpPr txBox="1"/>
          <p:nvPr/>
        </p:nvSpPr>
        <p:spPr>
          <a:xfrm>
            <a:off x="11368735" y="6355080"/>
            <a:ext cx="548640" cy="320040"/>
          </a:xfrm>
          <a:prstGeom prst="rect">
            <a:avLst/>
          </a:prstGeom>
          <a:noFill/>
          <a:ln/>
        </p:spPr>
        <p:txBody>
          <a:bodyPr wrap="square" lIns="0" tIns="0" rIns="0" bIns="0" rtlCol="0" anchor="ctr"/>
          <a:lstStyle/>
          <a:p>
            <a:pPr marL="0" indent="0" algn="r">
              <a:buNone/>
            </a:pPr>
            <a:r>
              <a:rPr lang="en-US" sz="1200" dirty="0">
                <a:solidFill>
                  <a:srgbClr val="6E6E6E"/>
                </a:solidFill>
                <a:latin typeface="Calibri" pitchFamily="34" charset="0"/>
                <a:ea typeface="Calibri" pitchFamily="34" charset="-122"/>
                <a:cs typeface="Calibri" pitchFamily="34" charset="-120"/>
              </a:rPr>
              <a:t>10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8686800" cy="365760"/>
          </a:xfrm>
          <a:prstGeom prst="rect">
            <a:avLst/>
          </a:prstGeom>
          <a:noFill/>
          <a:ln/>
        </p:spPr>
        <p:txBody>
          <a:bodyPr wrap="square" lIns="0" tIns="0" rIns="0" bIns="0" rtlCol="0" anchor="ctr"/>
          <a:lstStyle/>
          <a:p>
            <a:pPr marL="0" indent="0">
              <a:buNone/>
            </a:pPr>
            <a:r>
              <a:rPr lang="en-US" sz="1500" b="1" kern="0" spc="200" dirty="0">
                <a:solidFill>
                  <a:srgbClr val="6E6E6E"/>
                </a:solidFill>
                <a:latin typeface="Calibri" pitchFamily="34" charset="0"/>
                <a:ea typeface="Calibri" pitchFamily="34" charset="-122"/>
                <a:cs typeface="Calibri" pitchFamily="34" charset="-120"/>
              </a:rPr>
              <a:t>4-USTUN</a:t>
            </a:r>
            <a:endParaRPr lang="en-US" sz="1500" dirty="0"/>
          </a:p>
        </p:txBody>
      </p:sp>
      <p:sp>
        <p:nvSpPr>
          <p:cNvPr id="3" name="Text 1"/>
          <p:cNvSpPr txBox="1"/>
          <p:nvPr/>
        </p:nvSpPr>
        <p:spPr>
          <a:xfrm>
            <a:off x="640080" y="868680"/>
            <a:ext cx="10881360" cy="1005840"/>
          </a:xfrm>
          <a:prstGeom prst="rect">
            <a:avLst/>
          </a:prstGeom>
          <a:noFill/>
          <a:ln/>
        </p:spPr>
        <p:txBody>
          <a:bodyPr wrap="square" lIns="0" tIns="0" rIns="0" bIns="0" rtlCol="0" anchor="ctr"/>
          <a:lstStyle/>
          <a:p>
            <a:pPr marL="0" indent="0" algn="l">
              <a:buNone/>
            </a:pPr>
            <a:r>
              <a:rPr lang="en-US" sz="3200" b="1" dirty="0">
                <a:solidFill>
                  <a:srgbClr val="000000"/>
                </a:solidFill>
                <a:latin typeface="Cambria" pitchFamily="34" charset="0"/>
                <a:ea typeface="Cambria" pitchFamily="34" charset="-122"/>
                <a:cs typeface="Cambria" pitchFamily="34" charset="-120"/>
              </a:rPr>
              <a:t>Algoritm Yaratish</a:t>
            </a:r>
            <a:endParaRPr lang="en-US" sz="3200" dirty="0"/>
          </a:p>
        </p:txBody>
      </p:sp>
      <p:sp>
        <p:nvSpPr>
          <p:cNvPr id="4" name="Shape 2"/>
          <p:cNvSpPr/>
          <p:nvPr/>
        </p:nvSpPr>
        <p:spPr>
          <a:xfrm>
            <a:off x="640080" y="1874520"/>
            <a:ext cx="10911535" cy="0"/>
          </a:xfrm>
          <a:prstGeom prst="line">
            <a:avLst/>
          </a:prstGeom>
          <a:noFill/>
          <a:ln w="15875">
            <a:solidFill>
              <a:srgbClr val="D9D9D9"/>
            </a:solidFill>
            <a:prstDash val="solid"/>
          </a:ln>
        </p:spPr>
        <p:txBody>
          <a:bodyPr/>
          <a:lstStyle/>
          <a:p>
            <a:endParaRPr lang="en-US"/>
          </a:p>
        </p:txBody>
      </p:sp>
      <p:sp>
        <p:nvSpPr>
          <p:cNvPr id="5" name="Shape 3"/>
          <p:cNvSpPr/>
          <p:nvPr/>
        </p:nvSpPr>
        <p:spPr>
          <a:xfrm>
            <a:off x="640080" y="2286000"/>
            <a:ext cx="640080" cy="640080"/>
          </a:xfrm>
          <a:prstGeom prst="ellipse">
            <a:avLst/>
          </a:prstGeom>
          <a:solidFill>
            <a:srgbClr val="000000"/>
          </a:solidFill>
          <a:ln/>
        </p:spPr>
        <p:txBody>
          <a:bodyPr/>
          <a:lstStyle/>
          <a:p>
            <a:endParaRPr lang="en-US"/>
          </a:p>
        </p:txBody>
      </p:sp>
      <p:sp>
        <p:nvSpPr>
          <p:cNvPr id="6" name="Text 4"/>
          <p:cNvSpPr txBox="1"/>
          <p:nvPr/>
        </p:nvSpPr>
        <p:spPr>
          <a:xfrm>
            <a:off x="640080" y="2286000"/>
            <a:ext cx="640080" cy="640080"/>
          </a:xfrm>
          <a:prstGeom prst="rect">
            <a:avLst/>
          </a:prstGeom>
          <a:noFill/>
          <a:ln/>
        </p:spPr>
        <p:txBody>
          <a:bodyPr wrap="square" lIns="0" tIns="0" rIns="0" bIns="0" rtlCol="0" anchor="ctr"/>
          <a:lstStyle/>
          <a:p>
            <a:pPr marL="0" indent="0" algn="ctr">
              <a:buNone/>
            </a:pPr>
            <a:r>
              <a:rPr lang="en-US" sz="2380" b="1" dirty="0">
                <a:solidFill>
                  <a:srgbClr val="FFFFFF"/>
                </a:solidFill>
                <a:latin typeface="Cambria" pitchFamily="34" charset="0"/>
                <a:ea typeface="Cambria" pitchFamily="34" charset="-122"/>
                <a:cs typeface="Cambria" pitchFamily="34" charset="-120"/>
              </a:rPr>
              <a:t>4</a:t>
            </a:r>
            <a:endParaRPr lang="en-US" sz="2380" dirty="0"/>
          </a:p>
        </p:txBody>
      </p:sp>
      <p:sp>
        <p:nvSpPr>
          <p:cNvPr id="7" name="Text 5"/>
          <p:cNvSpPr txBox="1"/>
          <p:nvPr/>
        </p:nvSpPr>
        <p:spPr>
          <a:xfrm>
            <a:off x="1508760" y="2331720"/>
            <a:ext cx="9509760" cy="640080"/>
          </a:xfrm>
          <a:prstGeom prst="rect">
            <a:avLst/>
          </a:prstGeom>
          <a:noFill/>
          <a:ln/>
        </p:spPr>
        <p:txBody>
          <a:bodyPr wrap="square" lIns="0" tIns="0" rIns="0" bIns="0" rtlCol="0" anchor="ctr"/>
          <a:lstStyle/>
          <a:p>
            <a:pPr marL="0" indent="0">
              <a:buNone/>
            </a:pPr>
            <a:r>
              <a:rPr lang="en-US" sz="2100" i="1" dirty="0">
                <a:solidFill>
                  <a:srgbClr val="1A1A1A"/>
                </a:solidFill>
                <a:latin typeface="Cambria" pitchFamily="34" charset="0"/>
                <a:ea typeface="Cambria" pitchFamily="34" charset="-122"/>
                <a:cs typeface="Cambria" pitchFamily="34" charset="-120"/>
              </a:rPr>
              <a:t>Muammoni yechimga aylantiradigan aniq, tartiblangan qadamlarni yozish.</a:t>
            </a:r>
            <a:endParaRPr lang="en-US" sz="2100" dirty="0"/>
          </a:p>
        </p:txBody>
      </p:sp>
      <p:sp>
        <p:nvSpPr>
          <p:cNvPr id="8" name="Shape 6"/>
          <p:cNvSpPr/>
          <p:nvPr/>
        </p:nvSpPr>
        <p:spPr>
          <a:xfrm>
            <a:off x="640080" y="3200400"/>
            <a:ext cx="10911535" cy="0"/>
          </a:xfrm>
          <a:prstGeom prst="line">
            <a:avLst/>
          </a:prstGeom>
          <a:noFill/>
          <a:ln w="15875">
            <a:solidFill>
              <a:srgbClr val="D9D9D9"/>
            </a:solidFill>
            <a:prstDash val="solid"/>
          </a:ln>
        </p:spPr>
        <p:txBody>
          <a:bodyPr/>
          <a:lstStyle/>
          <a:p>
            <a:endParaRPr lang="en-US"/>
          </a:p>
        </p:txBody>
      </p:sp>
      <p:sp>
        <p:nvSpPr>
          <p:cNvPr id="9" name="Shape 7"/>
          <p:cNvSpPr/>
          <p:nvPr/>
        </p:nvSpPr>
        <p:spPr>
          <a:xfrm>
            <a:off x="640080" y="3520440"/>
            <a:ext cx="10607040" cy="2377440"/>
          </a:xfrm>
          <a:prstGeom prst="roundRect">
            <a:avLst>
              <a:gd name="adj" fmla="val 3077"/>
            </a:avLst>
          </a:prstGeom>
          <a:solidFill>
            <a:srgbClr val="F2F2F2"/>
          </a:solidFill>
          <a:ln w="12700">
            <a:solidFill>
              <a:srgbClr val="D9D9D9"/>
            </a:solidFill>
            <a:prstDash val="solid"/>
          </a:ln>
        </p:spPr>
        <p:txBody>
          <a:bodyPr/>
          <a:lstStyle/>
          <a:p>
            <a:endParaRPr lang="en-US"/>
          </a:p>
        </p:txBody>
      </p:sp>
      <p:sp>
        <p:nvSpPr>
          <p:cNvPr id="10" name="Text 8"/>
          <p:cNvSpPr txBox="1"/>
          <p:nvPr/>
        </p:nvSpPr>
        <p:spPr>
          <a:xfrm>
            <a:off x="1005840" y="3749040"/>
            <a:ext cx="10058400" cy="365760"/>
          </a:xfrm>
          <a:prstGeom prst="rect">
            <a:avLst/>
          </a:prstGeom>
          <a:noFill/>
          <a:ln/>
        </p:spPr>
        <p:txBody>
          <a:bodyPr wrap="square" lIns="0" tIns="0" rIns="0" bIns="0" rtlCol="0" anchor="ctr"/>
          <a:lstStyle/>
          <a:p>
            <a:pPr marL="0" indent="0">
              <a:buNone/>
            </a:pPr>
            <a:r>
              <a:rPr lang="en-US" sz="1600" b="1" dirty="0">
                <a:solidFill>
                  <a:srgbClr val="000000"/>
                </a:solidFill>
                <a:latin typeface="Calibri" pitchFamily="34" charset="0"/>
                <a:ea typeface="Calibri" pitchFamily="34" charset="-122"/>
                <a:cs typeface="Calibri" pitchFamily="34" charset="-120"/>
              </a:rPr>
              <a:t>Misol: Taom retsepti</a:t>
            </a:r>
            <a:endParaRPr lang="en-US" sz="1600" dirty="0"/>
          </a:p>
        </p:txBody>
      </p:sp>
      <p:sp>
        <p:nvSpPr>
          <p:cNvPr id="11" name="Text 9"/>
          <p:cNvSpPr txBox="1"/>
          <p:nvPr/>
        </p:nvSpPr>
        <p:spPr>
          <a:xfrm>
            <a:off x="1005840" y="4206240"/>
            <a:ext cx="9875520" cy="1463040"/>
          </a:xfrm>
          <a:prstGeom prst="rect">
            <a:avLst/>
          </a:prstGeom>
          <a:noFill/>
          <a:ln/>
        </p:spPr>
        <p:txBody>
          <a:bodyPr wrap="square" lIns="0" tIns="0" rIns="0" bIns="0" rtlCol="0" anchor="ctr"/>
          <a:lstStyle/>
          <a:p>
            <a:pPr marL="0" indent="0">
              <a:lnSpc>
                <a:spcPct val="130000"/>
              </a:lnSpc>
              <a:buNone/>
            </a:pPr>
            <a:r>
              <a:rPr lang="en-US" sz="1600" dirty="0">
                <a:solidFill>
                  <a:srgbClr val="3D3D3D"/>
                </a:solidFill>
                <a:latin typeface="Calibri" pitchFamily="34" charset="0"/>
                <a:ea typeface="Calibri" pitchFamily="34" charset="-122"/>
                <a:cs typeface="Calibri" pitchFamily="34" charset="-120"/>
              </a:rPr>
              <a:t>Retsept — </a:t>
            </a:r>
            <a:r>
              <a:rPr lang="en-US" sz="1600" dirty="0" err="1">
                <a:solidFill>
                  <a:srgbClr val="3D3D3D"/>
                </a:solidFill>
                <a:latin typeface="Calibri" pitchFamily="34" charset="0"/>
                <a:ea typeface="Calibri" pitchFamily="34" charset="-122"/>
                <a:cs typeface="Calibri" pitchFamily="34" charset="-120"/>
              </a:rPr>
              <a:t>bu</a:t>
            </a:r>
            <a:r>
              <a:rPr lang="en-US" sz="1600" dirty="0">
                <a:solidFill>
                  <a:srgbClr val="3D3D3D"/>
                </a:solidFill>
                <a:latin typeface="Calibri" pitchFamily="34" charset="0"/>
                <a:ea typeface="Calibri" pitchFamily="34" charset="-122"/>
                <a:cs typeface="Calibri" pitchFamily="34" charset="-120"/>
              </a:rPr>
              <a:t> </a:t>
            </a:r>
            <a:r>
              <a:rPr lang="en-US" sz="1600" dirty="0" err="1">
                <a:solidFill>
                  <a:srgbClr val="3D3D3D"/>
                </a:solidFill>
                <a:latin typeface="Calibri" pitchFamily="34" charset="0"/>
                <a:ea typeface="Calibri" pitchFamily="34" charset="-122"/>
                <a:cs typeface="Calibri" pitchFamily="34" charset="-120"/>
              </a:rPr>
              <a:t>algoritm</a:t>
            </a:r>
            <a:r>
              <a:rPr lang="en-US" sz="1600" dirty="0">
                <a:solidFill>
                  <a:srgbClr val="3D3D3D"/>
                </a:solidFill>
                <a:latin typeface="Calibri" pitchFamily="34" charset="0"/>
                <a:ea typeface="Calibri" pitchFamily="34" charset="-122"/>
                <a:cs typeface="Calibri" pitchFamily="34" charset="-120"/>
              </a:rPr>
              <a:t>: aniq qadamlar, muayyan tartibda, har safar</a:t>
            </a:r>
            <a:endParaRPr lang="en-US" sz="1600" dirty="0"/>
          </a:p>
          <a:p>
            <a:pPr marL="0" indent="0">
              <a:lnSpc>
                <a:spcPct val="130000"/>
              </a:lnSpc>
              <a:buNone/>
            </a:pPr>
            <a:r>
              <a:rPr lang="en-US" sz="1600" dirty="0">
                <a:solidFill>
                  <a:srgbClr val="3D3D3D"/>
                </a:solidFill>
                <a:latin typeface="Calibri" pitchFamily="34" charset="0"/>
                <a:ea typeface="Calibri" pitchFamily="34" charset="-122"/>
                <a:cs typeface="Calibri" pitchFamily="34" charset="-120"/>
              </a:rPr>
              <a:t>unga amal qilinganda bir xil natijani ishonchli tarzda beradi.</a:t>
            </a:r>
            <a:endParaRPr lang="en-US" sz="1600" dirty="0"/>
          </a:p>
        </p:txBody>
      </p:sp>
      <p:sp>
        <p:nvSpPr>
          <p:cNvPr id="12" name="Text 10"/>
          <p:cNvSpPr txBox="1"/>
          <p:nvPr/>
        </p:nvSpPr>
        <p:spPr>
          <a:xfrm>
            <a:off x="11368735" y="6355080"/>
            <a:ext cx="548640" cy="320040"/>
          </a:xfrm>
          <a:prstGeom prst="rect">
            <a:avLst/>
          </a:prstGeom>
          <a:noFill/>
          <a:ln/>
        </p:spPr>
        <p:txBody>
          <a:bodyPr wrap="square" lIns="0" tIns="0" rIns="0" bIns="0" rtlCol="0" anchor="ctr"/>
          <a:lstStyle/>
          <a:p>
            <a:pPr marL="0" indent="0" algn="r">
              <a:buNone/>
            </a:pPr>
            <a:r>
              <a:rPr lang="en-US" sz="1200" dirty="0">
                <a:solidFill>
                  <a:srgbClr val="6E6E6E"/>
                </a:solidFill>
                <a:latin typeface="Calibri" pitchFamily="34" charset="0"/>
                <a:ea typeface="Calibri" pitchFamily="34" charset="-122"/>
                <a:cs typeface="Calibri" pitchFamily="34" charset="-120"/>
              </a:rPr>
              <a:t>11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8686800" cy="365760"/>
          </a:xfrm>
          <a:prstGeom prst="rect">
            <a:avLst/>
          </a:prstGeom>
          <a:noFill/>
          <a:ln/>
        </p:spPr>
        <p:txBody>
          <a:bodyPr wrap="square" lIns="0" tIns="0" rIns="0" bIns="0" rtlCol="0" anchor="ctr"/>
          <a:lstStyle/>
          <a:p>
            <a:pPr marL="0" indent="0">
              <a:buNone/>
            </a:pPr>
            <a:r>
              <a:rPr lang="en-US" sz="1500" b="1" kern="0" spc="200" dirty="0">
                <a:solidFill>
                  <a:srgbClr val="6E6E6E"/>
                </a:solidFill>
                <a:latin typeface="Calibri" pitchFamily="34" charset="0"/>
                <a:ea typeface="Calibri" pitchFamily="34" charset="-122"/>
                <a:cs typeface="Calibri" pitchFamily="34" charset="-120"/>
              </a:rPr>
              <a:t>BIRGALIKDA QO'LLASH</a:t>
            </a:r>
            <a:endParaRPr lang="en-US" sz="1500" dirty="0"/>
          </a:p>
        </p:txBody>
      </p:sp>
      <p:sp>
        <p:nvSpPr>
          <p:cNvPr id="3" name="Text 1"/>
          <p:cNvSpPr txBox="1"/>
          <p:nvPr/>
        </p:nvSpPr>
        <p:spPr>
          <a:xfrm>
            <a:off x="640080" y="868680"/>
            <a:ext cx="10881360" cy="1005840"/>
          </a:xfrm>
          <a:prstGeom prst="rect">
            <a:avLst/>
          </a:prstGeom>
          <a:noFill/>
          <a:ln/>
        </p:spPr>
        <p:txBody>
          <a:bodyPr wrap="square" lIns="0" tIns="0" rIns="0" bIns="0" rtlCol="0" anchor="ctr"/>
          <a:lstStyle/>
          <a:p>
            <a:pPr marL="0" indent="0" algn="l">
              <a:buNone/>
            </a:pPr>
            <a:r>
              <a:rPr lang="en-US" sz="3200" b="1" dirty="0">
                <a:solidFill>
                  <a:srgbClr val="000000"/>
                </a:solidFill>
                <a:latin typeface="Cambria" pitchFamily="34" charset="0"/>
                <a:ea typeface="Cambria" pitchFamily="34" charset="-122"/>
                <a:cs typeface="Cambria" pitchFamily="34" charset="-120"/>
              </a:rPr>
              <a:t>Ro'yxatdagi Eng Katta Sonni Topish</a:t>
            </a:r>
            <a:endParaRPr lang="en-US" sz="3200" dirty="0"/>
          </a:p>
        </p:txBody>
      </p:sp>
      <p:sp>
        <p:nvSpPr>
          <p:cNvPr id="4" name="Shape 2"/>
          <p:cNvSpPr/>
          <p:nvPr/>
        </p:nvSpPr>
        <p:spPr>
          <a:xfrm>
            <a:off x="640080" y="1874520"/>
            <a:ext cx="10911535" cy="0"/>
          </a:xfrm>
          <a:prstGeom prst="line">
            <a:avLst/>
          </a:prstGeom>
          <a:noFill/>
          <a:ln w="15875">
            <a:solidFill>
              <a:srgbClr val="D9D9D9"/>
            </a:solidFill>
            <a:prstDash val="solid"/>
          </a:ln>
        </p:spPr>
        <p:txBody>
          <a:bodyPr/>
          <a:lstStyle/>
          <a:p>
            <a:endParaRPr lang="en-US"/>
          </a:p>
        </p:txBody>
      </p:sp>
      <p:sp>
        <p:nvSpPr>
          <p:cNvPr id="5" name="Text 3"/>
          <p:cNvSpPr txBox="1"/>
          <p:nvPr/>
        </p:nvSpPr>
        <p:spPr>
          <a:xfrm>
            <a:off x="640080" y="2011680"/>
            <a:ext cx="10607040" cy="548640"/>
          </a:xfrm>
          <a:prstGeom prst="rect">
            <a:avLst/>
          </a:prstGeom>
          <a:noFill/>
          <a:ln/>
        </p:spPr>
        <p:txBody>
          <a:bodyPr wrap="square" lIns="0" tIns="0" rIns="0" bIns="0" rtlCol="0" anchor="ctr"/>
          <a:lstStyle/>
          <a:p>
            <a:pPr marL="0" indent="0">
              <a:buNone/>
            </a:pPr>
            <a:r>
              <a:rPr lang="en-US" sz="1700" dirty="0">
                <a:solidFill>
                  <a:srgbClr val="3D3D3D"/>
                </a:solidFill>
                <a:latin typeface="Calibri" pitchFamily="34" charset="0"/>
                <a:ea typeface="Calibri" pitchFamily="34" charset="-122"/>
                <a:cs typeface="Calibri" pitchFamily="34" charset="-120"/>
              </a:rPr>
              <a:t>Aytaylik, 60 ta talabaning imtihon ballari ro'yxatida eng yuqori ballni topmoqchimiz — ro'yxat tartiblanmagan.</a:t>
            </a:r>
            <a:endParaRPr lang="en-US" sz="1700" dirty="0"/>
          </a:p>
        </p:txBody>
      </p:sp>
      <p:sp>
        <p:nvSpPr>
          <p:cNvPr id="6" name="Text 4"/>
          <p:cNvSpPr txBox="1"/>
          <p:nvPr/>
        </p:nvSpPr>
        <p:spPr>
          <a:xfrm>
            <a:off x="640080" y="2834640"/>
            <a:ext cx="2377440" cy="777240"/>
          </a:xfrm>
          <a:prstGeom prst="rect">
            <a:avLst/>
          </a:prstGeom>
          <a:noFill/>
          <a:ln/>
        </p:spPr>
        <p:txBody>
          <a:bodyPr wrap="square" lIns="0" tIns="0" rIns="0" bIns="0" rtlCol="0" anchor="t"/>
          <a:lstStyle/>
          <a:p>
            <a:pPr marL="0" indent="0">
              <a:buNone/>
            </a:pPr>
            <a:r>
              <a:rPr lang="en-US" sz="1450" b="1" dirty="0">
                <a:solidFill>
                  <a:srgbClr val="000000"/>
                </a:solidFill>
                <a:latin typeface="Calibri" pitchFamily="34" charset="0"/>
                <a:ea typeface="Calibri" pitchFamily="34" charset="-122"/>
                <a:cs typeface="Calibri" pitchFamily="34" charset="-120"/>
              </a:rPr>
              <a:t>Dekompozitsiya</a:t>
            </a:r>
            <a:endParaRPr lang="en-US" sz="1450" dirty="0"/>
          </a:p>
        </p:txBody>
      </p:sp>
      <p:sp>
        <p:nvSpPr>
          <p:cNvPr id="7" name="Text 5"/>
          <p:cNvSpPr txBox="1"/>
          <p:nvPr/>
        </p:nvSpPr>
        <p:spPr>
          <a:xfrm>
            <a:off x="3154680" y="2834640"/>
            <a:ext cx="8092440" cy="777240"/>
          </a:xfrm>
          <a:prstGeom prst="rect">
            <a:avLst/>
          </a:prstGeom>
          <a:noFill/>
          <a:ln/>
        </p:spPr>
        <p:txBody>
          <a:bodyPr wrap="square" lIns="0" tIns="0" rIns="0" bIns="0" rtlCol="0" anchor="t"/>
          <a:lstStyle/>
          <a:p>
            <a:pPr marL="0" indent="0">
              <a:buNone/>
            </a:pPr>
            <a:r>
              <a:rPr lang="en-US" sz="1450" dirty="0">
                <a:solidFill>
                  <a:srgbClr val="3D3D3D"/>
                </a:solidFill>
                <a:latin typeface="Calibri" pitchFamily="34" charset="0"/>
                <a:ea typeface="Calibri" pitchFamily="34" charset="-122"/>
                <a:cs typeface="Calibri" pitchFamily="34" charset="-120"/>
              </a:rPr>
              <a:t>60 ta ballni bir vaqtda solishtirmang — ularni birma-bir ko'rib chiqing</a:t>
            </a:r>
            <a:endParaRPr lang="en-US" sz="1450" dirty="0"/>
          </a:p>
        </p:txBody>
      </p:sp>
      <p:sp>
        <p:nvSpPr>
          <p:cNvPr id="8" name="Shape 6"/>
          <p:cNvSpPr/>
          <p:nvPr/>
        </p:nvSpPr>
        <p:spPr>
          <a:xfrm>
            <a:off x="640080" y="3547872"/>
            <a:ext cx="10607040" cy="0"/>
          </a:xfrm>
          <a:prstGeom prst="line">
            <a:avLst/>
          </a:prstGeom>
          <a:noFill/>
          <a:ln w="12700">
            <a:solidFill>
              <a:srgbClr val="D9D9D9"/>
            </a:solidFill>
            <a:prstDash val="solid"/>
          </a:ln>
        </p:spPr>
        <p:txBody>
          <a:bodyPr/>
          <a:lstStyle/>
          <a:p>
            <a:endParaRPr lang="en-US"/>
          </a:p>
        </p:txBody>
      </p:sp>
      <p:sp>
        <p:nvSpPr>
          <p:cNvPr id="9" name="Text 7"/>
          <p:cNvSpPr txBox="1"/>
          <p:nvPr/>
        </p:nvSpPr>
        <p:spPr>
          <a:xfrm>
            <a:off x="640080" y="3703320"/>
            <a:ext cx="2377440" cy="777240"/>
          </a:xfrm>
          <a:prstGeom prst="rect">
            <a:avLst/>
          </a:prstGeom>
          <a:noFill/>
          <a:ln/>
        </p:spPr>
        <p:txBody>
          <a:bodyPr wrap="square" lIns="0" tIns="0" rIns="0" bIns="0" rtlCol="0" anchor="t"/>
          <a:lstStyle/>
          <a:p>
            <a:pPr marL="0" indent="0">
              <a:buNone/>
            </a:pPr>
            <a:r>
              <a:rPr lang="en-US" sz="1450" b="1" dirty="0" err="1">
                <a:solidFill>
                  <a:srgbClr val="000000"/>
                </a:solidFill>
                <a:latin typeface="Calibri" pitchFamily="34" charset="0"/>
                <a:ea typeface="Calibri" pitchFamily="34" charset="-122"/>
                <a:cs typeface="Calibri" pitchFamily="34" charset="-120"/>
              </a:rPr>
              <a:t>Uxshashlik</a:t>
            </a:r>
            <a:r>
              <a:rPr lang="en-US" sz="1450" b="1" dirty="0">
                <a:solidFill>
                  <a:srgbClr val="000000"/>
                </a:solidFill>
                <a:latin typeface="Calibri" pitchFamily="34" charset="0"/>
                <a:ea typeface="Calibri" pitchFamily="34" charset="-122"/>
                <a:cs typeface="Calibri" pitchFamily="34" charset="-120"/>
              </a:rPr>
              <a:t> Aniqlash</a:t>
            </a:r>
            <a:endParaRPr lang="en-US" sz="1450" dirty="0"/>
          </a:p>
        </p:txBody>
      </p:sp>
      <p:sp>
        <p:nvSpPr>
          <p:cNvPr id="10" name="Text 8"/>
          <p:cNvSpPr txBox="1"/>
          <p:nvPr/>
        </p:nvSpPr>
        <p:spPr>
          <a:xfrm>
            <a:off x="3154680" y="3703320"/>
            <a:ext cx="8092440" cy="777240"/>
          </a:xfrm>
          <a:prstGeom prst="rect">
            <a:avLst/>
          </a:prstGeom>
          <a:noFill/>
          <a:ln/>
        </p:spPr>
        <p:txBody>
          <a:bodyPr wrap="square" lIns="0" tIns="0" rIns="0" bIns="0" rtlCol="0" anchor="t"/>
          <a:lstStyle/>
          <a:p>
            <a:pPr marL="0" indent="0">
              <a:buNone/>
            </a:pPr>
            <a:r>
              <a:rPr lang="en-US" sz="1450" dirty="0">
                <a:solidFill>
                  <a:srgbClr val="3D3D3D"/>
                </a:solidFill>
                <a:latin typeface="Calibri" pitchFamily="34" charset="0"/>
                <a:ea typeface="Calibri" pitchFamily="34" charset="-122"/>
                <a:cs typeface="Calibri" pitchFamily="34" charset="-120"/>
              </a:rPr>
              <a:t>Bu — “eng yaxshisini top” masalasi, xuddi sport musobaqasida g'olibni aniqlashga o'xshaydi</a:t>
            </a:r>
            <a:endParaRPr lang="en-US" sz="1450" dirty="0"/>
          </a:p>
        </p:txBody>
      </p:sp>
      <p:sp>
        <p:nvSpPr>
          <p:cNvPr id="11" name="Shape 9"/>
          <p:cNvSpPr/>
          <p:nvPr/>
        </p:nvSpPr>
        <p:spPr>
          <a:xfrm>
            <a:off x="640080" y="4416552"/>
            <a:ext cx="10607040" cy="0"/>
          </a:xfrm>
          <a:prstGeom prst="line">
            <a:avLst/>
          </a:prstGeom>
          <a:noFill/>
          <a:ln w="12700">
            <a:solidFill>
              <a:srgbClr val="D9D9D9"/>
            </a:solidFill>
            <a:prstDash val="solid"/>
          </a:ln>
        </p:spPr>
        <p:txBody>
          <a:bodyPr/>
          <a:lstStyle/>
          <a:p>
            <a:endParaRPr lang="en-US"/>
          </a:p>
        </p:txBody>
      </p:sp>
      <p:sp>
        <p:nvSpPr>
          <p:cNvPr id="12" name="Text 10"/>
          <p:cNvSpPr txBox="1"/>
          <p:nvPr/>
        </p:nvSpPr>
        <p:spPr>
          <a:xfrm>
            <a:off x="640080" y="4572000"/>
            <a:ext cx="2377440" cy="777240"/>
          </a:xfrm>
          <a:prstGeom prst="rect">
            <a:avLst/>
          </a:prstGeom>
          <a:noFill/>
          <a:ln/>
        </p:spPr>
        <p:txBody>
          <a:bodyPr wrap="square" lIns="0" tIns="0" rIns="0" bIns="0" rtlCol="0" anchor="t"/>
          <a:lstStyle/>
          <a:p>
            <a:pPr marL="0" indent="0">
              <a:buNone/>
            </a:pPr>
            <a:r>
              <a:rPr lang="en-US" sz="1450" b="1" dirty="0">
                <a:solidFill>
                  <a:srgbClr val="000000"/>
                </a:solidFill>
                <a:latin typeface="Calibri" pitchFamily="34" charset="0"/>
                <a:ea typeface="Calibri" pitchFamily="34" charset="-122"/>
                <a:cs typeface="Calibri" pitchFamily="34" charset="-120"/>
              </a:rPr>
              <a:t>Abstraktsiya</a:t>
            </a:r>
            <a:endParaRPr lang="en-US" sz="1450" dirty="0"/>
          </a:p>
        </p:txBody>
      </p:sp>
      <p:sp>
        <p:nvSpPr>
          <p:cNvPr id="13" name="Text 11"/>
          <p:cNvSpPr txBox="1"/>
          <p:nvPr/>
        </p:nvSpPr>
        <p:spPr>
          <a:xfrm>
            <a:off x="3154680" y="4572000"/>
            <a:ext cx="8092440" cy="777240"/>
          </a:xfrm>
          <a:prstGeom prst="rect">
            <a:avLst/>
          </a:prstGeom>
          <a:noFill/>
          <a:ln/>
        </p:spPr>
        <p:txBody>
          <a:bodyPr wrap="square" lIns="0" tIns="0" rIns="0" bIns="0" rtlCol="0" anchor="t"/>
          <a:lstStyle/>
          <a:p>
            <a:pPr marL="0" indent="0">
              <a:buNone/>
            </a:pPr>
            <a:r>
              <a:rPr lang="en-US" sz="1450" dirty="0">
                <a:solidFill>
                  <a:srgbClr val="3D3D3D"/>
                </a:solidFill>
                <a:latin typeface="Calibri" pitchFamily="34" charset="0"/>
                <a:ea typeface="Calibri" pitchFamily="34" charset="-122"/>
                <a:cs typeface="Calibri" pitchFamily="34" charset="-120"/>
              </a:rPr>
              <a:t>Ballar qanday yig'ilgani yoki saqlangani muhim emas — faqat ularni solishtira olishingiz kerak</a:t>
            </a:r>
            <a:endParaRPr lang="en-US" sz="1450" dirty="0"/>
          </a:p>
        </p:txBody>
      </p:sp>
      <p:sp>
        <p:nvSpPr>
          <p:cNvPr id="14" name="Shape 12"/>
          <p:cNvSpPr/>
          <p:nvPr/>
        </p:nvSpPr>
        <p:spPr>
          <a:xfrm>
            <a:off x="640080" y="5285232"/>
            <a:ext cx="10607040" cy="0"/>
          </a:xfrm>
          <a:prstGeom prst="line">
            <a:avLst/>
          </a:prstGeom>
          <a:noFill/>
          <a:ln w="12700">
            <a:solidFill>
              <a:srgbClr val="D9D9D9"/>
            </a:solidFill>
            <a:prstDash val="solid"/>
          </a:ln>
        </p:spPr>
        <p:txBody>
          <a:bodyPr/>
          <a:lstStyle/>
          <a:p>
            <a:endParaRPr lang="en-US"/>
          </a:p>
        </p:txBody>
      </p:sp>
      <p:sp>
        <p:nvSpPr>
          <p:cNvPr id="15" name="Text 13"/>
          <p:cNvSpPr txBox="1"/>
          <p:nvPr/>
        </p:nvSpPr>
        <p:spPr>
          <a:xfrm>
            <a:off x="640080" y="5440680"/>
            <a:ext cx="2377440" cy="777240"/>
          </a:xfrm>
          <a:prstGeom prst="rect">
            <a:avLst/>
          </a:prstGeom>
          <a:noFill/>
          <a:ln/>
        </p:spPr>
        <p:txBody>
          <a:bodyPr wrap="square" lIns="0" tIns="0" rIns="0" bIns="0" rtlCol="0" anchor="t"/>
          <a:lstStyle/>
          <a:p>
            <a:pPr marL="0" indent="0">
              <a:buNone/>
            </a:pPr>
            <a:r>
              <a:rPr lang="en-US" sz="1450" b="1" dirty="0">
                <a:solidFill>
                  <a:srgbClr val="000000"/>
                </a:solidFill>
                <a:latin typeface="Calibri" pitchFamily="34" charset="0"/>
                <a:ea typeface="Calibri" pitchFamily="34" charset="-122"/>
                <a:cs typeface="Calibri" pitchFamily="34" charset="-120"/>
              </a:rPr>
              <a:t>Algoritm</a:t>
            </a:r>
            <a:endParaRPr lang="en-US" sz="1450" dirty="0"/>
          </a:p>
        </p:txBody>
      </p:sp>
      <p:sp>
        <p:nvSpPr>
          <p:cNvPr id="16" name="Text 14"/>
          <p:cNvSpPr txBox="1"/>
          <p:nvPr/>
        </p:nvSpPr>
        <p:spPr>
          <a:xfrm>
            <a:off x="3154680" y="5440680"/>
            <a:ext cx="8092440" cy="777240"/>
          </a:xfrm>
          <a:prstGeom prst="rect">
            <a:avLst/>
          </a:prstGeom>
          <a:noFill/>
          <a:ln/>
        </p:spPr>
        <p:txBody>
          <a:bodyPr wrap="square" lIns="0" tIns="0" rIns="0" bIns="0" rtlCol="0" anchor="t"/>
          <a:lstStyle/>
          <a:p>
            <a:pPr marL="0" indent="0">
              <a:buNone/>
            </a:pPr>
            <a:r>
              <a:rPr lang="en-US" sz="1450" dirty="0">
                <a:solidFill>
                  <a:srgbClr val="3D3D3D"/>
                </a:solidFill>
                <a:latin typeface="Calibri" pitchFamily="34" charset="0"/>
                <a:ea typeface="Calibri" pitchFamily="34" charset="-122"/>
                <a:cs typeface="Calibri" pitchFamily="34" charset="-120"/>
              </a:rPr>
              <a:t>Birinchi ballni “hozircha eng kattasi” deb belgilang. Har bir keyingi ballni u bilan solishtiring — kattaroq topilsa, yangilang.</a:t>
            </a:r>
            <a:endParaRPr lang="en-US" sz="1450" dirty="0"/>
          </a:p>
        </p:txBody>
      </p:sp>
      <p:sp>
        <p:nvSpPr>
          <p:cNvPr id="17" name="Shape 15"/>
          <p:cNvSpPr/>
          <p:nvPr/>
        </p:nvSpPr>
        <p:spPr>
          <a:xfrm>
            <a:off x="640080" y="6153912"/>
            <a:ext cx="10607040" cy="0"/>
          </a:xfrm>
          <a:prstGeom prst="line">
            <a:avLst/>
          </a:prstGeom>
          <a:noFill/>
          <a:ln w="12700">
            <a:solidFill>
              <a:srgbClr val="D9D9D9"/>
            </a:solidFill>
            <a:prstDash val="solid"/>
          </a:ln>
        </p:spPr>
        <p:txBody>
          <a:bodyPr/>
          <a:lstStyle/>
          <a:p>
            <a:endParaRPr lang="en-US"/>
          </a:p>
        </p:txBody>
      </p:sp>
      <p:sp>
        <p:nvSpPr>
          <p:cNvPr id="18" name="Text 16"/>
          <p:cNvSpPr txBox="1"/>
          <p:nvPr/>
        </p:nvSpPr>
        <p:spPr>
          <a:xfrm>
            <a:off x="640080" y="6446520"/>
            <a:ext cx="10607040" cy="457200"/>
          </a:xfrm>
          <a:prstGeom prst="rect">
            <a:avLst/>
          </a:prstGeom>
          <a:noFill/>
          <a:ln/>
        </p:spPr>
        <p:txBody>
          <a:bodyPr wrap="square" lIns="0" tIns="0" rIns="0" bIns="0" rtlCol="0" anchor="ctr"/>
          <a:lstStyle/>
          <a:p>
            <a:pPr marL="0" indent="0">
              <a:buNone/>
            </a:pPr>
            <a:r>
              <a:rPr lang="en-US" sz="1700" i="1" dirty="0">
                <a:solidFill>
                  <a:srgbClr val="000000"/>
                </a:solidFill>
                <a:latin typeface="Cambria" pitchFamily="34" charset="0"/>
                <a:ea typeface="Cambria" pitchFamily="34" charset="-122"/>
                <a:cs typeface="Cambria" pitchFamily="34" charset="-120"/>
              </a:rPr>
              <a:t>Natija: aniq 59 ta solishtirish bilan to'g'ri javobga kafolatlangan holda erishasiz.</a:t>
            </a:r>
            <a:endParaRPr lang="en-US" sz="1700" dirty="0"/>
          </a:p>
        </p:txBody>
      </p:sp>
      <p:sp>
        <p:nvSpPr>
          <p:cNvPr id="19" name="Text 17"/>
          <p:cNvSpPr txBox="1"/>
          <p:nvPr/>
        </p:nvSpPr>
        <p:spPr>
          <a:xfrm>
            <a:off x="11368735" y="6355080"/>
            <a:ext cx="548640" cy="320040"/>
          </a:xfrm>
          <a:prstGeom prst="rect">
            <a:avLst/>
          </a:prstGeom>
          <a:noFill/>
          <a:ln/>
        </p:spPr>
        <p:txBody>
          <a:bodyPr wrap="square" lIns="0" tIns="0" rIns="0" bIns="0" rtlCol="0" anchor="ctr"/>
          <a:lstStyle/>
          <a:p>
            <a:pPr marL="0" indent="0" algn="r">
              <a:buNone/>
            </a:pPr>
            <a:r>
              <a:rPr lang="en-US" sz="1200" dirty="0">
                <a:solidFill>
                  <a:srgbClr val="6E6E6E"/>
                </a:solidFill>
                <a:latin typeface="Calibri" pitchFamily="34" charset="0"/>
                <a:ea typeface="Calibri" pitchFamily="34" charset="-122"/>
                <a:cs typeface="Calibri" pitchFamily="34" charset="-120"/>
              </a:rPr>
              <a:t>12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640080" y="1965960"/>
            <a:ext cx="10911535" cy="0"/>
          </a:xfrm>
          <a:prstGeom prst="line">
            <a:avLst/>
          </a:prstGeom>
          <a:noFill/>
          <a:ln w="15875">
            <a:solidFill>
              <a:srgbClr val="3A3A3A"/>
            </a:solidFill>
            <a:prstDash val="solid"/>
          </a:ln>
        </p:spPr>
        <p:txBody>
          <a:bodyPr/>
          <a:lstStyle/>
          <a:p>
            <a:endParaRPr lang="en-US"/>
          </a:p>
        </p:txBody>
      </p:sp>
      <p:sp>
        <p:nvSpPr>
          <p:cNvPr id="3" name="Text 1"/>
          <p:cNvSpPr txBox="1"/>
          <p:nvPr/>
        </p:nvSpPr>
        <p:spPr>
          <a:xfrm>
            <a:off x="822960" y="2194560"/>
            <a:ext cx="2743200" cy="502920"/>
          </a:xfrm>
          <a:prstGeom prst="rect">
            <a:avLst/>
          </a:prstGeom>
          <a:noFill/>
          <a:ln/>
        </p:spPr>
        <p:txBody>
          <a:bodyPr wrap="square" lIns="0" tIns="0" rIns="0" bIns="0" rtlCol="0" anchor="ctr"/>
          <a:lstStyle/>
          <a:p>
            <a:pPr marL="0" indent="0">
              <a:buNone/>
            </a:pPr>
            <a:r>
              <a:rPr lang="en-US" sz="2400" dirty="0">
                <a:solidFill>
                  <a:srgbClr val="D9D9D9"/>
                </a:solidFill>
                <a:latin typeface="Cambria" pitchFamily="34" charset="0"/>
                <a:ea typeface="Cambria" pitchFamily="34" charset="-122"/>
                <a:cs typeface="Cambria" pitchFamily="34" charset="-120"/>
              </a:rPr>
              <a:t>03</a:t>
            </a:r>
            <a:endParaRPr lang="en-US" sz="2400" dirty="0"/>
          </a:p>
        </p:txBody>
      </p:sp>
      <p:sp>
        <p:nvSpPr>
          <p:cNvPr id="4" name="Text 2"/>
          <p:cNvSpPr txBox="1"/>
          <p:nvPr/>
        </p:nvSpPr>
        <p:spPr>
          <a:xfrm>
            <a:off x="822960" y="2743200"/>
            <a:ext cx="10515600" cy="1005840"/>
          </a:xfrm>
          <a:prstGeom prst="rect">
            <a:avLst/>
          </a:prstGeom>
          <a:noFill/>
          <a:ln/>
        </p:spPr>
        <p:txBody>
          <a:bodyPr wrap="square" lIns="0" tIns="0" rIns="0" bIns="0" rtlCol="0" anchor="t"/>
          <a:lstStyle/>
          <a:p>
            <a:pPr marL="0" indent="0">
              <a:buNone/>
            </a:pPr>
            <a:r>
              <a:rPr lang="en-US" sz="4200" b="1" dirty="0">
                <a:solidFill>
                  <a:srgbClr val="FFFFFF"/>
                </a:solidFill>
                <a:latin typeface="Cambria" pitchFamily="34" charset="0"/>
                <a:ea typeface="Cambria" pitchFamily="34" charset="-122"/>
                <a:cs typeface="Cambria" pitchFamily="34" charset="-120"/>
              </a:rPr>
              <a:t>Muammolarni Yechish</a:t>
            </a:r>
            <a:endParaRPr lang="en-US" sz="4200" dirty="0"/>
          </a:p>
        </p:txBody>
      </p:sp>
      <p:sp>
        <p:nvSpPr>
          <p:cNvPr id="5" name="Text 3"/>
          <p:cNvSpPr txBox="1"/>
          <p:nvPr/>
        </p:nvSpPr>
        <p:spPr>
          <a:xfrm>
            <a:off x="822960" y="3977640"/>
            <a:ext cx="9875520" cy="822960"/>
          </a:xfrm>
          <a:prstGeom prst="rect">
            <a:avLst/>
          </a:prstGeom>
          <a:noFill/>
          <a:ln/>
        </p:spPr>
        <p:txBody>
          <a:bodyPr wrap="square" lIns="0" tIns="0" rIns="0" bIns="0" rtlCol="0" anchor="ctr"/>
          <a:lstStyle/>
          <a:p>
            <a:pPr marL="0" indent="0">
              <a:lnSpc>
                <a:spcPct val="125000"/>
              </a:lnSpc>
              <a:buNone/>
            </a:pP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8686800" cy="365760"/>
          </a:xfrm>
          <a:prstGeom prst="rect">
            <a:avLst/>
          </a:prstGeom>
          <a:noFill/>
          <a:ln/>
        </p:spPr>
        <p:txBody>
          <a:bodyPr wrap="square" lIns="0" tIns="0" rIns="0" bIns="0" rtlCol="0" anchor="ctr"/>
          <a:lstStyle/>
          <a:p>
            <a:pPr marL="0" indent="0">
              <a:buNone/>
            </a:pPr>
            <a:r>
              <a:rPr lang="en-US" sz="1500" b="1" kern="0" spc="200" dirty="0">
                <a:solidFill>
                  <a:srgbClr val="6E6E6E"/>
                </a:solidFill>
                <a:latin typeface="Calibri" pitchFamily="34" charset="0"/>
                <a:ea typeface="Calibri" pitchFamily="34" charset="-122"/>
                <a:cs typeface="Calibri" pitchFamily="34" charset="-120"/>
              </a:rPr>
              <a:t>ASOSIY MODEL</a:t>
            </a:r>
            <a:endParaRPr lang="en-US" sz="1500" dirty="0"/>
          </a:p>
        </p:txBody>
      </p:sp>
      <p:sp>
        <p:nvSpPr>
          <p:cNvPr id="3" name="Text 1"/>
          <p:cNvSpPr txBox="1"/>
          <p:nvPr/>
        </p:nvSpPr>
        <p:spPr>
          <a:xfrm>
            <a:off x="640080" y="868680"/>
            <a:ext cx="10881360" cy="1005840"/>
          </a:xfrm>
          <a:prstGeom prst="rect">
            <a:avLst/>
          </a:prstGeom>
          <a:noFill/>
          <a:ln/>
        </p:spPr>
        <p:txBody>
          <a:bodyPr wrap="square" lIns="0" tIns="0" rIns="0" bIns="0" rtlCol="0" anchor="ctr"/>
          <a:lstStyle/>
          <a:p>
            <a:pPr marL="0" indent="0" algn="l">
              <a:buNone/>
            </a:pPr>
            <a:r>
              <a:rPr lang="en-US" sz="3200" b="1" dirty="0">
                <a:solidFill>
                  <a:srgbClr val="000000"/>
                </a:solidFill>
                <a:latin typeface="Cambria" pitchFamily="34" charset="0"/>
                <a:ea typeface="Cambria" pitchFamily="34" charset="-122"/>
                <a:cs typeface="Cambria" pitchFamily="34" charset="-120"/>
              </a:rPr>
              <a:t>Kirish → Algoritm → Chiqish</a:t>
            </a:r>
            <a:endParaRPr lang="en-US" sz="3200" dirty="0"/>
          </a:p>
        </p:txBody>
      </p:sp>
      <p:sp>
        <p:nvSpPr>
          <p:cNvPr id="4" name="Shape 2"/>
          <p:cNvSpPr/>
          <p:nvPr/>
        </p:nvSpPr>
        <p:spPr>
          <a:xfrm>
            <a:off x="640080" y="1874520"/>
            <a:ext cx="10911535" cy="0"/>
          </a:xfrm>
          <a:prstGeom prst="line">
            <a:avLst/>
          </a:prstGeom>
          <a:noFill/>
          <a:ln w="15875">
            <a:solidFill>
              <a:srgbClr val="D9D9D9"/>
            </a:solidFill>
            <a:prstDash val="solid"/>
          </a:ln>
        </p:spPr>
        <p:txBody>
          <a:bodyPr/>
          <a:lstStyle/>
          <a:p>
            <a:endParaRPr lang="en-US"/>
          </a:p>
        </p:txBody>
      </p:sp>
      <p:sp>
        <p:nvSpPr>
          <p:cNvPr id="5" name="Shape 3"/>
          <p:cNvSpPr/>
          <p:nvPr/>
        </p:nvSpPr>
        <p:spPr>
          <a:xfrm>
            <a:off x="777240" y="2651760"/>
            <a:ext cx="3017520" cy="1828800"/>
          </a:xfrm>
          <a:prstGeom prst="roundRect">
            <a:avLst>
              <a:gd name="adj" fmla="val 4000"/>
            </a:avLst>
          </a:prstGeom>
          <a:solidFill>
            <a:srgbClr val="F2F2F2"/>
          </a:solidFill>
          <a:ln w="12700">
            <a:solidFill>
              <a:srgbClr val="D9D9D9"/>
            </a:solidFill>
            <a:prstDash val="solid"/>
          </a:ln>
        </p:spPr>
        <p:txBody>
          <a:bodyPr/>
          <a:lstStyle/>
          <a:p>
            <a:endParaRPr lang="en-US"/>
          </a:p>
        </p:txBody>
      </p:sp>
      <p:sp>
        <p:nvSpPr>
          <p:cNvPr id="6" name="Text 4"/>
          <p:cNvSpPr txBox="1"/>
          <p:nvPr/>
        </p:nvSpPr>
        <p:spPr>
          <a:xfrm>
            <a:off x="1005840" y="2880360"/>
            <a:ext cx="2560320" cy="457200"/>
          </a:xfrm>
          <a:prstGeom prst="rect">
            <a:avLst/>
          </a:prstGeom>
          <a:noFill/>
          <a:ln/>
        </p:spPr>
        <p:txBody>
          <a:bodyPr wrap="square" lIns="0" tIns="0" rIns="0" bIns="0" rtlCol="0" anchor="ctr"/>
          <a:lstStyle/>
          <a:p>
            <a:pPr marL="0" indent="0">
              <a:buNone/>
            </a:pPr>
            <a:r>
              <a:rPr lang="en-US" sz="2100" b="1" dirty="0">
                <a:solidFill>
                  <a:srgbClr val="000000"/>
                </a:solidFill>
                <a:latin typeface="Cambria" pitchFamily="34" charset="0"/>
                <a:ea typeface="Cambria" pitchFamily="34" charset="-122"/>
                <a:cs typeface="Cambria" pitchFamily="34" charset="-120"/>
              </a:rPr>
              <a:t>Kirish</a:t>
            </a:r>
            <a:endParaRPr lang="en-US" sz="2100" dirty="0"/>
          </a:p>
        </p:txBody>
      </p:sp>
      <p:sp>
        <p:nvSpPr>
          <p:cNvPr id="7" name="Text 5"/>
          <p:cNvSpPr txBox="1"/>
          <p:nvPr/>
        </p:nvSpPr>
        <p:spPr>
          <a:xfrm>
            <a:off x="1005840" y="3429000"/>
            <a:ext cx="2560320" cy="914400"/>
          </a:xfrm>
          <a:prstGeom prst="rect">
            <a:avLst/>
          </a:prstGeom>
          <a:noFill/>
          <a:ln/>
        </p:spPr>
        <p:txBody>
          <a:bodyPr wrap="square" lIns="0" tIns="0" rIns="0" bIns="0" rtlCol="0" anchor="ctr"/>
          <a:lstStyle/>
          <a:p>
            <a:pPr marL="0" indent="0">
              <a:buNone/>
            </a:pPr>
            <a:r>
              <a:rPr lang="en-US" sz="1350" dirty="0">
                <a:solidFill>
                  <a:srgbClr val="6E6E6E"/>
                </a:solidFill>
                <a:latin typeface="Calibri" pitchFamily="34" charset="0"/>
                <a:ea typeface="Calibri" pitchFamily="34" charset="-122"/>
                <a:cs typeface="Calibri" pitchFamily="34" charset="-120"/>
              </a:rPr>
              <a:t>Sizga berilgan narsa — boshlang'ich ma'lumot yoki data</a:t>
            </a:r>
            <a:endParaRPr lang="en-US" sz="1350" dirty="0"/>
          </a:p>
        </p:txBody>
      </p:sp>
      <p:sp>
        <p:nvSpPr>
          <p:cNvPr id="8" name="Text 6"/>
          <p:cNvSpPr txBox="1"/>
          <p:nvPr/>
        </p:nvSpPr>
        <p:spPr>
          <a:xfrm>
            <a:off x="3794760" y="2651760"/>
            <a:ext cx="685800" cy="1828800"/>
          </a:xfrm>
          <a:prstGeom prst="rect">
            <a:avLst/>
          </a:prstGeom>
          <a:noFill/>
          <a:ln/>
        </p:spPr>
        <p:txBody>
          <a:bodyPr wrap="square" lIns="0" tIns="0" rIns="0" bIns="0" rtlCol="0" anchor="ctr"/>
          <a:lstStyle/>
          <a:p>
            <a:pPr marL="0" indent="0" algn="ctr">
              <a:buNone/>
            </a:pPr>
            <a:r>
              <a:rPr lang="en-US" sz="3200" dirty="0">
                <a:solidFill>
                  <a:srgbClr val="1A1A1A"/>
                </a:solidFill>
                <a:latin typeface="Cambria" pitchFamily="34" charset="0"/>
                <a:ea typeface="Cambria" pitchFamily="34" charset="-122"/>
                <a:cs typeface="Cambria" pitchFamily="34" charset="-120"/>
              </a:rPr>
              <a:t>→</a:t>
            </a:r>
            <a:endParaRPr lang="en-US" sz="3200" dirty="0"/>
          </a:p>
        </p:txBody>
      </p:sp>
      <p:sp>
        <p:nvSpPr>
          <p:cNvPr id="9" name="Shape 7"/>
          <p:cNvSpPr/>
          <p:nvPr/>
        </p:nvSpPr>
        <p:spPr>
          <a:xfrm>
            <a:off x="4480560" y="2651760"/>
            <a:ext cx="3017520" cy="1828800"/>
          </a:xfrm>
          <a:prstGeom prst="roundRect">
            <a:avLst>
              <a:gd name="adj" fmla="val 4000"/>
            </a:avLst>
          </a:prstGeom>
          <a:solidFill>
            <a:srgbClr val="000000"/>
          </a:solidFill>
          <a:ln w="12700">
            <a:solidFill>
              <a:srgbClr val="D9D9D9"/>
            </a:solidFill>
            <a:prstDash val="solid"/>
          </a:ln>
        </p:spPr>
        <p:txBody>
          <a:bodyPr/>
          <a:lstStyle/>
          <a:p>
            <a:endParaRPr lang="en-US"/>
          </a:p>
        </p:txBody>
      </p:sp>
      <p:sp>
        <p:nvSpPr>
          <p:cNvPr id="10" name="Text 8"/>
          <p:cNvSpPr txBox="1"/>
          <p:nvPr/>
        </p:nvSpPr>
        <p:spPr>
          <a:xfrm>
            <a:off x="4709160" y="2880360"/>
            <a:ext cx="2560320" cy="457200"/>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Algoritm</a:t>
            </a:r>
            <a:endParaRPr lang="en-US" sz="2100" dirty="0"/>
          </a:p>
        </p:txBody>
      </p:sp>
      <p:sp>
        <p:nvSpPr>
          <p:cNvPr id="11" name="Text 9"/>
          <p:cNvSpPr txBox="1"/>
          <p:nvPr/>
        </p:nvSpPr>
        <p:spPr>
          <a:xfrm>
            <a:off x="4709160" y="3429000"/>
            <a:ext cx="2560320" cy="914400"/>
          </a:xfrm>
          <a:prstGeom prst="rect">
            <a:avLst/>
          </a:prstGeom>
          <a:noFill/>
          <a:ln/>
        </p:spPr>
        <p:txBody>
          <a:bodyPr wrap="square" lIns="0" tIns="0" rIns="0" bIns="0" rtlCol="0" anchor="ctr"/>
          <a:lstStyle/>
          <a:p>
            <a:pPr marL="0" indent="0">
              <a:buNone/>
            </a:pPr>
            <a:r>
              <a:rPr lang="en-US" sz="1350" dirty="0">
                <a:solidFill>
                  <a:srgbClr val="D9D9D9"/>
                </a:solidFill>
                <a:latin typeface="Calibri" pitchFamily="34" charset="0"/>
                <a:ea typeface="Calibri" pitchFamily="34" charset="-122"/>
                <a:cs typeface="Calibri" pitchFamily="34" charset="-120"/>
              </a:rPr>
              <a:t>Kirishni chiqishga aylantiradigan aniq qadamlar</a:t>
            </a:r>
            <a:endParaRPr lang="en-US" sz="1350" dirty="0"/>
          </a:p>
        </p:txBody>
      </p:sp>
      <p:sp>
        <p:nvSpPr>
          <p:cNvPr id="12" name="Text 10"/>
          <p:cNvSpPr txBox="1"/>
          <p:nvPr/>
        </p:nvSpPr>
        <p:spPr>
          <a:xfrm>
            <a:off x="7498080" y="2651760"/>
            <a:ext cx="685800" cy="1828800"/>
          </a:xfrm>
          <a:prstGeom prst="rect">
            <a:avLst/>
          </a:prstGeom>
          <a:noFill/>
          <a:ln/>
        </p:spPr>
        <p:txBody>
          <a:bodyPr wrap="square" lIns="0" tIns="0" rIns="0" bIns="0" rtlCol="0" anchor="ctr"/>
          <a:lstStyle/>
          <a:p>
            <a:pPr marL="0" indent="0" algn="ctr">
              <a:buNone/>
            </a:pPr>
            <a:r>
              <a:rPr lang="en-US" sz="3200" dirty="0">
                <a:solidFill>
                  <a:srgbClr val="1A1A1A"/>
                </a:solidFill>
                <a:latin typeface="Cambria" pitchFamily="34" charset="0"/>
                <a:ea typeface="Cambria" pitchFamily="34" charset="-122"/>
                <a:cs typeface="Cambria" pitchFamily="34" charset="-120"/>
              </a:rPr>
              <a:t>→</a:t>
            </a:r>
            <a:endParaRPr lang="en-US" sz="3200" dirty="0"/>
          </a:p>
        </p:txBody>
      </p:sp>
      <p:sp>
        <p:nvSpPr>
          <p:cNvPr id="13" name="Shape 11"/>
          <p:cNvSpPr/>
          <p:nvPr/>
        </p:nvSpPr>
        <p:spPr>
          <a:xfrm>
            <a:off x="8183880" y="2651760"/>
            <a:ext cx="3017520" cy="1828800"/>
          </a:xfrm>
          <a:prstGeom prst="roundRect">
            <a:avLst>
              <a:gd name="adj" fmla="val 4000"/>
            </a:avLst>
          </a:prstGeom>
          <a:solidFill>
            <a:srgbClr val="F2F2F2"/>
          </a:solidFill>
          <a:ln w="12700">
            <a:solidFill>
              <a:srgbClr val="D9D9D9"/>
            </a:solidFill>
            <a:prstDash val="solid"/>
          </a:ln>
        </p:spPr>
        <p:txBody>
          <a:bodyPr/>
          <a:lstStyle/>
          <a:p>
            <a:endParaRPr lang="en-US"/>
          </a:p>
        </p:txBody>
      </p:sp>
      <p:sp>
        <p:nvSpPr>
          <p:cNvPr id="14" name="Text 12"/>
          <p:cNvSpPr txBox="1"/>
          <p:nvPr/>
        </p:nvSpPr>
        <p:spPr>
          <a:xfrm>
            <a:off x="8412480" y="2880360"/>
            <a:ext cx="2560320" cy="457200"/>
          </a:xfrm>
          <a:prstGeom prst="rect">
            <a:avLst/>
          </a:prstGeom>
          <a:noFill/>
          <a:ln/>
        </p:spPr>
        <p:txBody>
          <a:bodyPr wrap="square" lIns="0" tIns="0" rIns="0" bIns="0" rtlCol="0" anchor="ctr"/>
          <a:lstStyle/>
          <a:p>
            <a:pPr marL="0" indent="0">
              <a:buNone/>
            </a:pPr>
            <a:r>
              <a:rPr lang="en-US" sz="2100" b="1" dirty="0">
                <a:solidFill>
                  <a:srgbClr val="000000"/>
                </a:solidFill>
                <a:latin typeface="Cambria" pitchFamily="34" charset="0"/>
                <a:ea typeface="Cambria" pitchFamily="34" charset="-122"/>
                <a:cs typeface="Cambria" pitchFamily="34" charset="-120"/>
              </a:rPr>
              <a:t>Chiqish</a:t>
            </a:r>
            <a:endParaRPr lang="en-US" sz="2100" dirty="0"/>
          </a:p>
        </p:txBody>
      </p:sp>
      <p:sp>
        <p:nvSpPr>
          <p:cNvPr id="15" name="Text 13"/>
          <p:cNvSpPr txBox="1"/>
          <p:nvPr/>
        </p:nvSpPr>
        <p:spPr>
          <a:xfrm>
            <a:off x="8412480" y="3429000"/>
            <a:ext cx="2560320" cy="914400"/>
          </a:xfrm>
          <a:prstGeom prst="rect">
            <a:avLst/>
          </a:prstGeom>
          <a:noFill/>
          <a:ln/>
        </p:spPr>
        <p:txBody>
          <a:bodyPr wrap="square" lIns="0" tIns="0" rIns="0" bIns="0" rtlCol="0" anchor="ctr"/>
          <a:lstStyle/>
          <a:p>
            <a:pPr marL="0" indent="0">
              <a:buNone/>
            </a:pPr>
            <a:r>
              <a:rPr lang="en-US" sz="1350" dirty="0">
                <a:solidFill>
                  <a:srgbClr val="6E6E6E"/>
                </a:solidFill>
                <a:latin typeface="Calibri" pitchFamily="34" charset="0"/>
                <a:ea typeface="Calibri" pitchFamily="34" charset="-122"/>
                <a:cs typeface="Calibri" pitchFamily="34" charset="-120"/>
              </a:rPr>
              <a:t>Javob — muammo nimani so'ragan bo'lsa, o'sha</a:t>
            </a:r>
            <a:endParaRPr lang="en-US" sz="1350" dirty="0"/>
          </a:p>
        </p:txBody>
      </p:sp>
      <p:sp>
        <p:nvSpPr>
          <p:cNvPr id="16" name="Text 14"/>
          <p:cNvSpPr txBox="1"/>
          <p:nvPr/>
        </p:nvSpPr>
        <p:spPr>
          <a:xfrm>
            <a:off x="11368735" y="6355080"/>
            <a:ext cx="548640" cy="320040"/>
          </a:xfrm>
          <a:prstGeom prst="rect">
            <a:avLst/>
          </a:prstGeom>
          <a:noFill/>
          <a:ln/>
        </p:spPr>
        <p:txBody>
          <a:bodyPr wrap="square" lIns="0" tIns="0" rIns="0" bIns="0" rtlCol="0" anchor="ctr"/>
          <a:lstStyle/>
          <a:p>
            <a:pPr marL="0" indent="0" algn="r">
              <a:buNone/>
            </a:pPr>
            <a:r>
              <a:rPr lang="en-US" sz="1200" dirty="0">
                <a:solidFill>
                  <a:srgbClr val="6E6E6E"/>
                </a:solidFill>
                <a:latin typeface="Calibri" pitchFamily="34" charset="0"/>
                <a:ea typeface="Calibri" pitchFamily="34" charset="-122"/>
                <a:cs typeface="Calibri" pitchFamily="34" charset="-120"/>
              </a:rPr>
              <a:t>14</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8686800" cy="365760"/>
          </a:xfrm>
          <a:prstGeom prst="rect">
            <a:avLst/>
          </a:prstGeom>
          <a:noFill/>
          <a:ln/>
        </p:spPr>
        <p:txBody>
          <a:bodyPr wrap="square" lIns="0" tIns="0" rIns="0" bIns="0" rtlCol="0" anchor="ctr"/>
          <a:lstStyle/>
          <a:p>
            <a:pPr marL="0" indent="0">
              <a:buNone/>
            </a:pPr>
            <a:r>
              <a:rPr lang="en-US" sz="1500" b="1" kern="0" spc="200" dirty="0">
                <a:solidFill>
                  <a:srgbClr val="6E6E6E"/>
                </a:solidFill>
                <a:latin typeface="Calibri" pitchFamily="34" charset="0"/>
                <a:ea typeface="Calibri" pitchFamily="34" charset="-122"/>
                <a:cs typeface="Calibri" pitchFamily="34" charset="-120"/>
              </a:rPr>
              <a:t>ALGORITMNI NIMA YAXSHI QILADI?</a:t>
            </a:r>
            <a:endParaRPr lang="en-US" sz="1500" dirty="0"/>
          </a:p>
        </p:txBody>
      </p:sp>
      <p:sp>
        <p:nvSpPr>
          <p:cNvPr id="3" name="Text 1"/>
          <p:cNvSpPr txBox="1"/>
          <p:nvPr/>
        </p:nvSpPr>
        <p:spPr>
          <a:xfrm>
            <a:off x="640080" y="868680"/>
            <a:ext cx="10881360" cy="1005840"/>
          </a:xfrm>
          <a:prstGeom prst="rect">
            <a:avLst/>
          </a:prstGeom>
          <a:noFill/>
          <a:ln/>
        </p:spPr>
        <p:txBody>
          <a:bodyPr wrap="square" lIns="0" tIns="0" rIns="0" bIns="0" rtlCol="0" anchor="ctr"/>
          <a:lstStyle/>
          <a:p>
            <a:pPr marL="0" indent="0" algn="l">
              <a:buNone/>
            </a:pPr>
            <a:r>
              <a:rPr lang="en-US" sz="3200" b="1" dirty="0">
                <a:solidFill>
                  <a:srgbClr val="000000"/>
                </a:solidFill>
                <a:latin typeface="Cambria" pitchFamily="34" charset="0"/>
                <a:ea typeface="Cambria" pitchFamily="34" charset="-122"/>
                <a:cs typeface="Cambria" pitchFamily="34" charset="-120"/>
              </a:rPr>
              <a:t>To'g'ri, Samarali, Tushunarli</a:t>
            </a:r>
            <a:endParaRPr lang="en-US" sz="3200" dirty="0"/>
          </a:p>
        </p:txBody>
      </p:sp>
      <p:sp>
        <p:nvSpPr>
          <p:cNvPr id="4" name="Shape 2"/>
          <p:cNvSpPr/>
          <p:nvPr/>
        </p:nvSpPr>
        <p:spPr>
          <a:xfrm>
            <a:off x="640080" y="1874520"/>
            <a:ext cx="10911535" cy="0"/>
          </a:xfrm>
          <a:prstGeom prst="line">
            <a:avLst/>
          </a:prstGeom>
          <a:noFill/>
          <a:ln w="15875">
            <a:solidFill>
              <a:srgbClr val="D9D9D9"/>
            </a:solidFill>
            <a:prstDash val="solid"/>
          </a:ln>
        </p:spPr>
        <p:txBody>
          <a:bodyPr/>
          <a:lstStyle/>
          <a:p>
            <a:endParaRPr lang="en-US"/>
          </a:p>
        </p:txBody>
      </p:sp>
      <p:sp>
        <p:nvSpPr>
          <p:cNvPr id="5" name="Text 3"/>
          <p:cNvSpPr txBox="1"/>
          <p:nvPr/>
        </p:nvSpPr>
        <p:spPr>
          <a:xfrm>
            <a:off x="640080" y="2286000"/>
            <a:ext cx="10515600" cy="3200400"/>
          </a:xfrm>
          <a:prstGeom prst="rect">
            <a:avLst/>
          </a:prstGeom>
          <a:noFill/>
          <a:ln/>
        </p:spPr>
        <p:txBody>
          <a:bodyPr wrap="square" lIns="0" tIns="0" rIns="0" bIns="0" rtlCol="0" anchor="t"/>
          <a:lstStyle/>
          <a:p>
            <a:pPr marL="279400" indent="-279400">
              <a:lnSpc>
                <a:spcPct val="115000"/>
              </a:lnSpc>
              <a:spcAft>
                <a:spcPts val="200"/>
              </a:spcAft>
              <a:buSzPct val="100000"/>
              <a:buChar char="•"/>
            </a:pPr>
            <a:r>
              <a:rPr lang="en-US" sz="2000" dirty="0">
                <a:solidFill>
                  <a:srgbClr val="3D3D3D"/>
                </a:solidFill>
                <a:latin typeface="Calibri" pitchFamily="34" charset="0"/>
                <a:ea typeface="Calibri" pitchFamily="34" charset="-122"/>
                <a:cs typeface="Calibri" pitchFamily="34" charset="-120"/>
              </a:rPr>
              <a:t>To'g'rilik</a:t>
            </a:r>
            <a:endParaRPr lang="en-US" sz="2000" dirty="0"/>
          </a:p>
          <a:p>
            <a:pPr marL="0" indent="0">
              <a:lnSpc>
                <a:spcPct val="115000"/>
              </a:lnSpc>
              <a:spcAft>
                <a:spcPts val="2000"/>
              </a:spcAft>
              <a:buNone/>
            </a:pPr>
            <a:r>
              <a:rPr lang="en-US" sz="1500" dirty="0">
                <a:solidFill>
                  <a:srgbClr val="6E6E6E"/>
                </a:solidFill>
                <a:latin typeface="Calibri" pitchFamily="34" charset="0"/>
                <a:ea typeface="Calibri" pitchFamily="34" charset="-122"/>
                <a:cs typeface="Calibri" pitchFamily="34" charset="-120"/>
              </a:rPr>
              <a:t>Har doim, har qanday to'g'ri kirish uchun to'g'ri javobni beradi</a:t>
            </a:r>
            <a:endParaRPr lang="en-US" sz="2000" dirty="0"/>
          </a:p>
          <a:p>
            <a:pPr marL="279400" indent="-279400">
              <a:lnSpc>
                <a:spcPct val="115000"/>
              </a:lnSpc>
              <a:spcAft>
                <a:spcPts val="200"/>
              </a:spcAft>
              <a:buSzPct val="100000"/>
              <a:buChar char="•"/>
            </a:pPr>
            <a:r>
              <a:rPr lang="en-US" sz="2000" dirty="0">
                <a:solidFill>
                  <a:srgbClr val="3D3D3D"/>
                </a:solidFill>
                <a:latin typeface="Calibri" pitchFamily="34" charset="0"/>
                <a:ea typeface="Calibri" pitchFamily="34" charset="-122"/>
                <a:cs typeface="Calibri" pitchFamily="34" charset="-120"/>
              </a:rPr>
              <a:t>Samaradorlik</a:t>
            </a:r>
            <a:endParaRPr lang="en-US" sz="2000" dirty="0"/>
          </a:p>
          <a:p>
            <a:pPr marL="0" indent="0">
              <a:lnSpc>
                <a:spcPct val="115000"/>
              </a:lnSpc>
              <a:spcAft>
                <a:spcPts val="2000"/>
              </a:spcAft>
              <a:buNone/>
            </a:pPr>
            <a:r>
              <a:rPr lang="en-US" sz="1500" dirty="0">
                <a:solidFill>
                  <a:srgbClr val="6E6E6E"/>
                </a:solidFill>
                <a:latin typeface="Calibri" pitchFamily="34" charset="0"/>
                <a:ea typeface="Calibri" pitchFamily="34" charset="-122"/>
                <a:cs typeface="Calibri" pitchFamily="34" charset="-120"/>
              </a:rPr>
              <a:t>Vaqt yoki resurslarni behuda sarflamaydi</a:t>
            </a:r>
            <a:endParaRPr lang="en-US" sz="2000" dirty="0"/>
          </a:p>
          <a:p>
            <a:pPr marL="279400" indent="-279400">
              <a:lnSpc>
                <a:spcPct val="115000"/>
              </a:lnSpc>
              <a:spcAft>
                <a:spcPts val="200"/>
              </a:spcAft>
              <a:buSzPct val="100000"/>
              <a:buChar char="•"/>
            </a:pPr>
            <a:r>
              <a:rPr lang="en-US" sz="2000" dirty="0">
                <a:solidFill>
                  <a:srgbClr val="3D3D3D"/>
                </a:solidFill>
                <a:latin typeface="Calibri" pitchFamily="34" charset="0"/>
                <a:ea typeface="Calibri" pitchFamily="34" charset="-122"/>
                <a:cs typeface="Calibri" pitchFamily="34" charset="-120"/>
              </a:rPr>
              <a:t>Tushunarlilik</a:t>
            </a:r>
            <a:endParaRPr lang="en-US" sz="2000" dirty="0"/>
          </a:p>
          <a:p>
            <a:pPr marL="0" indent="0">
              <a:lnSpc>
                <a:spcPct val="115000"/>
              </a:lnSpc>
              <a:spcAft>
                <a:spcPts val="2000"/>
              </a:spcAft>
              <a:buNone/>
            </a:pPr>
            <a:r>
              <a:rPr lang="en-US" sz="1500" dirty="0">
                <a:solidFill>
                  <a:srgbClr val="6E6E6E"/>
                </a:solidFill>
                <a:latin typeface="Calibri" pitchFamily="34" charset="0"/>
                <a:ea typeface="Calibri" pitchFamily="34" charset="-122"/>
                <a:cs typeface="Calibri" pitchFamily="34" charset="-120"/>
              </a:rPr>
              <a:t>Boshqa odam (yoki kelajakdagi siz) uni o'qib, unga ishona oladi</a:t>
            </a:r>
            <a:endParaRPr lang="en-US" sz="2000" dirty="0"/>
          </a:p>
        </p:txBody>
      </p:sp>
      <p:sp>
        <p:nvSpPr>
          <p:cNvPr id="6" name="Text 4"/>
          <p:cNvSpPr txBox="1"/>
          <p:nvPr/>
        </p:nvSpPr>
        <p:spPr>
          <a:xfrm>
            <a:off x="11368735" y="6355080"/>
            <a:ext cx="548640" cy="320040"/>
          </a:xfrm>
          <a:prstGeom prst="rect">
            <a:avLst/>
          </a:prstGeom>
          <a:noFill/>
          <a:ln/>
        </p:spPr>
        <p:txBody>
          <a:bodyPr wrap="square" lIns="0" tIns="0" rIns="0" bIns="0" rtlCol="0" anchor="ctr"/>
          <a:lstStyle/>
          <a:p>
            <a:pPr marL="0" indent="0" algn="r">
              <a:buNone/>
            </a:pPr>
            <a:r>
              <a:rPr lang="en-US" sz="1200" dirty="0">
                <a:solidFill>
                  <a:srgbClr val="6E6E6E"/>
                </a:solidFill>
                <a:latin typeface="Calibri" pitchFamily="34" charset="0"/>
                <a:ea typeface="Calibri" pitchFamily="34" charset="-122"/>
                <a:cs typeface="Calibri" pitchFamily="34" charset="-120"/>
              </a:rPr>
              <a:t>15</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8686800" cy="365760"/>
          </a:xfrm>
          <a:prstGeom prst="rect">
            <a:avLst/>
          </a:prstGeom>
          <a:noFill/>
          <a:ln/>
        </p:spPr>
        <p:txBody>
          <a:bodyPr wrap="square" lIns="0" tIns="0" rIns="0" bIns="0" rtlCol="0" anchor="ctr"/>
          <a:lstStyle/>
          <a:p>
            <a:pPr marL="0" indent="0">
              <a:buNone/>
            </a:pPr>
            <a:r>
              <a:rPr lang="en-US" sz="1500" b="1" kern="0" spc="200" dirty="0">
                <a:solidFill>
                  <a:srgbClr val="6E6E6E"/>
                </a:solidFill>
                <a:latin typeface="Calibri" pitchFamily="34" charset="0"/>
                <a:ea typeface="Calibri" pitchFamily="34" charset="-122"/>
                <a:cs typeface="Calibri" pitchFamily="34" charset="-120"/>
              </a:rPr>
              <a:t>OGOHLANTIRUVCHI VOQEA</a:t>
            </a:r>
            <a:endParaRPr lang="en-US" sz="1500" dirty="0"/>
          </a:p>
        </p:txBody>
      </p:sp>
      <p:sp>
        <p:nvSpPr>
          <p:cNvPr id="3" name="Text 1"/>
          <p:cNvSpPr txBox="1"/>
          <p:nvPr/>
        </p:nvSpPr>
        <p:spPr>
          <a:xfrm>
            <a:off x="640080" y="868680"/>
            <a:ext cx="10881360" cy="1005840"/>
          </a:xfrm>
          <a:prstGeom prst="rect">
            <a:avLst/>
          </a:prstGeom>
          <a:noFill/>
          <a:ln/>
        </p:spPr>
        <p:txBody>
          <a:bodyPr wrap="square" lIns="0" tIns="0" rIns="0" bIns="0" rtlCol="0" anchor="ctr"/>
          <a:lstStyle/>
          <a:p>
            <a:pPr marL="0" indent="0" algn="l">
              <a:buNone/>
            </a:pPr>
            <a:r>
              <a:rPr lang="en-US" sz="3200" b="1" dirty="0">
                <a:solidFill>
                  <a:srgbClr val="000000"/>
                </a:solidFill>
                <a:latin typeface="Cambria" pitchFamily="34" charset="0"/>
                <a:ea typeface="Cambria" pitchFamily="34" charset="-122"/>
                <a:cs typeface="Cambria" pitchFamily="34" charset="-120"/>
              </a:rPr>
              <a:t>Bitta Muammo, Ikki Xil Algoritm</a:t>
            </a:r>
            <a:endParaRPr lang="en-US" sz="3200" dirty="0"/>
          </a:p>
        </p:txBody>
      </p:sp>
      <p:sp>
        <p:nvSpPr>
          <p:cNvPr id="4" name="Shape 2"/>
          <p:cNvSpPr/>
          <p:nvPr/>
        </p:nvSpPr>
        <p:spPr>
          <a:xfrm>
            <a:off x="640080" y="1874520"/>
            <a:ext cx="10911535" cy="0"/>
          </a:xfrm>
          <a:prstGeom prst="line">
            <a:avLst/>
          </a:prstGeom>
          <a:noFill/>
          <a:ln w="15875">
            <a:solidFill>
              <a:srgbClr val="D9D9D9"/>
            </a:solidFill>
            <a:prstDash val="solid"/>
          </a:ln>
        </p:spPr>
        <p:txBody>
          <a:bodyPr/>
          <a:lstStyle/>
          <a:p>
            <a:endParaRPr lang="en-US"/>
          </a:p>
        </p:txBody>
      </p:sp>
      <p:sp>
        <p:nvSpPr>
          <p:cNvPr id="5" name="Text 3"/>
          <p:cNvSpPr txBox="1"/>
          <p:nvPr/>
        </p:nvSpPr>
        <p:spPr>
          <a:xfrm>
            <a:off x="640080" y="2011680"/>
            <a:ext cx="10607040" cy="457200"/>
          </a:xfrm>
          <a:prstGeom prst="rect">
            <a:avLst/>
          </a:prstGeom>
          <a:noFill/>
          <a:ln/>
        </p:spPr>
        <p:txBody>
          <a:bodyPr wrap="square" lIns="0" tIns="0" rIns="0" bIns="0" rtlCol="0" anchor="ctr"/>
          <a:lstStyle/>
          <a:p>
            <a:pPr marL="0" indent="0">
              <a:buNone/>
            </a:pPr>
            <a:r>
              <a:rPr lang="en-US" sz="1700" dirty="0">
                <a:solidFill>
                  <a:srgbClr val="3D3D3D"/>
                </a:solidFill>
                <a:latin typeface="Calibri" pitchFamily="34" charset="0"/>
                <a:ea typeface="Calibri" pitchFamily="34" charset="-122"/>
                <a:cs typeface="Calibri" pitchFamily="34" charset="-120"/>
              </a:rPr>
              <a:t>Muammo: 1000 betlik lug'atdan bitta so'zni toping.</a:t>
            </a:r>
            <a:endParaRPr lang="en-US" sz="1700" dirty="0"/>
          </a:p>
        </p:txBody>
      </p:sp>
      <p:sp>
        <p:nvSpPr>
          <p:cNvPr id="6" name="Shape 4"/>
          <p:cNvSpPr/>
          <p:nvPr/>
        </p:nvSpPr>
        <p:spPr>
          <a:xfrm>
            <a:off x="640080" y="2697480"/>
            <a:ext cx="5120640" cy="3291840"/>
          </a:xfrm>
          <a:prstGeom prst="roundRect">
            <a:avLst>
              <a:gd name="adj" fmla="val 2222"/>
            </a:avLst>
          </a:prstGeom>
          <a:solidFill>
            <a:srgbClr val="F2F2F2"/>
          </a:solidFill>
          <a:ln w="12700">
            <a:solidFill>
              <a:srgbClr val="D9D9D9"/>
            </a:solidFill>
            <a:prstDash val="solid"/>
          </a:ln>
        </p:spPr>
        <p:txBody>
          <a:bodyPr/>
          <a:lstStyle/>
          <a:p>
            <a:endParaRPr lang="en-US"/>
          </a:p>
        </p:txBody>
      </p:sp>
      <p:sp>
        <p:nvSpPr>
          <p:cNvPr id="7" name="Text 5"/>
          <p:cNvSpPr txBox="1"/>
          <p:nvPr/>
        </p:nvSpPr>
        <p:spPr>
          <a:xfrm>
            <a:off x="960120" y="2971800"/>
            <a:ext cx="4480560" cy="365760"/>
          </a:xfrm>
          <a:prstGeom prst="rect">
            <a:avLst/>
          </a:prstGeom>
          <a:noFill/>
          <a:ln/>
        </p:spPr>
        <p:txBody>
          <a:bodyPr wrap="square" lIns="0" tIns="0" rIns="0" bIns="0" rtlCol="0" anchor="ctr"/>
          <a:lstStyle/>
          <a:p>
            <a:pPr marL="0" indent="0">
              <a:buNone/>
            </a:pPr>
            <a:r>
              <a:rPr lang="en-US" sz="1700" b="1" dirty="0">
                <a:solidFill>
                  <a:srgbClr val="000000"/>
                </a:solidFill>
                <a:latin typeface="Calibri" pitchFamily="34" charset="0"/>
                <a:ea typeface="Calibri" pitchFamily="34" charset="-122"/>
                <a:cs typeface="Calibri" pitchFamily="34" charset="-120"/>
              </a:rPr>
              <a:t>Yomon Yondashuv</a:t>
            </a:r>
            <a:endParaRPr lang="en-US" sz="1700" dirty="0"/>
          </a:p>
        </p:txBody>
      </p:sp>
      <p:sp>
        <p:nvSpPr>
          <p:cNvPr id="8" name="Text 6"/>
          <p:cNvSpPr txBox="1"/>
          <p:nvPr/>
        </p:nvSpPr>
        <p:spPr>
          <a:xfrm>
            <a:off x="960120" y="3474720"/>
            <a:ext cx="4480560" cy="1005840"/>
          </a:xfrm>
          <a:prstGeom prst="rect">
            <a:avLst/>
          </a:prstGeom>
          <a:noFill/>
          <a:ln/>
        </p:spPr>
        <p:txBody>
          <a:bodyPr wrap="square" lIns="0" tIns="0" rIns="0" bIns="0" rtlCol="0" anchor="ctr"/>
          <a:lstStyle/>
          <a:p>
            <a:pPr marL="0" indent="0">
              <a:lnSpc>
                <a:spcPct val="130000"/>
              </a:lnSpc>
              <a:buNone/>
            </a:pPr>
            <a:r>
              <a:rPr lang="en-US" sz="1350" dirty="0">
                <a:solidFill>
                  <a:srgbClr val="3D3D3D"/>
                </a:solidFill>
                <a:latin typeface="Calibri" pitchFamily="34" charset="0"/>
                <a:ea typeface="Calibri" pitchFamily="34" charset="-122"/>
                <a:cs typeface="Calibri" pitchFamily="34" charset="-120"/>
              </a:rPr>
              <a:t>1-betdan boshlang va so'zni topguningizcha</a:t>
            </a:r>
            <a:endParaRPr lang="en-US" sz="1350" dirty="0"/>
          </a:p>
          <a:p>
            <a:pPr marL="0" indent="0">
              <a:lnSpc>
                <a:spcPct val="130000"/>
              </a:lnSpc>
              <a:buNone/>
            </a:pPr>
            <a:r>
              <a:rPr lang="en-US" sz="1350" dirty="0">
                <a:solidFill>
                  <a:srgbClr val="3D3D3D"/>
                </a:solidFill>
                <a:latin typeface="Calibri" pitchFamily="34" charset="0"/>
                <a:ea typeface="Calibri" pitchFamily="34" charset="-122"/>
                <a:cs typeface="Calibri" pitchFamily="34" charset="-120"/>
              </a:rPr>
              <a:t>betlarni birma-bir varaqlang.</a:t>
            </a:r>
            <a:endParaRPr lang="en-US" sz="1350" dirty="0"/>
          </a:p>
        </p:txBody>
      </p:sp>
      <p:sp>
        <p:nvSpPr>
          <p:cNvPr id="9" name="Text 7"/>
          <p:cNvSpPr txBox="1"/>
          <p:nvPr/>
        </p:nvSpPr>
        <p:spPr>
          <a:xfrm>
            <a:off x="960120" y="5257800"/>
            <a:ext cx="4480560" cy="457200"/>
          </a:xfrm>
          <a:prstGeom prst="rect">
            <a:avLst/>
          </a:prstGeom>
          <a:noFill/>
          <a:ln/>
        </p:spPr>
        <p:txBody>
          <a:bodyPr wrap="square" lIns="0" tIns="0" rIns="0" bIns="0" rtlCol="0" anchor="ctr"/>
          <a:lstStyle/>
          <a:p>
            <a:pPr marL="0" indent="0">
              <a:buNone/>
            </a:pPr>
            <a:r>
              <a:rPr lang="en-US" sz="1450" b="1" dirty="0">
                <a:solidFill>
                  <a:srgbClr val="000000"/>
                </a:solidFill>
                <a:latin typeface="Calibri" pitchFamily="34" charset="0"/>
                <a:ea typeface="Calibri" pitchFamily="34" charset="-122"/>
                <a:cs typeface="Calibri" pitchFamily="34" charset="-120"/>
              </a:rPr>
              <a:t>~500 marta varaqlash mumkin</a:t>
            </a:r>
            <a:endParaRPr lang="en-US" sz="1450" dirty="0"/>
          </a:p>
        </p:txBody>
      </p:sp>
      <p:sp>
        <p:nvSpPr>
          <p:cNvPr id="10" name="Shape 8"/>
          <p:cNvSpPr/>
          <p:nvPr/>
        </p:nvSpPr>
        <p:spPr>
          <a:xfrm>
            <a:off x="6126480" y="2697480"/>
            <a:ext cx="5120640" cy="3291840"/>
          </a:xfrm>
          <a:prstGeom prst="roundRect">
            <a:avLst>
              <a:gd name="adj" fmla="val 2222"/>
            </a:avLst>
          </a:prstGeom>
          <a:solidFill>
            <a:srgbClr val="000000"/>
          </a:solidFill>
          <a:ln/>
        </p:spPr>
        <p:txBody>
          <a:bodyPr/>
          <a:lstStyle/>
          <a:p>
            <a:endParaRPr lang="en-US"/>
          </a:p>
        </p:txBody>
      </p:sp>
      <p:sp>
        <p:nvSpPr>
          <p:cNvPr id="11" name="Text 9"/>
          <p:cNvSpPr txBox="1"/>
          <p:nvPr/>
        </p:nvSpPr>
        <p:spPr>
          <a:xfrm>
            <a:off x="6446520" y="2971800"/>
            <a:ext cx="448056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Yaxshi Yondashuv</a:t>
            </a:r>
            <a:endParaRPr lang="en-US" sz="1700" dirty="0"/>
          </a:p>
        </p:txBody>
      </p:sp>
      <p:sp>
        <p:nvSpPr>
          <p:cNvPr id="12" name="Text 10"/>
          <p:cNvSpPr txBox="1"/>
          <p:nvPr/>
        </p:nvSpPr>
        <p:spPr>
          <a:xfrm>
            <a:off x="6446520" y="3474720"/>
            <a:ext cx="4480560" cy="1005840"/>
          </a:xfrm>
          <a:prstGeom prst="rect">
            <a:avLst/>
          </a:prstGeom>
          <a:noFill/>
          <a:ln/>
        </p:spPr>
        <p:txBody>
          <a:bodyPr wrap="square" lIns="0" tIns="0" rIns="0" bIns="0" rtlCol="0" anchor="ctr"/>
          <a:lstStyle/>
          <a:p>
            <a:pPr marL="0" indent="0">
              <a:lnSpc>
                <a:spcPct val="130000"/>
              </a:lnSpc>
              <a:buNone/>
            </a:pPr>
            <a:r>
              <a:rPr lang="en-US" sz="1350" dirty="0">
                <a:solidFill>
                  <a:srgbClr val="D9D9D9"/>
                </a:solidFill>
                <a:latin typeface="Calibri" pitchFamily="34" charset="0"/>
                <a:ea typeface="Calibri" pitchFamily="34" charset="-122"/>
                <a:cs typeface="Calibri" pitchFamily="34" charset="-120"/>
              </a:rPr>
              <a:t>Lug'atni taxminan o'rtadan oching. Kerakli so'z undan oldinmi</a:t>
            </a:r>
            <a:endParaRPr lang="en-US" sz="1350" dirty="0"/>
          </a:p>
          <a:p>
            <a:pPr marL="0" indent="0">
              <a:lnSpc>
                <a:spcPct val="130000"/>
              </a:lnSpc>
              <a:buNone/>
            </a:pPr>
            <a:r>
              <a:rPr lang="en-US" sz="1350" dirty="0">
                <a:solidFill>
                  <a:srgbClr val="D9D9D9"/>
                </a:solidFill>
                <a:latin typeface="Calibri" pitchFamily="34" charset="0"/>
                <a:ea typeface="Calibri" pitchFamily="34" charset="-122"/>
                <a:cs typeface="Calibri" pitchFamily="34" charset="-120"/>
              </a:rPr>
              <a:t>yoki keyinmi — shu tomonga o'ting va yana o'rtadan oching.</a:t>
            </a:r>
            <a:endParaRPr lang="en-US" sz="1350" dirty="0"/>
          </a:p>
        </p:txBody>
      </p:sp>
      <p:sp>
        <p:nvSpPr>
          <p:cNvPr id="13" name="Text 11"/>
          <p:cNvSpPr txBox="1"/>
          <p:nvPr/>
        </p:nvSpPr>
        <p:spPr>
          <a:xfrm>
            <a:off x="6446520" y="5257800"/>
            <a:ext cx="4480560"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~10 marta ochish</a:t>
            </a:r>
            <a:endParaRPr lang="en-US" sz="1450" dirty="0"/>
          </a:p>
        </p:txBody>
      </p:sp>
      <p:sp>
        <p:nvSpPr>
          <p:cNvPr id="14" name="Text 12"/>
          <p:cNvSpPr txBox="1"/>
          <p:nvPr/>
        </p:nvSpPr>
        <p:spPr>
          <a:xfrm>
            <a:off x="11368735" y="6355080"/>
            <a:ext cx="548640" cy="320040"/>
          </a:xfrm>
          <a:prstGeom prst="rect">
            <a:avLst/>
          </a:prstGeom>
          <a:noFill/>
          <a:ln/>
        </p:spPr>
        <p:txBody>
          <a:bodyPr wrap="square" lIns="0" tIns="0" rIns="0" bIns="0" rtlCol="0" anchor="ctr"/>
          <a:lstStyle/>
          <a:p>
            <a:pPr marL="0" indent="0" algn="r">
              <a:buNone/>
            </a:pPr>
            <a:r>
              <a:rPr lang="en-US" sz="1200" dirty="0">
                <a:solidFill>
                  <a:srgbClr val="6E6E6E"/>
                </a:solidFill>
                <a:latin typeface="Calibri" pitchFamily="34" charset="0"/>
                <a:ea typeface="Calibri" pitchFamily="34" charset="-122"/>
                <a:cs typeface="Calibri" pitchFamily="34" charset="-120"/>
              </a:rPr>
              <a:t>16</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640080" y="1965960"/>
            <a:ext cx="10911535" cy="0"/>
          </a:xfrm>
          <a:prstGeom prst="line">
            <a:avLst/>
          </a:prstGeom>
          <a:noFill/>
          <a:ln w="15875">
            <a:solidFill>
              <a:srgbClr val="3A3A3A"/>
            </a:solidFill>
            <a:prstDash val="solid"/>
          </a:ln>
        </p:spPr>
        <p:txBody>
          <a:bodyPr/>
          <a:lstStyle/>
          <a:p>
            <a:endParaRPr lang="en-US"/>
          </a:p>
        </p:txBody>
      </p:sp>
      <p:sp>
        <p:nvSpPr>
          <p:cNvPr id="3" name="Text 1"/>
          <p:cNvSpPr txBox="1"/>
          <p:nvPr/>
        </p:nvSpPr>
        <p:spPr>
          <a:xfrm>
            <a:off x="822960" y="2194560"/>
            <a:ext cx="2743200" cy="502920"/>
          </a:xfrm>
          <a:prstGeom prst="rect">
            <a:avLst/>
          </a:prstGeom>
          <a:noFill/>
          <a:ln/>
        </p:spPr>
        <p:txBody>
          <a:bodyPr wrap="square" lIns="0" tIns="0" rIns="0" bIns="0" rtlCol="0" anchor="ctr"/>
          <a:lstStyle/>
          <a:p>
            <a:pPr marL="0" indent="0">
              <a:buNone/>
            </a:pPr>
            <a:r>
              <a:rPr lang="en-US" sz="2400" dirty="0">
                <a:solidFill>
                  <a:srgbClr val="D9D9D9"/>
                </a:solidFill>
                <a:latin typeface="Cambria" pitchFamily="34" charset="0"/>
                <a:ea typeface="Cambria" pitchFamily="34" charset="-122"/>
                <a:cs typeface="Cambria" pitchFamily="34" charset="-120"/>
              </a:rPr>
              <a:t>04</a:t>
            </a:r>
            <a:endParaRPr lang="en-US" sz="2400" dirty="0"/>
          </a:p>
        </p:txBody>
      </p:sp>
      <p:sp>
        <p:nvSpPr>
          <p:cNvPr id="4" name="Text 2"/>
          <p:cNvSpPr txBox="1"/>
          <p:nvPr/>
        </p:nvSpPr>
        <p:spPr>
          <a:xfrm>
            <a:off x="822960" y="2743200"/>
            <a:ext cx="10515600" cy="1005840"/>
          </a:xfrm>
          <a:prstGeom prst="rect">
            <a:avLst/>
          </a:prstGeom>
          <a:noFill/>
          <a:ln/>
        </p:spPr>
        <p:txBody>
          <a:bodyPr wrap="square" lIns="0" tIns="0" rIns="0" bIns="0" rtlCol="0" anchor="t"/>
          <a:lstStyle/>
          <a:p>
            <a:pPr marL="0" indent="0">
              <a:buNone/>
            </a:pPr>
            <a:r>
              <a:rPr lang="en-US" sz="4200" b="1" dirty="0">
                <a:solidFill>
                  <a:srgbClr val="FFFFFF"/>
                </a:solidFill>
                <a:latin typeface="Cambria" pitchFamily="34" charset="0"/>
                <a:ea typeface="Cambria" pitchFamily="34" charset="-122"/>
                <a:cs typeface="Cambria" pitchFamily="34" charset="-120"/>
              </a:rPr>
              <a:t>Ma'lumotni Ifodalash</a:t>
            </a:r>
            <a:endParaRPr lang="en-US" sz="4200" dirty="0"/>
          </a:p>
        </p:txBody>
      </p:sp>
      <p:sp>
        <p:nvSpPr>
          <p:cNvPr id="5" name="Text 3"/>
          <p:cNvSpPr txBox="1"/>
          <p:nvPr/>
        </p:nvSpPr>
        <p:spPr>
          <a:xfrm>
            <a:off x="822960" y="3977640"/>
            <a:ext cx="9875520" cy="822960"/>
          </a:xfrm>
          <a:prstGeom prst="rect">
            <a:avLst/>
          </a:prstGeom>
          <a:noFill/>
          <a:ln/>
        </p:spPr>
        <p:txBody>
          <a:bodyPr wrap="square" lIns="0" tIns="0" rIns="0" bIns="0" rtlCol="0" anchor="ctr"/>
          <a:lstStyle/>
          <a:p>
            <a:pPr marL="0" indent="0">
              <a:lnSpc>
                <a:spcPct val="125000"/>
              </a:lnSpc>
              <a:buNone/>
            </a:pP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8686800" cy="365760"/>
          </a:xfrm>
          <a:prstGeom prst="rect">
            <a:avLst/>
          </a:prstGeom>
          <a:noFill/>
          <a:ln/>
        </p:spPr>
        <p:txBody>
          <a:bodyPr wrap="square" lIns="0" tIns="0" rIns="0" bIns="0" rtlCol="0" anchor="ctr"/>
          <a:lstStyle/>
          <a:p>
            <a:pPr marL="0" indent="0">
              <a:buNone/>
            </a:pPr>
            <a:endParaRPr lang="en-US" sz="1500" dirty="0"/>
          </a:p>
        </p:txBody>
      </p:sp>
      <p:sp>
        <p:nvSpPr>
          <p:cNvPr id="3" name="Text 1"/>
          <p:cNvSpPr txBox="1"/>
          <p:nvPr/>
        </p:nvSpPr>
        <p:spPr>
          <a:xfrm>
            <a:off x="640080" y="868680"/>
            <a:ext cx="10881360" cy="1005840"/>
          </a:xfrm>
          <a:prstGeom prst="rect">
            <a:avLst/>
          </a:prstGeom>
          <a:noFill/>
          <a:ln/>
        </p:spPr>
        <p:txBody>
          <a:bodyPr wrap="square" lIns="0" tIns="0" rIns="0" bIns="0" rtlCol="0" anchor="ctr"/>
          <a:lstStyle/>
          <a:p>
            <a:pPr marL="0" indent="0" algn="l">
              <a:buNone/>
            </a:pPr>
            <a:r>
              <a:rPr lang="en-US" sz="3200" b="1" dirty="0">
                <a:solidFill>
                  <a:srgbClr val="000000"/>
                </a:solidFill>
                <a:latin typeface="Cambria" pitchFamily="34" charset="0"/>
                <a:ea typeface="Cambria" pitchFamily="34" charset="-122"/>
                <a:cs typeface="Cambria" pitchFamily="34" charset="-120"/>
              </a:rPr>
              <a:t>Hammasi Kalitdan Boshlanadi</a:t>
            </a:r>
            <a:endParaRPr lang="en-US" sz="3200" dirty="0"/>
          </a:p>
        </p:txBody>
      </p:sp>
      <p:sp>
        <p:nvSpPr>
          <p:cNvPr id="4" name="Shape 2"/>
          <p:cNvSpPr/>
          <p:nvPr/>
        </p:nvSpPr>
        <p:spPr>
          <a:xfrm>
            <a:off x="640080" y="1874520"/>
            <a:ext cx="10911535" cy="0"/>
          </a:xfrm>
          <a:prstGeom prst="line">
            <a:avLst/>
          </a:prstGeom>
          <a:noFill/>
          <a:ln w="15875">
            <a:solidFill>
              <a:srgbClr val="D9D9D9"/>
            </a:solidFill>
            <a:prstDash val="solid"/>
          </a:ln>
        </p:spPr>
        <p:txBody>
          <a:bodyPr/>
          <a:lstStyle/>
          <a:p>
            <a:endParaRPr lang="en-US"/>
          </a:p>
        </p:txBody>
      </p:sp>
      <p:sp>
        <p:nvSpPr>
          <p:cNvPr id="5" name="Text 3"/>
          <p:cNvSpPr txBox="1"/>
          <p:nvPr/>
        </p:nvSpPr>
        <p:spPr>
          <a:xfrm>
            <a:off x="640080" y="2011680"/>
            <a:ext cx="10607040" cy="457200"/>
          </a:xfrm>
          <a:prstGeom prst="rect">
            <a:avLst/>
          </a:prstGeom>
          <a:noFill/>
          <a:ln/>
        </p:spPr>
        <p:txBody>
          <a:bodyPr wrap="square" lIns="0" tIns="0" rIns="0" bIns="0" rtlCol="0" anchor="ctr"/>
          <a:lstStyle/>
          <a:p>
            <a:pPr marL="0" indent="0">
              <a:buNone/>
            </a:pPr>
            <a:r>
              <a:rPr lang="en-US" sz="1700" dirty="0">
                <a:solidFill>
                  <a:srgbClr val="3D3D3D"/>
                </a:solidFill>
                <a:latin typeface="Calibri" pitchFamily="34" charset="0"/>
                <a:ea typeface="Calibri" pitchFamily="34" charset="-122"/>
                <a:cs typeface="Calibri" pitchFamily="34" charset="-120"/>
              </a:rPr>
              <a:t>Tranzistor — kompyuterning asosiy qurilish bloki — aynan ikkita holatga ega.</a:t>
            </a:r>
            <a:endParaRPr lang="en-US" sz="1700" dirty="0"/>
          </a:p>
        </p:txBody>
      </p:sp>
      <p:sp>
        <p:nvSpPr>
          <p:cNvPr id="6" name="Shape 4"/>
          <p:cNvSpPr/>
          <p:nvPr/>
        </p:nvSpPr>
        <p:spPr>
          <a:xfrm>
            <a:off x="777240" y="2743200"/>
            <a:ext cx="5029200" cy="2377440"/>
          </a:xfrm>
          <a:prstGeom prst="roundRect">
            <a:avLst>
              <a:gd name="adj" fmla="val 3077"/>
            </a:avLst>
          </a:prstGeom>
          <a:solidFill>
            <a:srgbClr val="000000"/>
          </a:solidFill>
          <a:ln/>
        </p:spPr>
        <p:txBody>
          <a:bodyPr/>
          <a:lstStyle/>
          <a:p>
            <a:endParaRPr lang="en-US"/>
          </a:p>
        </p:txBody>
      </p:sp>
      <p:sp>
        <p:nvSpPr>
          <p:cNvPr id="7" name="Text 5"/>
          <p:cNvSpPr txBox="1"/>
          <p:nvPr/>
        </p:nvSpPr>
        <p:spPr>
          <a:xfrm>
            <a:off x="777240" y="3200400"/>
            <a:ext cx="5029200" cy="914400"/>
          </a:xfrm>
          <a:prstGeom prst="rect">
            <a:avLst/>
          </a:prstGeom>
          <a:noFill/>
          <a:ln/>
        </p:spPr>
        <p:txBody>
          <a:bodyPr wrap="square" lIns="0" tIns="0" rIns="0" bIns="0" rtlCol="0" anchor="ctr"/>
          <a:lstStyle/>
          <a:p>
            <a:pPr marL="0" indent="0" algn="ctr">
              <a:buNone/>
            </a:pPr>
            <a:r>
              <a:rPr lang="en-US" sz="4800" b="1" dirty="0">
                <a:solidFill>
                  <a:srgbClr val="FFFFFF"/>
                </a:solidFill>
                <a:latin typeface="Cambria" pitchFamily="34" charset="0"/>
                <a:ea typeface="Cambria" pitchFamily="34" charset="-122"/>
                <a:cs typeface="Cambria" pitchFamily="34" charset="-120"/>
              </a:rPr>
              <a:t>YONIQ</a:t>
            </a:r>
            <a:endParaRPr lang="en-US" sz="4800" dirty="0"/>
          </a:p>
        </p:txBody>
      </p:sp>
      <p:sp>
        <p:nvSpPr>
          <p:cNvPr id="8" name="Text 6"/>
          <p:cNvSpPr txBox="1"/>
          <p:nvPr/>
        </p:nvSpPr>
        <p:spPr>
          <a:xfrm>
            <a:off x="777240" y="4206240"/>
            <a:ext cx="5029200" cy="457200"/>
          </a:xfrm>
          <a:prstGeom prst="rect">
            <a:avLst/>
          </a:prstGeom>
          <a:noFill/>
          <a:ln/>
        </p:spPr>
        <p:txBody>
          <a:bodyPr wrap="square" lIns="0" tIns="0" rIns="0" bIns="0" rtlCol="0" anchor="ctr"/>
          <a:lstStyle/>
          <a:p>
            <a:pPr marL="0" indent="0" algn="ctr">
              <a:buNone/>
            </a:pPr>
            <a:r>
              <a:rPr lang="en-US" sz="1500" dirty="0">
                <a:solidFill>
                  <a:srgbClr val="D9D9D9"/>
                </a:solidFill>
                <a:latin typeface="Calibri" pitchFamily="34" charset="0"/>
                <a:ea typeface="Calibri" pitchFamily="34" charset="-122"/>
                <a:cs typeface="Calibri" pitchFamily="34" charset="-120"/>
              </a:rPr>
              <a:t>1 sifatida ifodalanadi</a:t>
            </a:r>
            <a:endParaRPr lang="en-US" sz="1500" dirty="0"/>
          </a:p>
        </p:txBody>
      </p:sp>
      <p:sp>
        <p:nvSpPr>
          <p:cNvPr id="9" name="Shape 7"/>
          <p:cNvSpPr/>
          <p:nvPr/>
        </p:nvSpPr>
        <p:spPr>
          <a:xfrm>
            <a:off x="6355080" y="2743200"/>
            <a:ext cx="5029200" cy="2377440"/>
          </a:xfrm>
          <a:prstGeom prst="roundRect">
            <a:avLst>
              <a:gd name="adj" fmla="val 3077"/>
            </a:avLst>
          </a:prstGeom>
          <a:solidFill>
            <a:srgbClr val="FFFFFF"/>
          </a:solidFill>
          <a:ln w="25400">
            <a:solidFill>
              <a:srgbClr val="000000"/>
            </a:solidFill>
            <a:prstDash val="solid"/>
          </a:ln>
        </p:spPr>
        <p:txBody>
          <a:bodyPr/>
          <a:lstStyle/>
          <a:p>
            <a:endParaRPr lang="en-US"/>
          </a:p>
        </p:txBody>
      </p:sp>
      <p:sp>
        <p:nvSpPr>
          <p:cNvPr id="10" name="Text 8"/>
          <p:cNvSpPr txBox="1"/>
          <p:nvPr/>
        </p:nvSpPr>
        <p:spPr>
          <a:xfrm>
            <a:off x="6355080" y="3200400"/>
            <a:ext cx="5029200" cy="914400"/>
          </a:xfrm>
          <a:prstGeom prst="rect">
            <a:avLst/>
          </a:prstGeom>
          <a:noFill/>
          <a:ln/>
        </p:spPr>
        <p:txBody>
          <a:bodyPr wrap="square" lIns="0" tIns="0" rIns="0" bIns="0" rtlCol="0" anchor="ctr"/>
          <a:lstStyle/>
          <a:p>
            <a:pPr marL="0" indent="0" algn="ctr">
              <a:buNone/>
            </a:pPr>
            <a:r>
              <a:rPr lang="en-US" sz="4800" b="1" dirty="0">
                <a:solidFill>
                  <a:srgbClr val="000000"/>
                </a:solidFill>
                <a:latin typeface="Cambria" pitchFamily="34" charset="0"/>
                <a:ea typeface="Cambria" pitchFamily="34" charset="-122"/>
                <a:cs typeface="Cambria" pitchFamily="34" charset="-120"/>
              </a:rPr>
              <a:t>O'CHIQ</a:t>
            </a:r>
            <a:endParaRPr lang="en-US" sz="4800" dirty="0"/>
          </a:p>
        </p:txBody>
      </p:sp>
      <p:sp>
        <p:nvSpPr>
          <p:cNvPr id="11" name="Text 9"/>
          <p:cNvSpPr txBox="1"/>
          <p:nvPr/>
        </p:nvSpPr>
        <p:spPr>
          <a:xfrm>
            <a:off x="6355080" y="4206240"/>
            <a:ext cx="5029200" cy="457200"/>
          </a:xfrm>
          <a:prstGeom prst="rect">
            <a:avLst/>
          </a:prstGeom>
          <a:noFill/>
          <a:ln/>
        </p:spPr>
        <p:txBody>
          <a:bodyPr wrap="square" lIns="0" tIns="0" rIns="0" bIns="0" rtlCol="0" anchor="ctr"/>
          <a:lstStyle/>
          <a:p>
            <a:pPr marL="0" indent="0" algn="ctr">
              <a:buNone/>
            </a:pPr>
            <a:r>
              <a:rPr lang="en-US" sz="1500" dirty="0">
                <a:solidFill>
                  <a:srgbClr val="6E6E6E"/>
                </a:solidFill>
                <a:latin typeface="Calibri" pitchFamily="34" charset="0"/>
                <a:ea typeface="Calibri" pitchFamily="34" charset="-122"/>
                <a:cs typeface="Calibri" pitchFamily="34" charset="-120"/>
              </a:rPr>
              <a:t>0 sifatida ifodalanadi</a:t>
            </a:r>
            <a:endParaRPr lang="en-US" sz="1500" dirty="0"/>
          </a:p>
        </p:txBody>
      </p:sp>
      <p:sp>
        <p:nvSpPr>
          <p:cNvPr id="12" name="Text 10"/>
          <p:cNvSpPr txBox="1"/>
          <p:nvPr/>
        </p:nvSpPr>
        <p:spPr>
          <a:xfrm>
            <a:off x="640080" y="5394960"/>
            <a:ext cx="10607040" cy="548640"/>
          </a:xfrm>
          <a:prstGeom prst="rect">
            <a:avLst/>
          </a:prstGeom>
          <a:noFill/>
          <a:ln/>
        </p:spPr>
        <p:txBody>
          <a:bodyPr wrap="square" lIns="0" tIns="0" rIns="0" bIns="0" rtlCol="0" anchor="ctr"/>
          <a:lstStyle/>
          <a:p>
            <a:pPr marL="0" indent="0">
              <a:buNone/>
            </a:pPr>
            <a:r>
              <a:rPr lang="en-US" sz="1400" i="1" dirty="0">
                <a:solidFill>
                  <a:srgbClr val="6E6E6E"/>
                </a:solidFill>
                <a:latin typeface="Calibri" pitchFamily="34" charset="0"/>
                <a:ea typeface="Calibri" pitchFamily="34" charset="-122"/>
                <a:cs typeface="Calibri" pitchFamily="34" charset="-120"/>
              </a:rPr>
              <a:t>Kompyuter ishlaydigan har qanday ma'lumot — matn, rasm, tovush, video — oxir-oqibat shu ikki holatning naqshlaridan tuziladi.</a:t>
            </a:r>
            <a:endParaRPr lang="en-US" sz="1400" dirty="0"/>
          </a:p>
        </p:txBody>
      </p:sp>
      <p:sp>
        <p:nvSpPr>
          <p:cNvPr id="13" name="Text 11"/>
          <p:cNvSpPr txBox="1"/>
          <p:nvPr/>
        </p:nvSpPr>
        <p:spPr>
          <a:xfrm>
            <a:off x="11368735" y="6355080"/>
            <a:ext cx="548640" cy="320040"/>
          </a:xfrm>
          <a:prstGeom prst="rect">
            <a:avLst/>
          </a:prstGeom>
          <a:noFill/>
          <a:ln/>
        </p:spPr>
        <p:txBody>
          <a:bodyPr wrap="square" lIns="0" tIns="0" rIns="0" bIns="0" rtlCol="0" anchor="ctr"/>
          <a:lstStyle/>
          <a:p>
            <a:pPr marL="0" indent="0" algn="r">
              <a:buNone/>
            </a:pPr>
            <a:r>
              <a:rPr lang="en-US" sz="1200" dirty="0">
                <a:solidFill>
                  <a:srgbClr val="6E6E6E"/>
                </a:solidFill>
                <a:latin typeface="Calibri" pitchFamily="34" charset="0"/>
                <a:ea typeface="Calibri" pitchFamily="34" charset="-122"/>
                <a:cs typeface="Calibri" pitchFamily="34" charset="-120"/>
              </a:rPr>
              <a:t>18</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8686800" cy="365760"/>
          </a:xfrm>
          <a:prstGeom prst="rect">
            <a:avLst/>
          </a:prstGeom>
          <a:noFill/>
          <a:ln/>
        </p:spPr>
        <p:txBody>
          <a:bodyPr wrap="square" lIns="0" tIns="0" rIns="0" bIns="0" rtlCol="0" anchor="ctr"/>
          <a:lstStyle/>
          <a:p>
            <a:pPr marL="0" indent="0">
              <a:buNone/>
            </a:pPr>
            <a:endParaRPr lang="en-US" sz="1500" dirty="0"/>
          </a:p>
        </p:txBody>
      </p:sp>
      <p:sp>
        <p:nvSpPr>
          <p:cNvPr id="3" name="Text 1"/>
          <p:cNvSpPr txBox="1"/>
          <p:nvPr/>
        </p:nvSpPr>
        <p:spPr>
          <a:xfrm>
            <a:off x="640080" y="868680"/>
            <a:ext cx="10881360" cy="1005840"/>
          </a:xfrm>
          <a:prstGeom prst="rect">
            <a:avLst/>
          </a:prstGeom>
          <a:noFill/>
          <a:ln/>
        </p:spPr>
        <p:txBody>
          <a:bodyPr wrap="square" lIns="0" tIns="0" rIns="0" bIns="0" rtlCol="0" anchor="ctr"/>
          <a:lstStyle/>
          <a:p>
            <a:pPr marL="0" indent="0" algn="l">
              <a:buNone/>
            </a:pPr>
            <a:r>
              <a:rPr lang="en-US" sz="3200" b="1" dirty="0">
                <a:solidFill>
                  <a:srgbClr val="000000"/>
                </a:solidFill>
                <a:latin typeface="Cambria" pitchFamily="34" charset="0"/>
                <a:ea typeface="Cambria" pitchFamily="34" charset="-122"/>
                <a:cs typeface="Cambria" pitchFamily="34" charset="-120"/>
              </a:rPr>
              <a:t>Unar — Eng Oddiy Tizim</a:t>
            </a:r>
            <a:endParaRPr lang="en-US" sz="3200" dirty="0"/>
          </a:p>
        </p:txBody>
      </p:sp>
      <p:sp>
        <p:nvSpPr>
          <p:cNvPr id="4" name="Shape 2"/>
          <p:cNvSpPr/>
          <p:nvPr/>
        </p:nvSpPr>
        <p:spPr>
          <a:xfrm>
            <a:off x="640080" y="1874520"/>
            <a:ext cx="10911535" cy="0"/>
          </a:xfrm>
          <a:prstGeom prst="line">
            <a:avLst/>
          </a:prstGeom>
          <a:noFill/>
          <a:ln w="15875">
            <a:solidFill>
              <a:srgbClr val="D9D9D9"/>
            </a:solidFill>
            <a:prstDash val="solid"/>
          </a:ln>
        </p:spPr>
        <p:txBody>
          <a:bodyPr/>
          <a:lstStyle/>
          <a:p>
            <a:endParaRPr lang="en-US"/>
          </a:p>
        </p:txBody>
      </p:sp>
      <p:sp>
        <p:nvSpPr>
          <p:cNvPr id="5" name="Text 3"/>
          <p:cNvSpPr txBox="1"/>
          <p:nvPr/>
        </p:nvSpPr>
        <p:spPr>
          <a:xfrm>
            <a:off x="640080" y="2011680"/>
            <a:ext cx="10607040" cy="457200"/>
          </a:xfrm>
          <a:prstGeom prst="rect">
            <a:avLst/>
          </a:prstGeom>
          <a:noFill/>
          <a:ln/>
        </p:spPr>
        <p:txBody>
          <a:bodyPr wrap="square" lIns="0" tIns="0" rIns="0" bIns="0" rtlCol="0" anchor="ctr"/>
          <a:lstStyle/>
          <a:p>
            <a:pPr marL="0" indent="0">
              <a:buNone/>
            </a:pPr>
            <a:r>
              <a:rPr lang="en-US" sz="1700" dirty="0">
                <a:solidFill>
                  <a:srgbClr val="3D3D3D"/>
                </a:solidFill>
                <a:latin typeface="Calibri" pitchFamily="34" charset="0"/>
                <a:ea typeface="Calibri" pitchFamily="34" charset="-122"/>
                <a:cs typeface="Calibri" pitchFamily="34" charset="-120"/>
              </a:rPr>
              <a:t>Sonni bitta belgini shuncha marta takrorlash orqali ifodalash.</a:t>
            </a:r>
            <a:endParaRPr lang="en-US" sz="1700" dirty="0"/>
          </a:p>
        </p:txBody>
      </p:sp>
      <p:sp>
        <p:nvSpPr>
          <p:cNvPr id="6" name="Text 4"/>
          <p:cNvSpPr txBox="1"/>
          <p:nvPr/>
        </p:nvSpPr>
        <p:spPr>
          <a:xfrm>
            <a:off x="777240" y="2834640"/>
            <a:ext cx="914400" cy="640080"/>
          </a:xfrm>
          <a:prstGeom prst="rect">
            <a:avLst/>
          </a:prstGeom>
          <a:noFill/>
          <a:ln/>
        </p:spPr>
        <p:txBody>
          <a:bodyPr wrap="square" lIns="0" tIns="0" rIns="0" bIns="0" rtlCol="0" anchor="ctr"/>
          <a:lstStyle/>
          <a:p>
            <a:pPr marL="0" indent="0">
              <a:buNone/>
            </a:pPr>
            <a:r>
              <a:rPr lang="en-US" sz="2600" b="1" dirty="0">
                <a:solidFill>
                  <a:srgbClr val="000000"/>
                </a:solidFill>
                <a:latin typeface="Cambria" pitchFamily="34" charset="0"/>
                <a:ea typeface="Cambria" pitchFamily="34" charset="-122"/>
                <a:cs typeface="Cambria" pitchFamily="34" charset="-120"/>
              </a:rPr>
              <a:t>3</a:t>
            </a:r>
            <a:endParaRPr lang="en-US" sz="2600" dirty="0"/>
          </a:p>
        </p:txBody>
      </p:sp>
      <p:sp>
        <p:nvSpPr>
          <p:cNvPr id="7" name="Text 5"/>
          <p:cNvSpPr txBox="1"/>
          <p:nvPr/>
        </p:nvSpPr>
        <p:spPr>
          <a:xfrm>
            <a:off x="1828800" y="2834640"/>
            <a:ext cx="8686800" cy="640080"/>
          </a:xfrm>
          <a:prstGeom prst="rect">
            <a:avLst/>
          </a:prstGeom>
          <a:noFill/>
          <a:ln/>
        </p:spPr>
        <p:txBody>
          <a:bodyPr wrap="square" lIns="0" tIns="0" rIns="0" bIns="0" rtlCol="0" anchor="ctr"/>
          <a:lstStyle/>
          <a:p>
            <a:pPr marL="0" indent="0">
              <a:buNone/>
            </a:pPr>
            <a:r>
              <a:rPr lang="en-US" sz="2200" kern="0" spc="200" dirty="0">
                <a:solidFill>
                  <a:srgbClr val="1A1A1A"/>
                </a:solidFill>
                <a:latin typeface="Calibri" pitchFamily="34" charset="0"/>
                <a:ea typeface="Calibri" pitchFamily="34" charset="-122"/>
                <a:cs typeface="Calibri" pitchFamily="34" charset="-120"/>
              </a:rPr>
              <a:t>● ● ●</a:t>
            </a:r>
            <a:endParaRPr lang="en-US" sz="2200" dirty="0"/>
          </a:p>
        </p:txBody>
      </p:sp>
      <p:sp>
        <p:nvSpPr>
          <p:cNvPr id="8" name="Text 6"/>
          <p:cNvSpPr txBox="1"/>
          <p:nvPr/>
        </p:nvSpPr>
        <p:spPr>
          <a:xfrm>
            <a:off x="777240" y="3703320"/>
            <a:ext cx="914400" cy="640080"/>
          </a:xfrm>
          <a:prstGeom prst="rect">
            <a:avLst/>
          </a:prstGeom>
          <a:noFill/>
          <a:ln/>
        </p:spPr>
        <p:txBody>
          <a:bodyPr wrap="square" lIns="0" tIns="0" rIns="0" bIns="0" rtlCol="0" anchor="ctr"/>
          <a:lstStyle/>
          <a:p>
            <a:pPr marL="0" indent="0">
              <a:buNone/>
            </a:pPr>
            <a:r>
              <a:rPr lang="en-US" sz="2600" b="1" dirty="0">
                <a:solidFill>
                  <a:srgbClr val="000000"/>
                </a:solidFill>
                <a:latin typeface="Cambria" pitchFamily="34" charset="0"/>
                <a:ea typeface="Cambria" pitchFamily="34" charset="-122"/>
                <a:cs typeface="Cambria" pitchFamily="34" charset="-120"/>
              </a:rPr>
              <a:t>7</a:t>
            </a:r>
            <a:endParaRPr lang="en-US" sz="2600" dirty="0"/>
          </a:p>
        </p:txBody>
      </p:sp>
      <p:sp>
        <p:nvSpPr>
          <p:cNvPr id="9" name="Text 7"/>
          <p:cNvSpPr txBox="1"/>
          <p:nvPr/>
        </p:nvSpPr>
        <p:spPr>
          <a:xfrm>
            <a:off x="1828800" y="3703320"/>
            <a:ext cx="8686800" cy="640080"/>
          </a:xfrm>
          <a:prstGeom prst="rect">
            <a:avLst/>
          </a:prstGeom>
          <a:noFill/>
          <a:ln/>
        </p:spPr>
        <p:txBody>
          <a:bodyPr wrap="square" lIns="0" tIns="0" rIns="0" bIns="0" rtlCol="0" anchor="ctr"/>
          <a:lstStyle/>
          <a:p>
            <a:pPr marL="0" indent="0">
              <a:buNone/>
            </a:pPr>
            <a:r>
              <a:rPr lang="en-US" sz="2200" kern="0" spc="200" dirty="0">
                <a:solidFill>
                  <a:srgbClr val="1A1A1A"/>
                </a:solidFill>
                <a:latin typeface="Calibri" pitchFamily="34" charset="0"/>
                <a:ea typeface="Calibri" pitchFamily="34" charset="-122"/>
                <a:cs typeface="Calibri" pitchFamily="34" charset="-120"/>
              </a:rPr>
              <a:t>● ● ● ● ● ● ●</a:t>
            </a:r>
            <a:endParaRPr lang="en-US" sz="2200" dirty="0"/>
          </a:p>
        </p:txBody>
      </p:sp>
      <p:sp>
        <p:nvSpPr>
          <p:cNvPr id="10" name="Shape 8"/>
          <p:cNvSpPr/>
          <p:nvPr/>
        </p:nvSpPr>
        <p:spPr>
          <a:xfrm>
            <a:off x="640080" y="4663440"/>
            <a:ext cx="10911535" cy="0"/>
          </a:xfrm>
          <a:prstGeom prst="line">
            <a:avLst/>
          </a:prstGeom>
          <a:noFill/>
          <a:ln w="15875">
            <a:solidFill>
              <a:srgbClr val="D9D9D9"/>
            </a:solidFill>
            <a:prstDash val="solid"/>
          </a:ln>
        </p:spPr>
        <p:txBody>
          <a:bodyPr/>
          <a:lstStyle/>
          <a:p>
            <a:endParaRPr lang="en-US"/>
          </a:p>
        </p:txBody>
      </p:sp>
      <p:sp>
        <p:nvSpPr>
          <p:cNvPr id="11" name="Text 9"/>
          <p:cNvSpPr txBox="1"/>
          <p:nvPr/>
        </p:nvSpPr>
        <p:spPr>
          <a:xfrm>
            <a:off x="640080" y="4892040"/>
            <a:ext cx="10607040" cy="548640"/>
          </a:xfrm>
          <a:prstGeom prst="rect">
            <a:avLst/>
          </a:prstGeom>
          <a:noFill/>
          <a:ln/>
        </p:spPr>
        <p:txBody>
          <a:bodyPr wrap="square" lIns="0" tIns="0" rIns="0" bIns="0" rtlCol="0" anchor="ctr"/>
          <a:lstStyle/>
          <a:p>
            <a:pPr marL="0" indent="0">
              <a:buNone/>
            </a:pPr>
            <a:r>
              <a:rPr lang="en-US" sz="1800" i="1" dirty="0">
                <a:solidFill>
                  <a:srgbClr val="000000"/>
                </a:solidFill>
                <a:latin typeface="Cambria" pitchFamily="34" charset="0"/>
                <a:ea typeface="Cambria" pitchFamily="34" charset="-122"/>
                <a:cs typeface="Cambria" pitchFamily="34" charset="-120"/>
              </a:rPr>
              <a:t>Muammo: 1000 sonini ifodalash uchun 1000 ta belgi kerak bo'ladi. Bu kengaymaydi.</a:t>
            </a:r>
            <a:endParaRPr lang="en-US" sz="1800" dirty="0"/>
          </a:p>
        </p:txBody>
      </p:sp>
      <p:sp>
        <p:nvSpPr>
          <p:cNvPr id="12" name="Text 10"/>
          <p:cNvSpPr txBox="1"/>
          <p:nvPr/>
        </p:nvSpPr>
        <p:spPr>
          <a:xfrm>
            <a:off x="11368735" y="6355080"/>
            <a:ext cx="548640" cy="320040"/>
          </a:xfrm>
          <a:prstGeom prst="rect">
            <a:avLst/>
          </a:prstGeom>
          <a:noFill/>
          <a:ln/>
        </p:spPr>
        <p:txBody>
          <a:bodyPr wrap="square" lIns="0" tIns="0" rIns="0" bIns="0" rtlCol="0" anchor="ctr"/>
          <a:lstStyle/>
          <a:p>
            <a:pPr marL="0" indent="0" algn="r">
              <a:buNone/>
            </a:pPr>
            <a:r>
              <a:rPr lang="en-US" sz="1200" dirty="0">
                <a:solidFill>
                  <a:srgbClr val="6E6E6E"/>
                </a:solidFill>
                <a:latin typeface="Calibri" pitchFamily="34" charset="0"/>
                <a:ea typeface="Calibri" pitchFamily="34" charset="-122"/>
                <a:cs typeface="Calibri" pitchFamily="34" charset="-120"/>
              </a:rPr>
              <a:t>19</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8686800" cy="365760"/>
          </a:xfrm>
          <a:prstGeom prst="rect">
            <a:avLst/>
          </a:prstGeom>
          <a:noFill/>
          <a:ln/>
        </p:spPr>
        <p:txBody>
          <a:bodyPr wrap="square" lIns="0" tIns="0" rIns="0" bIns="0" rtlCol="0" anchor="ctr"/>
          <a:lstStyle/>
          <a:p>
            <a:pPr marL="0" indent="0">
              <a:buNone/>
            </a:pPr>
            <a:endParaRPr lang="en-US" sz="1500" dirty="0"/>
          </a:p>
        </p:txBody>
      </p:sp>
      <p:sp>
        <p:nvSpPr>
          <p:cNvPr id="3" name="Text 1"/>
          <p:cNvSpPr txBox="1"/>
          <p:nvPr/>
        </p:nvSpPr>
        <p:spPr>
          <a:xfrm>
            <a:off x="640080" y="868680"/>
            <a:ext cx="10881360" cy="1005840"/>
          </a:xfrm>
          <a:prstGeom prst="rect">
            <a:avLst/>
          </a:prstGeom>
          <a:noFill/>
          <a:ln/>
        </p:spPr>
        <p:txBody>
          <a:bodyPr wrap="square" lIns="0" tIns="0" rIns="0" bIns="0" rtlCol="0" anchor="ctr"/>
          <a:lstStyle/>
          <a:p>
            <a:pPr marL="0" indent="0" algn="l">
              <a:buNone/>
            </a:pPr>
            <a:r>
              <a:rPr lang="en-US" sz="3200" b="1" dirty="0">
                <a:solidFill>
                  <a:srgbClr val="000000"/>
                </a:solidFill>
                <a:latin typeface="Cambria" pitchFamily="34" charset="0"/>
                <a:ea typeface="Cambria" pitchFamily="34" charset="-122"/>
                <a:cs typeface="Cambria" pitchFamily="34" charset="-120"/>
              </a:rPr>
              <a:t>Ikkilik Tizim — Ikki Belgi Bilan Sanash</a:t>
            </a:r>
            <a:endParaRPr lang="en-US" sz="3200" dirty="0"/>
          </a:p>
        </p:txBody>
      </p:sp>
      <p:sp>
        <p:nvSpPr>
          <p:cNvPr id="4" name="Shape 2"/>
          <p:cNvSpPr/>
          <p:nvPr/>
        </p:nvSpPr>
        <p:spPr>
          <a:xfrm>
            <a:off x="640080" y="1874520"/>
            <a:ext cx="10911535" cy="0"/>
          </a:xfrm>
          <a:prstGeom prst="line">
            <a:avLst/>
          </a:prstGeom>
          <a:noFill/>
          <a:ln w="15875">
            <a:solidFill>
              <a:srgbClr val="D9D9D9"/>
            </a:solidFill>
            <a:prstDash val="solid"/>
          </a:ln>
        </p:spPr>
        <p:txBody>
          <a:bodyPr/>
          <a:lstStyle/>
          <a:p>
            <a:endParaRPr lang="en-US"/>
          </a:p>
        </p:txBody>
      </p:sp>
      <p:sp>
        <p:nvSpPr>
          <p:cNvPr id="5" name="Text 3"/>
          <p:cNvSpPr txBox="1"/>
          <p:nvPr/>
        </p:nvSpPr>
        <p:spPr>
          <a:xfrm>
            <a:off x="640080" y="2011680"/>
            <a:ext cx="10607040" cy="731520"/>
          </a:xfrm>
          <a:prstGeom prst="rect">
            <a:avLst/>
          </a:prstGeom>
          <a:noFill/>
          <a:ln/>
        </p:spPr>
        <p:txBody>
          <a:bodyPr wrap="square" lIns="0" tIns="0" rIns="0" bIns="0" rtlCol="0" anchor="ctr"/>
          <a:lstStyle/>
          <a:p>
            <a:pPr marL="0" indent="0">
              <a:lnSpc>
                <a:spcPct val="130000"/>
              </a:lnSpc>
              <a:buNone/>
            </a:pPr>
            <a:r>
              <a:rPr lang="en-US" sz="1600" dirty="0">
                <a:solidFill>
                  <a:srgbClr val="3D3D3D"/>
                </a:solidFill>
                <a:latin typeface="Calibri" pitchFamily="34" charset="0"/>
                <a:ea typeface="Calibri" pitchFamily="34" charset="-122"/>
                <a:cs typeface="Calibri" pitchFamily="34" charset="-120"/>
              </a:rPr>
              <a:t>Ikkilik tizim faqat ikkita raqamdan foydalanadi: 0 va 1. Har bir ustun — xuddi o'nlik</a:t>
            </a:r>
            <a:endParaRPr lang="en-US" sz="1600" dirty="0"/>
          </a:p>
          <a:p>
            <a:pPr marL="0" indent="0">
              <a:lnSpc>
                <a:spcPct val="130000"/>
              </a:lnSpc>
              <a:buNone/>
            </a:pPr>
            <a:r>
              <a:rPr lang="en-US" sz="1600" dirty="0">
                <a:solidFill>
                  <a:srgbClr val="3D3D3D"/>
                </a:solidFill>
                <a:latin typeface="Calibri" pitchFamily="34" charset="0"/>
                <a:ea typeface="Calibri" pitchFamily="34" charset="-122"/>
                <a:cs typeface="Calibri" pitchFamily="34" charset="-120"/>
              </a:rPr>
              <a:t>tizimdagi kabi — bir xil sonni boshqa tizimda ifodalaydi.</a:t>
            </a:r>
            <a:endParaRPr lang="en-US" sz="1600" dirty="0"/>
          </a:p>
        </p:txBody>
      </p:sp>
      <p:sp>
        <p:nvSpPr>
          <p:cNvPr id="6" name="Text 4"/>
          <p:cNvSpPr txBox="1"/>
          <p:nvPr/>
        </p:nvSpPr>
        <p:spPr>
          <a:xfrm>
            <a:off x="640080" y="2880360"/>
            <a:ext cx="1691640" cy="457200"/>
          </a:xfrm>
          <a:prstGeom prst="rect">
            <a:avLst/>
          </a:prstGeom>
          <a:noFill/>
          <a:ln/>
        </p:spPr>
        <p:txBody>
          <a:bodyPr wrap="square" lIns="0" tIns="0" rIns="0" bIns="0" rtlCol="0" anchor="ctr"/>
          <a:lstStyle/>
          <a:p>
            <a:pPr marL="0" indent="0">
              <a:buNone/>
            </a:pPr>
            <a:r>
              <a:rPr lang="en-US" sz="1300" b="1" dirty="0">
                <a:solidFill>
                  <a:srgbClr val="6E6E6E"/>
                </a:solidFill>
                <a:latin typeface="Calibri" pitchFamily="34" charset="0"/>
                <a:ea typeface="Calibri" pitchFamily="34" charset="-122"/>
                <a:cs typeface="Calibri" pitchFamily="34" charset="-120"/>
              </a:rPr>
              <a:t>O'nlik son</a:t>
            </a:r>
            <a:endParaRPr lang="en-US" sz="1300" dirty="0"/>
          </a:p>
        </p:txBody>
      </p:sp>
      <p:sp>
        <p:nvSpPr>
          <p:cNvPr id="7" name="Text 5"/>
          <p:cNvSpPr txBox="1"/>
          <p:nvPr/>
        </p:nvSpPr>
        <p:spPr>
          <a:xfrm>
            <a:off x="640080" y="3383280"/>
            <a:ext cx="1691640" cy="777240"/>
          </a:xfrm>
          <a:prstGeom prst="rect">
            <a:avLst/>
          </a:prstGeom>
          <a:noFill/>
          <a:ln/>
        </p:spPr>
        <p:txBody>
          <a:bodyPr wrap="square" lIns="0" tIns="0" rIns="0" bIns="0" rtlCol="0" anchor="ctr"/>
          <a:lstStyle/>
          <a:p>
            <a:pPr marL="0" indent="0">
              <a:buNone/>
            </a:pPr>
            <a:r>
              <a:rPr lang="en-US" sz="1300" b="1" dirty="0">
                <a:solidFill>
                  <a:srgbClr val="6E6E6E"/>
                </a:solidFill>
                <a:latin typeface="Calibri" pitchFamily="34" charset="0"/>
                <a:ea typeface="Calibri" pitchFamily="34" charset="-122"/>
                <a:cs typeface="Calibri" pitchFamily="34" charset="-120"/>
              </a:rPr>
              <a:t>Ikkilik yozuvi</a:t>
            </a:r>
            <a:endParaRPr lang="en-US" sz="1300" dirty="0"/>
          </a:p>
        </p:txBody>
      </p:sp>
      <p:sp>
        <p:nvSpPr>
          <p:cNvPr id="8" name="Shape 6"/>
          <p:cNvSpPr/>
          <p:nvPr/>
        </p:nvSpPr>
        <p:spPr>
          <a:xfrm>
            <a:off x="2423160" y="2880360"/>
            <a:ext cx="1078992" cy="502920"/>
          </a:xfrm>
          <a:prstGeom prst="roundRect">
            <a:avLst>
              <a:gd name="adj" fmla="val 14545"/>
            </a:avLst>
          </a:prstGeom>
          <a:solidFill>
            <a:srgbClr val="F2F2F2"/>
          </a:solidFill>
          <a:ln w="12700">
            <a:solidFill>
              <a:srgbClr val="D9D9D9"/>
            </a:solidFill>
            <a:prstDash val="solid"/>
          </a:ln>
        </p:spPr>
        <p:txBody>
          <a:bodyPr/>
          <a:lstStyle/>
          <a:p>
            <a:endParaRPr lang="en-US"/>
          </a:p>
        </p:txBody>
      </p:sp>
      <p:sp>
        <p:nvSpPr>
          <p:cNvPr id="9" name="Text 7"/>
          <p:cNvSpPr txBox="1"/>
          <p:nvPr/>
        </p:nvSpPr>
        <p:spPr>
          <a:xfrm>
            <a:off x="2423160" y="2880360"/>
            <a:ext cx="1078992" cy="502920"/>
          </a:xfrm>
          <a:prstGeom prst="rect">
            <a:avLst/>
          </a:prstGeom>
          <a:noFill/>
          <a:ln/>
        </p:spPr>
        <p:txBody>
          <a:bodyPr wrap="square" lIns="0" tIns="0" rIns="0" bIns="0" rtlCol="0" anchor="ctr"/>
          <a:lstStyle/>
          <a:p>
            <a:pPr marL="0" indent="0" algn="ctr">
              <a:buNone/>
            </a:pPr>
            <a:r>
              <a:rPr lang="en-US" sz="1600" dirty="0">
                <a:solidFill>
                  <a:srgbClr val="3D3D3D"/>
                </a:solidFill>
                <a:latin typeface="Calibri" pitchFamily="34" charset="0"/>
                <a:ea typeface="Calibri" pitchFamily="34" charset="-122"/>
                <a:cs typeface="Calibri" pitchFamily="34" charset="-120"/>
              </a:rPr>
              <a:t>0</a:t>
            </a:r>
            <a:endParaRPr lang="en-US" sz="1600" dirty="0"/>
          </a:p>
        </p:txBody>
      </p:sp>
      <p:sp>
        <p:nvSpPr>
          <p:cNvPr id="10" name="Shape 8"/>
          <p:cNvSpPr/>
          <p:nvPr/>
        </p:nvSpPr>
        <p:spPr>
          <a:xfrm>
            <a:off x="2423160" y="3520440"/>
            <a:ext cx="1078992" cy="777240"/>
          </a:xfrm>
          <a:prstGeom prst="roundRect">
            <a:avLst>
              <a:gd name="adj" fmla="val 9412"/>
            </a:avLst>
          </a:prstGeom>
          <a:solidFill>
            <a:srgbClr val="000000"/>
          </a:solidFill>
          <a:ln/>
        </p:spPr>
        <p:txBody>
          <a:bodyPr/>
          <a:lstStyle/>
          <a:p>
            <a:endParaRPr lang="en-US"/>
          </a:p>
        </p:txBody>
      </p:sp>
      <p:sp>
        <p:nvSpPr>
          <p:cNvPr id="11" name="Text 9"/>
          <p:cNvSpPr txBox="1"/>
          <p:nvPr/>
        </p:nvSpPr>
        <p:spPr>
          <a:xfrm>
            <a:off x="2423160" y="3520440"/>
            <a:ext cx="1078992" cy="77724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a:t>
            </a:r>
            <a:endParaRPr lang="en-US" sz="1800" dirty="0"/>
          </a:p>
        </p:txBody>
      </p:sp>
      <p:sp>
        <p:nvSpPr>
          <p:cNvPr id="12" name="Shape 10"/>
          <p:cNvSpPr/>
          <p:nvPr/>
        </p:nvSpPr>
        <p:spPr>
          <a:xfrm>
            <a:off x="3593592" y="2880360"/>
            <a:ext cx="1078992" cy="502920"/>
          </a:xfrm>
          <a:prstGeom prst="roundRect">
            <a:avLst>
              <a:gd name="adj" fmla="val 14545"/>
            </a:avLst>
          </a:prstGeom>
          <a:solidFill>
            <a:srgbClr val="F2F2F2"/>
          </a:solidFill>
          <a:ln w="12700">
            <a:solidFill>
              <a:srgbClr val="D9D9D9"/>
            </a:solidFill>
            <a:prstDash val="solid"/>
          </a:ln>
        </p:spPr>
        <p:txBody>
          <a:bodyPr/>
          <a:lstStyle/>
          <a:p>
            <a:endParaRPr lang="en-US"/>
          </a:p>
        </p:txBody>
      </p:sp>
      <p:sp>
        <p:nvSpPr>
          <p:cNvPr id="13" name="Text 11"/>
          <p:cNvSpPr txBox="1"/>
          <p:nvPr/>
        </p:nvSpPr>
        <p:spPr>
          <a:xfrm>
            <a:off x="3593592" y="2880360"/>
            <a:ext cx="1078992" cy="502920"/>
          </a:xfrm>
          <a:prstGeom prst="rect">
            <a:avLst/>
          </a:prstGeom>
          <a:noFill/>
          <a:ln/>
        </p:spPr>
        <p:txBody>
          <a:bodyPr wrap="square" lIns="0" tIns="0" rIns="0" bIns="0" rtlCol="0" anchor="ctr"/>
          <a:lstStyle/>
          <a:p>
            <a:pPr marL="0" indent="0" algn="ctr">
              <a:buNone/>
            </a:pPr>
            <a:r>
              <a:rPr lang="en-US" sz="1600" dirty="0">
                <a:solidFill>
                  <a:srgbClr val="3D3D3D"/>
                </a:solidFill>
                <a:latin typeface="Calibri" pitchFamily="34" charset="0"/>
                <a:ea typeface="Calibri" pitchFamily="34" charset="-122"/>
                <a:cs typeface="Calibri" pitchFamily="34" charset="-120"/>
              </a:rPr>
              <a:t>1</a:t>
            </a:r>
            <a:endParaRPr lang="en-US" sz="1600" dirty="0"/>
          </a:p>
        </p:txBody>
      </p:sp>
      <p:sp>
        <p:nvSpPr>
          <p:cNvPr id="14" name="Shape 12"/>
          <p:cNvSpPr/>
          <p:nvPr/>
        </p:nvSpPr>
        <p:spPr>
          <a:xfrm>
            <a:off x="3593592" y="3520440"/>
            <a:ext cx="1078992" cy="777240"/>
          </a:xfrm>
          <a:prstGeom prst="roundRect">
            <a:avLst>
              <a:gd name="adj" fmla="val 9412"/>
            </a:avLst>
          </a:prstGeom>
          <a:solidFill>
            <a:srgbClr val="000000"/>
          </a:solidFill>
          <a:ln/>
        </p:spPr>
        <p:txBody>
          <a:bodyPr/>
          <a:lstStyle/>
          <a:p>
            <a:endParaRPr lang="en-US"/>
          </a:p>
        </p:txBody>
      </p:sp>
      <p:sp>
        <p:nvSpPr>
          <p:cNvPr id="15" name="Text 13"/>
          <p:cNvSpPr txBox="1"/>
          <p:nvPr/>
        </p:nvSpPr>
        <p:spPr>
          <a:xfrm>
            <a:off x="3593592" y="3520440"/>
            <a:ext cx="1078992" cy="77724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6" name="Shape 14"/>
          <p:cNvSpPr/>
          <p:nvPr/>
        </p:nvSpPr>
        <p:spPr>
          <a:xfrm>
            <a:off x="4764024" y="2880360"/>
            <a:ext cx="1078992" cy="502920"/>
          </a:xfrm>
          <a:prstGeom prst="roundRect">
            <a:avLst>
              <a:gd name="adj" fmla="val 14545"/>
            </a:avLst>
          </a:prstGeom>
          <a:solidFill>
            <a:srgbClr val="F2F2F2"/>
          </a:solidFill>
          <a:ln w="12700">
            <a:solidFill>
              <a:srgbClr val="D9D9D9"/>
            </a:solidFill>
            <a:prstDash val="solid"/>
          </a:ln>
        </p:spPr>
        <p:txBody>
          <a:bodyPr/>
          <a:lstStyle/>
          <a:p>
            <a:endParaRPr lang="en-US"/>
          </a:p>
        </p:txBody>
      </p:sp>
      <p:sp>
        <p:nvSpPr>
          <p:cNvPr id="17" name="Text 15"/>
          <p:cNvSpPr txBox="1"/>
          <p:nvPr/>
        </p:nvSpPr>
        <p:spPr>
          <a:xfrm>
            <a:off x="4764024" y="2880360"/>
            <a:ext cx="1078992" cy="502920"/>
          </a:xfrm>
          <a:prstGeom prst="rect">
            <a:avLst/>
          </a:prstGeom>
          <a:noFill/>
          <a:ln/>
        </p:spPr>
        <p:txBody>
          <a:bodyPr wrap="square" lIns="0" tIns="0" rIns="0" bIns="0" rtlCol="0" anchor="ctr"/>
          <a:lstStyle/>
          <a:p>
            <a:pPr marL="0" indent="0" algn="ctr">
              <a:buNone/>
            </a:pPr>
            <a:r>
              <a:rPr lang="en-US" sz="1600" dirty="0">
                <a:solidFill>
                  <a:srgbClr val="3D3D3D"/>
                </a:solidFill>
                <a:latin typeface="Calibri" pitchFamily="34" charset="0"/>
                <a:ea typeface="Calibri" pitchFamily="34" charset="-122"/>
                <a:cs typeface="Calibri" pitchFamily="34" charset="-120"/>
              </a:rPr>
              <a:t>2</a:t>
            </a:r>
            <a:endParaRPr lang="en-US" sz="1600" dirty="0"/>
          </a:p>
        </p:txBody>
      </p:sp>
      <p:sp>
        <p:nvSpPr>
          <p:cNvPr id="18" name="Shape 16"/>
          <p:cNvSpPr/>
          <p:nvPr/>
        </p:nvSpPr>
        <p:spPr>
          <a:xfrm>
            <a:off x="4764024" y="3520440"/>
            <a:ext cx="1078992" cy="777240"/>
          </a:xfrm>
          <a:prstGeom prst="roundRect">
            <a:avLst>
              <a:gd name="adj" fmla="val 9412"/>
            </a:avLst>
          </a:prstGeom>
          <a:solidFill>
            <a:srgbClr val="000000"/>
          </a:solidFill>
          <a:ln/>
        </p:spPr>
        <p:txBody>
          <a:bodyPr/>
          <a:lstStyle/>
          <a:p>
            <a:endParaRPr lang="en-US"/>
          </a:p>
        </p:txBody>
      </p:sp>
      <p:sp>
        <p:nvSpPr>
          <p:cNvPr id="19" name="Text 17"/>
          <p:cNvSpPr txBox="1"/>
          <p:nvPr/>
        </p:nvSpPr>
        <p:spPr>
          <a:xfrm>
            <a:off x="4764024" y="3520440"/>
            <a:ext cx="1078992" cy="77724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10</a:t>
            </a:r>
            <a:endParaRPr lang="en-US" sz="1800" dirty="0"/>
          </a:p>
        </p:txBody>
      </p:sp>
      <p:sp>
        <p:nvSpPr>
          <p:cNvPr id="20" name="Shape 18"/>
          <p:cNvSpPr/>
          <p:nvPr/>
        </p:nvSpPr>
        <p:spPr>
          <a:xfrm>
            <a:off x="5934456" y="2880360"/>
            <a:ext cx="1078992" cy="502920"/>
          </a:xfrm>
          <a:prstGeom prst="roundRect">
            <a:avLst>
              <a:gd name="adj" fmla="val 14545"/>
            </a:avLst>
          </a:prstGeom>
          <a:solidFill>
            <a:srgbClr val="F2F2F2"/>
          </a:solidFill>
          <a:ln w="12700">
            <a:solidFill>
              <a:srgbClr val="D9D9D9"/>
            </a:solidFill>
            <a:prstDash val="solid"/>
          </a:ln>
        </p:spPr>
        <p:txBody>
          <a:bodyPr/>
          <a:lstStyle/>
          <a:p>
            <a:endParaRPr lang="en-US"/>
          </a:p>
        </p:txBody>
      </p:sp>
      <p:sp>
        <p:nvSpPr>
          <p:cNvPr id="21" name="Text 19"/>
          <p:cNvSpPr txBox="1"/>
          <p:nvPr/>
        </p:nvSpPr>
        <p:spPr>
          <a:xfrm>
            <a:off x="5934456" y="2880360"/>
            <a:ext cx="1078992" cy="502920"/>
          </a:xfrm>
          <a:prstGeom prst="rect">
            <a:avLst/>
          </a:prstGeom>
          <a:noFill/>
          <a:ln/>
        </p:spPr>
        <p:txBody>
          <a:bodyPr wrap="square" lIns="0" tIns="0" rIns="0" bIns="0" rtlCol="0" anchor="ctr"/>
          <a:lstStyle/>
          <a:p>
            <a:pPr marL="0" indent="0" algn="ctr">
              <a:buNone/>
            </a:pPr>
            <a:r>
              <a:rPr lang="en-US" sz="1600" dirty="0">
                <a:solidFill>
                  <a:srgbClr val="3D3D3D"/>
                </a:solidFill>
                <a:latin typeface="Calibri" pitchFamily="34" charset="0"/>
                <a:ea typeface="Calibri" pitchFamily="34" charset="-122"/>
                <a:cs typeface="Calibri" pitchFamily="34" charset="-120"/>
              </a:rPr>
              <a:t>3</a:t>
            </a:r>
            <a:endParaRPr lang="en-US" sz="1600" dirty="0"/>
          </a:p>
        </p:txBody>
      </p:sp>
      <p:sp>
        <p:nvSpPr>
          <p:cNvPr id="22" name="Shape 20"/>
          <p:cNvSpPr/>
          <p:nvPr/>
        </p:nvSpPr>
        <p:spPr>
          <a:xfrm>
            <a:off x="5934456" y="3520440"/>
            <a:ext cx="1078992" cy="777240"/>
          </a:xfrm>
          <a:prstGeom prst="roundRect">
            <a:avLst>
              <a:gd name="adj" fmla="val 9412"/>
            </a:avLst>
          </a:prstGeom>
          <a:solidFill>
            <a:srgbClr val="000000"/>
          </a:solidFill>
          <a:ln/>
        </p:spPr>
        <p:txBody>
          <a:bodyPr/>
          <a:lstStyle/>
          <a:p>
            <a:endParaRPr lang="en-US"/>
          </a:p>
        </p:txBody>
      </p:sp>
      <p:sp>
        <p:nvSpPr>
          <p:cNvPr id="23" name="Text 21"/>
          <p:cNvSpPr txBox="1"/>
          <p:nvPr/>
        </p:nvSpPr>
        <p:spPr>
          <a:xfrm>
            <a:off x="5934456" y="3520440"/>
            <a:ext cx="1078992" cy="77724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11</a:t>
            </a:r>
            <a:endParaRPr lang="en-US" sz="1800" dirty="0"/>
          </a:p>
        </p:txBody>
      </p:sp>
      <p:sp>
        <p:nvSpPr>
          <p:cNvPr id="24" name="Shape 22"/>
          <p:cNvSpPr/>
          <p:nvPr/>
        </p:nvSpPr>
        <p:spPr>
          <a:xfrm>
            <a:off x="7104888" y="2880360"/>
            <a:ext cx="1078992" cy="502920"/>
          </a:xfrm>
          <a:prstGeom prst="roundRect">
            <a:avLst>
              <a:gd name="adj" fmla="val 14545"/>
            </a:avLst>
          </a:prstGeom>
          <a:solidFill>
            <a:srgbClr val="F2F2F2"/>
          </a:solidFill>
          <a:ln w="12700">
            <a:solidFill>
              <a:srgbClr val="D9D9D9"/>
            </a:solidFill>
            <a:prstDash val="solid"/>
          </a:ln>
        </p:spPr>
        <p:txBody>
          <a:bodyPr/>
          <a:lstStyle/>
          <a:p>
            <a:endParaRPr lang="en-US"/>
          </a:p>
        </p:txBody>
      </p:sp>
      <p:sp>
        <p:nvSpPr>
          <p:cNvPr id="25" name="Text 23"/>
          <p:cNvSpPr txBox="1"/>
          <p:nvPr/>
        </p:nvSpPr>
        <p:spPr>
          <a:xfrm>
            <a:off x="7104888" y="2880360"/>
            <a:ext cx="1078992" cy="502920"/>
          </a:xfrm>
          <a:prstGeom prst="rect">
            <a:avLst/>
          </a:prstGeom>
          <a:noFill/>
          <a:ln/>
        </p:spPr>
        <p:txBody>
          <a:bodyPr wrap="square" lIns="0" tIns="0" rIns="0" bIns="0" rtlCol="0" anchor="ctr"/>
          <a:lstStyle/>
          <a:p>
            <a:pPr marL="0" indent="0" algn="ctr">
              <a:buNone/>
            </a:pPr>
            <a:r>
              <a:rPr lang="en-US" sz="1600" dirty="0">
                <a:solidFill>
                  <a:srgbClr val="3D3D3D"/>
                </a:solidFill>
                <a:latin typeface="Calibri" pitchFamily="34" charset="0"/>
                <a:ea typeface="Calibri" pitchFamily="34" charset="-122"/>
                <a:cs typeface="Calibri" pitchFamily="34" charset="-120"/>
              </a:rPr>
              <a:t>4</a:t>
            </a:r>
            <a:endParaRPr lang="en-US" sz="1600" dirty="0"/>
          </a:p>
        </p:txBody>
      </p:sp>
      <p:sp>
        <p:nvSpPr>
          <p:cNvPr id="26" name="Shape 24"/>
          <p:cNvSpPr/>
          <p:nvPr/>
        </p:nvSpPr>
        <p:spPr>
          <a:xfrm>
            <a:off x="7104888" y="3520440"/>
            <a:ext cx="1078992" cy="777240"/>
          </a:xfrm>
          <a:prstGeom prst="roundRect">
            <a:avLst>
              <a:gd name="adj" fmla="val 9412"/>
            </a:avLst>
          </a:prstGeom>
          <a:solidFill>
            <a:srgbClr val="000000"/>
          </a:solidFill>
          <a:ln/>
        </p:spPr>
        <p:txBody>
          <a:bodyPr/>
          <a:lstStyle/>
          <a:p>
            <a:endParaRPr lang="en-US"/>
          </a:p>
        </p:txBody>
      </p:sp>
      <p:sp>
        <p:nvSpPr>
          <p:cNvPr id="27" name="Text 25"/>
          <p:cNvSpPr txBox="1"/>
          <p:nvPr/>
        </p:nvSpPr>
        <p:spPr>
          <a:xfrm>
            <a:off x="7104888" y="3520440"/>
            <a:ext cx="1078992" cy="77724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100</a:t>
            </a:r>
            <a:endParaRPr lang="en-US" sz="1800" dirty="0"/>
          </a:p>
        </p:txBody>
      </p:sp>
      <p:sp>
        <p:nvSpPr>
          <p:cNvPr id="28" name="Shape 26"/>
          <p:cNvSpPr/>
          <p:nvPr/>
        </p:nvSpPr>
        <p:spPr>
          <a:xfrm>
            <a:off x="8275320" y="2880360"/>
            <a:ext cx="1078992" cy="502920"/>
          </a:xfrm>
          <a:prstGeom prst="roundRect">
            <a:avLst>
              <a:gd name="adj" fmla="val 14545"/>
            </a:avLst>
          </a:prstGeom>
          <a:solidFill>
            <a:srgbClr val="F2F2F2"/>
          </a:solidFill>
          <a:ln w="12700">
            <a:solidFill>
              <a:srgbClr val="D9D9D9"/>
            </a:solidFill>
            <a:prstDash val="solid"/>
          </a:ln>
        </p:spPr>
        <p:txBody>
          <a:bodyPr/>
          <a:lstStyle/>
          <a:p>
            <a:endParaRPr lang="en-US"/>
          </a:p>
        </p:txBody>
      </p:sp>
      <p:sp>
        <p:nvSpPr>
          <p:cNvPr id="29" name="Text 27"/>
          <p:cNvSpPr txBox="1"/>
          <p:nvPr/>
        </p:nvSpPr>
        <p:spPr>
          <a:xfrm>
            <a:off x="8275320" y="2880360"/>
            <a:ext cx="1078992" cy="502920"/>
          </a:xfrm>
          <a:prstGeom prst="rect">
            <a:avLst/>
          </a:prstGeom>
          <a:noFill/>
          <a:ln/>
        </p:spPr>
        <p:txBody>
          <a:bodyPr wrap="square" lIns="0" tIns="0" rIns="0" bIns="0" rtlCol="0" anchor="ctr"/>
          <a:lstStyle/>
          <a:p>
            <a:pPr marL="0" indent="0" algn="ctr">
              <a:buNone/>
            </a:pPr>
            <a:r>
              <a:rPr lang="en-US" sz="1600" dirty="0">
                <a:solidFill>
                  <a:srgbClr val="3D3D3D"/>
                </a:solidFill>
                <a:latin typeface="Calibri" pitchFamily="34" charset="0"/>
                <a:ea typeface="Calibri" pitchFamily="34" charset="-122"/>
                <a:cs typeface="Calibri" pitchFamily="34" charset="-120"/>
              </a:rPr>
              <a:t>5</a:t>
            </a:r>
            <a:endParaRPr lang="en-US" sz="1600" dirty="0"/>
          </a:p>
        </p:txBody>
      </p:sp>
      <p:sp>
        <p:nvSpPr>
          <p:cNvPr id="30" name="Shape 28"/>
          <p:cNvSpPr/>
          <p:nvPr/>
        </p:nvSpPr>
        <p:spPr>
          <a:xfrm>
            <a:off x="8275320" y="3520440"/>
            <a:ext cx="1078992" cy="777240"/>
          </a:xfrm>
          <a:prstGeom prst="roundRect">
            <a:avLst>
              <a:gd name="adj" fmla="val 9412"/>
            </a:avLst>
          </a:prstGeom>
          <a:solidFill>
            <a:srgbClr val="000000"/>
          </a:solidFill>
          <a:ln/>
        </p:spPr>
        <p:txBody>
          <a:bodyPr/>
          <a:lstStyle/>
          <a:p>
            <a:endParaRPr lang="en-US"/>
          </a:p>
        </p:txBody>
      </p:sp>
      <p:sp>
        <p:nvSpPr>
          <p:cNvPr id="31" name="Text 29"/>
          <p:cNvSpPr txBox="1"/>
          <p:nvPr/>
        </p:nvSpPr>
        <p:spPr>
          <a:xfrm>
            <a:off x="8275320" y="3520440"/>
            <a:ext cx="1078992" cy="77724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101</a:t>
            </a:r>
            <a:endParaRPr lang="en-US" sz="1800" dirty="0"/>
          </a:p>
        </p:txBody>
      </p:sp>
      <p:sp>
        <p:nvSpPr>
          <p:cNvPr id="32" name="Shape 30"/>
          <p:cNvSpPr/>
          <p:nvPr/>
        </p:nvSpPr>
        <p:spPr>
          <a:xfrm>
            <a:off x="9445752" y="2880360"/>
            <a:ext cx="1078992" cy="502920"/>
          </a:xfrm>
          <a:prstGeom prst="roundRect">
            <a:avLst>
              <a:gd name="adj" fmla="val 14545"/>
            </a:avLst>
          </a:prstGeom>
          <a:solidFill>
            <a:srgbClr val="F2F2F2"/>
          </a:solidFill>
          <a:ln w="12700">
            <a:solidFill>
              <a:srgbClr val="D9D9D9"/>
            </a:solidFill>
            <a:prstDash val="solid"/>
          </a:ln>
        </p:spPr>
        <p:txBody>
          <a:bodyPr/>
          <a:lstStyle/>
          <a:p>
            <a:endParaRPr lang="en-US"/>
          </a:p>
        </p:txBody>
      </p:sp>
      <p:sp>
        <p:nvSpPr>
          <p:cNvPr id="33" name="Text 31"/>
          <p:cNvSpPr txBox="1"/>
          <p:nvPr/>
        </p:nvSpPr>
        <p:spPr>
          <a:xfrm>
            <a:off x="9445752" y="2880360"/>
            <a:ext cx="1078992" cy="502920"/>
          </a:xfrm>
          <a:prstGeom prst="rect">
            <a:avLst/>
          </a:prstGeom>
          <a:noFill/>
          <a:ln/>
        </p:spPr>
        <p:txBody>
          <a:bodyPr wrap="square" lIns="0" tIns="0" rIns="0" bIns="0" rtlCol="0" anchor="ctr"/>
          <a:lstStyle/>
          <a:p>
            <a:pPr marL="0" indent="0" algn="ctr">
              <a:buNone/>
            </a:pPr>
            <a:r>
              <a:rPr lang="en-US" sz="1600" dirty="0">
                <a:solidFill>
                  <a:srgbClr val="3D3D3D"/>
                </a:solidFill>
                <a:latin typeface="Calibri" pitchFamily="34" charset="0"/>
                <a:ea typeface="Calibri" pitchFamily="34" charset="-122"/>
                <a:cs typeface="Calibri" pitchFamily="34" charset="-120"/>
              </a:rPr>
              <a:t>6</a:t>
            </a:r>
            <a:endParaRPr lang="en-US" sz="1600" dirty="0"/>
          </a:p>
        </p:txBody>
      </p:sp>
      <p:sp>
        <p:nvSpPr>
          <p:cNvPr id="34" name="Shape 32"/>
          <p:cNvSpPr/>
          <p:nvPr/>
        </p:nvSpPr>
        <p:spPr>
          <a:xfrm>
            <a:off x="9445752" y="3520440"/>
            <a:ext cx="1078992" cy="777240"/>
          </a:xfrm>
          <a:prstGeom prst="roundRect">
            <a:avLst>
              <a:gd name="adj" fmla="val 9412"/>
            </a:avLst>
          </a:prstGeom>
          <a:solidFill>
            <a:srgbClr val="000000"/>
          </a:solidFill>
          <a:ln/>
        </p:spPr>
        <p:txBody>
          <a:bodyPr/>
          <a:lstStyle/>
          <a:p>
            <a:endParaRPr lang="en-US"/>
          </a:p>
        </p:txBody>
      </p:sp>
      <p:sp>
        <p:nvSpPr>
          <p:cNvPr id="35" name="Text 33"/>
          <p:cNvSpPr txBox="1"/>
          <p:nvPr/>
        </p:nvSpPr>
        <p:spPr>
          <a:xfrm>
            <a:off x="9445752" y="3520440"/>
            <a:ext cx="1078992" cy="77724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110</a:t>
            </a:r>
            <a:endParaRPr lang="en-US" sz="1800" dirty="0"/>
          </a:p>
        </p:txBody>
      </p:sp>
      <p:sp>
        <p:nvSpPr>
          <p:cNvPr id="36" name="Shape 34"/>
          <p:cNvSpPr/>
          <p:nvPr/>
        </p:nvSpPr>
        <p:spPr>
          <a:xfrm>
            <a:off x="10616184" y="2880360"/>
            <a:ext cx="1078992" cy="502920"/>
          </a:xfrm>
          <a:prstGeom prst="roundRect">
            <a:avLst>
              <a:gd name="adj" fmla="val 14545"/>
            </a:avLst>
          </a:prstGeom>
          <a:solidFill>
            <a:srgbClr val="F2F2F2"/>
          </a:solidFill>
          <a:ln w="12700">
            <a:solidFill>
              <a:srgbClr val="D9D9D9"/>
            </a:solidFill>
            <a:prstDash val="solid"/>
          </a:ln>
        </p:spPr>
        <p:txBody>
          <a:bodyPr/>
          <a:lstStyle/>
          <a:p>
            <a:endParaRPr lang="en-US"/>
          </a:p>
        </p:txBody>
      </p:sp>
      <p:sp>
        <p:nvSpPr>
          <p:cNvPr id="37" name="Text 35"/>
          <p:cNvSpPr txBox="1"/>
          <p:nvPr/>
        </p:nvSpPr>
        <p:spPr>
          <a:xfrm>
            <a:off x="10616184" y="2880360"/>
            <a:ext cx="1078992" cy="502920"/>
          </a:xfrm>
          <a:prstGeom prst="rect">
            <a:avLst/>
          </a:prstGeom>
          <a:noFill/>
          <a:ln/>
        </p:spPr>
        <p:txBody>
          <a:bodyPr wrap="square" lIns="0" tIns="0" rIns="0" bIns="0" rtlCol="0" anchor="ctr"/>
          <a:lstStyle/>
          <a:p>
            <a:pPr marL="0" indent="0" algn="ctr">
              <a:buNone/>
            </a:pPr>
            <a:r>
              <a:rPr lang="en-US" sz="1600" dirty="0">
                <a:solidFill>
                  <a:srgbClr val="3D3D3D"/>
                </a:solidFill>
                <a:latin typeface="Calibri" pitchFamily="34" charset="0"/>
                <a:ea typeface="Calibri" pitchFamily="34" charset="-122"/>
                <a:cs typeface="Calibri" pitchFamily="34" charset="-120"/>
              </a:rPr>
              <a:t>7</a:t>
            </a:r>
            <a:endParaRPr lang="en-US" sz="1600" dirty="0"/>
          </a:p>
        </p:txBody>
      </p:sp>
      <p:sp>
        <p:nvSpPr>
          <p:cNvPr id="38" name="Shape 36"/>
          <p:cNvSpPr/>
          <p:nvPr/>
        </p:nvSpPr>
        <p:spPr>
          <a:xfrm>
            <a:off x="10616184" y="3520440"/>
            <a:ext cx="1078992" cy="777240"/>
          </a:xfrm>
          <a:prstGeom prst="roundRect">
            <a:avLst>
              <a:gd name="adj" fmla="val 9412"/>
            </a:avLst>
          </a:prstGeom>
          <a:solidFill>
            <a:srgbClr val="000000"/>
          </a:solidFill>
          <a:ln/>
        </p:spPr>
        <p:txBody>
          <a:bodyPr/>
          <a:lstStyle/>
          <a:p>
            <a:endParaRPr lang="en-US"/>
          </a:p>
        </p:txBody>
      </p:sp>
      <p:sp>
        <p:nvSpPr>
          <p:cNvPr id="39" name="Text 37"/>
          <p:cNvSpPr txBox="1"/>
          <p:nvPr/>
        </p:nvSpPr>
        <p:spPr>
          <a:xfrm>
            <a:off x="10616184" y="3520440"/>
            <a:ext cx="1078992" cy="77724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111</a:t>
            </a:r>
            <a:endParaRPr lang="en-US" sz="1800" dirty="0"/>
          </a:p>
        </p:txBody>
      </p:sp>
      <p:sp>
        <p:nvSpPr>
          <p:cNvPr id="40" name="Text 38"/>
          <p:cNvSpPr txBox="1"/>
          <p:nvPr/>
        </p:nvSpPr>
        <p:spPr>
          <a:xfrm>
            <a:off x="640080" y="4526280"/>
            <a:ext cx="10607040" cy="640080"/>
          </a:xfrm>
          <a:prstGeom prst="rect">
            <a:avLst/>
          </a:prstGeom>
          <a:noFill/>
          <a:ln/>
        </p:spPr>
        <p:txBody>
          <a:bodyPr wrap="square" lIns="0" tIns="0" rIns="0" bIns="0" rtlCol="0" anchor="ctr"/>
          <a:lstStyle/>
          <a:p>
            <a:pPr marL="0" indent="0">
              <a:lnSpc>
                <a:spcPct val="125000"/>
              </a:lnSpc>
              <a:buNone/>
            </a:pPr>
            <a:r>
              <a:rPr lang="en-US" sz="1350" i="1" dirty="0">
                <a:solidFill>
                  <a:srgbClr val="6E6E6E"/>
                </a:solidFill>
                <a:latin typeface="Calibri" pitchFamily="34" charset="0"/>
                <a:ea typeface="Calibri" pitchFamily="34" charset="-122"/>
                <a:cs typeface="Calibri" pitchFamily="34" charset="-120"/>
              </a:rPr>
              <a:t>Har bir ustunda: yuqorida — tanish o'nlik son, pastda — xuddi shu sonning ikkilik tizimdagi yozuvi. Ikkalasi ham bir xil miqdorni bildiradi — faqat yozilishi boshqacha.</a:t>
            </a:r>
            <a:endParaRPr lang="en-US" sz="1350" dirty="0"/>
          </a:p>
        </p:txBody>
      </p:sp>
      <p:sp>
        <p:nvSpPr>
          <p:cNvPr id="41" name="Text 39"/>
          <p:cNvSpPr txBox="1"/>
          <p:nvPr/>
        </p:nvSpPr>
        <p:spPr>
          <a:xfrm>
            <a:off x="11368735" y="6355080"/>
            <a:ext cx="548640" cy="320040"/>
          </a:xfrm>
          <a:prstGeom prst="rect">
            <a:avLst/>
          </a:prstGeom>
          <a:noFill/>
          <a:ln/>
        </p:spPr>
        <p:txBody>
          <a:bodyPr wrap="square" lIns="0" tIns="0" rIns="0" bIns="0" rtlCol="0" anchor="ctr"/>
          <a:lstStyle/>
          <a:p>
            <a:pPr marL="0" indent="0" algn="r">
              <a:buNone/>
            </a:pPr>
            <a:r>
              <a:rPr lang="en-US" sz="1200" dirty="0">
                <a:solidFill>
                  <a:srgbClr val="6E6E6E"/>
                </a:solidFill>
                <a:latin typeface="Calibri" pitchFamily="34" charset="0"/>
                <a:ea typeface="Calibri" pitchFamily="34" charset="-122"/>
                <a:cs typeface="Calibri" pitchFamily="34" charset="-120"/>
              </a:rPr>
              <a:t>20</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8686800" cy="365760"/>
          </a:xfrm>
          <a:prstGeom prst="rect">
            <a:avLst/>
          </a:prstGeom>
          <a:noFill/>
          <a:ln/>
        </p:spPr>
        <p:txBody>
          <a:bodyPr wrap="square" lIns="0" tIns="0" rIns="0" bIns="0" rtlCol="0" anchor="ctr"/>
          <a:lstStyle/>
          <a:p>
            <a:pPr marL="0" indent="0">
              <a:buNone/>
            </a:pPr>
            <a:endParaRPr lang="en-US" sz="1500" dirty="0"/>
          </a:p>
        </p:txBody>
      </p:sp>
      <p:sp>
        <p:nvSpPr>
          <p:cNvPr id="3" name="Text 1"/>
          <p:cNvSpPr txBox="1"/>
          <p:nvPr/>
        </p:nvSpPr>
        <p:spPr>
          <a:xfrm>
            <a:off x="640080" y="868680"/>
            <a:ext cx="10881360" cy="1005840"/>
          </a:xfrm>
          <a:prstGeom prst="rect">
            <a:avLst/>
          </a:prstGeom>
          <a:noFill/>
          <a:ln/>
        </p:spPr>
        <p:txBody>
          <a:bodyPr wrap="square" lIns="0" tIns="0" rIns="0" bIns="0" rtlCol="0" anchor="ctr"/>
          <a:lstStyle/>
          <a:p>
            <a:pPr marL="0" indent="0" algn="l">
              <a:buNone/>
            </a:pPr>
            <a:r>
              <a:rPr lang="en-US" sz="3200" b="1" dirty="0">
                <a:solidFill>
                  <a:srgbClr val="000000"/>
                </a:solidFill>
                <a:latin typeface="Cambria" pitchFamily="34" charset="0"/>
                <a:ea typeface="Cambria" pitchFamily="34" charset="-122"/>
                <a:cs typeface="Cambria" pitchFamily="34" charset="-120"/>
              </a:rPr>
              <a:t>Ikkilik Tizim — O'rin Qiymati</a:t>
            </a:r>
            <a:endParaRPr lang="en-US" sz="3200" dirty="0"/>
          </a:p>
        </p:txBody>
      </p:sp>
      <p:sp>
        <p:nvSpPr>
          <p:cNvPr id="4" name="Shape 2"/>
          <p:cNvSpPr/>
          <p:nvPr/>
        </p:nvSpPr>
        <p:spPr>
          <a:xfrm>
            <a:off x="640080" y="1874520"/>
            <a:ext cx="10911535" cy="0"/>
          </a:xfrm>
          <a:prstGeom prst="line">
            <a:avLst/>
          </a:prstGeom>
          <a:noFill/>
          <a:ln w="15875">
            <a:solidFill>
              <a:srgbClr val="D9D9D9"/>
            </a:solidFill>
            <a:prstDash val="solid"/>
          </a:ln>
        </p:spPr>
        <p:txBody>
          <a:bodyPr/>
          <a:lstStyle/>
          <a:p>
            <a:endParaRPr lang="en-US"/>
          </a:p>
        </p:txBody>
      </p:sp>
      <p:sp>
        <p:nvSpPr>
          <p:cNvPr id="5" name="Text 3"/>
          <p:cNvSpPr txBox="1"/>
          <p:nvPr/>
        </p:nvSpPr>
        <p:spPr>
          <a:xfrm>
            <a:off x="640080" y="2011680"/>
            <a:ext cx="10607040" cy="457200"/>
          </a:xfrm>
          <a:prstGeom prst="rect">
            <a:avLst/>
          </a:prstGeom>
          <a:noFill/>
          <a:ln/>
        </p:spPr>
        <p:txBody>
          <a:bodyPr wrap="square" lIns="0" tIns="0" rIns="0" bIns="0" rtlCol="0" anchor="ctr"/>
          <a:lstStyle/>
          <a:p>
            <a:pPr marL="0" indent="0">
              <a:buNone/>
            </a:pPr>
            <a:r>
              <a:rPr lang="en-US" sz="1600" dirty="0">
                <a:solidFill>
                  <a:srgbClr val="3D3D3D"/>
                </a:solidFill>
                <a:latin typeface="Calibri" pitchFamily="34" charset="0"/>
                <a:ea typeface="Calibri" pitchFamily="34" charset="-122"/>
                <a:cs typeface="Calibri" pitchFamily="34" charset="-120"/>
              </a:rPr>
              <a:t>Xuddi o'nlik tizimdagi ustunlar 1, 10, 100 … bo'lgani kabi, ikkilik tizimda ustunlar har safar ikki baravar ko'payadi.</a:t>
            </a:r>
            <a:endParaRPr lang="en-US" sz="1600" dirty="0"/>
          </a:p>
        </p:txBody>
      </p:sp>
      <p:sp>
        <p:nvSpPr>
          <p:cNvPr id="6" name="Text 4"/>
          <p:cNvSpPr txBox="1"/>
          <p:nvPr/>
        </p:nvSpPr>
        <p:spPr>
          <a:xfrm>
            <a:off x="640080" y="2743200"/>
            <a:ext cx="1152144" cy="457200"/>
          </a:xfrm>
          <a:prstGeom prst="rect">
            <a:avLst/>
          </a:prstGeom>
          <a:noFill/>
          <a:ln/>
        </p:spPr>
        <p:txBody>
          <a:bodyPr wrap="square" lIns="0" tIns="0" rIns="0" bIns="0" rtlCol="0" anchor="ctr"/>
          <a:lstStyle/>
          <a:p>
            <a:pPr marL="0" indent="0" algn="ctr">
              <a:buNone/>
            </a:pPr>
            <a:r>
              <a:rPr lang="en-US" sz="1500" dirty="0">
                <a:solidFill>
                  <a:srgbClr val="6E6E6E"/>
                </a:solidFill>
                <a:latin typeface="Calibri" pitchFamily="34" charset="0"/>
                <a:ea typeface="Calibri" pitchFamily="34" charset="-122"/>
                <a:cs typeface="Calibri" pitchFamily="34" charset="-120"/>
              </a:rPr>
              <a:t>128</a:t>
            </a:r>
            <a:endParaRPr lang="en-US" sz="1500" dirty="0"/>
          </a:p>
        </p:txBody>
      </p:sp>
      <p:sp>
        <p:nvSpPr>
          <p:cNvPr id="7" name="Shape 5"/>
          <p:cNvSpPr/>
          <p:nvPr/>
        </p:nvSpPr>
        <p:spPr>
          <a:xfrm>
            <a:off x="640080" y="3246120"/>
            <a:ext cx="1152144" cy="822960"/>
          </a:xfrm>
          <a:prstGeom prst="roundRect">
            <a:avLst>
              <a:gd name="adj" fmla="val 8889"/>
            </a:avLst>
          </a:prstGeom>
          <a:solidFill>
            <a:srgbClr val="F2F2F2"/>
          </a:solidFill>
          <a:ln w="12700">
            <a:solidFill>
              <a:srgbClr val="D9D9D9"/>
            </a:solidFill>
            <a:prstDash val="solid"/>
          </a:ln>
        </p:spPr>
        <p:txBody>
          <a:bodyPr/>
          <a:lstStyle/>
          <a:p>
            <a:endParaRPr lang="en-US"/>
          </a:p>
        </p:txBody>
      </p:sp>
      <p:sp>
        <p:nvSpPr>
          <p:cNvPr id="8" name="Text 6"/>
          <p:cNvSpPr txBox="1"/>
          <p:nvPr/>
        </p:nvSpPr>
        <p:spPr>
          <a:xfrm>
            <a:off x="640080" y="3246120"/>
            <a:ext cx="1152144" cy="822960"/>
          </a:xfrm>
          <a:prstGeom prst="rect">
            <a:avLst/>
          </a:prstGeom>
          <a:noFill/>
          <a:ln/>
        </p:spPr>
        <p:txBody>
          <a:bodyPr wrap="square" lIns="0" tIns="0" rIns="0" bIns="0" rtlCol="0" anchor="ctr"/>
          <a:lstStyle/>
          <a:p>
            <a:pPr marL="0" indent="0" algn="ctr">
              <a:buNone/>
            </a:pPr>
            <a:r>
              <a:rPr lang="en-US" sz="2600" b="1" dirty="0">
                <a:solidFill>
                  <a:srgbClr val="6E6E6E"/>
                </a:solidFill>
                <a:latin typeface="Cambria" pitchFamily="34" charset="0"/>
                <a:ea typeface="Cambria" pitchFamily="34" charset="-122"/>
                <a:cs typeface="Cambria" pitchFamily="34" charset="-120"/>
              </a:rPr>
              <a:t>0</a:t>
            </a:r>
            <a:endParaRPr lang="en-US" sz="2600" dirty="0"/>
          </a:p>
        </p:txBody>
      </p:sp>
      <p:sp>
        <p:nvSpPr>
          <p:cNvPr id="9" name="Text 7"/>
          <p:cNvSpPr txBox="1"/>
          <p:nvPr/>
        </p:nvSpPr>
        <p:spPr>
          <a:xfrm>
            <a:off x="1901952" y="2743200"/>
            <a:ext cx="1152144" cy="457200"/>
          </a:xfrm>
          <a:prstGeom prst="rect">
            <a:avLst/>
          </a:prstGeom>
          <a:noFill/>
          <a:ln/>
        </p:spPr>
        <p:txBody>
          <a:bodyPr wrap="square" lIns="0" tIns="0" rIns="0" bIns="0" rtlCol="0" anchor="ctr"/>
          <a:lstStyle/>
          <a:p>
            <a:pPr marL="0" indent="0" algn="ctr">
              <a:buNone/>
            </a:pPr>
            <a:r>
              <a:rPr lang="en-US" sz="1500" dirty="0">
                <a:solidFill>
                  <a:srgbClr val="6E6E6E"/>
                </a:solidFill>
                <a:latin typeface="Calibri" pitchFamily="34" charset="0"/>
                <a:ea typeface="Calibri" pitchFamily="34" charset="-122"/>
                <a:cs typeface="Calibri" pitchFamily="34" charset="-120"/>
              </a:rPr>
              <a:t>64</a:t>
            </a:r>
            <a:endParaRPr lang="en-US" sz="1500" dirty="0"/>
          </a:p>
        </p:txBody>
      </p:sp>
      <p:sp>
        <p:nvSpPr>
          <p:cNvPr id="10" name="Shape 8"/>
          <p:cNvSpPr/>
          <p:nvPr/>
        </p:nvSpPr>
        <p:spPr>
          <a:xfrm>
            <a:off x="1901952" y="3246120"/>
            <a:ext cx="1152144" cy="822960"/>
          </a:xfrm>
          <a:prstGeom prst="roundRect">
            <a:avLst>
              <a:gd name="adj" fmla="val 8889"/>
            </a:avLst>
          </a:prstGeom>
          <a:solidFill>
            <a:srgbClr val="F2F2F2"/>
          </a:solidFill>
          <a:ln w="12700">
            <a:solidFill>
              <a:srgbClr val="D9D9D9"/>
            </a:solidFill>
            <a:prstDash val="solid"/>
          </a:ln>
        </p:spPr>
        <p:txBody>
          <a:bodyPr/>
          <a:lstStyle/>
          <a:p>
            <a:endParaRPr lang="en-US"/>
          </a:p>
        </p:txBody>
      </p:sp>
      <p:sp>
        <p:nvSpPr>
          <p:cNvPr id="11" name="Text 9"/>
          <p:cNvSpPr txBox="1"/>
          <p:nvPr/>
        </p:nvSpPr>
        <p:spPr>
          <a:xfrm>
            <a:off x="1901952" y="3246120"/>
            <a:ext cx="1152144" cy="822960"/>
          </a:xfrm>
          <a:prstGeom prst="rect">
            <a:avLst/>
          </a:prstGeom>
          <a:noFill/>
          <a:ln/>
        </p:spPr>
        <p:txBody>
          <a:bodyPr wrap="square" lIns="0" tIns="0" rIns="0" bIns="0" rtlCol="0" anchor="ctr"/>
          <a:lstStyle/>
          <a:p>
            <a:pPr marL="0" indent="0" algn="ctr">
              <a:buNone/>
            </a:pPr>
            <a:r>
              <a:rPr lang="en-US" sz="2600" b="1" dirty="0">
                <a:solidFill>
                  <a:srgbClr val="6E6E6E"/>
                </a:solidFill>
                <a:latin typeface="Cambria" pitchFamily="34" charset="0"/>
                <a:ea typeface="Cambria" pitchFamily="34" charset="-122"/>
                <a:cs typeface="Cambria" pitchFamily="34" charset="-120"/>
              </a:rPr>
              <a:t>0</a:t>
            </a:r>
            <a:endParaRPr lang="en-US" sz="2600" dirty="0"/>
          </a:p>
        </p:txBody>
      </p:sp>
      <p:sp>
        <p:nvSpPr>
          <p:cNvPr id="12" name="Text 10"/>
          <p:cNvSpPr txBox="1"/>
          <p:nvPr/>
        </p:nvSpPr>
        <p:spPr>
          <a:xfrm>
            <a:off x="3163824" y="2743200"/>
            <a:ext cx="1152144" cy="457200"/>
          </a:xfrm>
          <a:prstGeom prst="rect">
            <a:avLst/>
          </a:prstGeom>
          <a:noFill/>
          <a:ln/>
        </p:spPr>
        <p:txBody>
          <a:bodyPr wrap="square" lIns="0" tIns="0" rIns="0" bIns="0" rtlCol="0" anchor="ctr"/>
          <a:lstStyle/>
          <a:p>
            <a:pPr marL="0" indent="0" algn="ctr">
              <a:buNone/>
            </a:pPr>
            <a:r>
              <a:rPr lang="en-US" sz="1500" dirty="0">
                <a:solidFill>
                  <a:srgbClr val="6E6E6E"/>
                </a:solidFill>
                <a:latin typeface="Calibri" pitchFamily="34" charset="0"/>
                <a:ea typeface="Calibri" pitchFamily="34" charset="-122"/>
                <a:cs typeface="Calibri" pitchFamily="34" charset="-120"/>
              </a:rPr>
              <a:t>32</a:t>
            </a:r>
            <a:endParaRPr lang="en-US" sz="1500" dirty="0"/>
          </a:p>
        </p:txBody>
      </p:sp>
      <p:sp>
        <p:nvSpPr>
          <p:cNvPr id="13" name="Shape 11"/>
          <p:cNvSpPr/>
          <p:nvPr/>
        </p:nvSpPr>
        <p:spPr>
          <a:xfrm>
            <a:off x="3163824" y="3246120"/>
            <a:ext cx="1152144" cy="822960"/>
          </a:xfrm>
          <a:prstGeom prst="roundRect">
            <a:avLst>
              <a:gd name="adj" fmla="val 8889"/>
            </a:avLst>
          </a:prstGeom>
          <a:solidFill>
            <a:srgbClr val="000000"/>
          </a:solidFill>
          <a:ln/>
        </p:spPr>
        <p:txBody>
          <a:bodyPr/>
          <a:lstStyle/>
          <a:p>
            <a:endParaRPr lang="en-US"/>
          </a:p>
        </p:txBody>
      </p:sp>
      <p:sp>
        <p:nvSpPr>
          <p:cNvPr id="14" name="Text 12"/>
          <p:cNvSpPr txBox="1"/>
          <p:nvPr/>
        </p:nvSpPr>
        <p:spPr>
          <a:xfrm>
            <a:off x="3163824" y="3246120"/>
            <a:ext cx="1152144"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15" name="Text 13"/>
          <p:cNvSpPr txBox="1"/>
          <p:nvPr/>
        </p:nvSpPr>
        <p:spPr>
          <a:xfrm>
            <a:off x="4425696" y="2743200"/>
            <a:ext cx="1152144" cy="457200"/>
          </a:xfrm>
          <a:prstGeom prst="rect">
            <a:avLst/>
          </a:prstGeom>
          <a:noFill/>
          <a:ln/>
        </p:spPr>
        <p:txBody>
          <a:bodyPr wrap="square" lIns="0" tIns="0" rIns="0" bIns="0" rtlCol="0" anchor="ctr"/>
          <a:lstStyle/>
          <a:p>
            <a:pPr marL="0" indent="0" algn="ctr">
              <a:buNone/>
            </a:pPr>
            <a:r>
              <a:rPr lang="en-US" sz="1500" dirty="0">
                <a:solidFill>
                  <a:srgbClr val="6E6E6E"/>
                </a:solidFill>
                <a:latin typeface="Calibri" pitchFamily="34" charset="0"/>
                <a:ea typeface="Calibri" pitchFamily="34" charset="-122"/>
                <a:cs typeface="Calibri" pitchFamily="34" charset="-120"/>
              </a:rPr>
              <a:t>16</a:t>
            </a:r>
            <a:endParaRPr lang="en-US" sz="1500" dirty="0"/>
          </a:p>
        </p:txBody>
      </p:sp>
      <p:sp>
        <p:nvSpPr>
          <p:cNvPr id="16" name="Shape 14"/>
          <p:cNvSpPr/>
          <p:nvPr/>
        </p:nvSpPr>
        <p:spPr>
          <a:xfrm>
            <a:off x="4425696" y="3246120"/>
            <a:ext cx="1152144" cy="822960"/>
          </a:xfrm>
          <a:prstGeom prst="roundRect">
            <a:avLst>
              <a:gd name="adj" fmla="val 8889"/>
            </a:avLst>
          </a:prstGeom>
          <a:solidFill>
            <a:srgbClr val="F2F2F2"/>
          </a:solidFill>
          <a:ln w="12700">
            <a:solidFill>
              <a:srgbClr val="D9D9D9"/>
            </a:solidFill>
            <a:prstDash val="solid"/>
          </a:ln>
        </p:spPr>
        <p:txBody>
          <a:bodyPr/>
          <a:lstStyle/>
          <a:p>
            <a:endParaRPr lang="en-US"/>
          </a:p>
        </p:txBody>
      </p:sp>
      <p:sp>
        <p:nvSpPr>
          <p:cNvPr id="17" name="Text 15"/>
          <p:cNvSpPr txBox="1"/>
          <p:nvPr/>
        </p:nvSpPr>
        <p:spPr>
          <a:xfrm>
            <a:off x="4425696" y="3246120"/>
            <a:ext cx="1152144" cy="822960"/>
          </a:xfrm>
          <a:prstGeom prst="rect">
            <a:avLst/>
          </a:prstGeom>
          <a:noFill/>
          <a:ln/>
        </p:spPr>
        <p:txBody>
          <a:bodyPr wrap="square" lIns="0" tIns="0" rIns="0" bIns="0" rtlCol="0" anchor="ctr"/>
          <a:lstStyle/>
          <a:p>
            <a:pPr marL="0" indent="0" algn="ctr">
              <a:buNone/>
            </a:pPr>
            <a:r>
              <a:rPr lang="en-US" sz="2600" b="1" dirty="0">
                <a:solidFill>
                  <a:srgbClr val="6E6E6E"/>
                </a:solidFill>
                <a:latin typeface="Cambria" pitchFamily="34" charset="0"/>
                <a:ea typeface="Cambria" pitchFamily="34" charset="-122"/>
                <a:cs typeface="Cambria" pitchFamily="34" charset="-120"/>
              </a:rPr>
              <a:t>0</a:t>
            </a:r>
            <a:endParaRPr lang="en-US" sz="2600" dirty="0"/>
          </a:p>
        </p:txBody>
      </p:sp>
      <p:sp>
        <p:nvSpPr>
          <p:cNvPr id="18" name="Text 16"/>
          <p:cNvSpPr txBox="1"/>
          <p:nvPr/>
        </p:nvSpPr>
        <p:spPr>
          <a:xfrm>
            <a:off x="5687568" y="2743200"/>
            <a:ext cx="1152144" cy="457200"/>
          </a:xfrm>
          <a:prstGeom prst="rect">
            <a:avLst/>
          </a:prstGeom>
          <a:noFill/>
          <a:ln/>
        </p:spPr>
        <p:txBody>
          <a:bodyPr wrap="square" lIns="0" tIns="0" rIns="0" bIns="0" rtlCol="0" anchor="ctr"/>
          <a:lstStyle/>
          <a:p>
            <a:pPr marL="0" indent="0" algn="ctr">
              <a:buNone/>
            </a:pPr>
            <a:r>
              <a:rPr lang="en-US" sz="1500" dirty="0">
                <a:solidFill>
                  <a:srgbClr val="6E6E6E"/>
                </a:solidFill>
                <a:latin typeface="Calibri" pitchFamily="34" charset="0"/>
                <a:ea typeface="Calibri" pitchFamily="34" charset="-122"/>
                <a:cs typeface="Calibri" pitchFamily="34" charset="-120"/>
              </a:rPr>
              <a:t>8</a:t>
            </a:r>
            <a:endParaRPr lang="en-US" sz="1500" dirty="0"/>
          </a:p>
        </p:txBody>
      </p:sp>
      <p:sp>
        <p:nvSpPr>
          <p:cNvPr id="19" name="Shape 17"/>
          <p:cNvSpPr/>
          <p:nvPr/>
        </p:nvSpPr>
        <p:spPr>
          <a:xfrm>
            <a:off x="5687568" y="3246120"/>
            <a:ext cx="1152144" cy="822960"/>
          </a:xfrm>
          <a:prstGeom prst="roundRect">
            <a:avLst>
              <a:gd name="adj" fmla="val 8889"/>
            </a:avLst>
          </a:prstGeom>
          <a:solidFill>
            <a:srgbClr val="000000"/>
          </a:solidFill>
          <a:ln/>
        </p:spPr>
        <p:txBody>
          <a:bodyPr/>
          <a:lstStyle/>
          <a:p>
            <a:endParaRPr lang="en-US"/>
          </a:p>
        </p:txBody>
      </p:sp>
      <p:sp>
        <p:nvSpPr>
          <p:cNvPr id="20" name="Text 18"/>
          <p:cNvSpPr txBox="1"/>
          <p:nvPr/>
        </p:nvSpPr>
        <p:spPr>
          <a:xfrm>
            <a:off x="5687568" y="3246120"/>
            <a:ext cx="1152144"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21" name="Text 19"/>
          <p:cNvSpPr txBox="1"/>
          <p:nvPr/>
        </p:nvSpPr>
        <p:spPr>
          <a:xfrm>
            <a:off x="6949440" y="2743200"/>
            <a:ext cx="1152144" cy="457200"/>
          </a:xfrm>
          <a:prstGeom prst="rect">
            <a:avLst/>
          </a:prstGeom>
          <a:noFill/>
          <a:ln/>
        </p:spPr>
        <p:txBody>
          <a:bodyPr wrap="square" lIns="0" tIns="0" rIns="0" bIns="0" rtlCol="0" anchor="ctr"/>
          <a:lstStyle/>
          <a:p>
            <a:pPr marL="0" indent="0" algn="ctr">
              <a:buNone/>
            </a:pPr>
            <a:r>
              <a:rPr lang="en-US" sz="1500" dirty="0">
                <a:solidFill>
                  <a:srgbClr val="6E6E6E"/>
                </a:solidFill>
                <a:latin typeface="Calibri" pitchFamily="34" charset="0"/>
                <a:ea typeface="Calibri" pitchFamily="34" charset="-122"/>
                <a:cs typeface="Calibri" pitchFamily="34" charset="-120"/>
              </a:rPr>
              <a:t>4</a:t>
            </a:r>
            <a:endParaRPr lang="en-US" sz="1500" dirty="0"/>
          </a:p>
        </p:txBody>
      </p:sp>
      <p:sp>
        <p:nvSpPr>
          <p:cNvPr id="22" name="Shape 20"/>
          <p:cNvSpPr/>
          <p:nvPr/>
        </p:nvSpPr>
        <p:spPr>
          <a:xfrm>
            <a:off x="6949440" y="3246120"/>
            <a:ext cx="1152144" cy="822960"/>
          </a:xfrm>
          <a:prstGeom prst="roundRect">
            <a:avLst>
              <a:gd name="adj" fmla="val 8889"/>
            </a:avLst>
          </a:prstGeom>
          <a:solidFill>
            <a:srgbClr val="000000"/>
          </a:solidFill>
          <a:ln/>
        </p:spPr>
        <p:txBody>
          <a:bodyPr/>
          <a:lstStyle/>
          <a:p>
            <a:endParaRPr lang="en-US"/>
          </a:p>
        </p:txBody>
      </p:sp>
      <p:sp>
        <p:nvSpPr>
          <p:cNvPr id="23" name="Text 21"/>
          <p:cNvSpPr txBox="1"/>
          <p:nvPr/>
        </p:nvSpPr>
        <p:spPr>
          <a:xfrm>
            <a:off x="6949440" y="3246120"/>
            <a:ext cx="1152144"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24" name="Text 22"/>
          <p:cNvSpPr txBox="1"/>
          <p:nvPr/>
        </p:nvSpPr>
        <p:spPr>
          <a:xfrm>
            <a:off x="8211312" y="2743200"/>
            <a:ext cx="1152144" cy="457200"/>
          </a:xfrm>
          <a:prstGeom prst="rect">
            <a:avLst/>
          </a:prstGeom>
          <a:noFill/>
          <a:ln/>
        </p:spPr>
        <p:txBody>
          <a:bodyPr wrap="square" lIns="0" tIns="0" rIns="0" bIns="0" rtlCol="0" anchor="ctr"/>
          <a:lstStyle/>
          <a:p>
            <a:pPr marL="0" indent="0" algn="ctr">
              <a:buNone/>
            </a:pPr>
            <a:r>
              <a:rPr lang="en-US" sz="1500" dirty="0">
                <a:solidFill>
                  <a:srgbClr val="6E6E6E"/>
                </a:solidFill>
                <a:latin typeface="Calibri" pitchFamily="34" charset="0"/>
                <a:ea typeface="Calibri" pitchFamily="34" charset="-122"/>
                <a:cs typeface="Calibri" pitchFamily="34" charset="-120"/>
              </a:rPr>
              <a:t>2</a:t>
            </a:r>
            <a:endParaRPr lang="en-US" sz="1500" dirty="0"/>
          </a:p>
        </p:txBody>
      </p:sp>
      <p:sp>
        <p:nvSpPr>
          <p:cNvPr id="25" name="Shape 23"/>
          <p:cNvSpPr/>
          <p:nvPr/>
        </p:nvSpPr>
        <p:spPr>
          <a:xfrm>
            <a:off x="8211312" y="3246120"/>
            <a:ext cx="1152144" cy="822960"/>
          </a:xfrm>
          <a:prstGeom prst="roundRect">
            <a:avLst>
              <a:gd name="adj" fmla="val 8889"/>
            </a:avLst>
          </a:prstGeom>
          <a:solidFill>
            <a:srgbClr val="F2F2F2"/>
          </a:solidFill>
          <a:ln w="12700">
            <a:solidFill>
              <a:srgbClr val="D9D9D9"/>
            </a:solidFill>
            <a:prstDash val="solid"/>
          </a:ln>
        </p:spPr>
        <p:txBody>
          <a:bodyPr/>
          <a:lstStyle/>
          <a:p>
            <a:endParaRPr lang="en-US"/>
          </a:p>
        </p:txBody>
      </p:sp>
      <p:sp>
        <p:nvSpPr>
          <p:cNvPr id="26" name="Text 24"/>
          <p:cNvSpPr txBox="1"/>
          <p:nvPr/>
        </p:nvSpPr>
        <p:spPr>
          <a:xfrm>
            <a:off x="8211312" y="3246120"/>
            <a:ext cx="1152144" cy="822960"/>
          </a:xfrm>
          <a:prstGeom prst="rect">
            <a:avLst/>
          </a:prstGeom>
          <a:noFill/>
          <a:ln/>
        </p:spPr>
        <p:txBody>
          <a:bodyPr wrap="square" lIns="0" tIns="0" rIns="0" bIns="0" rtlCol="0" anchor="ctr"/>
          <a:lstStyle/>
          <a:p>
            <a:pPr marL="0" indent="0" algn="ctr">
              <a:buNone/>
            </a:pPr>
            <a:r>
              <a:rPr lang="en-US" sz="2600" b="1" dirty="0">
                <a:solidFill>
                  <a:srgbClr val="6E6E6E"/>
                </a:solidFill>
                <a:latin typeface="Cambria" pitchFamily="34" charset="0"/>
                <a:ea typeface="Cambria" pitchFamily="34" charset="-122"/>
                <a:cs typeface="Cambria" pitchFamily="34" charset="-120"/>
              </a:rPr>
              <a:t>0</a:t>
            </a:r>
            <a:endParaRPr lang="en-US" sz="2600" dirty="0"/>
          </a:p>
        </p:txBody>
      </p:sp>
      <p:sp>
        <p:nvSpPr>
          <p:cNvPr id="27" name="Text 25"/>
          <p:cNvSpPr txBox="1"/>
          <p:nvPr/>
        </p:nvSpPr>
        <p:spPr>
          <a:xfrm>
            <a:off x="9473184" y="2743200"/>
            <a:ext cx="1152144" cy="457200"/>
          </a:xfrm>
          <a:prstGeom prst="rect">
            <a:avLst/>
          </a:prstGeom>
          <a:noFill/>
          <a:ln/>
        </p:spPr>
        <p:txBody>
          <a:bodyPr wrap="square" lIns="0" tIns="0" rIns="0" bIns="0" rtlCol="0" anchor="ctr"/>
          <a:lstStyle/>
          <a:p>
            <a:pPr marL="0" indent="0" algn="ctr">
              <a:buNone/>
            </a:pPr>
            <a:r>
              <a:rPr lang="en-US" sz="1500" dirty="0">
                <a:solidFill>
                  <a:srgbClr val="6E6E6E"/>
                </a:solidFill>
                <a:latin typeface="Calibri" pitchFamily="34" charset="0"/>
                <a:ea typeface="Calibri" pitchFamily="34" charset="-122"/>
                <a:cs typeface="Calibri" pitchFamily="34" charset="-120"/>
              </a:rPr>
              <a:t>1</a:t>
            </a:r>
            <a:endParaRPr lang="en-US" sz="1500" dirty="0"/>
          </a:p>
        </p:txBody>
      </p:sp>
      <p:sp>
        <p:nvSpPr>
          <p:cNvPr id="28" name="Shape 26"/>
          <p:cNvSpPr/>
          <p:nvPr/>
        </p:nvSpPr>
        <p:spPr>
          <a:xfrm>
            <a:off x="9473184" y="3246120"/>
            <a:ext cx="1152144" cy="822960"/>
          </a:xfrm>
          <a:prstGeom prst="roundRect">
            <a:avLst>
              <a:gd name="adj" fmla="val 8889"/>
            </a:avLst>
          </a:prstGeom>
          <a:solidFill>
            <a:srgbClr val="000000"/>
          </a:solidFill>
          <a:ln/>
        </p:spPr>
        <p:txBody>
          <a:bodyPr/>
          <a:lstStyle/>
          <a:p>
            <a:endParaRPr lang="en-US"/>
          </a:p>
        </p:txBody>
      </p:sp>
      <p:sp>
        <p:nvSpPr>
          <p:cNvPr id="29" name="Text 27"/>
          <p:cNvSpPr txBox="1"/>
          <p:nvPr/>
        </p:nvSpPr>
        <p:spPr>
          <a:xfrm>
            <a:off x="9473184" y="3246120"/>
            <a:ext cx="1152144"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30" name="Text 28"/>
          <p:cNvSpPr txBox="1"/>
          <p:nvPr/>
        </p:nvSpPr>
        <p:spPr>
          <a:xfrm>
            <a:off x="640080" y="4297680"/>
            <a:ext cx="10241280" cy="548640"/>
          </a:xfrm>
          <a:prstGeom prst="rect">
            <a:avLst/>
          </a:prstGeom>
          <a:noFill/>
          <a:ln/>
        </p:spPr>
        <p:txBody>
          <a:bodyPr wrap="square" lIns="0" tIns="0" rIns="0" bIns="0" rtlCol="0" anchor="ctr"/>
          <a:lstStyle/>
          <a:p>
            <a:pPr marL="0" indent="0">
              <a:buNone/>
            </a:pPr>
            <a:r>
              <a:rPr lang="en-US" sz="2300" b="1" dirty="0">
                <a:solidFill>
                  <a:srgbClr val="000000"/>
                </a:solidFill>
                <a:latin typeface="Cambria" pitchFamily="34" charset="0"/>
                <a:ea typeface="Cambria" pitchFamily="34" charset="-122"/>
                <a:cs typeface="Cambria" pitchFamily="34" charset="-120"/>
              </a:rPr>
              <a:t>00101101  =  32 + 8 + 4 + 1  =  45</a:t>
            </a:r>
            <a:endParaRPr lang="en-US" sz="2300" dirty="0"/>
          </a:p>
        </p:txBody>
      </p:sp>
      <p:sp>
        <p:nvSpPr>
          <p:cNvPr id="31" name="Text 29"/>
          <p:cNvSpPr txBox="1"/>
          <p:nvPr/>
        </p:nvSpPr>
        <p:spPr>
          <a:xfrm>
            <a:off x="11368735" y="6355080"/>
            <a:ext cx="548640" cy="320040"/>
          </a:xfrm>
          <a:prstGeom prst="rect">
            <a:avLst/>
          </a:prstGeom>
          <a:noFill/>
          <a:ln/>
        </p:spPr>
        <p:txBody>
          <a:bodyPr wrap="square" lIns="0" tIns="0" rIns="0" bIns="0" rtlCol="0" anchor="ctr"/>
          <a:lstStyle/>
          <a:p>
            <a:pPr marL="0" indent="0" algn="r">
              <a:buNone/>
            </a:pPr>
            <a:r>
              <a:rPr lang="en-US" sz="1200" dirty="0">
                <a:solidFill>
                  <a:srgbClr val="6E6E6E"/>
                </a:solidFill>
                <a:latin typeface="Calibri" pitchFamily="34" charset="0"/>
                <a:ea typeface="Calibri" pitchFamily="34" charset="-122"/>
                <a:cs typeface="Calibri" pitchFamily="34" charset="-120"/>
              </a:rPr>
              <a:t>21</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8686800" cy="365760"/>
          </a:xfrm>
          <a:prstGeom prst="rect">
            <a:avLst/>
          </a:prstGeom>
          <a:noFill/>
          <a:ln/>
        </p:spPr>
        <p:txBody>
          <a:bodyPr wrap="square" lIns="0" tIns="0" rIns="0" bIns="0" rtlCol="0" anchor="ctr"/>
          <a:lstStyle/>
          <a:p>
            <a:pPr marL="0" indent="0">
              <a:buNone/>
            </a:pPr>
            <a:endParaRPr lang="en-US" sz="1500" dirty="0"/>
          </a:p>
        </p:txBody>
      </p:sp>
      <p:sp>
        <p:nvSpPr>
          <p:cNvPr id="3" name="Text 1"/>
          <p:cNvSpPr txBox="1"/>
          <p:nvPr/>
        </p:nvSpPr>
        <p:spPr>
          <a:xfrm>
            <a:off x="640080" y="868680"/>
            <a:ext cx="10881360" cy="1005840"/>
          </a:xfrm>
          <a:prstGeom prst="rect">
            <a:avLst/>
          </a:prstGeom>
          <a:noFill/>
          <a:ln/>
        </p:spPr>
        <p:txBody>
          <a:bodyPr wrap="square" lIns="0" tIns="0" rIns="0" bIns="0" rtlCol="0" anchor="ctr"/>
          <a:lstStyle/>
          <a:p>
            <a:pPr marL="0" indent="0" algn="l">
              <a:buNone/>
            </a:pPr>
            <a:r>
              <a:rPr lang="en-US" sz="3200" b="1" dirty="0" err="1">
                <a:solidFill>
                  <a:srgbClr val="000000"/>
                </a:solidFill>
                <a:latin typeface="Cambria" pitchFamily="34" charset="0"/>
                <a:ea typeface="Cambria" pitchFamily="34" charset="-122"/>
                <a:cs typeface="Cambria" pitchFamily="34" charset="-120"/>
              </a:rPr>
              <a:t>O'nlik</a:t>
            </a:r>
            <a:r>
              <a:rPr lang="en-US" sz="3200" b="1" dirty="0">
                <a:solidFill>
                  <a:srgbClr val="000000"/>
                </a:solidFill>
                <a:latin typeface="Cambria" pitchFamily="34" charset="0"/>
                <a:ea typeface="Cambria" pitchFamily="34" charset="-122"/>
                <a:cs typeface="Cambria" pitchFamily="34" charset="-120"/>
              </a:rPr>
              <a:t> </a:t>
            </a:r>
            <a:r>
              <a:rPr lang="en-US" sz="3200" b="1" dirty="0" err="1">
                <a:solidFill>
                  <a:srgbClr val="000000"/>
                </a:solidFill>
                <a:latin typeface="Cambria" pitchFamily="34" charset="0"/>
                <a:ea typeface="Cambria" pitchFamily="34" charset="-122"/>
                <a:cs typeface="Cambria" pitchFamily="34" charset="-120"/>
              </a:rPr>
              <a:t>Tizim</a:t>
            </a:r>
            <a:endParaRPr lang="en-US" sz="3200" dirty="0"/>
          </a:p>
        </p:txBody>
      </p:sp>
      <p:sp>
        <p:nvSpPr>
          <p:cNvPr id="4" name="Shape 2"/>
          <p:cNvSpPr/>
          <p:nvPr/>
        </p:nvSpPr>
        <p:spPr>
          <a:xfrm>
            <a:off x="640080" y="1874520"/>
            <a:ext cx="10911535" cy="0"/>
          </a:xfrm>
          <a:prstGeom prst="line">
            <a:avLst/>
          </a:prstGeom>
          <a:noFill/>
          <a:ln w="15875">
            <a:solidFill>
              <a:srgbClr val="D9D9D9"/>
            </a:solidFill>
            <a:prstDash val="solid"/>
          </a:ln>
        </p:spPr>
        <p:txBody>
          <a:bodyPr/>
          <a:lstStyle/>
          <a:p>
            <a:endParaRPr lang="en-US"/>
          </a:p>
        </p:txBody>
      </p:sp>
      <p:sp>
        <p:nvSpPr>
          <p:cNvPr id="5" name="Text 3"/>
          <p:cNvSpPr txBox="1"/>
          <p:nvPr/>
        </p:nvSpPr>
        <p:spPr>
          <a:xfrm>
            <a:off x="640080" y="2011680"/>
            <a:ext cx="10607040" cy="822960"/>
          </a:xfrm>
          <a:prstGeom prst="rect">
            <a:avLst/>
          </a:prstGeom>
          <a:noFill/>
          <a:ln/>
        </p:spPr>
        <p:txBody>
          <a:bodyPr wrap="square" lIns="0" tIns="0" rIns="0" bIns="0" rtlCol="0" anchor="ctr"/>
          <a:lstStyle/>
          <a:p>
            <a:pPr marL="0" indent="0">
              <a:lnSpc>
                <a:spcPct val="130000"/>
              </a:lnSpc>
              <a:buNone/>
            </a:pPr>
            <a:r>
              <a:rPr lang="en-US" sz="1600" dirty="0">
                <a:solidFill>
                  <a:srgbClr val="3D3D3D"/>
                </a:solidFill>
                <a:latin typeface="Calibri" pitchFamily="34" charset="0"/>
                <a:ea typeface="Calibri" pitchFamily="34" charset="-122"/>
                <a:cs typeface="Calibri" pitchFamily="34" charset="-120"/>
              </a:rPr>
              <a:t>O'nlik tizim (10 asosli) — ehtimol odamlarning 10 ta barmog'i</a:t>
            </a:r>
            <a:endParaRPr lang="en-US" sz="1600" dirty="0"/>
          </a:p>
          <a:p>
            <a:pPr marL="0" indent="0">
              <a:lnSpc>
                <a:spcPct val="130000"/>
              </a:lnSpc>
              <a:buNone/>
            </a:pPr>
            <a:r>
              <a:rPr lang="en-US" sz="1600" dirty="0">
                <a:solidFill>
                  <a:srgbClr val="3D3D3D"/>
                </a:solidFill>
                <a:latin typeface="Calibri" pitchFamily="34" charset="0"/>
                <a:ea typeface="Calibri" pitchFamily="34" charset="-122"/>
                <a:cs typeface="Calibri" pitchFamily="34" charset="-120"/>
              </a:rPr>
              <a:t>borligi uchun. Xuddi shu o'rin qiymati g'oyasi, faqat 2 ta emas, 10 ta belgi bilan.</a:t>
            </a:r>
            <a:endParaRPr lang="en-US" sz="1600" dirty="0"/>
          </a:p>
        </p:txBody>
      </p:sp>
      <p:sp>
        <p:nvSpPr>
          <p:cNvPr id="6" name="Text 4"/>
          <p:cNvSpPr txBox="1"/>
          <p:nvPr/>
        </p:nvSpPr>
        <p:spPr>
          <a:xfrm>
            <a:off x="640080" y="3063240"/>
            <a:ext cx="1463040" cy="457200"/>
          </a:xfrm>
          <a:prstGeom prst="rect">
            <a:avLst/>
          </a:prstGeom>
          <a:noFill/>
          <a:ln/>
        </p:spPr>
        <p:txBody>
          <a:bodyPr wrap="square" lIns="0" tIns="0" rIns="0" bIns="0" rtlCol="0" anchor="ctr"/>
          <a:lstStyle/>
          <a:p>
            <a:pPr marL="0" indent="0" algn="ctr">
              <a:buNone/>
            </a:pPr>
            <a:r>
              <a:rPr lang="en-US" sz="1500" dirty="0">
                <a:solidFill>
                  <a:srgbClr val="6E6E6E"/>
                </a:solidFill>
                <a:latin typeface="Calibri" pitchFamily="34" charset="0"/>
                <a:ea typeface="Calibri" pitchFamily="34" charset="-122"/>
                <a:cs typeface="Calibri" pitchFamily="34" charset="-120"/>
              </a:rPr>
              <a:t>100</a:t>
            </a:r>
            <a:endParaRPr lang="en-US" sz="1500" dirty="0"/>
          </a:p>
        </p:txBody>
      </p:sp>
      <p:sp>
        <p:nvSpPr>
          <p:cNvPr id="7" name="Shape 5"/>
          <p:cNvSpPr/>
          <p:nvPr/>
        </p:nvSpPr>
        <p:spPr>
          <a:xfrm>
            <a:off x="640080" y="3566160"/>
            <a:ext cx="1463040" cy="914400"/>
          </a:xfrm>
          <a:prstGeom prst="roundRect">
            <a:avLst>
              <a:gd name="adj" fmla="val 8000"/>
            </a:avLst>
          </a:prstGeom>
          <a:solidFill>
            <a:srgbClr val="F2F2F2"/>
          </a:solidFill>
          <a:ln w="12700">
            <a:solidFill>
              <a:srgbClr val="D9D9D9"/>
            </a:solidFill>
            <a:prstDash val="solid"/>
          </a:ln>
        </p:spPr>
        <p:txBody>
          <a:bodyPr/>
          <a:lstStyle/>
          <a:p>
            <a:endParaRPr lang="en-US"/>
          </a:p>
        </p:txBody>
      </p:sp>
      <p:sp>
        <p:nvSpPr>
          <p:cNvPr id="8" name="Text 6"/>
          <p:cNvSpPr txBox="1"/>
          <p:nvPr/>
        </p:nvSpPr>
        <p:spPr>
          <a:xfrm>
            <a:off x="640080" y="3566160"/>
            <a:ext cx="1463040" cy="914400"/>
          </a:xfrm>
          <a:prstGeom prst="rect">
            <a:avLst/>
          </a:prstGeom>
          <a:noFill/>
          <a:ln/>
        </p:spPr>
        <p:txBody>
          <a:bodyPr wrap="square" lIns="0" tIns="0" rIns="0" bIns="0" rtlCol="0" anchor="ctr"/>
          <a:lstStyle/>
          <a:p>
            <a:pPr marL="0" indent="0" algn="ctr">
              <a:buNone/>
            </a:pPr>
            <a:r>
              <a:rPr lang="en-US" sz="3000" b="1" dirty="0">
                <a:solidFill>
                  <a:srgbClr val="000000"/>
                </a:solidFill>
                <a:latin typeface="Cambria" pitchFamily="34" charset="0"/>
                <a:ea typeface="Cambria" pitchFamily="34" charset="-122"/>
                <a:cs typeface="Cambria" pitchFamily="34" charset="-120"/>
              </a:rPr>
              <a:t>0</a:t>
            </a:r>
            <a:endParaRPr lang="en-US" sz="3000" dirty="0"/>
          </a:p>
        </p:txBody>
      </p:sp>
      <p:sp>
        <p:nvSpPr>
          <p:cNvPr id="9" name="Text 7"/>
          <p:cNvSpPr txBox="1"/>
          <p:nvPr/>
        </p:nvSpPr>
        <p:spPr>
          <a:xfrm>
            <a:off x="2240280" y="3063240"/>
            <a:ext cx="1463040" cy="457200"/>
          </a:xfrm>
          <a:prstGeom prst="rect">
            <a:avLst/>
          </a:prstGeom>
          <a:noFill/>
          <a:ln/>
        </p:spPr>
        <p:txBody>
          <a:bodyPr wrap="square" lIns="0" tIns="0" rIns="0" bIns="0" rtlCol="0" anchor="ctr"/>
          <a:lstStyle/>
          <a:p>
            <a:pPr marL="0" indent="0" algn="ctr">
              <a:buNone/>
            </a:pPr>
            <a:r>
              <a:rPr lang="en-US" sz="1500" dirty="0">
                <a:solidFill>
                  <a:srgbClr val="6E6E6E"/>
                </a:solidFill>
                <a:latin typeface="Calibri" pitchFamily="34" charset="0"/>
                <a:ea typeface="Calibri" pitchFamily="34" charset="-122"/>
                <a:cs typeface="Calibri" pitchFamily="34" charset="-120"/>
              </a:rPr>
              <a:t>10</a:t>
            </a:r>
            <a:endParaRPr lang="en-US" sz="1500" dirty="0"/>
          </a:p>
        </p:txBody>
      </p:sp>
      <p:sp>
        <p:nvSpPr>
          <p:cNvPr id="10" name="Shape 8"/>
          <p:cNvSpPr/>
          <p:nvPr/>
        </p:nvSpPr>
        <p:spPr>
          <a:xfrm>
            <a:off x="2240280" y="3566160"/>
            <a:ext cx="1463040" cy="914400"/>
          </a:xfrm>
          <a:prstGeom prst="roundRect">
            <a:avLst>
              <a:gd name="adj" fmla="val 8000"/>
            </a:avLst>
          </a:prstGeom>
          <a:solidFill>
            <a:srgbClr val="F2F2F2"/>
          </a:solidFill>
          <a:ln w="12700">
            <a:solidFill>
              <a:srgbClr val="D9D9D9"/>
            </a:solidFill>
            <a:prstDash val="solid"/>
          </a:ln>
        </p:spPr>
        <p:txBody>
          <a:bodyPr/>
          <a:lstStyle/>
          <a:p>
            <a:endParaRPr lang="en-US"/>
          </a:p>
        </p:txBody>
      </p:sp>
      <p:sp>
        <p:nvSpPr>
          <p:cNvPr id="11" name="Text 9"/>
          <p:cNvSpPr txBox="1"/>
          <p:nvPr/>
        </p:nvSpPr>
        <p:spPr>
          <a:xfrm>
            <a:off x="2240280" y="3566160"/>
            <a:ext cx="1463040" cy="914400"/>
          </a:xfrm>
          <a:prstGeom prst="rect">
            <a:avLst/>
          </a:prstGeom>
          <a:noFill/>
          <a:ln/>
        </p:spPr>
        <p:txBody>
          <a:bodyPr wrap="square" lIns="0" tIns="0" rIns="0" bIns="0" rtlCol="0" anchor="ctr"/>
          <a:lstStyle/>
          <a:p>
            <a:pPr marL="0" indent="0" algn="ctr">
              <a:buNone/>
            </a:pPr>
            <a:r>
              <a:rPr lang="en-US" sz="3000" b="1" dirty="0">
                <a:solidFill>
                  <a:srgbClr val="000000"/>
                </a:solidFill>
                <a:latin typeface="Cambria" pitchFamily="34" charset="0"/>
                <a:ea typeface="Cambria" pitchFamily="34" charset="-122"/>
                <a:cs typeface="Cambria" pitchFamily="34" charset="-120"/>
              </a:rPr>
              <a:t>4</a:t>
            </a:r>
            <a:endParaRPr lang="en-US" sz="3000" dirty="0"/>
          </a:p>
        </p:txBody>
      </p:sp>
      <p:sp>
        <p:nvSpPr>
          <p:cNvPr id="12" name="Text 10"/>
          <p:cNvSpPr txBox="1"/>
          <p:nvPr/>
        </p:nvSpPr>
        <p:spPr>
          <a:xfrm>
            <a:off x="3840480" y="3063240"/>
            <a:ext cx="1463040" cy="457200"/>
          </a:xfrm>
          <a:prstGeom prst="rect">
            <a:avLst/>
          </a:prstGeom>
          <a:noFill/>
          <a:ln/>
        </p:spPr>
        <p:txBody>
          <a:bodyPr wrap="square" lIns="0" tIns="0" rIns="0" bIns="0" rtlCol="0" anchor="ctr"/>
          <a:lstStyle/>
          <a:p>
            <a:pPr marL="0" indent="0" algn="ctr">
              <a:buNone/>
            </a:pPr>
            <a:r>
              <a:rPr lang="en-US" sz="1500" dirty="0">
                <a:solidFill>
                  <a:srgbClr val="6E6E6E"/>
                </a:solidFill>
                <a:latin typeface="Calibri" pitchFamily="34" charset="0"/>
                <a:ea typeface="Calibri" pitchFamily="34" charset="-122"/>
                <a:cs typeface="Calibri" pitchFamily="34" charset="-120"/>
              </a:rPr>
              <a:t>1</a:t>
            </a:r>
            <a:endParaRPr lang="en-US" sz="1500" dirty="0"/>
          </a:p>
        </p:txBody>
      </p:sp>
      <p:sp>
        <p:nvSpPr>
          <p:cNvPr id="13" name="Shape 11"/>
          <p:cNvSpPr/>
          <p:nvPr/>
        </p:nvSpPr>
        <p:spPr>
          <a:xfrm>
            <a:off x="3840480" y="3566160"/>
            <a:ext cx="1463040" cy="914400"/>
          </a:xfrm>
          <a:prstGeom prst="roundRect">
            <a:avLst>
              <a:gd name="adj" fmla="val 8000"/>
            </a:avLst>
          </a:prstGeom>
          <a:solidFill>
            <a:srgbClr val="F2F2F2"/>
          </a:solidFill>
          <a:ln w="12700">
            <a:solidFill>
              <a:srgbClr val="D9D9D9"/>
            </a:solidFill>
            <a:prstDash val="solid"/>
          </a:ln>
        </p:spPr>
        <p:txBody>
          <a:bodyPr/>
          <a:lstStyle/>
          <a:p>
            <a:endParaRPr lang="en-US"/>
          </a:p>
        </p:txBody>
      </p:sp>
      <p:sp>
        <p:nvSpPr>
          <p:cNvPr id="14" name="Text 12"/>
          <p:cNvSpPr txBox="1"/>
          <p:nvPr/>
        </p:nvSpPr>
        <p:spPr>
          <a:xfrm>
            <a:off x="3840480" y="3566160"/>
            <a:ext cx="1463040" cy="914400"/>
          </a:xfrm>
          <a:prstGeom prst="rect">
            <a:avLst/>
          </a:prstGeom>
          <a:noFill/>
          <a:ln/>
        </p:spPr>
        <p:txBody>
          <a:bodyPr wrap="square" lIns="0" tIns="0" rIns="0" bIns="0" rtlCol="0" anchor="ctr"/>
          <a:lstStyle/>
          <a:p>
            <a:pPr marL="0" indent="0" algn="ctr">
              <a:buNone/>
            </a:pPr>
            <a:r>
              <a:rPr lang="en-US" sz="3000" b="1" dirty="0">
                <a:solidFill>
                  <a:srgbClr val="000000"/>
                </a:solidFill>
                <a:latin typeface="Cambria" pitchFamily="34" charset="0"/>
                <a:ea typeface="Cambria" pitchFamily="34" charset="-122"/>
                <a:cs typeface="Cambria" pitchFamily="34" charset="-120"/>
              </a:rPr>
              <a:t>5</a:t>
            </a:r>
            <a:endParaRPr lang="en-US" sz="3000" dirty="0"/>
          </a:p>
        </p:txBody>
      </p:sp>
      <p:sp>
        <p:nvSpPr>
          <p:cNvPr id="15" name="Text 13"/>
          <p:cNvSpPr txBox="1"/>
          <p:nvPr/>
        </p:nvSpPr>
        <p:spPr>
          <a:xfrm>
            <a:off x="640080" y="4754880"/>
            <a:ext cx="10241280" cy="548640"/>
          </a:xfrm>
          <a:prstGeom prst="rect">
            <a:avLst/>
          </a:prstGeom>
          <a:noFill/>
          <a:ln/>
        </p:spPr>
        <p:txBody>
          <a:bodyPr wrap="square" lIns="0" tIns="0" rIns="0" bIns="0" rtlCol="0" anchor="ctr"/>
          <a:lstStyle/>
          <a:p>
            <a:pPr marL="0" indent="0">
              <a:buNone/>
            </a:pPr>
            <a:r>
              <a:rPr lang="en-US" sz="2100" b="1" dirty="0">
                <a:solidFill>
                  <a:srgbClr val="000000"/>
                </a:solidFill>
                <a:latin typeface="Cambria" pitchFamily="34" charset="0"/>
                <a:ea typeface="Cambria" pitchFamily="34" charset="-122"/>
                <a:cs typeface="Cambria" pitchFamily="34" charset="-120"/>
              </a:rPr>
              <a:t>045  =  (0×100) + (4×10) + (5×1)  =  45</a:t>
            </a:r>
            <a:endParaRPr lang="en-US" sz="2100" dirty="0"/>
          </a:p>
        </p:txBody>
      </p:sp>
      <p:sp>
        <p:nvSpPr>
          <p:cNvPr id="16" name="Text 14"/>
          <p:cNvSpPr txBox="1"/>
          <p:nvPr/>
        </p:nvSpPr>
        <p:spPr>
          <a:xfrm>
            <a:off x="640080" y="5349240"/>
            <a:ext cx="10241280" cy="457200"/>
          </a:xfrm>
          <a:prstGeom prst="rect">
            <a:avLst/>
          </a:prstGeom>
          <a:noFill/>
          <a:ln/>
        </p:spPr>
        <p:txBody>
          <a:bodyPr wrap="square" lIns="0" tIns="0" rIns="0" bIns="0" rtlCol="0" anchor="ctr"/>
          <a:lstStyle/>
          <a:p>
            <a:pPr marL="0" indent="0">
              <a:buNone/>
            </a:pPr>
            <a:endParaRPr lang="en-US" sz="1400" dirty="0"/>
          </a:p>
        </p:txBody>
      </p:sp>
      <p:sp>
        <p:nvSpPr>
          <p:cNvPr id="17" name="Text 15"/>
          <p:cNvSpPr txBox="1"/>
          <p:nvPr/>
        </p:nvSpPr>
        <p:spPr>
          <a:xfrm>
            <a:off x="11368735" y="6355080"/>
            <a:ext cx="548640" cy="320040"/>
          </a:xfrm>
          <a:prstGeom prst="rect">
            <a:avLst/>
          </a:prstGeom>
          <a:noFill/>
          <a:ln/>
        </p:spPr>
        <p:txBody>
          <a:bodyPr wrap="square" lIns="0" tIns="0" rIns="0" bIns="0" rtlCol="0" anchor="ctr"/>
          <a:lstStyle/>
          <a:p>
            <a:pPr marL="0" indent="0" algn="r">
              <a:buNone/>
            </a:pPr>
            <a:r>
              <a:rPr lang="en-US" sz="1200" dirty="0">
                <a:solidFill>
                  <a:srgbClr val="6E6E6E"/>
                </a:solidFill>
                <a:latin typeface="Calibri" pitchFamily="34" charset="0"/>
                <a:ea typeface="Calibri" pitchFamily="34" charset="-122"/>
                <a:cs typeface="Calibri" pitchFamily="34" charset="-120"/>
              </a:rPr>
              <a:t>22</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8686800" cy="365760"/>
          </a:xfrm>
          <a:prstGeom prst="rect">
            <a:avLst/>
          </a:prstGeom>
          <a:noFill/>
          <a:ln/>
        </p:spPr>
        <p:txBody>
          <a:bodyPr wrap="square" lIns="0" tIns="0" rIns="0" bIns="0" rtlCol="0" anchor="ctr"/>
          <a:lstStyle/>
          <a:p>
            <a:pPr marL="0" indent="0">
              <a:buNone/>
            </a:pPr>
            <a:r>
              <a:rPr lang="en-US" sz="1500" b="1" kern="0" spc="200" dirty="0">
                <a:solidFill>
                  <a:srgbClr val="6E6E6E"/>
                </a:solidFill>
                <a:latin typeface="Calibri" pitchFamily="34" charset="0"/>
                <a:ea typeface="Calibri" pitchFamily="34" charset="-122"/>
                <a:cs typeface="Calibri" pitchFamily="34" charset="-120"/>
              </a:rPr>
              <a:t>MATNNI IFODALASH</a:t>
            </a:r>
            <a:endParaRPr lang="en-US" sz="1500" dirty="0"/>
          </a:p>
        </p:txBody>
      </p:sp>
      <p:sp>
        <p:nvSpPr>
          <p:cNvPr id="3" name="Text 1"/>
          <p:cNvSpPr txBox="1"/>
          <p:nvPr/>
        </p:nvSpPr>
        <p:spPr>
          <a:xfrm>
            <a:off x="640080" y="868680"/>
            <a:ext cx="10881360" cy="1005840"/>
          </a:xfrm>
          <a:prstGeom prst="rect">
            <a:avLst/>
          </a:prstGeom>
          <a:noFill/>
          <a:ln/>
        </p:spPr>
        <p:txBody>
          <a:bodyPr wrap="square" lIns="0" tIns="0" rIns="0" bIns="0" rtlCol="0" anchor="ctr"/>
          <a:lstStyle/>
          <a:p>
            <a:pPr marL="0" indent="0" algn="l">
              <a:buNone/>
            </a:pPr>
            <a:r>
              <a:rPr lang="en-US" sz="3200" b="1" dirty="0">
                <a:solidFill>
                  <a:srgbClr val="000000"/>
                </a:solidFill>
                <a:latin typeface="Cambria" pitchFamily="34" charset="0"/>
                <a:ea typeface="Cambria" pitchFamily="34" charset="-122"/>
                <a:cs typeface="Cambria" pitchFamily="34" charset="-120"/>
              </a:rPr>
              <a:t>ASCII — Harflarni Sonlarga Aylantirish</a:t>
            </a:r>
            <a:endParaRPr lang="en-US" sz="3200" dirty="0"/>
          </a:p>
        </p:txBody>
      </p:sp>
      <p:sp>
        <p:nvSpPr>
          <p:cNvPr id="4" name="Shape 2"/>
          <p:cNvSpPr/>
          <p:nvPr/>
        </p:nvSpPr>
        <p:spPr>
          <a:xfrm>
            <a:off x="640080" y="1874520"/>
            <a:ext cx="10911535" cy="0"/>
          </a:xfrm>
          <a:prstGeom prst="line">
            <a:avLst/>
          </a:prstGeom>
          <a:noFill/>
          <a:ln w="15875">
            <a:solidFill>
              <a:srgbClr val="D9D9D9"/>
            </a:solidFill>
            <a:prstDash val="solid"/>
          </a:ln>
        </p:spPr>
        <p:txBody>
          <a:bodyPr/>
          <a:lstStyle/>
          <a:p>
            <a:endParaRPr lang="en-US"/>
          </a:p>
        </p:txBody>
      </p:sp>
      <p:sp>
        <p:nvSpPr>
          <p:cNvPr id="5" name="Text 3"/>
          <p:cNvSpPr txBox="1"/>
          <p:nvPr/>
        </p:nvSpPr>
        <p:spPr>
          <a:xfrm>
            <a:off x="640080" y="2011680"/>
            <a:ext cx="10607040" cy="822960"/>
          </a:xfrm>
          <a:prstGeom prst="rect">
            <a:avLst/>
          </a:prstGeom>
          <a:noFill/>
          <a:ln/>
        </p:spPr>
        <p:txBody>
          <a:bodyPr wrap="square" lIns="0" tIns="0" rIns="0" bIns="0" rtlCol="0" anchor="ctr"/>
          <a:lstStyle/>
          <a:p>
            <a:pPr marL="0" indent="0">
              <a:lnSpc>
                <a:spcPct val="130000"/>
              </a:lnSpc>
              <a:buNone/>
            </a:pPr>
            <a:r>
              <a:rPr lang="en-US" sz="1600" dirty="0">
                <a:solidFill>
                  <a:srgbClr val="3D3D3D"/>
                </a:solidFill>
                <a:latin typeface="Calibri" pitchFamily="34" charset="0"/>
                <a:ea typeface="Calibri" pitchFamily="34" charset="-122"/>
                <a:cs typeface="Calibri" pitchFamily="34" charset="-120"/>
              </a:rPr>
              <a:t>Agar kompyuter faqat sonlarni tushunsa, u “A” harfini qanday saqlaydi?</a:t>
            </a:r>
            <a:endParaRPr lang="en-US" sz="1600" dirty="0"/>
          </a:p>
          <a:p>
            <a:pPr marL="0" indent="0">
              <a:lnSpc>
                <a:spcPct val="130000"/>
              </a:lnSpc>
              <a:buNone/>
            </a:pPr>
            <a:r>
              <a:rPr lang="en-US" sz="1600" dirty="0">
                <a:solidFill>
                  <a:srgbClr val="3D3D3D"/>
                </a:solidFill>
                <a:latin typeface="Calibri" pitchFamily="34" charset="0"/>
                <a:ea typeface="Calibri" pitchFamily="34" charset="-122"/>
                <a:cs typeface="Calibri" pitchFamily="34" charset="-120"/>
              </a:rPr>
              <a:t>Biz shunchaki har bir belgi uchun kelishuv asosida bir son belgilaymiz.</a:t>
            </a:r>
            <a:endParaRPr lang="en-US" sz="1600" dirty="0"/>
          </a:p>
        </p:txBody>
      </p:sp>
      <p:sp>
        <p:nvSpPr>
          <p:cNvPr id="6" name="Text 4"/>
          <p:cNvSpPr txBox="1"/>
          <p:nvPr/>
        </p:nvSpPr>
        <p:spPr>
          <a:xfrm>
            <a:off x="777240" y="3063240"/>
            <a:ext cx="2286000" cy="365760"/>
          </a:xfrm>
          <a:prstGeom prst="rect">
            <a:avLst/>
          </a:prstGeom>
          <a:noFill/>
          <a:ln/>
        </p:spPr>
        <p:txBody>
          <a:bodyPr wrap="square" lIns="0" tIns="0" rIns="0" bIns="0" rtlCol="0" anchor="ctr"/>
          <a:lstStyle/>
          <a:p>
            <a:pPr marL="0" indent="0">
              <a:buNone/>
            </a:pPr>
            <a:r>
              <a:rPr lang="en-US" sz="1400" b="1" dirty="0">
                <a:solidFill>
                  <a:srgbClr val="6E6E6E"/>
                </a:solidFill>
                <a:latin typeface="Calibri" pitchFamily="34" charset="0"/>
                <a:ea typeface="Calibri" pitchFamily="34" charset="-122"/>
                <a:cs typeface="Calibri" pitchFamily="34" charset="-120"/>
              </a:rPr>
              <a:t>Belgi</a:t>
            </a:r>
            <a:endParaRPr lang="en-US" sz="1400" dirty="0"/>
          </a:p>
        </p:txBody>
      </p:sp>
      <p:sp>
        <p:nvSpPr>
          <p:cNvPr id="7" name="Text 5"/>
          <p:cNvSpPr txBox="1"/>
          <p:nvPr/>
        </p:nvSpPr>
        <p:spPr>
          <a:xfrm>
            <a:off x="3291840" y="3063240"/>
            <a:ext cx="2286000" cy="365760"/>
          </a:xfrm>
          <a:prstGeom prst="rect">
            <a:avLst/>
          </a:prstGeom>
          <a:noFill/>
          <a:ln/>
        </p:spPr>
        <p:txBody>
          <a:bodyPr wrap="square" lIns="0" tIns="0" rIns="0" bIns="0" rtlCol="0" anchor="ctr"/>
          <a:lstStyle/>
          <a:p>
            <a:pPr marL="0" indent="0">
              <a:buNone/>
            </a:pPr>
            <a:r>
              <a:rPr lang="en-US" sz="1400" b="1" dirty="0">
                <a:solidFill>
                  <a:srgbClr val="6E6E6E"/>
                </a:solidFill>
                <a:latin typeface="Calibri" pitchFamily="34" charset="0"/>
                <a:ea typeface="Calibri" pitchFamily="34" charset="-122"/>
                <a:cs typeface="Calibri" pitchFamily="34" charset="-120"/>
              </a:rPr>
              <a:t>O'nlik</a:t>
            </a:r>
            <a:endParaRPr lang="en-US" sz="1400" dirty="0"/>
          </a:p>
        </p:txBody>
      </p:sp>
      <p:sp>
        <p:nvSpPr>
          <p:cNvPr id="8" name="Text 6"/>
          <p:cNvSpPr txBox="1"/>
          <p:nvPr/>
        </p:nvSpPr>
        <p:spPr>
          <a:xfrm>
            <a:off x="5852160" y="3063240"/>
            <a:ext cx="4572000" cy="365760"/>
          </a:xfrm>
          <a:prstGeom prst="rect">
            <a:avLst/>
          </a:prstGeom>
          <a:noFill/>
          <a:ln/>
        </p:spPr>
        <p:txBody>
          <a:bodyPr wrap="square" lIns="0" tIns="0" rIns="0" bIns="0" rtlCol="0" anchor="ctr"/>
          <a:lstStyle/>
          <a:p>
            <a:pPr marL="0" indent="0">
              <a:buNone/>
            </a:pPr>
            <a:r>
              <a:rPr lang="en-US" sz="1400" b="1" dirty="0">
                <a:solidFill>
                  <a:srgbClr val="6E6E6E"/>
                </a:solidFill>
                <a:latin typeface="Calibri" pitchFamily="34" charset="0"/>
                <a:ea typeface="Calibri" pitchFamily="34" charset="-122"/>
                <a:cs typeface="Calibri" pitchFamily="34" charset="-120"/>
              </a:rPr>
              <a:t>Ikkilik (8 bit)</a:t>
            </a:r>
            <a:endParaRPr lang="en-US" sz="1400" dirty="0"/>
          </a:p>
        </p:txBody>
      </p:sp>
      <p:sp>
        <p:nvSpPr>
          <p:cNvPr id="9" name="Shape 7"/>
          <p:cNvSpPr/>
          <p:nvPr/>
        </p:nvSpPr>
        <p:spPr>
          <a:xfrm>
            <a:off x="640080" y="3474720"/>
            <a:ext cx="10911535" cy="0"/>
          </a:xfrm>
          <a:prstGeom prst="line">
            <a:avLst/>
          </a:prstGeom>
          <a:noFill/>
          <a:ln w="15875">
            <a:solidFill>
              <a:srgbClr val="D9D9D9"/>
            </a:solidFill>
            <a:prstDash val="solid"/>
          </a:ln>
        </p:spPr>
        <p:txBody>
          <a:bodyPr/>
          <a:lstStyle/>
          <a:p>
            <a:endParaRPr lang="en-US"/>
          </a:p>
        </p:txBody>
      </p:sp>
      <p:sp>
        <p:nvSpPr>
          <p:cNvPr id="10" name="Text 8"/>
          <p:cNvSpPr txBox="1"/>
          <p:nvPr/>
        </p:nvSpPr>
        <p:spPr>
          <a:xfrm>
            <a:off x="777240" y="3611880"/>
            <a:ext cx="2286000" cy="457200"/>
          </a:xfrm>
          <a:prstGeom prst="rect">
            <a:avLst/>
          </a:prstGeom>
          <a:noFill/>
          <a:ln/>
        </p:spPr>
        <p:txBody>
          <a:bodyPr wrap="square" lIns="0" tIns="0" rIns="0" bIns="0" rtlCol="0" anchor="ctr"/>
          <a:lstStyle/>
          <a:p>
            <a:pPr marL="0" indent="0">
              <a:buNone/>
            </a:pPr>
            <a:r>
              <a:rPr lang="en-US" sz="2000" b="1" dirty="0">
                <a:solidFill>
                  <a:srgbClr val="000000"/>
                </a:solidFill>
                <a:latin typeface="Cambria" pitchFamily="34" charset="0"/>
                <a:ea typeface="Cambria" pitchFamily="34" charset="-122"/>
                <a:cs typeface="Cambria" pitchFamily="34" charset="-120"/>
              </a:rPr>
              <a:t>A</a:t>
            </a:r>
            <a:endParaRPr lang="en-US" sz="2000" dirty="0"/>
          </a:p>
        </p:txBody>
      </p:sp>
      <p:sp>
        <p:nvSpPr>
          <p:cNvPr id="11" name="Text 9"/>
          <p:cNvSpPr txBox="1"/>
          <p:nvPr/>
        </p:nvSpPr>
        <p:spPr>
          <a:xfrm>
            <a:off x="3291840" y="3611880"/>
            <a:ext cx="2286000" cy="457200"/>
          </a:xfrm>
          <a:prstGeom prst="rect">
            <a:avLst/>
          </a:prstGeom>
          <a:noFill/>
          <a:ln/>
        </p:spPr>
        <p:txBody>
          <a:bodyPr wrap="square" lIns="0" tIns="0" rIns="0" bIns="0" rtlCol="0" anchor="ctr"/>
          <a:lstStyle/>
          <a:p>
            <a:pPr marL="0" indent="0">
              <a:buNone/>
            </a:pPr>
            <a:r>
              <a:rPr lang="en-US" sz="1800" dirty="0">
                <a:solidFill>
                  <a:srgbClr val="3D3D3D"/>
                </a:solidFill>
                <a:latin typeface="Calibri" pitchFamily="34" charset="0"/>
                <a:ea typeface="Calibri" pitchFamily="34" charset="-122"/>
                <a:cs typeface="Calibri" pitchFamily="34" charset="-120"/>
              </a:rPr>
              <a:t>65</a:t>
            </a:r>
            <a:endParaRPr lang="en-US" sz="1800" dirty="0"/>
          </a:p>
        </p:txBody>
      </p:sp>
      <p:sp>
        <p:nvSpPr>
          <p:cNvPr id="12" name="Text 10"/>
          <p:cNvSpPr txBox="1"/>
          <p:nvPr/>
        </p:nvSpPr>
        <p:spPr>
          <a:xfrm>
            <a:off x="5852160" y="3611880"/>
            <a:ext cx="4572000" cy="457200"/>
          </a:xfrm>
          <a:prstGeom prst="rect">
            <a:avLst/>
          </a:prstGeom>
          <a:noFill/>
          <a:ln/>
        </p:spPr>
        <p:txBody>
          <a:bodyPr wrap="square" lIns="0" tIns="0" rIns="0" bIns="0" rtlCol="0" anchor="ctr"/>
          <a:lstStyle/>
          <a:p>
            <a:pPr marL="0" indent="0">
              <a:buNone/>
            </a:pPr>
            <a:r>
              <a:rPr lang="en-US" sz="1800" dirty="0">
                <a:solidFill>
                  <a:srgbClr val="3D3D3D"/>
                </a:solidFill>
                <a:latin typeface="Calibri" pitchFamily="34" charset="0"/>
                <a:ea typeface="Calibri" pitchFamily="34" charset="-122"/>
                <a:cs typeface="Calibri" pitchFamily="34" charset="-120"/>
              </a:rPr>
              <a:t>01000001</a:t>
            </a:r>
            <a:endParaRPr lang="en-US" sz="1800" dirty="0"/>
          </a:p>
        </p:txBody>
      </p:sp>
      <p:sp>
        <p:nvSpPr>
          <p:cNvPr id="13" name="Text 11"/>
          <p:cNvSpPr txBox="1"/>
          <p:nvPr/>
        </p:nvSpPr>
        <p:spPr>
          <a:xfrm>
            <a:off x="777240" y="4142232"/>
            <a:ext cx="2286000" cy="457200"/>
          </a:xfrm>
          <a:prstGeom prst="rect">
            <a:avLst/>
          </a:prstGeom>
          <a:noFill/>
          <a:ln/>
        </p:spPr>
        <p:txBody>
          <a:bodyPr wrap="square" lIns="0" tIns="0" rIns="0" bIns="0" rtlCol="0" anchor="ctr"/>
          <a:lstStyle/>
          <a:p>
            <a:pPr marL="0" indent="0">
              <a:buNone/>
            </a:pPr>
            <a:r>
              <a:rPr lang="en-US" sz="2000" b="1" dirty="0">
                <a:solidFill>
                  <a:srgbClr val="000000"/>
                </a:solidFill>
                <a:latin typeface="Cambria" pitchFamily="34" charset="0"/>
                <a:ea typeface="Cambria" pitchFamily="34" charset="-122"/>
                <a:cs typeface="Cambria" pitchFamily="34" charset="-120"/>
              </a:rPr>
              <a:t>a</a:t>
            </a:r>
            <a:endParaRPr lang="en-US" sz="2000" dirty="0"/>
          </a:p>
        </p:txBody>
      </p:sp>
      <p:sp>
        <p:nvSpPr>
          <p:cNvPr id="14" name="Text 12"/>
          <p:cNvSpPr txBox="1"/>
          <p:nvPr/>
        </p:nvSpPr>
        <p:spPr>
          <a:xfrm>
            <a:off x="3291840" y="4142232"/>
            <a:ext cx="2286000" cy="457200"/>
          </a:xfrm>
          <a:prstGeom prst="rect">
            <a:avLst/>
          </a:prstGeom>
          <a:noFill/>
          <a:ln/>
        </p:spPr>
        <p:txBody>
          <a:bodyPr wrap="square" lIns="0" tIns="0" rIns="0" bIns="0" rtlCol="0" anchor="ctr"/>
          <a:lstStyle/>
          <a:p>
            <a:pPr marL="0" indent="0">
              <a:buNone/>
            </a:pPr>
            <a:r>
              <a:rPr lang="en-US" sz="1800" dirty="0">
                <a:solidFill>
                  <a:srgbClr val="3D3D3D"/>
                </a:solidFill>
                <a:latin typeface="Calibri" pitchFamily="34" charset="0"/>
                <a:ea typeface="Calibri" pitchFamily="34" charset="-122"/>
                <a:cs typeface="Calibri" pitchFamily="34" charset="-120"/>
              </a:rPr>
              <a:t>97</a:t>
            </a:r>
            <a:endParaRPr lang="en-US" sz="1800" dirty="0"/>
          </a:p>
        </p:txBody>
      </p:sp>
      <p:sp>
        <p:nvSpPr>
          <p:cNvPr id="15" name="Text 13"/>
          <p:cNvSpPr txBox="1"/>
          <p:nvPr/>
        </p:nvSpPr>
        <p:spPr>
          <a:xfrm>
            <a:off x="5852160" y="4142232"/>
            <a:ext cx="4572000" cy="457200"/>
          </a:xfrm>
          <a:prstGeom prst="rect">
            <a:avLst/>
          </a:prstGeom>
          <a:noFill/>
          <a:ln/>
        </p:spPr>
        <p:txBody>
          <a:bodyPr wrap="square" lIns="0" tIns="0" rIns="0" bIns="0" rtlCol="0" anchor="ctr"/>
          <a:lstStyle/>
          <a:p>
            <a:pPr marL="0" indent="0">
              <a:buNone/>
            </a:pPr>
            <a:r>
              <a:rPr lang="en-US" sz="1800" dirty="0">
                <a:solidFill>
                  <a:srgbClr val="3D3D3D"/>
                </a:solidFill>
                <a:latin typeface="Calibri" pitchFamily="34" charset="0"/>
                <a:ea typeface="Calibri" pitchFamily="34" charset="-122"/>
                <a:cs typeface="Calibri" pitchFamily="34" charset="-120"/>
              </a:rPr>
              <a:t>01100001</a:t>
            </a:r>
            <a:endParaRPr lang="en-US" sz="1800" dirty="0"/>
          </a:p>
        </p:txBody>
      </p:sp>
      <p:sp>
        <p:nvSpPr>
          <p:cNvPr id="16" name="Text 14"/>
          <p:cNvSpPr txBox="1"/>
          <p:nvPr/>
        </p:nvSpPr>
        <p:spPr>
          <a:xfrm>
            <a:off x="777240" y="4672584"/>
            <a:ext cx="2286000" cy="457200"/>
          </a:xfrm>
          <a:prstGeom prst="rect">
            <a:avLst/>
          </a:prstGeom>
          <a:noFill/>
          <a:ln/>
        </p:spPr>
        <p:txBody>
          <a:bodyPr wrap="square" lIns="0" tIns="0" rIns="0" bIns="0" rtlCol="0" anchor="ctr"/>
          <a:lstStyle/>
          <a:p>
            <a:pPr marL="0" indent="0">
              <a:buNone/>
            </a:pPr>
            <a:r>
              <a:rPr lang="en-US" sz="2000" b="1" dirty="0">
                <a:solidFill>
                  <a:srgbClr val="000000"/>
                </a:solidFill>
                <a:latin typeface="Cambria" pitchFamily="34" charset="0"/>
                <a:ea typeface="Cambria" pitchFamily="34" charset="-122"/>
                <a:cs typeface="Cambria" pitchFamily="34" charset="-120"/>
              </a:rPr>
              <a:t>0</a:t>
            </a:r>
            <a:endParaRPr lang="en-US" sz="2000" dirty="0"/>
          </a:p>
        </p:txBody>
      </p:sp>
      <p:sp>
        <p:nvSpPr>
          <p:cNvPr id="17" name="Text 15"/>
          <p:cNvSpPr txBox="1"/>
          <p:nvPr/>
        </p:nvSpPr>
        <p:spPr>
          <a:xfrm>
            <a:off x="3291840" y="4672584"/>
            <a:ext cx="2286000" cy="457200"/>
          </a:xfrm>
          <a:prstGeom prst="rect">
            <a:avLst/>
          </a:prstGeom>
          <a:noFill/>
          <a:ln/>
        </p:spPr>
        <p:txBody>
          <a:bodyPr wrap="square" lIns="0" tIns="0" rIns="0" bIns="0" rtlCol="0" anchor="ctr"/>
          <a:lstStyle/>
          <a:p>
            <a:pPr marL="0" indent="0">
              <a:buNone/>
            </a:pPr>
            <a:r>
              <a:rPr lang="en-US" sz="1800" dirty="0">
                <a:solidFill>
                  <a:srgbClr val="3D3D3D"/>
                </a:solidFill>
                <a:latin typeface="Calibri" pitchFamily="34" charset="0"/>
                <a:ea typeface="Calibri" pitchFamily="34" charset="-122"/>
                <a:cs typeface="Calibri" pitchFamily="34" charset="-120"/>
              </a:rPr>
              <a:t>48</a:t>
            </a:r>
            <a:endParaRPr lang="en-US" sz="1800" dirty="0"/>
          </a:p>
        </p:txBody>
      </p:sp>
      <p:sp>
        <p:nvSpPr>
          <p:cNvPr id="18" name="Text 16"/>
          <p:cNvSpPr txBox="1"/>
          <p:nvPr/>
        </p:nvSpPr>
        <p:spPr>
          <a:xfrm>
            <a:off x="5852160" y="4672584"/>
            <a:ext cx="4572000" cy="457200"/>
          </a:xfrm>
          <a:prstGeom prst="rect">
            <a:avLst/>
          </a:prstGeom>
          <a:noFill/>
          <a:ln/>
        </p:spPr>
        <p:txBody>
          <a:bodyPr wrap="square" lIns="0" tIns="0" rIns="0" bIns="0" rtlCol="0" anchor="ctr"/>
          <a:lstStyle/>
          <a:p>
            <a:pPr marL="0" indent="0">
              <a:buNone/>
            </a:pPr>
            <a:r>
              <a:rPr lang="en-US" sz="1800" dirty="0">
                <a:solidFill>
                  <a:srgbClr val="3D3D3D"/>
                </a:solidFill>
                <a:latin typeface="Calibri" pitchFamily="34" charset="0"/>
                <a:ea typeface="Calibri" pitchFamily="34" charset="-122"/>
                <a:cs typeface="Calibri" pitchFamily="34" charset="-120"/>
              </a:rPr>
              <a:t>00110000</a:t>
            </a:r>
            <a:endParaRPr lang="en-US" sz="1800" dirty="0"/>
          </a:p>
        </p:txBody>
      </p:sp>
      <p:sp>
        <p:nvSpPr>
          <p:cNvPr id="19" name="Text 17"/>
          <p:cNvSpPr txBox="1"/>
          <p:nvPr/>
        </p:nvSpPr>
        <p:spPr>
          <a:xfrm>
            <a:off x="777240" y="5202936"/>
            <a:ext cx="2286000" cy="457200"/>
          </a:xfrm>
          <a:prstGeom prst="rect">
            <a:avLst/>
          </a:prstGeom>
          <a:noFill/>
          <a:ln/>
        </p:spPr>
        <p:txBody>
          <a:bodyPr wrap="square" lIns="0" tIns="0" rIns="0" bIns="0" rtlCol="0" anchor="ctr"/>
          <a:lstStyle/>
          <a:p>
            <a:pPr marL="0" indent="0">
              <a:buNone/>
            </a:pPr>
            <a:r>
              <a:rPr lang="en-US" sz="2000" b="1" dirty="0">
                <a:solidFill>
                  <a:srgbClr val="000000"/>
                </a:solidFill>
                <a:latin typeface="Cambria" pitchFamily="34" charset="0"/>
                <a:ea typeface="Cambria" pitchFamily="34" charset="-122"/>
                <a:cs typeface="Cambria" pitchFamily="34" charset="-120"/>
              </a:rPr>
              <a:t>!</a:t>
            </a:r>
            <a:endParaRPr lang="en-US" sz="2000" dirty="0"/>
          </a:p>
        </p:txBody>
      </p:sp>
      <p:sp>
        <p:nvSpPr>
          <p:cNvPr id="20" name="Text 18"/>
          <p:cNvSpPr txBox="1"/>
          <p:nvPr/>
        </p:nvSpPr>
        <p:spPr>
          <a:xfrm>
            <a:off x="3291840" y="5202936"/>
            <a:ext cx="2286000" cy="457200"/>
          </a:xfrm>
          <a:prstGeom prst="rect">
            <a:avLst/>
          </a:prstGeom>
          <a:noFill/>
          <a:ln/>
        </p:spPr>
        <p:txBody>
          <a:bodyPr wrap="square" lIns="0" tIns="0" rIns="0" bIns="0" rtlCol="0" anchor="ctr"/>
          <a:lstStyle/>
          <a:p>
            <a:pPr marL="0" indent="0">
              <a:buNone/>
            </a:pPr>
            <a:r>
              <a:rPr lang="en-US" sz="1800" dirty="0">
                <a:solidFill>
                  <a:srgbClr val="3D3D3D"/>
                </a:solidFill>
                <a:latin typeface="Calibri" pitchFamily="34" charset="0"/>
                <a:ea typeface="Calibri" pitchFamily="34" charset="-122"/>
                <a:cs typeface="Calibri" pitchFamily="34" charset="-120"/>
              </a:rPr>
              <a:t>33</a:t>
            </a:r>
            <a:endParaRPr lang="en-US" sz="1800" dirty="0"/>
          </a:p>
        </p:txBody>
      </p:sp>
      <p:sp>
        <p:nvSpPr>
          <p:cNvPr id="21" name="Text 19"/>
          <p:cNvSpPr txBox="1"/>
          <p:nvPr/>
        </p:nvSpPr>
        <p:spPr>
          <a:xfrm>
            <a:off x="5852160" y="5202936"/>
            <a:ext cx="4572000" cy="457200"/>
          </a:xfrm>
          <a:prstGeom prst="rect">
            <a:avLst/>
          </a:prstGeom>
          <a:noFill/>
          <a:ln/>
        </p:spPr>
        <p:txBody>
          <a:bodyPr wrap="square" lIns="0" tIns="0" rIns="0" bIns="0" rtlCol="0" anchor="ctr"/>
          <a:lstStyle/>
          <a:p>
            <a:pPr marL="0" indent="0">
              <a:buNone/>
            </a:pPr>
            <a:r>
              <a:rPr lang="en-US" sz="1800" dirty="0">
                <a:solidFill>
                  <a:srgbClr val="3D3D3D"/>
                </a:solidFill>
                <a:latin typeface="Calibri" pitchFamily="34" charset="0"/>
                <a:ea typeface="Calibri" pitchFamily="34" charset="-122"/>
                <a:cs typeface="Calibri" pitchFamily="34" charset="-120"/>
              </a:rPr>
              <a:t>00100001</a:t>
            </a:r>
            <a:endParaRPr lang="en-US" sz="1800" dirty="0"/>
          </a:p>
        </p:txBody>
      </p:sp>
      <p:sp>
        <p:nvSpPr>
          <p:cNvPr id="22" name="Text 20"/>
          <p:cNvSpPr txBox="1"/>
          <p:nvPr/>
        </p:nvSpPr>
        <p:spPr>
          <a:xfrm>
            <a:off x="640080" y="5870448"/>
            <a:ext cx="10607040" cy="457200"/>
          </a:xfrm>
          <a:prstGeom prst="rect">
            <a:avLst/>
          </a:prstGeom>
          <a:noFill/>
          <a:ln/>
        </p:spPr>
        <p:txBody>
          <a:bodyPr wrap="square" lIns="0" tIns="0" rIns="0" bIns="0" rtlCol="0" anchor="ctr"/>
          <a:lstStyle/>
          <a:p>
            <a:pPr marL="0" indent="0">
              <a:buNone/>
            </a:pPr>
            <a:r>
              <a:rPr lang="en-US" sz="1400" i="1" dirty="0">
                <a:solidFill>
                  <a:srgbClr val="6E6E6E"/>
                </a:solidFill>
                <a:latin typeface="Calibri" pitchFamily="34" charset="0"/>
                <a:ea typeface="Calibri" pitchFamily="34" charset="-122"/>
                <a:cs typeface="Calibri" pitchFamily="34" charset="-120"/>
              </a:rPr>
              <a:t>ASCII atigi 128 ta belgini qamrab oladi — ingliz tili uchun yetarli, lekin dunyoning qolgan qismi uchun emas.</a:t>
            </a:r>
            <a:endParaRPr lang="en-US" sz="1400" dirty="0"/>
          </a:p>
        </p:txBody>
      </p:sp>
      <p:sp>
        <p:nvSpPr>
          <p:cNvPr id="23" name="Text 21"/>
          <p:cNvSpPr txBox="1"/>
          <p:nvPr/>
        </p:nvSpPr>
        <p:spPr>
          <a:xfrm>
            <a:off x="11368735" y="6355080"/>
            <a:ext cx="548640" cy="320040"/>
          </a:xfrm>
          <a:prstGeom prst="rect">
            <a:avLst/>
          </a:prstGeom>
          <a:noFill/>
          <a:ln/>
        </p:spPr>
        <p:txBody>
          <a:bodyPr wrap="square" lIns="0" tIns="0" rIns="0" bIns="0" rtlCol="0" anchor="ctr"/>
          <a:lstStyle/>
          <a:p>
            <a:pPr marL="0" indent="0" algn="r">
              <a:buNone/>
            </a:pPr>
            <a:r>
              <a:rPr lang="en-US" sz="1200" dirty="0">
                <a:solidFill>
                  <a:srgbClr val="6E6E6E"/>
                </a:solidFill>
                <a:latin typeface="Calibri" pitchFamily="34" charset="0"/>
                <a:ea typeface="Calibri" pitchFamily="34" charset="-122"/>
                <a:cs typeface="Calibri" pitchFamily="34" charset="-120"/>
              </a:rPr>
              <a:t>23</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8686800" cy="365760"/>
          </a:xfrm>
          <a:prstGeom prst="rect">
            <a:avLst/>
          </a:prstGeom>
          <a:noFill/>
          <a:ln/>
        </p:spPr>
        <p:txBody>
          <a:bodyPr wrap="square" lIns="0" tIns="0" rIns="0" bIns="0" rtlCol="0" anchor="ctr"/>
          <a:lstStyle/>
          <a:p>
            <a:pPr marL="0" indent="0">
              <a:buNone/>
            </a:pPr>
            <a:r>
              <a:rPr lang="en-US" sz="1500" b="1" kern="0" spc="200" dirty="0">
                <a:solidFill>
                  <a:srgbClr val="6E6E6E"/>
                </a:solidFill>
                <a:latin typeface="Calibri" pitchFamily="34" charset="0"/>
                <a:ea typeface="Calibri" pitchFamily="34" charset="-122"/>
                <a:cs typeface="Calibri" pitchFamily="34" charset="-120"/>
              </a:rPr>
              <a:t>MATNNI GLOBAL IFODALASH</a:t>
            </a:r>
            <a:endParaRPr lang="en-US" sz="1500" dirty="0"/>
          </a:p>
        </p:txBody>
      </p:sp>
      <p:sp>
        <p:nvSpPr>
          <p:cNvPr id="3" name="Text 1"/>
          <p:cNvSpPr txBox="1"/>
          <p:nvPr/>
        </p:nvSpPr>
        <p:spPr>
          <a:xfrm>
            <a:off x="640080" y="868680"/>
            <a:ext cx="10881360" cy="1005840"/>
          </a:xfrm>
          <a:prstGeom prst="rect">
            <a:avLst/>
          </a:prstGeom>
          <a:noFill/>
          <a:ln/>
        </p:spPr>
        <p:txBody>
          <a:bodyPr wrap="square" lIns="0" tIns="0" rIns="0" bIns="0" rtlCol="0" anchor="ctr"/>
          <a:lstStyle/>
          <a:p>
            <a:pPr marL="0" indent="0" algn="l">
              <a:buNone/>
            </a:pPr>
            <a:r>
              <a:rPr lang="en-US" sz="3200" b="1" dirty="0">
                <a:solidFill>
                  <a:srgbClr val="000000"/>
                </a:solidFill>
                <a:latin typeface="Cambria" pitchFamily="34" charset="0"/>
                <a:ea typeface="Cambria" pitchFamily="34" charset="-122"/>
                <a:cs typeface="Cambria" pitchFamily="34" charset="-120"/>
              </a:rPr>
              <a:t>Unicode — Har Bir Til Uchun Yagona Standart</a:t>
            </a:r>
            <a:endParaRPr lang="en-US" sz="3200" dirty="0"/>
          </a:p>
        </p:txBody>
      </p:sp>
      <p:sp>
        <p:nvSpPr>
          <p:cNvPr id="4" name="Shape 2"/>
          <p:cNvSpPr/>
          <p:nvPr/>
        </p:nvSpPr>
        <p:spPr>
          <a:xfrm>
            <a:off x="640080" y="1874520"/>
            <a:ext cx="10911535" cy="0"/>
          </a:xfrm>
          <a:prstGeom prst="line">
            <a:avLst/>
          </a:prstGeom>
          <a:noFill/>
          <a:ln w="15875">
            <a:solidFill>
              <a:srgbClr val="D9D9D9"/>
            </a:solidFill>
            <a:prstDash val="solid"/>
          </a:ln>
        </p:spPr>
        <p:txBody>
          <a:bodyPr/>
          <a:lstStyle/>
          <a:p>
            <a:endParaRPr lang="en-US"/>
          </a:p>
        </p:txBody>
      </p:sp>
      <p:sp>
        <p:nvSpPr>
          <p:cNvPr id="5" name="Text 3"/>
          <p:cNvSpPr txBox="1"/>
          <p:nvPr/>
        </p:nvSpPr>
        <p:spPr>
          <a:xfrm>
            <a:off x="640080" y="2011680"/>
            <a:ext cx="10607040" cy="822960"/>
          </a:xfrm>
          <a:prstGeom prst="rect">
            <a:avLst/>
          </a:prstGeom>
          <a:noFill/>
          <a:ln/>
        </p:spPr>
        <p:txBody>
          <a:bodyPr wrap="square" lIns="0" tIns="0" rIns="0" bIns="0" rtlCol="0" anchor="ctr"/>
          <a:lstStyle/>
          <a:p>
            <a:pPr marL="0" indent="0">
              <a:lnSpc>
                <a:spcPct val="130000"/>
              </a:lnSpc>
              <a:buNone/>
            </a:pPr>
            <a:r>
              <a:rPr lang="en-US" sz="1600" dirty="0">
                <a:solidFill>
                  <a:srgbClr val="3D3D3D"/>
                </a:solidFill>
                <a:latin typeface="Calibri" pitchFamily="34" charset="0"/>
                <a:ea typeface="Calibri" pitchFamily="34" charset="-122"/>
                <a:cs typeface="Calibri" pitchFamily="34" charset="-120"/>
              </a:rPr>
              <a:t>Unicode xuddi shu g'oyani 149,000 dan ortiq belgigacha kengaytiradi — deyarli Yerdagi</a:t>
            </a:r>
            <a:endParaRPr lang="en-US" sz="1600" dirty="0"/>
          </a:p>
          <a:p>
            <a:pPr marL="0" indent="0">
              <a:lnSpc>
                <a:spcPct val="130000"/>
              </a:lnSpc>
              <a:buNone/>
            </a:pPr>
            <a:r>
              <a:rPr lang="en-US" sz="1600" dirty="0">
                <a:solidFill>
                  <a:srgbClr val="3D3D3D"/>
                </a:solidFill>
                <a:latin typeface="Calibri" pitchFamily="34" charset="0"/>
                <a:ea typeface="Calibri" pitchFamily="34" charset="-122"/>
                <a:cs typeface="Calibri" pitchFamily="34" charset="-120"/>
              </a:rPr>
              <a:t>har bir yozuv tizimini, shuningdek belgilar va emojilarni qamrab oladi.</a:t>
            </a:r>
            <a:endParaRPr lang="en-US" sz="1600" dirty="0"/>
          </a:p>
        </p:txBody>
      </p:sp>
      <p:sp>
        <p:nvSpPr>
          <p:cNvPr id="6" name="Shape 4"/>
          <p:cNvSpPr/>
          <p:nvPr/>
        </p:nvSpPr>
        <p:spPr>
          <a:xfrm>
            <a:off x="777240" y="3017520"/>
            <a:ext cx="1965960" cy="1554480"/>
          </a:xfrm>
          <a:prstGeom prst="roundRect">
            <a:avLst>
              <a:gd name="adj" fmla="val 4706"/>
            </a:avLst>
          </a:prstGeom>
          <a:solidFill>
            <a:srgbClr val="F2F2F2"/>
          </a:solidFill>
          <a:ln w="12700">
            <a:solidFill>
              <a:srgbClr val="D9D9D9"/>
            </a:solidFill>
            <a:prstDash val="solid"/>
          </a:ln>
        </p:spPr>
        <p:txBody>
          <a:bodyPr/>
          <a:lstStyle/>
          <a:p>
            <a:endParaRPr lang="en-US"/>
          </a:p>
        </p:txBody>
      </p:sp>
      <p:sp>
        <p:nvSpPr>
          <p:cNvPr id="7" name="Text 5"/>
          <p:cNvSpPr txBox="1"/>
          <p:nvPr/>
        </p:nvSpPr>
        <p:spPr>
          <a:xfrm>
            <a:off x="777240" y="3154680"/>
            <a:ext cx="1965960" cy="822960"/>
          </a:xfrm>
          <a:prstGeom prst="rect">
            <a:avLst/>
          </a:prstGeom>
          <a:noFill/>
          <a:ln/>
        </p:spPr>
        <p:txBody>
          <a:bodyPr wrap="square" lIns="0" tIns="0" rIns="0" bIns="0" rtlCol="0" anchor="ctr"/>
          <a:lstStyle/>
          <a:p>
            <a:pPr marL="0" indent="0" algn="ctr">
              <a:buNone/>
            </a:pPr>
            <a:r>
              <a:rPr lang="en-US" sz="3400" dirty="0">
                <a:solidFill>
                  <a:srgbClr val="000000"/>
                </a:solidFill>
                <a:latin typeface="Cambria" pitchFamily="34" charset="0"/>
                <a:ea typeface="Cambria" pitchFamily="34" charset="-122"/>
                <a:cs typeface="Cambria" pitchFamily="34" charset="-120"/>
              </a:rPr>
              <a:t>A</a:t>
            </a:r>
            <a:endParaRPr lang="en-US" sz="3400" dirty="0"/>
          </a:p>
        </p:txBody>
      </p:sp>
      <p:sp>
        <p:nvSpPr>
          <p:cNvPr id="8" name="Text 6"/>
          <p:cNvSpPr txBox="1"/>
          <p:nvPr/>
        </p:nvSpPr>
        <p:spPr>
          <a:xfrm>
            <a:off x="777240" y="4069080"/>
            <a:ext cx="1965960" cy="411480"/>
          </a:xfrm>
          <a:prstGeom prst="rect">
            <a:avLst/>
          </a:prstGeom>
          <a:noFill/>
          <a:ln/>
        </p:spPr>
        <p:txBody>
          <a:bodyPr wrap="square" lIns="0" tIns="0" rIns="0" bIns="0" rtlCol="0" anchor="ctr"/>
          <a:lstStyle/>
          <a:p>
            <a:pPr marL="0" indent="0" algn="ctr">
              <a:buNone/>
            </a:pPr>
            <a:r>
              <a:rPr lang="en-US" sz="1300" dirty="0">
                <a:solidFill>
                  <a:srgbClr val="6E6E6E"/>
                </a:solidFill>
                <a:latin typeface="Calibri" pitchFamily="34" charset="0"/>
                <a:ea typeface="Calibri" pitchFamily="34" charset="-122"/>
                <a:cs typeface="Calibri" pitchFamily="34" charset="-120"/>
              </a:rPr>
              <a:t>U+0041</a:t>
            </a:r>
            <a:endParaRPr lang="en-US" sz="1300" dirty="0"/>
          </a:p>
        </p:txBody>
      </p:sp>
      <p:sp>
        <p:nvSpPr>
          <p:cNvPr id="9" name="Shape 7"/>
          <p:cNvSpPr/>
          <p:nvPr/>
        </p:nvSpPr>
        <p:spPr>
          <a:xfrm>
            <a:off x="2834640" y="3017520"/>
            <a:ext cx="1965960" cy="1554480"/>
          </a:xfrm>
          <a:prstGeom prst="roundRect">
            <a:avLst>
              <a:gd name="adj" fmla="val 4706"/>
            </a:avLst>
          </a:prstGeom>
          <a:solidFill>
            <a:srgbClr val="F2F2F2"/>
          </a:solidFill>
          <a:ln w="12700">
            <a:solidFill>
              <a:srgbClr val="D9D9D9"/>
            </a:solidFill>
            <a:prstDash val="solid"/>
          </a:ln>
        </p:spPr>
        <p:txBody>
          <a:bodyPr/>
          <a:lstStyle/>
          <a:p>
            <a:endParaRPr lang="en-US"/>
          </a:p>
        </p:txBody>
      </p:sp>
      <p:sp>
        <p:nvSpPr>
          <p:cNvPr id="10" name="Text 8"/>
          <p:cNvSpPr txBox="1"/>
          <p:nvPr/>
        </p:nvSpPr>
        <p:spPr>
          <a:xfrm>
            <a:off x="2834640" y="3154680"/>
            <a:ext cx="1965960" cy="822960"/>
          </a:xfrm>
          <a:prstGeom prst="rect">
            <a:avLst/>
          </a:prstGeom>
          <a:noFill/>
          <a:ln/>
        </p:spPr>
        <p:txBody>
          <a:bodyPr wrap="square" lIns="0" tIns="0" rIns="0" bIns="0" rtlCol="0" anchor="ctr"/>
          <a:lstStyle/>
          <a:p>
            <a:pPr marL="0" indent="0" algn="ctr">
              <a:buNone/>
            </a:pPr>
            <a:r>
              <a:rPr lang="en-US" sz="3400" dirty="0">
                <a:solidFill>
                  <a:srgbClr val="000000"/>
                </a:solidFill>
                <a:latin typeface="Cambria" pitchFamily="34" charset="0"/>
                <a:ea typeface="Cambria" pitchFamily="34" charset="-122"/>
                <a:cs typeface="Cambria" pitchFamily="34" charset="-120"/>
              </a:rPr>
              <a:t>é</a:t>
            </a:r>
            <a:endParaRPr lang="en-US" sz="3400" dirty="0"/>
          </a:p>
        </p:txBody>
      </p:sp>
      <p:sp>
        <p:nvSpPr>
          <p:cNvPr id="11" name="Text 9"/>
          <p:cNvSpPr txBox="1"/>
          <p:nvPr/>
        </p:nvSpPr>
        <p:spPr>
          <a:xfrm>
            <a:off x="2834640" y="4069080"/>
            <a:ext cx="1965960" cy="411480"/>
          </a:xfrm>
          <a:prstGeom prst="rect">
            <a:avLst/>
          </a:prstGeom>
          <a:noFill/>
          <a:ln/>
        </p:spPr>
        <p:txBody>
          <a:bodyPr wrap="square" lIns="0" tIns="0" rIns="0" bIns="0" rtlCol="0" anchor="ctr"/>
          <a:lstStyle/>
          <a:p>
            <a:pPr marL="0" indent="0" algn="ctr">
              <a:buNone/>
            </a:pPr>
            <a:r>
              <a:rPr lang="en-US" sz="1300" dirty="0">
                <a:solidFill>
                  <a:srgbClr val="6E6E6E"/>
                </a:solidFill>
                <a:latin typeface="Calibri" pitchFamily="34" charset="0"/>
                <a:ea typeface="Calibri" pitchFamily="34" charset="-122"/>
                <a:cs typeface="Calibri" pitchFamily="34" charset="-120"/>
              </a:rPr>
              <a:t>U+00E9</a:t>
            </a:r>
            <a:endParaRPr lang="en-US" sz="1300" dirty="0"/>
          </a:p>
        </p:txBody>
      </p:sp>
      <p:sp>
        <p:nvSpPr>
          <p:cNvPr id="12" name="Shape 10"/>
          <p:cNvSpPr/>
          <p:nvPr/>
        </p:nvSpPr>
        <p:spPr>
          <a:xfrm>
            <a:off x="4892040" y="3017520"/>
            <a:ext cx="1965960" cy="1554480"/>
          </a:xfrm>
          <a:prstGeom prst="roundRect">
            <a:avLst>
              <a:gd name="adj" fmla="val 4706"/>
            </a:avLst>
          </a:prstGeom>
          <a:solidFill>
            <a:srgbClr val="F2F2F2"/>
          </a:solidFill>
          <a:ln w="12700">
            <a:solidFill>
              <a:srgbClr val="D9D9D9"/>
            </a:solidFill>
            <a:prstDash val="solid"/>
          </a:ln>
        </p:spPr>
        <p:txBody>
          <a:bodyPr/>
          <a:lstStyle/>
          <a:p>
            <a:endParaRPr lang="en-US"/>
          </a:p>
        </p:txBody>
      </p:sp>
      <p:sp>
        <p:nvSpPr>
          <p:cNvPr id="13" name="Text 11"/>
          <p:cNvSpPr txBox="1"/>
          <p:nvPr/>
        </p:nvSpPr>
        <p:spPr>
          <a:xfrm>
            <a:off x="4892040" y="3154680"/>
            <a:ext cx="1965960" cy="822960"/>
          </a:xfrm>
          <a:prstGeom prst="rect">
            <a:avLst/>
          </a:prstGeom>
          <a:noFill/>
          <a:ln/>
        </p:spPr>
        <p:txBody>
          <a:bodyPr wrap="square" lIns="0" tIns="0" rIns="0" bIns="0" rtlCol="0" anchor="ctr"/>
          <a:lstStyle/>
          <a:p>
            <a:pPr marL="0" indent="0" algn="ctr">
              <a:buNone/>
            </a:pPr>
            <a:r>
              <a:rPr lang="en-US" sz="3400" dirty="0">
                <a:solidFill>
                  <a:srgbClr val="000000"/>
                </a:solidFill>
                <a:latin typeface="Cambria" pitchFamily="34" charset="0"/>
                <a:ea typeface="Cambria" pitchFamily="34" charset="-122"/>
                <a:cs typeface="Cambria" pitchFamily="34" charset="-120"/>
              </a:rPr>
              <a:t>中</a:t>
            </a:r>
            <a:endParaRPr lang="en-US" sz="3400" dirty="0"/>
          </a:p>
        </p:txBody>
      </p:sp>
      <p:sp>
        <p:nvSpPr>
          <p:cNvPr id="14" name="Text 12"/>
          <p:cNvSpPr txBox="1"/>
          <p:nvPr/>
        </p:nvSpPr>
        <p:spPr>
          <a:xfrm>
            <a:off x="4892040" y="4069080"/>
            <a:ext cx="1965960" cy="411480"/>
          </a:xfrm>
          <a:prstGeom prst="rect">
            <a:avLst/>
          </a:prstGeom>
          <a:noFill/>
          <a:ln/>
        </p:spPr>
        <p:txBody>
          <a:bodyPr wrap="square" lIns="0" tIns="0" rIns="0" bIns="0" rtlCol="0" anchor="ctr"/>
          <a:lstStyle/>
          <a:p>
            <a:pPr marL="0" indent="0" algn="ctr">
              <a:buNone/>
            </a:pPr>
            <a:r>
              <a:rPr lang="en-US" sz="1300" dirty="0">
                <a:solidFill>
                  <a:srgbClr val="6E6E6E"/>
                </a:solidFill>
                <a:latin typeface="Calibri" pitchFamily="34" charset="0"/>
                <a:ea typeface="Calibri" pitchFamily="34" charset="-122"/>
                <a:cs typeface="Calibri" pitchFamily="34" charset="-120"/>
              </a:rPr>
              <a:t>U+4E2D</a:t>
            </a:r>
            <a:endParaRPr lang="en-US" sz="1300" dirty="0"/>
          </a:p>
        </p:txBody>
      </p:sp>
      <p:sp>
        <p:nvSpPr>
          <p:cNvPr id="15" name="Shape 13"/>
          <p:cNvSpPr/>
          <p:nvPr/>
        </p:nvSpPr>
        <p:spPr>
          <a:xfrm>
            <a:off x="6949440" y="3017520"/>
            <a:ext cx="1965960" cy="1554480"/>
          </a:xfrm>
          <a:prstGeom prst="roundRect">
            <a:avLst>
              <a:gd name="adj" fmla="val 4706"/>
            </a:avLst>
          </a:prstGeom>
          <a:solidFill>
            <a:srgbClr val="F2F2F2"/>
          </a:solidFill>
          <a:ln w="12700">
            <a:solidFill>
              <a:srgbClr val="D9D9D9"/>
            </a:solidFill>
            <a:prstDash val="solid"/>
          </a:ln>
        </p:spPr>
        <p:txBody>
          <a:bodyPr/>
          <a:lstStyle/>
          <a:p>
            <a:endParaRPr lang="en-US"/>
          </a:p>
        </p:txBody>
      </p:sp>
      <p:sp>
        <p:nvSpPr>
          <p:cNvPr id="16" name="Text 14"/>
          <p:cNvSpPr txBox="1"/>
          <p:nvPr/>
        </p:nvSpPr>
        <p:spPr>
          <a:xfrm>
            <a:off x="6949440" y="3154680"/>
            <a:ext cx="1965960" cy="822960"/>
          </a:xfrm>
          <a:prstGeom prst="rect">
            <a:avLst/>
          </a:prstGeom>
          <a:noFill/>
          <a:ln/>
        </p:spPr>
        <p:txBody>
          <a:bodyPr wrap="square" lIns="0" tIns="0" rIns="0" bIns="0" rtlCol="0" anchor="ctr"/>
          <a:lstStyle/>
          <a:p>
            <a:pPr marL="0" indent="0" algn="ctr">
              <a:buNone/>
            </a:pPr>
            <a:r>
              <a:rPr lang="en-US" sz="3400" dirty="0">
                <a:solidFill>
                  <a:srgbClr val="000000"/>
                </a:solidFill>
                <a:latin typeface="Cambria" pitchFamily="34" charset="0"/>
                <a:ea typeface="Cambria" pitchFamily="34" charset="-122"/>
                <a:cs typeface="Cambria" pitchFamily="34" charset="-120"/>
              </a:rPr>
              <a:t>م</a:t>
            </a:r>
            <a:endParaRPr lang="en-US" sz="3400" dirty="0"/>
          </a:p>
        </p:txBody>
      </p:sp>
      <p:sp>
        <p:nvSpPr>
          <p:cNvPr id="17" name="Text 15"/>
          <p:cNvSpPr txBox="1"/>
          <p:nvPr/>
        </p:nvSpPr>
        <p:spPr>
          <a:xfrm>
            <a:off x="6949440" y="4069080"/>
            <a:ext cx="1965960" cy="411480"/>
          </a:xfrm>
          <a:prstGeom prst="rect">
            <a:avLst/>
          </a:prstGeom>
          <a:noFill/>
          <a:ln/>
        </p:spPr>
        <p:txBody>
          <a:bodyPr wrap="square" lIns="0" tIns="0" rIns="0" bIns="0" rtlCol="0" anchor="ctr"/>
          <a:lstStyle/>
          <a:p>
            <a:pPr marL="0" indent="0" algn="ctr">
              <a:buNone/>
            </a:pPr>
            <a:r>
              <a:rPr lang="en-US" sz="1300" dirty="0">
                <a:solidFill>
                  <a:srgbClr val="6E6E6E"/>
                </a:solidFill>
                <a:latin typeface="Calibri" pitchFamily="34" charset="0"/>
                <a:ea typeface="Calibri" pitchFamily="34" charset="-122"/>
                <a:cs typeface="Calibri" pitchFamily="34" charset="-120"/>
              </a:rPr>
              <a:t>U+0645</a:t>
            </a:r>
            <a:endParaRPr lang="en-US" sz="1300" dirty="0"/>
          </a:p>
        </p:txBody>
      </p:sp>
      <p:sp>
        <p:nvSpPr>
          <p:cNvPr id="18" name="Shape 16"/>
          <p:cNvSpPr/>
          <p:nvPr/>
        </p:nvSpPr>
        <p:spPr>
          <a:xfrm>
            <a:off x="9006840" y="3017520"/>
            <a:ext cx="1965960" cy="1554480"/>
          </a:xfrm>
          <a:prstGeom prst="roundRect">
            <a:avLst>
              <a:gd name="adj" fmla="val 4706"/>
            </a:avLst>
          </a:prstGeom>
          <a:solidFill>
            <a:srgbClr val="F2F2F2"/>
          </a:solidFill>
          <a:ln w="12700">
            <a:solidFill>
              <a:srgbClr val="D9D9D9"/>
            </a:solidFill>
            <a:prstDash val="solid"/>
          </a:ln>
        </p:spPr>
        <p:txBody>
          <a:bodyPr/>
          <a:lstStyle/>
          <a:p>
            <a:endParaRPr lang="en-US"/>
          </a:p>
        </p:txBody>
      </p:sp>
      <p:sp>
        <p:nvSpPr>
          <p:cNvPr id="19" name="Text 17"/>
          <p:cNvSpPr txBox="1"/>
          <p:nvPr/>
        </p:nvSpPr>
        <p:spPr>
          <a:xfrm>
            <a:off x="9006840" y="3154680"/>
            <a:ext cx="1965960" cy="822960"/>
          </a:xfrm>
          <a:prstGeom prst="rect">
            <a:avLst/>
          </a:prstGeom>
          <a:noFill/>
          <a:ln/>
        </p:spPr>
        <p:txBody>
          <a:bodyPr wrap="square" lIns="0" tIns="0" rIns="0" bIns="0" rtlCol="0" anchor="ctr"/>
          <a:lstStyle/>
          <a:p>
            <a:pPr marL="0" indent="0" algn="ctr">
              <a:buNone/>
            </a:pPr>
            <a:r>
              <a:rPr lang="en-US" sz="3400" dirty="0">
                <a:solidFill>
                  <a:srgbClr val="000000"/>
                </a:solidFill>
                <a:latin typeface="Cambria" pitchFamily="34" charset="0"/>
                <a:ea typeface="Cambria" pitchFamily="34" charset="-122"/>
                <a:cs typeface="Cambria" pitchFamily="34" charset="-120"/>
              </a:rPr>
              <a:t>😀</a:t>
            </a:r>
            <a:endParaRPr lang="en-US" sz="3400" dirty="0"/>
          </a:p>
        </p:txBody>
      </p:sp>
      <p:sp>
        <p:nvSpPr>
          <p:cNvPr id="20" name="Text 18"/>
          <p:cNvSpPr txBox="1"/>
          <p:nvPr/>
        </p:nvSpPr>
        <p:spPr>
          <a:xfrm>
            <a:off x="9006840" y="4069080"/>
            <a:ext cx="1965960" cy="411480"/>
          </a:xfrm>
          <a:prstGeom prst="rect">
            <a:avLst/>
          </a:prstGeom>
          <a:noFill/>
          <a:ln/>
        </p:spPr>
        <p:txBody>
          <a:bodyPr wrap="square" lIns="0" tIns="0" rIns="0" bIns="0" rtlCol="0" anchor="ctr"/>
          <a:lstStyle/>
          <a:p>
            <a:pPr marL="0" indent="0" algn="ctr">
              <a:buNone/>
            </a:pPr>
            <a:r>
              <a:rPr lang="en-US" sz="1300" dirty="0">
                <a:solidFill>
                  <a:srgbClr val="6E6E6E"/>
                </a:solidFill>
                <a:latin typeface="Calibri" pitchFamily="34" charset="0"/>
                <a:ea typeface="Calibri" pitchFamily="34" charset="-122"/>
                <a:cs typeface="Calibri" pitchFamily="34" charset="-120"/>
              </a:rPr>
              <a:t>U+1F600</a:t>
            </a:r>
            <a:endParaRPr lang="en-US" sz="1300" dirty="0"/>
          </a:p>
        </p:txBody>
      </p:sp>
      <p:sp>
        <p:nvSpPr>
          <p:cNvPr id="21" name="Text 19"/>
          <p:cNvSpPr txBox="1"/>
          <p:nvPr/>
        </p:nvSpPr>
        <p:spPr>
          <a:xfrm>
            <a:off x="640080" y="4892040"/>
            <a:ext cx="10607040" cy="640080"/>
          </a:xfrm>
          <a:prstGeom prst="rect">
            <a:avLst/>
          </a:prstGeom>
          <a:noFill/>
          <a:ln/>
        </p:spPr>
        <p:txBody>
          <a:bodyPr wrap="square" lIns="0" tIns="0" rIns="0" bIns="0" rtlCol="0" anchor="ctr"/>
          <a:lstStyle/>
          <a:p>
            <a:pPr marL="0" indent="0">
              <a:lnSpc>
                <a:spcPct val="130000"/>
              </a:lnSpc>
              <a:buNone/>
            </a:pPr>
            <a:r>
              <a:rPr lang="en-US" sz="1400" i="1" dirty="0">
                <a:solidFill>
                  <a:srgbClr val="6E6E6E"/>
                </a:solidFill>
                <a:latin typeface="Calibri" pitchFamily="34" charset="0"/>
                <a:ea typeface="Calibri" pitchFamily="34" charset="-122"/>
                <a:cs typeface="Calibri" pitchFamily="34" charset="-120"/>
              </a:rPr>
              <a:t>ASCII bilan bir xil asosiy g'oya — har bir belgi uchun son — faqat ancha katta jadval,</a:t>
            </a:r>
            <a:endParaRPr lang="en-US" sz="1400" dirty="0"/>
          </a:p>
          <a:p>
            <a:pPr marL="0" indent="0">
              <a:lnSpc>
                <a:spcPct val="130000"/>
              </a:lnSpc>
              <a:buNone/>
            </a:pPr>
            <a:r>
              <a:rPr lang="en-US" sz="1400" i="1" dirty="0">
                <a:solidFill>
                  <a:srgbClr val="6E6E6E"/>
                </a:solidFill>
                <a:latin typeface="Calibri" pitchFamily="34" charset="0"/>
                <a:ea typeface="Calibri" pitchFamily="34" charset="-122"/>
                <a:cs typeface="Calibri" pitchFamily="34" charset="-120"/>
              </a:rPr>
              <a:t>va UTF-8 deb ataladigan sxema yordamida samarali kodlanadi.</a:t>
            </a:r>
            <a:endParaRPr lang="en-US" sz="1400" dirty="0"/>
          </a:p>
        </p:txBody>
      </p:sp>
      <p:sp>
        <p:nvSpPr>
          <p:cNvPr id="22" name="Text 20"/>
          <p:cNvSpPr txBox="1"/>
          <p:nvPr/>
        </p:nvSpPr>
        <p:spPr>
          <a:xfrm>
            <a:off x="11368735" y="6355080"/>
            <a:ext cx="548640" cy="320040"/>
          </a:xfrm>
          <a:prstGeom prst="rect">
            <a:avLst/>
          </a:prstGeom>
          <a:noFill/>
          <a:ln/>
        </p:spPr>
        <p:txBody>
          <a:bodyPr wrap="square" lIns="0" tIns="0" rIns="0" bIns="0" rtlCol="0" anchor="ctr"/>
          <a:lstStyle/>
          <a:p>
            <a:pPr marL="0" indent="0" algn="r">
              <a:buNone/>
            </a:pPr>
            <a:r>
              <a:rPr lang="en-US" sz="1200" dirty="0">
                <a:solidFill>
                  <a:srgbClr val="6E6E6E"/>
                </a:solidFill>
                <a:latin typeface="Calibri" pitchFamily="34" charset="0"/>
                <a:ea typeface="Calibri" pitchFamily="34" charset="-122"/>
                <a:cs typeface="Calibri" pitchFamily="34" charset="-120"/>
              </a:rPr>
              <a:t>24</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8686800" cy="365760"/>
          </a:xfrm>
          <a:prstGeom prst="rect">
            <a:avLst/>
          </a:prstGeom>
          <a:noFill/>
          <a:ln/>
        </p:spPr>
        <p:txBody>
          <a:bodyPr wrap="square" lIns="0" tIns="0" rIns="0" bIns="0" rtlCol="0" anchor="ctr"/>
          <a:lstStyle/>
          <a:p>
            <a:pPr marL="0" indent="0">
              <a:buNone/>
            </a:pPr>
            <a:r>
              <a:rPr lang="en-US" sz="1500" b="1" kern="0" spc="200" dirty="0">
                <a:solidFill>
                  <a:srgbClr val="6E6E6E"/>
                </a:solidFill>
                <a:latin typeface="Calibri" pitchFamily="34" charset="0"/>
                <a:ea typeface="Calibri" pitchFamily="34" charset="-122"/>
                <a:cs typeface="Calibri" pitchFamily="34" charset="-120"/>
              </a:rPr>
              <a:t>RANGNI IFODALASH</a:t>
            </a:r>
            <a:endParaRPr lang="en-US" sz="1500" dirty="0"/>
          </a:p>
        </p:txBody>
      </p:sp>
      <p:sp>
        <p:nvSpPr>
          <p:cNvPr id="3" name="Text 1"/>
          <p:cNvSpPr txBox="1"/>
          <p:nvPr/>
        </p:nvSpPr>
        <p:spPr>
          <a:xfrm>
            <a:off x="640080" y="868680"/>
            <a:ext cx="10881360" cy="1005840"/>
          </a:xfrm>
          <a:prstGeom prst="rect">
            <a:avLst/>
          </a:prstGeom>
          <a:noFill/>
          <a:ln/>
        </p:spPr>
        <p:txBody>
          <a:bodyPr wrap="square" lIns="0" tIns="0" rIns="0" bIns="0" rtlCol="0" anchor="ctr"/>
          <a:lstStyle/>
          <a:p>
            <a:pPr marL="0" indent="0" algn="l">
              <a:buNone/>
            </a:pPr>
            <a:r>
              <a:rPr lang="en-US" sz="3200" b="1" dirty="0">
                <a:solidFill>
                  <a:srgbClr val="000000"/>
                </a:solidFill>
                <a:latin typeface="Cambria" pitchFamily="34" charset="0"/>
                <a:ea typeface="Cambria" pitchFamily="34" charset="-122"/>
                <a:cs typeface="Cambria" pitchFamily="34" charset="-120"/>
              </a:rPr>
              <a:t>RGB — Rang Ham Shunchaki Sonlar</a:t>
            </a:r>
            <a:endParaRPr lang="en-US" sz="3200" dirty="0"/>
          </a:p>
        </p:txBody>
      </p:sp>
      <p:sp>
        <p:nvSpPr>
          <p:cNvPr id="4" name="Shape 2"/>
          <p:cNvSpPr/>
          <p:nvPr/>
        </p:nvSpPr>
        <p:spPr>
          <a:xfrm>
            <a:off x="640080" y="1874520"/>
            <a:ext cx="10911535" cy="0"/>
          </a:xfrm>
          <a:prstGeom prst="line">
            <a:avLst/>
          </a:prstGeom>
          <a:noFill/>
          <a:ln w="15875">
            <a:solidFill>
              <a:srgbClr val="D9D9D9"/>
            </a:solidFill>
            <a:prstDash val="solid"/>
          </a:ln>
        </p:spPr>
        <p:txBody>
          <a:bodyPr/>
          <a:lstStyle/>
          <a:p>
            <a:endParaRPr lang="en-US"/>
          </a:p>
        </p:txBody>
      </p:sp>
      <p:sp>
        <p:nvSpPr>
          <p:cNvPr id="5" name="Text 3"/>
          <p:cNvSpPr txBox="1"/>
          <p:nvPr/>
        </p:nvSpPr>
        <p:spPr>
          <a:xfrm>
            <a:off x="640080" y="2011680"/>
            <a:ext cx="10607040" cy="822960"/>
          </a:xfrm>
          <a:prstGeom prst="rect">
            <a:avLst/>
          </a:prstGeom>
          <a:noFill/>
          <a:ln/>
        </p:spPr>
        <p:txBody>
          <a:bodyPr wrap="square" lIns="0" tIns="0" rIns="0" bIns="0" rtlCol="0" anchor="ctr"/>
          <a:lstStyle/>
          <a:p>
            <a:pPr marL="0" indent="0">
              <a:lnSpc>
                <a:spcPct val="130000"/>
              </a:lnSpc>
              <a:buNone/>
            </a:pPr>
            <a:r>
              <a:rPr lang="en-US" sz="1600" dirty="0">
                <a:solidFill>
                  <a:srgbClr val="3D3D3D"/>
                </a:solidFill>
                <a:latin typeface="Calibri" pitchFamily="34" charset="0"/>
                <a:ea typeface="Calibri" pitchFamily="34" charset="-122"/>
                <a:cs typeface="Calibri" pitchFamily="34" charset="-120"/>
              </a:rPr>
              <a:t>Ekraningizdagi har bir rang qizil, yashil va ko'k yorug'likni aralashtirish orqali</a:t>
            </a:r>
            <a:endParaRPr lang="en-US" sz="1600" dirty="0"/>
          </a:p>
          <a:p>
            <a:pPr marL="0" indent="0">
              <a:lnSpc>
                <a:spcPct val="130000"/>
              </a:lnSpc>
              <a:buNone/>
            </a:pPr>
            <a:r>
              <a:rPr lang="en-US" sz="1600" dirty="0">
                <a:solidFill>
                  <a:srgbClr val="3D3D3D"/>
                </a:solidFill>
                <a:latin typeface="Calibri" pitchFamily="34" charset="0"/>
                <a:ea typeface="Calibri" pitchFamily="34" charset="-122"/>
                <a:cs typeface="Calibri" pitchFamily="34" charset="-120"/>
              </a:rPr>
              <a:t>hosil qilinadi, har biri 0–255 shkalasida.</a:t>
            </a:r>
            <a:endParaRPr lang="en-US" sz="1600" dirty="0"/>
          </a:p>
        </p:txBody>
      </p:sp>
      <p:sp>
        <p:nvSpPr>
          <p:cNvPr id="6" name="Shape 4"/>
          <p:cNvSpPr/>
          <p:nvPr/>
        </p:nvSpPr>
        <p:spPr>
          <a:xfrm>
            <a:off x="777240" y="3017520"/>
            <a:ext cx="1965960" cy="1005840"/>
          </a:xfrm>
          <a:prstGeom prst="rect">
            <a:avLst/>
          </a:prstGeom>
          <a:solidFill>
            <a:srgbClr val="FF0000"/>
          </a:solidFill>
          <a:ln w="12700">
            <a:solidFill>
              <a:srgbClr val="D9D9D9"/>
            </a:solidFill>
            <a:prstDash val="solid"/>
          </a:ln>
        </p:spPr>
        <p:txBody>
          <a:bodyPr/>
          <a:lstStyle/>
          <a:p>
            <a:endParaRPr lang="en-US"/>
          </a:p>
        </p:txBody>
      </p:sp>
      <p:sp>
        <p:nvSpPr>
          <p:cNvPr id="7" name="Text 5"/>
          <p:cNvSpPr txBox="1"/>
          <p:nvPr/>
        </p:nvSpPr>
        <p:spPr>
          <a:xfrm>
            <a:off x="777240" y="4114800"/>
            <a:ext cx="1965960" cy="502920"/>
          </a:xfrm>
          <a:prstGeom prst="rect">
            <a:avLst/>
          </a:prstGeom>
          <a:noFill/>
          <a:ln/>
        </p:spPr>
        <p:txBody>
          <a:bodyPr wrap="square" lIns="0" tIns="0" rIns="0" bIns="0" rtlCol="0" anchor="ctr"/>
          <a:lstStyle/>
          <a:p>
            <a:pPr marL="0" indent="0" algn="ctr">
              <a:buNone/>
            </a:pPr>
            <a:r>
              <a:rPr lang="en-US" sz="1100" dirty="0">
                <a:solidFill>
                  <a:srgbClr val="3D3D3D"/>
                </a:solidFill>
                <a:latin typeface="Calibri" pitchFamily="34" charset="0"/>
                <a:ea typeface="Calibri" pitchFamily="34" charset="-122"/>
                <a:cs typeface="Calibri" pitchFamily="34" charset="-120"/>
              </a:rPr>
              <a:t>R,G,B: 255, 0, 0</a:t>
            </a:r>
            <a:endParaRPr lang="en-US" sz="1100" dirty="0"/>
          </a:p>
        </p:txBody>
      </p:sp>
      <p:sp>
        <p:nvSpPr>
          <p:cNvPr id="8" name="Shape 6"/>
          <p:cNvSpPr/>
          <p:nvPr/>
        </p:nvSpPr>
        <p:spPr>
          <a:xfrm>
            <a:off x="2834640" y="3017520"/>
            <a:ext cx="1965960" cy="1005840"/>
          </a:xfrm>
          <a:prstGeom prst="rect">
            <a:avLst/>
          </a:prstGeom>
          <a:solidFill>
            <a:srgbClr val="00C800"/>
          </a:solidFill>
          <a:ln w="12700">
            <a:solidFill>
              <a:srgbClr val="D9D9D9"/>
            </a:solidFill>
            <a:prstDash val="solid"/>
          </a:ln>
        </p:spPr>
        <p:txBody>
          <a:bodyPr/>
          <a:lstStyle/>
          <a:p>
            <a:endParaRPr lang="en-US"/>
          </a:p>
        </p:txBody>
      </p:sp>
      <p:sp>
        <p:nvSpPr>
          <p:cNvPr id="9" name="Text 7"/>
          <p:cNvSpPr txBox="1"/>
          <p:nvPr/>
        </p:nvSpPr>
        <p:spPr>
          <a:xfrm>
            <a:off x="2834640" y="4114800"/>
            <a:ext cx="1965960" cy="502920"/>
          </a:xfrm>
          <a:prstGeom prst="rect">
            <a:avLst/>
          </a:prstGeom>
          <a:noFill/>
          <a:ln/>
        </p:spPr>
        <p:txBody>
          <a:bodyPr wrap="square" lIns="0" tIns="0" rIns="0" bIns="0" rtlCol="0" anchor="ctr"/>
          <a:lstStyle/>
          <a:p>
            <a:pPr marL="0" indent="0" algn="ctr">
              <a:buNone/>
            </a:pPr>
            <a:r>
              <a:rPr lang="en-US" sz="1100" dirty="0">
                <a:solidFill>
                  <a:srgbClr val="3D3D3D"/>
                </a:solidFill>
                <a:latin typeface="Calibri" pitchFamily="34" charset="0"/>
                <a:ea typeface="Calibri" pitchFamily="34" charset="-122"/>
                <a:cs typeface="Calibri" pitchFamily="34" charset="-120"/>
              </a:rPr>
              <a:t>R,G,B: 0, 200, 0</a:t>
            </a:r>
            <a:endParaRPr lang="en-US" sz="1100" dirty="0"/>
          </a:p>
        </p:txBody>
      </p:sp>
      <p:sp>
        <p:nvSpPr>
          <p:cNvPr id="10" name="Shape 8"/>
          <p:cNvSpPr/>
          <p:nvPr/>
        </p:nvSpPr>
        <p:spPr>
          <a:xfrm>
            <a:off x="4892040" y="3017520"/>
            <a:ext cx="1965960" cy="1005840"/>
          </a:xfrm>
          <a:prstGeom prst="rect">
            <a:avLst/>
          </a:prstGeom>
          <a:solidFill>
            <a:srgbClr val="0000FF"/>
          </a:solidFill>
          <a:ln w="12700">
            <a:solidFill>
              <a:srgbClr val="D9D9D9"/>
            </a:solidFill>
            <a:prstDash val="solid"/>
          </a:ln>
        </p:spPr>
        <p:txBody>
          <a:bodyPr/>
          <a:lstStyle/>
          <a:p>
            <a:endParaRPr lang="en-US"/>
          </a:p>
        </p:txBody>
      </p:sp>
      <p:sp>
        <p:nvSpPr>
          <p:cNvPr id="11" name="Text 9"/>
          <p:cNvSpPr txBox="1"/>
          <p:nvPr/>
        </p:nvSpPr>
        <p:spPr>
          <a:xfrm>
            <a:off x="4892040" y="4114800"/>
            <a:ext cx="1965960" cy="502920"/>
          </a:xfrm>
          <a:prstGeom prst="rect">
            <a:avLst/>
          </a:prstGeom>
          <a:noFill/>
          <a:ln/>
        </p:spPr>
        <p:txBody>
          <a:bodyPr wrap="square" lIns="0" tIns="0" rIns="0" bIns="0" rtlCol="0" anchor="ctr"/>
          <a:lstStyle/>
          <a:p>
            <a:pPr marL="0" indent="0" algn="ctr">
              <a:buNone/>
            </a:pPr>
            <a:r>
              <a:rPr lang="en-US" sz="1100" dirty="0">
                <a:solidFill>
                  <a:srgbClr val="3D3D3D"/>
                </a:solidFill>
                <a:latin typeface="Calibri" pitchFamily="34" charset="0"/>
                <a:ea typeface="Calibri" pitchFamily="34" charset="-122"/>
                <a:cs typeface="Calibri" pitchFamily="34" charset="-120"/>
              </a:rPr>
              <a:t>R,G,B: 0, 0, 255</a:t>
            </a:r>
            <a:endParaRPr lang="en-US" sz="1100" dirty="0"/>
          </a:p>
        </p:txBody>
      </p:sp>
      <p:sp>
        <p:nvSpPr>
          <p:cNvPr id="12" name="Shape 10"/>
          <p:cNvSpPr/>
          <p:nvPr/>
        </p:nvSpPr>
        <p:spPr>
          <a:xfrm>
            <a:off x="6949440" y="3017520"/>
            <a:ext cx="1965960" cy="1005840"/>
          </a:xfrm>
          <a:prstGeom prst="rect">
            <a:avLst/>
          </a:prstGeom>
          <a:solidFill>
            <a:srgbClr val="000000"/>
          </a:solidFill>
          <a:ln w="12700">
            <a:solidFill>
              <a:srgbClr val="D9D9D9"/>
            </a:solidFill>
            <a:prstDash val="solid"/>
          </a:ln>
        </p:spPr>
        <p:txBody>
          <a:bodyPr/>
          <a:lstStyle/>
          <a:p>
            <a:endParaRPr lang="en-US"/>
          </a:p>
        </p:txBody>
      </p:sp>
      <p:sp>
        <p:nvSpPr>
          <p:cNvPr id="13" name="Text 11"/>
          <p:cNvSpPr txBox="1"/>
          <p:nvPr/>
        </p:nvSpPr>
        <p:spPr>
          <a:xfrm>
            <a:off x="6949440" y="4114800"/>
            <a:ext cx="1965960" cy="502920"/>
          </a:xfrm>
          <a:prstGeom prst="rect">
            <a:avLst/>
          </a:prstGeom>
          <a:noFill/>
          <a:ln/>
        </p:spPr>
        <p:txBody>
          <a:bodyPr wrap="square" lIns="0" tIns="0" rIns="0" bIns="0" rtlCol="0" anchor="ctr"/>
          <a:lstStyle/>
          <a:p>
            <a:pPr marL="0" indent="0" algn="ctr">
              <a:buNone/>
            </a:pPr>
            <a:r>
              <a:rPr lang="en-US" sz="1100" dirty="0">
                <a:solidFill>
                  <a:srgbClr val="3D3D3D"/>
                </a:solidFill>
                <a:latin typeface="Calibri" pitchFamily="34" charset="0"/>
                <a:ea typeface="Calibri" pitchFamily="34" charset="-122"/>
                <a:cs typeface="Calibri" pitchFamily="34" charset="-120"/>
              </a:rPr>
              <a:t>R,G,B: 0, 0, 0</a:t>
            </a:r>
            <a:endParaRPr lang="en-US" sz="1100" dirty="0"/>
          </a:p>
        </p:txBody>
      </p:sp>
      <p:sp>
        <p:nvSpPr>
          <p:cNvPr id="14" name="Shape 12"/>
          <p:cNvSpPr/>
          <p:nvPr/>
        </p:nvSpPr>
        <p:spPr>
          <a:xfrm>
            <a:off x="9006840" y="3017520"/>
            <a:ext cx="1965960" cy="1005840"/>
          </a:xfrm>
          <a:prstGeom prst="rect">
            <a:avLst/>
          </a:prstGeom>
          <a:solidFill>
            <a:srgbClr val="FFFFFF"/>
          </a:solidFill>
          <a:ln w="12700">
            <a:solidFill>
              <a:srgbClr val="D9D9D9"/>
            </a:solidFill>
            <a:prstDash val="solid"/>
          </a:ln>
        </p:spPr>
        <p:txBody>
          <a:bodyPr/>
          <a:lstStyle/>
          <a:p>
            <a:endParaRPr lang="en-US"/>
          </a:p>
        </p:txBody>
      </p:sp>
      <p:sp>
        <p:nvSpPr>
          <p:cNvPr id="15" name="Text 13"/>
          <p:cNvSpPr txBox="1"/>
          <p:nvPr/>
        </p:nvSpPr>
        <p:spPr>
          <a:xfrm>
            <a:off x="9006840" y="4114800"/>
            <a:ext cx="1965960" cy="502920"/>
          </a:xfrm>
          <a:prstGeom prst="rect">
            <a:avLst/>
          </a:prstGeom>
          <a:noFill/>
          <a:ln/>
        </p:spPr>
        <p:txBody>
          <a:bodyPr wrap="square" lIns="0" tIns="0" rIns="0" bIns="0" rtlCol="0" anchor="ctr"/>
          <a:lstStyle/>
          <a:p>
            <a:pPr marL="0" indent="0" algn="ctr">
              <a:buNone/>
            </a:pPr>
            <a:r>
              <a:rPr lang="en-US" sz="1100" dirty="0">
                <a:solidFill>
                  <a:srgbClr val="3D3D3D"/>
                </a:solidFill>
                <a:latin typeface="Calibri" pitchFamily="34" charset="0"/>
                <a:ea typeface="Calibri" pitchFamily="34" charset="-122"/>
                <a:cs typeface="Calibri" pitchFamily="34" charset="-120"/>
              </a:rPr>
              <a:t>R,G,B: 255, 255, 255</a:t>
            </a:r>
            <a:endParaRPr lang="en-US" sz="1100" dirty="0"/>
          </a:p>
        </p:txBody>
      </p:sp>
      <p:sp>
        <p:nvSpPr>
          <p:cNvPr id="16" name="Text 14"/>
          <p:cNvSpPr txBox="1"/>
          <p:nvPr/>
        </p:nvSpPr>
        <p:spPr>
          <a:xfrm>
            <a:off x="640080" y="4800600"/>
            <a:ext cx="10607040" cy="731520"/>
          </a:xfrm>
          <a:prstGeom prst="rect">
            <a:avLst/>
          </a:prstGeom>
          <a:noFill/>
          <a:ln/>
        </p:spPr>
        <p:txBody>
          <a:bodyPr wrap="square" lIns="0" tIns="0" rIns="0" bIns="0" rtlCol="0" anchor="ctr"/>
          <a:lstStyle/>
          <a:p>
            <a:pPr marL="0" indent="0">
              <a:lnSpc>
                <a:spcPct val="130000"/>
              </a:lnSpc>
              <a:buNone/>
            </a:pPr>
            <a:r>
              <a:rPr lang="en-US" sz="1400" i="1" dirty="0">
                <a:solidFill>
                  <a:srgbClr val="6E6E6E"/>
                </a:solidFill>
                <a:latin typeface="Calibri" pitchFamily="34" charset="0"/>
                <a:ea typeface="Calibri" pitchFamily="34" charset="-122"/>
                <a:cs typeface="Calibri" pitchFamily="34" charset="-120"/>
              </a:rPr>
              <a:t>(255, 0, 0) uchta 8-bitli ikkilik son sifatida saqlanadi — xuddi ikki slayd oldingi</a:t>
            </a:r>
            <a:endParaRPr lang="en-US" sz="1400" dirty="0"/>
          </a:p>
          <a:p>
            <a:pPr marL="0" indent="0">
              <a:lnSpc>
                <a:spcPct val="130000"/>
              </a:lnSpc>
              <a:buNone/>
            </a:pPr>
            <a:r>
              <a:rPr lang="en-US" sz="1400" i="1" dirty="0">
                <a:solidFill>
                  <a:srgbClr val="6E6E6E"/>
                </a:solidFill>
                <a:latin typeface="Calibri" pitchFamily="34" charset="0"/>
                <a:ea typeface="Calibri" pitchFamily="34" charset="-122"/>
                <a:cs typeface="Calibri" pitchFamily="34" charset="-120"/>
              </a:rPr>
              <a:t>ASCII kodlari kabi. Bu — tagigacha sonlar.</a:t>
            </a:r>
            <a:endParaRPr lang="en-US" sz="1400" dirty="0"/>
          </a:p>
        </p:txBody>
      </p:sp>
      <p:sp>
        <p:nvSpPr>
          <p:cNvPr id="17" name="Text 15"/>
          <p:cNvSpPr txBox="1"/>
          <p:nvPr/>
        </p:nvSpPr>
        <p:spPr>
          <a:xfrm>
            <a:off x="11368735" y="6355080"/>
            <a:ext cx="548640" cy="320040"/>
          </a:xfrm>
          <a:prstGeom prst="rect">
            <a:avLst/>
          </a:prstGeom>
          <a:noFill/>
          <a:ln/>
        </p:spPr>
        <p:txBody>
          <a:bodyPr wrap="square" lIns="0" tIns="0" rIns="0" bIns="0" rtlCol="0" anchor="ctr"/>
          <a:lstStyle/>
          <a:p>
            <a:pPr marL="0" indent="0" algn="r">
              <a:buNone/>
            </a:pPr>
            <a:r>
              <a:rPr lang="en-US" sz="1200" dirty="0">
                <a:solidFill>
                  <a:srgbClr val="6E6E6E"/>
                </a:solidFill>
                <a:latin typeface="Calibri" pitchFamily="34" charset="0"/>
                <a:ea typeface="Calibri" pitchFamily="34" charset="-122"/>
                <a:cs typeface="Calibri" pitchFamily="34" charset="-120"/>
              </a:rPr>
              <a:t>25</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1A1A1A"/>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8686800" cy="365760"/>
          </a:xfrm>
          <a:prstGeom prst="rect">
            <a:avLst/>
          </a:prstGeom>
          <a:noFill/>
          <a:ln/>
        </p:spPr>
        <p:txBody>
          <a:bodyPr wrap="square" lIns="0" tIns="0" rIns="0" bIns="0" rtlCol="0" anchor="ctr"/>
          <a:lstStyle/>
          <a:p>
            <a:pPr marL="0" indent="0">
              <a:buNone/>
            </a:pPr>
            <a:r>
              <a:rPr lang="en-US" sz="1500" b="1" kern="0" spc="200" dirty="0">
                <a:solidFill>
                  <a:srgbClr val="D9D9D9"/>
                </a:solidFill>
                <a:latin typeface="Calibri" pitchFamily="34" charset="0"/>
                <a:ea typeface="Calibri" pitchFamily="34" charset="-122"/>
                <a:cs typeface="Calibri" pitchFamily="34" charset="-120"/>
              </a:rPr>
              <a:t>HAMMASINI BIRLASHTIRISH</a:t>
            </a:r>
            <a:endParaRPr lang="en-US" sz="1500" dirty="0"/>
          </a:p>
        </p:txBody>
      </p:sp>
      <p:sp>
        <p:nvSpPr>
          <p:cNvPr id="3" name="Text 1"/>
          <p:cNvSpPr txBox="1"/>
          <p:nvPr/>
        </p:nvSpPr>
        <p:spPr>
          <a:xfrm>
            <a:off x="640080" y="868680"/>
            <a:ext cx="10881360" cy="1005840"/>
          </a:xfrm>
          <a:prstGeom prst="rect">
            <a:avLst/>
          </a:prstGeom>
          <a:noFill/>
          <a:ln/>
        </p:spPr>
        <p:txBody>
          <a:bodyPr wrap="square" lIns="0" tIns="0" rIns="0" bIns="0"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Bularning Barchasi — Bitlar</a:t>
            </a:r>
            <a:endParaRPr lang="en-US" sz="3600" dirty="0"/>
          </a:p>
        </p:txBody>
      </p:sp>
      <p:sp>
        <p:nvSpPr>
          <p:cNvPr id="4" name="Shape 2"/>
          <p:cNvSpPr/>
          <p:nvPr/>
        </p:nvSpPr>
        <p:spPr>
          <a:xfrm>
            <a:off x="640080" y="1874520"/>
            <a:ext cx="10911535" cy="0"/>
          </a:xfrm>
          <a:prstGeom prst="line">
            <a:avLst/>
          </a:prstGeom>
          <a:noFill/>
          <a:ln w="15875">
            <a:solidFill>
              <a:srgbClr val="3A3A3A"/>
            </a:solidFill>
            <a:prstDash val="solid"/>
          </a:ln>
        </p:spPr>
        <p:txBody>
          <a:bodyPr/>
          <a:lstStyle/>
          <a:p>
            <a:endParaRPr lang="en-US"/>
          </a:p>
        </p:txBody>
      </p:sp>
      <p:sp>
        <p:nvSpPr>
          <p:cNvPr id="5" name="Text 3"/>
          <p:cNvSpPr txBox="1"/>
          <p:nvPr/>
        </p:nvSpPr>
        <p:spPr>
          <a:xfrm>
            <a:off x="822960" y="2377440"/>
            <a:ext cx="9601200" cy="502920"/>
          </a:xfrm>
          <a:prstGeom prst="rect">
            <a:avLst/>
          </a:prstGeom>
          <a:noFill/>
          <a:ln/>
        </p:spPr>
        <p:txBody>
          <a:bodyPr wrap="square" lIns="0" tIns="0" rIns="0" bIns="0" rtlCol="0" anchor="ctr"/>
          <a:lstStyle/>
          <a:p>
            <a:pPr marL="279400" indent="-279400">
              <a:buSzPct val="100000"/>
              <a:buChar char="•"/>
            </a:pPr>
            <a:r>
              <a:rPr lang="en-US" sz="1900" dirty="0">
                <a:solidFill>
                  <a:srgbClr val="FFFFFF"/>
                </a:solidFill>
                <a:latin typeface="Calibri" pitchFamily="34" charset="0"/>
                <a:ea typeface="Calibri" pitchFamily="34" charset="-122"/>
                <a:cs typeface="Calibri" pitchFamily="34" charset="-120"/>
              </a:rPr>
              <a:t>Matn → sonlar (ASCII / Unicode)</a:t>
            </a:r>
            <a:endParaRPr lang="en-US" sz="1900" dirty="0"/>
          </a:p>
        </p:txBody>
      </p:sp>
      <p:sp>
        <p:nvSpPr>
          <p:cNvPr id="6" name="Text 4"/>
          <p:cNvSpPr txBox="1"/>
          <p:nvPr/>
        </p:nvSpPr>
        <p:spPr>
          <a:xfrm>
            <a:off x="822960" y="2971800"/>
            <a:ext cx="9601200" cy="502920"/>
          </a:xfrm>
          <a:prstGeom prst="rect">
            <a:avLst/>
          </a:prstGeom>
          <a:noFill/>
          <a:ln/>
        </p:spPr>
        <p:txBody>
          <a:bodyPr wrap="square" lIns="0" tIns="0" rIns="0" bIns="0" rtlCol="0" anchor="ctr"/>
          <a:lstStyle/>
          <a:p>
            <a:pPr marL="279400" indent="-279400">
              <a:buSzPct val="100000"/>
              <a:buChar char="•"/>
            </a:pPr>
            <a:r>
              <a:rPr lang="en-US" sz="1900" dirty="0">
                <a:solidFill>
                  <a:srgbClr val="FFFFFF"/>
                </a:solidFill>
                <a:latin typeface="Calibri" pitchFamily="34" charset="0"/>
                <a:ea typeface="Calibri" pitchFamily="34" charset="-122"/>
                <a:cs typeface="Calibri" pitchFamily="34" charset="-120"/>
              </a:rPr>
              <a:t>Rang → sonlar (RGB)</a:t>
            </a:r>
            <a:endParaRPr lang="en-US" sz="1900" dirty="0"/>
          </a:p>
        </p:txBody>
      </p:sp>
      <p:sp>
        <p:nvSpPr>
          <p:cNvPr id="7" name="Text 5"/>
          <p:cNvSpPr txBox="1"/>
          <p:nvPr/>
        </p:nvSpPr>
        <p:spPr>
          <a:xfrm>
            <a:off x="822960" y="3566160"/>
            <a:ext cx="9601200" cy="502920"/>
          </a:xfrm>
          <a:prstGeom prst="rect">
            <a:avLst/>
          </a:prstGeom>
          <a:noFill/>
          <a:ln/>
        </p:spPr>
        <p:txBody>
          <a:bodyPr wrap="square" lIns="0" tIns="0" rIns="0" bIns="0" rtlCol="0" anchor="ctr"/>
          <a:lstStyle/>
          <a:p>
            <a:pPr marL="279400" indent="-279400">
              <a:buSzPct val="100000"/>
              <a:buChar char="•"/>
            </a:pPr>
            <a:r>
              <a:rPr lang="en-US" sz="1900" dirty="0">
                <a:solidFill>
                  <a:srgbClr val="FFFFFF"/>
                </a:solidFill>
                <a:latin typeface="Calibri" pitchFamily="34" charset="0"/>
                <a:ea typeface="Calibri" pitchFamily="34" charset="-122"/>
                <a:cs typeface="Calibri" pitchFamily="34" charset="-120"/>
              </a:rPr>
              <a:t>Sonlar → ikkilik tizim (0 va 1)</a:t>
            </a:r>
            <a:endParaRPr lang="en-US" sz="1900" dirty="0"/>
          </a:p>
        </p:txBody>
      </p:sp>
      <p:sp>
        <p:nvSpPr>
          <p:cNvPr id="8" name="Text 6"/>
          <p:cNvSpPr txBox="1"/>
          <p:nvPr/>
        </p:nvSpPr>
        <p:spPr>
          <a:xfrm>
            <a:off x="822960" y="4160520"/>
            <a:ext cx="9601200" cy="502920"/>
          </a:xfrm>
          <a:prstGeom prst="rect">
            <a:avLst/>
          </a:prstGeom>
          <a:noFill/>
          <a:ln/>
        </p:spPr>
        <p:txBody>
          <a:bodyPr wrap="square" lIns="0" tIns="0" rIns="0" bIns="0" rtlCol="0" anchor="ctr"/>
          <a:lstStyle/>
          <a:p>
            <a:pPr marL="279400" indent="-279400">
              <a:buSzPct val="100000"/>
              <a:buChar char="•"/>
            </a:pPr>
            <a:r>
              <a:rPr lang="en-US" sz="1900" dirty="0">
                <a:solidFill>
                  <a:srgbClr val="FFFFFF"/>
                </a:solidFill>
                <a:latin typeface="Calibri" pitchFamily="34" charset="0"/>
                <a:ea typeface="Calibri" pitchFamily="34" charset="-122"/>
                <a:cs typeface="Calibri" pitchFamily="34" charset="-120"/>
              </a:rPr>
              <a:t>Ikkilik tizim → elektr (yoniq / o'chiq)</a:t>
            </a:r>
            <a:endParaRPr lang="en-US" sz="1900" dirty="0"/>
          </a:p>
        </p:txBody>
      </p:sp>
      <p:sp>
        <p:nvSpPr>
          <p:cNvPr id="9" name="Text 7"/>
          <p:cNvSpPr txBox="1"/>
          <p:nvPr/>
        </p:nvSpPr>
        <p:spPr>
          <a:xfrm>
            <a:off x="822960" y="4937760"/>
            <a:ext cx="10058400" cy="640080"/>
          </a:xfrm>
          <a:prstGeom prst="rect">
            <a:avLst/>
          </a:prstGeom>
          <a:noFill/>
          <a:ln/>
        </p:spPr>
        <p:txBody>
          <a:bodyPr wrap="square" lIns="0" tIns="0" rIns="0" bIns="0" rtlCol="0" anchor="ctr"/>
          <a:lstStyle/>
          <a:p>
            <a:pPr marL="0" indent="0">
              <a:buNone/>
            </a:pPr>
            <a:endParaRPr lang="en-US" sz="1900" dirty="0"/>
          </a:p>
        </p:txBody>
      </p:sp>
      <p:sp>
        <p:nvSpPr>
          <p:cNvPr id="10" name="Text 8"/>
          <p:cNvSpPr txBox="1"/>
          <p:nvPr/>
        </p:nvSpPr>
        <p:spPr>
          <a:xfrm>
            <a:off x="11368735" y="6355080"/>
            <a:ext cx="548640" cy="320040"/>
          </a:xfrm>
          <a:prstGeom prst="rect">
            <a:avLst/>
          </a:prstGeom>
          <a:noFill/>
          <a:ln/>
        </p:spPr>
        <p:txBody>
          <a:bodyPr wrap="square" lIns="0" tIns="0" rIns="0" bIns="0" rtlCol="0" anchor="ctr"/>
          <a:lstStyle/>
          <a:p>
            <a:pPr marL="0" indent="0" algn="r">
              <a:buNone/>
            </a:pPr>
            <a:r>
              <a:rPr lang="en-US" sz="1200" dirty="0">
                <a:solidFill>
                  <a:srgbClr val="D9D9D9"/>
                </a:solidFill>
                <a:latin typeface="Calibri" pitchFamily="34" charset="0"/>
                <a:ea typeface="Calibri" pitchFamily="34" charset="-122"/>
                <a:cs typeface="Calibri" pitchFamily="34" charset="-120"/>
              </a:rPr>
              <a:t>26</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640080" y="1965960"/>
            <a:ext cx="10911535" cy="0"/>
          </a:xfrm>
          <a:prstGeom prst="line">
            <a:avLst/>
          </a:prstGeom>
          <a:noFill/>
          <a:ln w="15875">
            <a:solidFill>
              <a:srgbClr val="3A3A3A"/>
            </a:solidFill>
            <a:prstDash val="solid"/>
          </a:ln>
        </p:spPr>
        <p:txBody>
          <a:bodyPr/>
          <a:lstStyle/>
          <a:p>
            <a:endParaRPr lang="en-US"/>
          </a:p>
        </p:txBody>
      </p:sp>
      <p:sp>
        <p:nvSpPr>
          <p:cNvPr id="3" name="Text 1"/>
          <p:cNvSpPr txBox="1"/>
          <p:nvPr/>
        </p:nvSpPr>
        <p:spPr>
          <a:xfrm>
            <a:off x="822960" y="2194560"/>
            <a:ext cx="2743200" cy="502920"/>
          </a:xfrm>
          <a:prstGeom prst="rect">
            <a:avLst/>
          </a:prstGeom>
          <a:noFill/>
          <a:ln/>
        </p:spPr>
        <p:txBody>
          <a:bodyPr wrap="square" lIns="0" tIns="0" rIns="0" bIns="0" rtlCol="0" anchor="ctr"/>
          <a:lstStyle/>
          <a:p>
            <a:pPr marL="0" indent="0">
              <a:buNone/>
            </a:pPr>
            <a:r>
              <a:rPr lang="en-US" sz="2400" dirty="0">
                <a:solidFill>
                  <a:srgbClr val="D9D9D9"/>
                </a:solidFill>
                <a:latin typeface="Cambria" pitchFamily="34" charset="0"/>
                <a:ea typeface="Cambria" pitchFamily="34" charset="-122"/>
                <a:cs typeface="Cambria" pitchFamily="34" charset="-120"/>
              </a:rPr>
              <a:t>05</a:t>
            </a:r>
            <a:endParaRPr lang="en-US" sz="2400" dirty="0"/>
          </a:p>
        </p:txBody>
      </p:sp>
      <p:sp>
        <p:nvSpPr>
          <p:cNvPr id="4" name="Text 2"/>
          <p:cNvSpPr txBox="1"/>
          <p:nvPr/>
        </p:nvSpPr>
        <p:spPr>
          <a:xfrm>
            <a:off x="822960" y="2743200"/>
            <a:ext cx="10515600" cy="1005840"/>
          </a:xfrm>
          <a:prstGeom prst="rect">
            <a:avLst/>
          </a:prstGeom>
          <a:noFill/>
          <a:ln/>
        </p:spPr>
        <p:txBody>
          <a:bodyPr wrap="square" lIns="0" tIns="0" rIns="0" bIns="0" rtlCol="0" anchor="t"/>
          <a:lstStyle/>
          <a:p>
            <a:pPr marL="0" indent="0">
              <a:buNone/>
            </a:pPr>
            <a:r>
              <a:rPr lang="en-US" sz="4200" b="1" dirty="0">
                <a:solidFill>
                  <a:srgbClr val="FFFFFF"/>
                </a:solidFill>
                <a:latin typeface="Cambria" pitchFamily="34" charset="0"/>
                <a:ea typeface="Cambria" pitchFamily="34" charset="-122"/>
                <a:cs typeface="Cambria" pitchFamily="34" charset="-120"/>
              </a:rPr>
              <a:t>CSE Dan Keyingi Kasblar</a:t>
            </a:r>
            <a:endParaRPr lang="en-US" sz="4200" dirty="0"/>
          </a:p>
        </p:txBody>
      </p:sp>
      <p:sp>
        <p:nvSpPr>
          <p:cNvPr id="5" name="Text 3"/>
          <p:cNvSpPr txBox="1"/>
          <p:nvPr/>
        </p:nvSpPr>
        <p:spPr>
          <a:xfrm>
            <a:off x="822960" y="3977640"/>
            <a:ext cx="9875520" cy="822960"/>
          </a:xfrm>
          <a:prstGeom prst="rect">
            <a:avLst/>
          </a:prstGeom>
          <a:noFill/>
          <a:ln/>
        </p:spPr>
        <p:txBody>
          <a:bodyPr wrap="square" lIns="0" tIns="0" rIns="0" bIns="0" rtlCol="0" anchor="ctr"/>
          <a:lstStyle/>
          <a:p>
            <a:pPr marL="0" indent="0">
              <a:lnSpc>
                <a:spcPct val="125000"/>
              </a:lnSpc>
              <a:buNone/>
            </a:pP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8686800" cy="365760"/>
          </a:xfrm>
          <a:prstGeom prst="rect">
            <a:avLst/>
          </a:prstGeom>
          <a:noFill/>
          <a:ln/>
        </p:spPr>
        <p:txBody>
          <a:bodyPr wrap="square" lIns="0" tIns="0" rIns="0" bIns="0" rtlCol="0" anchor="ctr"/>
          <a:lstStyle/>
          <a:p>
            <a:pPr marL="0" indent="0">
              <a:buNone/>
            </a:pPr>
            <a:r>
              <a:rPr lang="en-US" sz="1500" b="1" kern="0" spc="200" dirty="0">
                <a:solidFill>
                  <a:srgbClr val="6E6E6E"/>
                </a:solidFill>
                <a:latin typeface="Calibri" pitchFamily="34" charset="0"/>
                <a:ea typeface="Calibri" pitchFamily="34" charset="-122"/>
                <a:cs typeface="Calibri" pitchFamily="34" charset="-120"/>
              </a:rPr>
              <a:t>MANZARA</a:t>
            </a:r>
            <a:endParaRPr lang="en-US" sz="1500" dirty="0"/>
          </a:p>
        </p:txBody>
      </p:sp>
      <p:sp>
        <p:nvSpPr>
          <p:cNvPr id="3" name="Text 1"/>
          <p:cNvSpPr txBox="1"/>
          <p:nvPr/>
        </p:nvSpPr>
        <p:spPr>
          <a:xfrm>
            <a:off x="640080" y="868680"/>
            <a:ext cx="10881360" cy="1005840"/>
          </a:xfrm>
          <a:prstGeom prst="rect">
            <a:avLst/>
          </a:prstGeom>
          <a:noFill/>
          <a:ln/>
        </p:spPr>
        <p:txBody>
          <a:bodyPr wrap="square" lIns="0" tIns="0" rIns="0" bIns="0" rtlCol="0" anchor="ctr"/>
          <a:lstStyle/>
          <a:p>
            <a:pPr marL="0" indent="0" algn="l">
              <a:buNone/>
            </a:pPr>
            <a:r>
              <a:rPr lang="en-US" sz="3200" b="1" dirty="0">
                <a:solidFill>
                  <a:srgbClr val="000000"/>
                </a:solidFill>
                <a:latin typeface="Cambria" pitchFamily="34" charset="0"/>
                <a:ea typeface="Cambria" pitchFamily="34" charset="-122"/>
                <a:cs typeface="Cambria" pitchFamily="34" charset="-120"/>
              </a:rPr>
              <a:t>Bitta Daraja, Ko'plab Yo'nalishlar</a:t>
            </a:r>
            <a:endParaRPr lang="en-US" sz="3200" dirty="0"/>
          </a:p>
        </p:txBody>
      </p:sp>
      <p:sp>
        <p:nvSpPr>
          <p:cNvPr id="4" name="Shape 2"/>
          <p:cNvSpPr/>
          <p:nvPr/>
        </p:nvSpPr>
        <p:spPr>
          <a:xfrm>
            <a:off x="640080" y="1874520"/>
            <a:ext cx="10911535" cy="0"/>
          </a:xfrm>
          <a:prstGeom prst="line">
            <a:avLst/>
          </a:prstGeom>
          <a:noFill/>
          <a:ln w="15875">
            <a:solidFill>
              <a:srgbClr val="D9D9D9"/>
            </a:solidFill>
            <a:prstDash val="solid"/>
          </a:ln>
        </p:spPr>
        <p:txBody>
          <a:bodyPr/>
          <a:lstStyle/>
          <a:p>
            <a:endParaRPr lang="en-US"/>
          </a:p>
        </p:txBody>
      </p:sp>
      <p:sp>
        <p:nvSpPr>
          <p:cNvPr id="5" name="Text 3"/>
          <p:cNvSpPr txBox="1"/>
          <p:nvPr/>
        </p:nvSpPr>
        <p:spPr>
          <a:xfrm>
            <a:off x="640080" y="2148840"/>
            <a:ext cx="5166360" cy="411480"/>
          </a:xfrm>
          <a:prstGeom prst="rect">
            <a:avLst/>
          </a:prstGeom>
          <a:noFill/>
          <a:ln/>
        </p:spPr>
        <p:txBody>
          <a:bodyPr wrap="square" lIns="0" tIns="0" rIns="0" bIns="0" rtlCol="0" anchor="ctr"/>
          <a:lstStyle/>
          <a:p>
            <a:pPr marL="0" indent="0">
              <a:buNone/>
            </a:pPr>
            <a:r>
              <a:rPr lang="en-US" sz="1550" b="1" dirty="0">
                <a:solidFill>
                  <a:srgbClr val="000000"/>
                </a:solidFill>
                <a:latin typeface="Calibri" pitchFamily="34" charset="0"/>
                <a:ea typeface="Calibri" pitchFamily="34" charset="-122"/>
                <a:cs typeface="Calibri" pitchFamily="34" charset="-120"/>
              </a:rPr>
              <a:t>Dasturiy Ta'minot Muhandisligi</a:t>
            </a:r>
            <a:endParaRPr lang="en-US" sz="1550" dirty="0"/>
          </a:p>
        </p:txBody>
      </p:sp>
      <p:sp>
        <p:nvSpPr>
          <p:cNvPr id="6" name="Text 4"/>
          <p:cNvSpPr txBox="1"/>
          <p:nvPr/>
        </p:nvSpPr>
        <p:spPr>
          <a:xfrm>
            <a:off x="640080" y="2578608"/>
            <a:ext cx="5166360" cy="640080"/>
          </a:xfrm>
          <a:prstGeom prst="rect">
            <a:avLst/>
          </a:prstGeom>
          <a:noFill/>
          <a:ln/>
        </p:spPr>
        <p:txBody>
          <a:bodyPr wrap="square" lIns="0" tIns="0" rIns="0" bIns="0" rtlCol="0" anchor="ctr"/>
          <a:lstStyle/>
          <a:p>
            <a:pPr marL="0" indent="0">
              <a:buNone/>
            </a:pPr>
            <a:r>
              <a:rPr lang="en-US" sz="1250" dirty="0">
                <a:solidFill>
                  <a:srgbClr val="6E6E6E"/>
                </a:solidFill>
                <a:latin typeface="Calibri" pitchFamily="34" charset="0"/>
                <a:ea typeface="Calibri" pitchFamily="34" charset="-122"/>
                <a:cs typeface="Calibri" pitchFamily="34" charset="-120"/>
              </a:rPr>
              <a:t>Odamlar har kuni ishlatadigan ilovalar va tizimlarni qurish</a:t>
            </a:r>
            <a:endParaRPr lang="en-US" sz="1250" dirty="0"/>
          </a:p>
        </p:txBody>
      </p:sp>
      <p:sp>
        <p:nvSpPr>
          <p:cNvPr id="7" name="Shape 5"/>
          <p:cNvSpPr/>
          <p:nvPr/>
        </p:nvSpPr>
        <p:spPr>
          <a:xfrm>
            <a:off x="640080" y="3246120"/>
            <a:ext cx="5166360" cy="0"/>
          </a:xfrm>
          <a:prstGeom prst="line">
            <a:avLst/>
          </a:prstGeom>
          <a:noFill/>
          <a:ln w="12700">
            <a:solidFill>
              <a:srgbClr val="D9D9D9"/>
            </a:solidFill>
            <a:prstDash val="solid"/>
          </a:ln>
        </p:spPr>
        <p:txBody>
          <a:bodyPr/>
          <a:lstStyle/>
          <a:p>
            <a:endParaRPr lang="en-US"/>
          </a:p>
        </p:txBody>
      </p:sp>
      <p:sp>
        <p:nvSpPr>
          <p:cNvPr id="8" name="Text 6"/>
          <p:cNvSpPr txBox="1"/>
          <p:nvPr/>
        </p:nvSpPr>
        <p:spPr>
          <a:xfrm>
            <a:off x="6080760" y="2148840"/>
            <a:ext cx="5166360" cy="411480"/>
          </a:xfrm>
          <a:prstGeom prst="rect">
            <a:avLst/>
          </a:prstGeom>
          <a:noFill/>
          <a:ln/>
        </p:spPr>
        <p:txBody>
          <a:bodyPr wrap="square" lIns="0" tIns="0" rIns="0" bIns="0" rtlCol="0" anchor="ctr"/>
          <a:lstStyle/>
          <a:p>
            <a:pPr marL="0" indent="0">
              <a:buNone/>
            </a:pPr>
            <a:r>
              <a:rPr lang="en-US" sz="1550" b="1" dirty="0">
                <a:solidFill>
                  <a:srgbClr val="000000"/>
                </a:solidFill>
                <a:latin typeface="Calibri" pitchFamily="34" charset="0"/>
                <a:ea typeface="Calibri" pitchFamily="34" charset="-122"/>
                <a:cs typeface="Calibri" pitchFamily="34" charset="-120"/>
              </a:rPr>
              <a:t>Data Science va ML</a:t>
            </a:r>
            <a:endParaRPr lang="en-US" sz="1550" dirty="0"/>
          </a:p>
        </p:txBody>
      </p:sp>
      <p:sp>
        <p:nvSpPr>
          <p:cNvPr id="9" name="Text 7"/>
          <p:cNvSpPr txBox="1"/>
          <p:nvPr/>
        </p:nvSpPr>
        <p:spPr>
          <a:xfrm>
            <a:off x="6080760" y="2578608"/>
            <a:ext cx="5166360" cy="640080"/>
          </a:xfrm>
          <a:prstGeom prst="rect">
            <a:avLst/>
          </a:prstGeom>
          <a:noFill/>
          <a:ln/>
        </p:spPr>
        <p:txBody>
          <a:bodyPr wrap="square" lIns="0" tIns="0" rIns="0" bIns="0" rtlCol="0" anchor="ctr"/>
          <a:lstStyle/>
          <a:p>
            <a:pPr marL="0" indent="0">
              <a:buNone/>
            </a:pPr>
            <a:r>
              <a:rPr lang="en-US" sz="1250" dirty="0" err="1">
                <a:solidFill>
                  <a:srgbClr val="6E6E6E"/>
                </a:solidFill>
                <a:latin typeface="Calibri" pitchFamily="34" charset="0"/>
                <a:ea typeface="Calibri" pitchFamily="34" charset="-122"/>
                <a:cs typeface="Calibri" pitchFamily="34" charset="-120"/>
              </a:rPr>
              <a:t>Ma'lumotlardagi</a:t>
            </a:r>
            <a:r>
              <a:rPr lang="en-US" sz="1250" dirty="0">
                <a:solidFill>
                  <a:srgbClr val="6E6E6E"/>
                </a:solidFill>
                <a:latin typeface="Calibri" pitchFamily="34" charset="0"/>
                <a:ea typeface="Calibri" pitchFamily="34" charset="-122"/>
                <a:cs typeface="Calibri" pitchFamily="34" charset="-120"/>
              </a:rPr>
              <a:t> </a:t>
            </a:r>
            <a:r>
              <a:rPr lang="en-US" sz="1250" dirty="0" err="1">
                <a:solidFill>
                  <a:srgbClr val="6E6E6E"/>
                </a:solidFill>
                <a:latin typeface="Calibri" pitchFamily="34" charset="0"/>
                <a:ea typeface="Calibri" pitchFamily="34" charset="-122"/>
                <a:cs typeface="Calibri" pitchFamily="34" charset="-120"/>
              </a:rPr>
              <a:t>bog’liklarni</a:t>
            </a:r>
            <a:r>
              <a:rPr lang="en-US" sz="1250" dirty="0">
                <a:solidFill>
                  <a:srgbClr val="6E6E6E"/>
                </a:solidFill>
                <a:latin typeface="Calibri" pitchFamily="34" charset="0"/>
                <a:ea typeface="Calibri" pitchFamily="34" charset="-122"/>
                <a:cs typeface="Calibri" pitchFamily="34" charset="-120"/>
              </a:rPr>
              <a:t> topish, bashoratli va AI modellarini qurish</a:t>
            </a:r>
            <a:endParaRPr lang="en-US" sz="1250" dirty="0"/>
          </a:p>
        </p:txBody>
      </p:sp>
      <p:sp>
        <p:nvSpPr>
          <p:cNvPr id="10" name="Shape 8"/>
          <p:cNvSpPr/>
          <p:nvPr/>
        </p:nvSpPr>
        <p:spPr>
          <a:xfrm>
            <a:off x="6080760" y="3246120"/>
            <a:ext cx="5166360" cy="0"/>
          </a:xfrm>
          <a:prstGeom prst="line">
            <a:avLst/>
          </a:prstGeom>
          <a:noFill/>
          <a:ln w="12700">
            <a:solidFill>
              <a:srgbClr val="D9D9D9"/>
            </a:solidFill>
            <a:prstDash val="solid"/>
          </a:ln>
        </p:spPr>
        <p:txBody>
          <a:bodyPr/>
          <a:lstStyle/>
          <a:p>
            <a:endParaRPr lang="en-US"/>
          </a:p>
        </p:txBody>
      </p:sp>
      <p:sp>
        <p:nvSpPr>
          <p:cNvPr id="11" name="Text 9"/>
          <p:cNvSpPr txBox="1"/>
          <p:nvPr/>
        </p:nvSpPr>
        <p:spPr>
          <a:xfrm>
            <a:off x="640080" y="3383280"/>
            <a:ext cx="5166360" cy="411480"/>
          </a:xfrm>
          <a:prstGeom prst="rect">
            <a:avLst/>
          </a:prstGeom>
          <a:noFill/>
          <a:ln/>
        </p:spPr>
        <p:txBody>
          <a:bodyPr wrap="square" lIns="0" tIns="0" rIns="0" bIns="0" rtlCol="0" anchor="ctr"/>
          <a:lstStyle/>
          <a:p>
            <a:pPr marL="0" indent="0">
              <a:buNone/>
            </a:pPr>
            <a:r>
              <a:rPr lang="en-US" sz="1550" b="1" dirty="0">
                <a:solidFill>
                  <a:srgbClr val="000000"/>
                </a:solidFill>
                <a:latin typeface="Calibri" pitchFamily="34" charset="0"/>
                <a:ea typeface="Calibri" pitchFamily="34" charset="-122"/>
                <a:cs typeface="Calibri" pitchFamily="34" charset="-120"/>
              </a:rPr>
              <a:t>Kiberxavfsizlik</a:t>
            </a:r>
            <a:endParaRPr lang="en-US" sz="1550" dirty="0"/>
          </a:p>
        </p:txBody>
      </p:sp>
      <p:sp>
        <p:nvSpPr>
          <p:cNvPr id="12" name="Text 10"/>
          <p:cNvSpPr txBox="1"/>
          <p:nvPr/>
        </p:nvSpPr>
        <p:spPr>
          <a:xfrm>
            <a:off x="640080" y="3813048"/>
            <a:ext cx="5166360" cy="640080"/>
          </a:xfrm>
          <a:prstGeom prst="rect">
            <a:avLst/>
          </a:prstGeom>
          <a:noFill/>
          <a:ln/>
        </p:spPr>
        <p:txBody>
          <a:bodyPr wrap="square" lIns="0" tIns="0" rIns="0" bIns="0" rtlCol="0" anchor="ctr"/>
          <a:lstStyle/>
          <a:p>
            <a:pPr marL="0" indent="0">
              <a:buNone/>
            </a:pPr>
            <a:r>
              <a:rPr lang="en-US" sz="1250" dirty="0">
                <a:solidFill>
                  <a:srgbClr val="6E6E6E"/>
                </a:solidFill>
                <a:latin typeface="Calibri" pitchFamily="34" charset="0"/>
                <a:ea typeface="Calibri" pitchFamily="34" charset="-122"/>
                <a:cs typeface="Calibri" pitchFamily="34" charset="-120"/>
              </a:rPr>
              <a:t>Tizimlar, ma'lumotlar va odamlarni raqamli tahdidlardan himoya qilish</a:t>
            </a:r>
            <a:endParaRPr lang="en-US" sz="1250" dirty="0"/>
          </a:p>
        </p:txBody>
      </p:sp>
      <p:sp>
        <p:nvSpPr>
          <p:cNvPr id="13" name="Shape 11"/>
          <p:cNvSpPr/>
          <p:nvPr/>
        </p:nvSpPr>
        <p:spPr>
          <a:xfrm>
            <a:off x="640080" y="4480560"/>
            <a:ext cx="5166360" cy="0"/>
          </a:xfrm>
          <a:prstGeom prst="line">
            <a:avLst/>
          </a:prstGeom>
          <a:noFill/>
          <a:ln w="12700">
            <a:solidFill>
              <a:srgbClr val="D9D9D9"/>
            </a:solidFill>
            <a:prstDash val="solid"/>
          </a:ln>
        </p:spPr>
        <p:txBody>
          <a:bodyPr/>
          <a:lstStyle/>
          <a:p>
            <a:endParaRPr lang="en-US"/>
          </a:p>
        </p:txBody>
      </p:sp>
      <p:sp>
        <p:nvSpPr>
          <p:cNvPr id="14" name="Text 12"/>
          <p:cNvSpPr txBox="1"/>
          <p:nvPr/>
        </p:nvSpPr>
        <p:spPr>
          <a:xfrm>
            <a:off x="6080760" y="3383280"/>
            <a:ext cx="5166360" cy="411480"/>
          </a:xfrm>
          <a:prstGeom prst="rect">
            <a:avLst/>
          </a:prstGeom>
          <a:noFill/>
          <a:ln/>
        </p:spPr>
        <p:txBody>
          <a:bodyPr wrap="square" lIns="0" tIns="0" rIns="0" bIns="0" rtlCol="0" anchor="ctr"/>
          <a:lstStyle/>
          <a:p>
            <a:pPr marL="0" indent="0">
              <a:buNone/>
            </a:pPr>
            <a:r>
              <a:rPr lang="en-US" sz="1550" b="1" dirty="0">
                <a:solidFill>
                  <a:srgbClr val="000000"/>
                </a:solidFill>
                <a:latin typeface="Calibri" pitchFamily="34" charset="0"/>
                <a:ea typeface="Calibri" pitchFamily="34" charset="-122"/>
                <a:cs typeface="Calibri" pitchFamily="34" charset="-120"/>
              </a:rPr>
              <a:t>Mahsulot Menejmenti</a:t>
            </a:r>
            <a:endParaRPr lang="en-US" sz="1550" dirty="0"/>
          </a:p>
        </p:txBody>
      </p:sp>
      <p:sp>
        <p:nvSpPr>
          <p:cNvPr id="15" name="Text 13"/>
          <p:cNvSpPr txBox="1"/>
          <p:nvPr/>
        </p:nvSpPr>
        <p:spPr>
          <a:xfrm>
            <a:off x="6080760" y="3813048"/>
            <a:ext cx="5166360" cy="640080"/>
          </a:xfrm>
          <a:prstGeom prst="rect">
            <a:avLst/>
          </a:prstGeom>
          <a:noFill/>
          <a:ln/>
        </p:spPr>
        <p:txBody>
          <a:bodyPr wrap="square" lIns="0" tIns="0" rIns="0" bIns="0" rtlCol="0" anchor="ctr"/>
          <a:lstStyle/>
          <a:p>
            <a:pPr marL="0" indent="0">
              <a:buNone/>
            </a:pPr>
            <a:r>
              <a:rPr lang="en-US" sz="1250" dirty="0">
                <a:solidFill>
                  <a:srgbClr val="6E6E6E"/>
                </a:solidFill>
                <a:latin typeface="Calibri" pitchFamily="34" charset="0"/>
                <a:ea typeface="Calibri" pitchFamily="34" charset="-122"/>
                <a:cs typeface="Calibri" pitchFamily="34" charset="-120"/>
              </a:rPr>
              <a:t>Texnik jamoalar va biznes yoki foydalanuvchi ehtiyojlari o'rtasida ko'prik</a:t>
            </a:r>
            <a:endParaRPr lang="en-US" sz="1250" dirty="0"/>
          </a:p>
        </p:txBody>
      </p:sp>
      <p:sp>
        <p:nvSpPr>
          <p:cNvPr id="16" name="Shape 14"/>
          <p:cNvSpPr/>
          <p:nvPr/>
        </p:nvSpPr>
        <p:spPr>
          <a:xfrm>
            <a:off x="6080760" y="4480560"/>
            <a:ext cx="5166360" cy="0"/>
          </a:xfrm>
          <a:prstGeom prst="line">
            <a:avLst/>
          </a:prstGeom>
          <a:noFill/>
          <a:ln w="12700">
            <a:solidFill>
              <a:srgbClr val="D9D9D9"/>
            </a:solidFill>
            <a:prstDash val="solid"/>
          </a:ln>
        </p:spPr>
        <p:txBody>
          <a:bodyPr/>
          <a:lstStyle/>
          <a:p>
            <a:endParaRPr lang="en-US"/>
          </a:p>
        </p:txBody>
      </p:sp>
      <p:sp>
        <p:nvSpPr>
          <p:cNvPr id="17" name="Text 15"/>
          <p:cNvSpPr txBox="1"/>
          <p:nvPr/>
        </p:nvSpPr>
        <p:spPr>
          <a:xfrm>
            <a:off x="640080" y="4617720"/>
            <a:ext cx="5166360" cy="411480"/>
          </a:xfrm>
          <a:prstGeom prst="rect">
            <a:avLst/>
          </a:prstGeom>
          <a:noFill/>
          <a:ln/>
        </p:spPr>
        <p:txBody>
          <a:bodyPr wrap="square" lIns="0" tIns="0" rIns="0" bIns="0" rtlCol="0" anchor="ctr"/>
          <a:lstStyle/>
          <a:p>
            <a:pPr marL="0" indent="0">
              <a:buNone/>
            </a:pPr>
            <a:r>
              <a:rPr lang="en-US" sz="1550" b="1" dirty="0">
                <a:solidFill>
                  <a:srgbClr val="000000"/>
                </a:solidFill>
                <a:latin typeface="Calibri" pitchFamily="34" charset="0"/>
                <a:ea typeface="Calibri" pitchFamily="34" charset="-122"/>
                <a:cs typeface="Calibri" pitchFamily="34" charset="-120"/>
              </a:rPr>
              <a:t>Tadqiqot</a:t>
            </a:r>
            <a:endParaRPr lang="en-US" sz="1550" dirty="0"/>
          </a:p>
        </p:txBody>
      </p:sp>
      <p:sp>
        <p:nvSpPr>
          <p:cNvPr id="18" name="Text 16"/>
          <p:cNvSpPr txBox="1"/>
          <p:nvPr/>
        </p:nvSpPr>
        <p:spPr>
          <a:xfrm>
            <a:off x="640080" y="5047488"/>
            <a:ext cx="5166360" cy="640080"/>
          </a:xfrm>
          <a:prstGeom prst="rect">
            <a:avLst/>
          </a:prstGeom>
          <a:noFill/>
          <a:ln/>
        </p:spPr>
        <p:txBody>
          <a:bodyPr wrap="square" lIns="0" tIns="0" rIns="0" bIns="0" rtlCol="0" anchor="ctr"/>
          <a:lstStyle/>
          <a:p>
            <a:pPr marL="0" indent="0">
              <a:buNone/>
            </a:pPr>
            <a:r>
              <a:rPr lang="en-US" sz="1250" dirty="0">
                <a:solidFill>
                  <a:srgbClr val="6E6E6E"/>
                </a:solidFill>
                <a:latin typeface="Calibri" pitchFamily="34" charset="0"/>
                <a:ea typeface="Calibri" pitchFamily="34" charset="-122"/>
                <a:cs typeface="Calibri" pitchFamily="34" charset="-120"/>
              </a:rPr>
              <a:t>Hisoblash imkoniyatlari chegaralarini kengaytirish</a:t>
            </a:r>
            <a:endParaRPr lang="en-US" sz="1250" dirty="0"/>
          </a:p>
        </p:txBody>
      </p:sp>
      <p:sp>
        <p:nvSpPr>
          <p:cNvPr id="19" name="Shape 17"/>
          <p:cNvSpPr/>
          <p:nvPr/>
        </p:nvSpPr>
        <p:spPr>
          <a:xfrm>
            <a:off x="640080" y="5715000"/>
            <a:ext cx="5166360" cy="0"/>
          </a:xfrm>
          <a:prstGeom prst="line">
            <a:avLst/>
          </a:prstGeom>
          <a:noFill/>
          <a:ln w="12700">
            <a:solidFill>
              <a:srgbClr val="D9D9D9"/>
            </a:solidFill>
            <a:prstDash val="solid"/>
          </a:ln>
        </p:spPr>
        <p:txBody>
          <a:bodyPr/>
          <a:lstStyle/>
          <a:p>
            <a:endParaRPr lang="en-US"/>
          </a:p>
        </p:txBody>
      </p:sp>
      <p:sp>
        <p:nvSpPr>
          <p:cNvPr id="20" name="Text 18"/>
          <p:cNvSpPr txBox="1"/>
          <p:nvPr/>
        </p:nvSpPr>
        <p:spPr>
          <a:xfrm>
            <a:off x="6080760" y="4617720"/>
            <a:ext cx="5166360" cy="411480"/>
          </a:xfrm>
          <a:prstGeom prst="rect">
            <a:avLst/>
          </a:prstGeom>
          <a:noFill/>
          <a:ln/>
        </p:spPr>
        <p:txBody>
          <a:bodyPr wrap="square" lIns="0" tIns="0" rIns="0" bIns="0" rtlCol="0" anchor="ctr"/>
          <a:lstStyle/>
          <a:p>
            <a:pPr marL="0" indent="0">
              <a:buNone/>
            </a:pPr>
            <a:r>
              <a:rPr lang="en-US" sz="1550" b="1" dirty="0">
                <a:solidFill>
                  <a:srgbClr val="000000"/>
                </a:solidFill>
                <a:latin typeface="Calibri" pitchFamily="34" charset="0"/>
                <a:ea typeface="Calibri" pitchFamily="34" charset="-122"/>
                <a:cs typeface="Calibri" pitchFamily="34" charset="-120"/>
              </a:rPr>
              <a:t>Embedded Systems</a:t>
            </a:r>
            <a:endParaRPr lang="en-US" sz="1550" dirty="0"/>
          </a:p>
        </p:txBody>
      </p:sp>
      <p:sp>
        <p:nvSpPr>
          <p:cNvPr id="21" name="Text 19"/>
          <p:cNvSpPr txBox="1"/>
          <p:nvPr/>
        </p:nvSpPr>
        <p:spPr>
          <a:xfrm>
            <a:off x="6080760" y="5047488"/>
            <a:ext cx="5166360" cy="640080"/>
          </a:xfrm>
          <a:prstGeom prst="rect">
            <a:avLst/>
          </a:prstGeom>
          <a:noFill/>
          <a:ln/>
        </p:spPr>
        <p:txBody>
          <a:bodyPr wrap="square" lIns="0" tIns="0" rIns="0" bIns="0" rtlCol="0" anchor="ctr"/>
          <a:lstStyle/>
          <a:p>
            <a:pPr marL="0" indent="0">
              <a:buNone/>
            </a:pPr>
            <a:r>
              <a:rPr lang="en-US" sz="1250" dirty="0">
                <a:solidFill>
                  <a:srgbClr val="6E6E6E"/>
                </a:solidFill>
                <a:latin typeface="Calibri" pitchFamily="34" charset="0"/>
                <a:ea typeface="Calibri" pitchFamily="34" charset="-122"/>
                <a:cs typeface="Calibri" pitchFamily="34" charset="-120"/>
              </a:rPr>
              <a:t>Atrofimizdagi jismoniy qurilmalarni dasturlash</a:t>
            </a:r>
            <a:endParaRPr lang="en-US" sz="1250" dirty="0"/>
          </a:p>
        </p:txBody>
      </p:sp>
      <p:sp>
        <p:nvSpPr>
          <p:cNvPr id="22" name="Shape 20"/>
          <p:cNvSpPr/>
          <p:nvPr/>
        </p:nvSpPr>
        <p:spPr>
          <a:xfrm>
            <a:off x="6080760" y="5715000"/>
            <a:ext cx="5166360" cy="0"/>
          </a:xfrm>
          <a:prstGeom prst="line">
            <a:avLst/>
          </a:prstGeom>
          <a:noFill/>
          <a:ln w="12700">
            <a:solidFill>
              <a:srgbClr val="D9D9D9"/>
            </a:solidFill>
            <a:prstDash val="solid"/>
          </a:ln>
        </p:spPr>
        <p:txBody>
          <a:bodyPr/>
          <a:lstStyle/>
          <a:p>
            <a:endParaRPr lang="en-US"/>
          </a:p>
        </p:txBody>
      </p:sp>
      <p:sp>
        <p:nvSpPr>
          <p:cNvPr id="23" name="Text 21"/>
          <p:cNvSpPr txBox="1"/>
          <p:nvPr/>
        </p:nvSpPr>
        <p:spPr>
          <a:xfrm>
            <a:off x="11368735" y="6355080"/>
            <a:ext cx="548640" cy="320040"/>
          </a:xfrm>
          <a:prstGeom prst="rect">
            <a:avLst/>
          </a:prstGeom>
          <a:noFill/>
          <a:ln/>
        </p:spPr>
        <p:txBody>
          <a:bodyPr wrap="square" lIns="0" tIns="0" rIns="0" bIns="0" rtlCol="0" anchor="ctr"/>
          <a:lstStyle/>
          <a:p>
            <a:pPr marL="0" indent="0" algn="r">
              <a:buNone/>
            </a:pPr>
            <a:r>
              <a:rPr lang="en-US" sz="1200" dirty="0">
                <a:solidFill>
                  <a:srgbClr val="6E6E6E"/>
                </a:solidFill>
                <a:latin typeface="Calibri" pitchFamily="34" charset="0"/>
                <a:ea typeface="Calibri" pitchFamily="34" charset="-122"/>
                <a:cs typeface="Calibri" pitchFamily="34" charset="-120"/>
              </a:rPr>
              <a:t>28</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8686800" cy="365760"/>
          </a:xfrm>
          <a:prstGeom prst="rect">
            <a:avLst/>
          </a:prstGeom>
          <a:noFill/>
          <a:ln/>
        </p:spPr>
        <p:txBody>
          <a:bodyPr wrap="square" lIns="0" tIns="0" rIns="0" bIns="0" rtlCol="0" anchor="ctr"/>
          <a:lstStyle/>
          <a:p>
            <a:pPr marL="0" indent="0">
              <a:buNone/>
            </a:pPr>
            <a:endParaRPr lang="en-US" sz="1500" dirty="0"/>
          </a:p>
        </p:txBody>
      </p:sp>
      <p:sp>
        <p:nvSpPr>
          <p:cNvPr id="3" name="Text 1"/>
          <p:cNvSpPr txBox="1"/>
          <p:nvPr/>
        </p:nvSpPr>
        <p:spPr>
          <a:xfrm>
            <a:off x="640080" y="868680"/>
            <a:ext cx="10881360" cy="1005840"/>
          </a:xfrm>
          <a:prstGeom prst="rect">
            <a:avLst/>
          </a:prstGeom>
          <a:noFill/>
          <a:ln/>
        </p:spPr>
        <p:txBody>
          <a:bodyPr wrap="square" lIns="0" tIns="0" rIns="0" bIns="0" rtlCol="0" anchor="ctr"/>
          <a:lstStyle/>
          <a:p>
            <a:pPr marL="0" indent="0" algn="l">
              <a:buNone/>
            </a:pPr>
            <a:endParaRPr lang="en-US" sz="3200" dirty="0"/>
          </a:p>
        </p:txBody>
      </p:sp>
      <p:sp>
        <p:nvSpPr>
          <p:cNvPr id="4" name="Shape 2"/>
          <p:cNvSpPr/>
          <p:nvPr/>
        </p:nvSpPr>
        <p:spPr>
          <a:xfrm>
            <a:off x="640080" y="1874520"/>
            <a:ext cx="10911535" cy="0"/>
          </a:xfrm>
          <a:prstGeom prst="line">
            <a:avLst/>
          </a:prstGeom>
          <a:noFill/>
          <a:ln w="15875">
            <a:solidFill>
              <a:srgbClr val="D9D9D9"/>
            </a:solidFill>
            <a:prstDash val="solid"/>
          </a:ln>
        </p:spPr>
        <p:txBody>
          <a:bodyPr/>
          <a:lstStyle/>
          <a:p>
            <a:endParaRPr lang="en-US"/>
          </a:p>
        </p:txBody>
      </p:sp>
      <p:sp>
        <p:nvSpPr>
          <p:cNvPr id="5" name="Text 3"/>
          <p:cNvSpPr txBox="1"/>
          <p:nvPr/>
        </p:nvSpPr>
        <p:spPr>
          <a:xfrm>
            <a:off x="640080" y="2286000"/>
            <a:ext cx="10515600" cy="3840480"/>
          </a:xfrm>
          <a:prstGeom prst="rect">
            <a:avLst/>
          </a:prstGeom>
          <a:noFill/>
          <a:ln/>
        </p:spPr>
        <p:txBody>
          <a:bodyPr wrap="square" lIns="0" tIns="0" rIns="0" bIns="0" rtlCol="0" anchor="t"/>
          <a:lstStyle/>
          <a:p>
            <a:pPr marL="279400" indent="-279400">
              <a:lnSpc>
                <a:spcPct val="115000"/>
              </a:lnSpc>
              <a:spcAft>
                <a:spcPts val="2200"/>
              </a:spcAft>
              <a:buSzPct val="100000"/>
              <a:buChar char="•"/>
            </a:pPr>
            <a:r>
              <a:rPr lang="en-US" sz="1800" dirty="0">
                <a:solidFill>
                  <a:srgbClr val="3D3D3D"/>
                </a:solidFill>
                <a:latin typeface="Calibri" pitchFamily="34" charset="0"/>
                <a:ea typeface="Calibri" pitchFamily="34" charset="-122"/>
                <a:cs typeface="Calibri" pitchFamily="34" charset="-120"/>
              </a:rPr>
              <a:t>“Full-stack dasturchi” 15 yil oldin keng tarqalgan lavozim nomi sifatida deyarli mavjud emas edi</a:t>
            </a:r>
            <a:endParaRPr lang="en-US" sz="1800" dirty="0"/>
          </a:p>
          <a:p>
            <a:pPr marL="279400" indent="-279400">
              <a:lnSpc>
                <a:spcPct val="115000"/>
              </a:lnSpc>
              <a:spcAft>
                <a:spcPts val="2200"/>
              </a:spcAft>
              <a:buSzPct val="100000"/>
              <a:buChar char="•"/>
            </a:pPr>
            <a:r>
              <a:rPr lang="en-US" sz="1800" dirty="0">
                <a:solidFill>
                  <a:srgbClr val="3D3D3D"/>
                </a:solidFill>
                <a:latin typeface="Calibri" pitchFamily="34" charset="0"/>
                <a:ea typeface="Calibri" pitchFamily="34" charset="-122"/>
                <a:cs typeface="Calibri" pitchFamily="34" charset="-120"/>
              </a:rPr>
              <a:t>Ko'pchilik zamonaviy rollar bir nechta ko'nikmani birlashtiradi: data engineer </a:t>
            </a:r>
            <a:r>
              <a:rPr lang="en-US" sz="1800" dirty="0" err="1">
                <a:solidFill>
                  <a:srgbClr val="3D3D3D"/>
                </a:solidFill>
                <a:latin typeface="Calibri" pitchFamily="34" charset="0"/>
                <a:ea typeface="Calibri" pitchFamily="34" charset="-122"/>
                <a:cs typeface="Calibri" pitchFamily="34" charset="-120"/>
              </a:rPr>
              <a:t>va</a:t>
            </a:r>
            <a:r>
              <a:rPr lang="en-US" sz="1800" dirty="0">
                <a:solidFill>
                  <a:srgbClr val="3D3D3D"/>
                </a:solidFill>
                <a:latin typeface="Calibri" pitchFamily="34" charset="0"/>
                <a:ea typeface="Calibri" pitchFamily="34" charset="-122"/>
                <a:cs typeface="Calibri" pitchFamily="34" charset="-120"/>
              </a:rPr>
              <a:t> data </a:t>
            </a:r>
            <a:r>
              <a:rPr lang="en-US" dirty="0">
                <a:solidFill>
                  <a:srgbClr val="3D3D3D"/>
                </a:solidFill>
                <a:latin typeface="Calibri" pitchFamily="34" charset="0"/>
                <a:ea typeface="Calibri" pitchFamily="34" charset="-122"/>
                <a:cs typeface="Calibri" pitchFamily="34" charset="-120"/>
              </a:rPr>
              <a:t>science</a:t>
            </a:r>
            <a:r>
              <a:rPr lang="en-US" sz="1800" dirty="0">
                <a:solidFill>
                  <a:srgbClr val="3D3D3D"/>
                </a:solidFill>
                <a:latin typeface="Calibri" pitchFamily="34" charset="0"/>
                <a:ea typeface="Calibri" pitchFamily="34" charset="-122"/>
                <a:cs typeface="Calibri" pitchFamily="34" charset="-120"/>
              </a:rPr>
              <a:t>, kod ham yozadigan xavfsizlik muhandisi</a:t>
            </a:r>
            <a:endParaRPr lang="en-US" sz="1800" dirty="0"/>
          </a:p>
          <a:p>
            <a:pPr marL="279400" indent="-279400">
              <a:lnSpc>
                <a:spcPct val="115000"/>
              </a:lnSpc>
              <a:spcAft>
                <a:spcPts val="2200"/>
              </a:spcAft>
              <a:buSzPct val="100000"/>
              <a:buChar char="•"/>
            </a:pPr>
            <a:r>
              <a:rPr lang="en-US" sz="1800" dirty="0">
                <a:solidFill>
                  <a:srgbClr val="3D3D3D"/>
                </a:solidFill>
                <a:latin typeface="Calibri" pitchFamily="34" charset="0"/>
                <a:ea typeface="Calibri" pitchFamily="34" charset="-122"/>
                <a:cs typeface="Calibri" pitchFamily="34" charset="-120"/>
              </a:rPr>
              <a:t>Eng chuqur boylik — lavozim nomi emas — bu bugungi ma'ruzadagi asosiy fikrlash ko'nikmalari</a:t>
            </a:r>
            <a:endParaRPr lang="en-US" sz="1800" dirty="0"/>
          </a:p>
          <a:p>
            <a:pPr marL="279400" indent="-279400">
              <a:lnSpc>
                <a:spcPct val="115000"/>
              </a:lnSpc>
              <a:spcAft>
                <a:spcPts val="2200"/>
              </a:spcAft>
              <a:buSzPct val="100000"/>
              <a:buChar char="•"/>
            </a:pPr>
            <a:r>
              <a:rPr lang="en-US" sz="1800" dirty="0">
                <a:solidFill>
                  <a:srgbClr val="3D3D3D"/>
                </a:solidFill>
                <a:latin typeface="Calibri" pitchFamily="34" charset="0"/>
                <a:ea typeface="Calibri" pitchFamily="34" charset="-122"/>
                <a:cs typeface="Calibri" pitchFamily="34" charset="-120"/>
              </a:rPr>
              <a:t>Tadbirkorlik ham haqiqiy yo'l — CSE bitiruvchilari o'z </a:t>
            </a:r>
            <a:r>
              <a:rPr lang="en-US" sz="1800" dirty="0" err="1">
                <a:solidFill>
                  <a:srgbClr val="3D3D3D"/>
                </a:solidFill>
                <a:latin typeface="Calibri" pitchFamily="34" charset="0"/>
                <a:ea typeface="Calibri" pitchFamily="34" charset="-122"/>
                <a:cs typeface="Calibri" pitchFamily="34" charset="-120"/>
              </a:rPr>
              <a:t>mahsulotlarini</a:t>
            </a:r>
            <a:r>
              <a:rPr lang="en-US" sz="1800" dirty="0">
                <a:solidFill>
                  <a:srgbClr val="3D3D3D"/>
                </a:solidFill>
                <a:latin typeface="Calibri" pitchFamily="34" charset="0"/>
                <a:ea typeface="Calibri" pitchFamily="34" charset="-122"/>
                <a:cs typeface="Calibri" pitchFamily="34" charset="-120"/>
              </a:rPr>
              <a:t> </a:t>
            </a:r>
            <a:r>
              <a:rPr lang="en-US" sz="1800" dirty="0" err="1">
                <a:solidFill>
                  <a:srgbClr val="3D3D3D"/>
                </a:solidFill>
                <a:latin typeface="Calibri" pitchFamily="34" charset="0"/>
                <a:ea typeface="Calibri" pitchFamily="34" charset="-122"/>
                <a:cs typeface="Calibri" pitchFamily="34" charset="-120"/>
              </a:rPr>
              <a:t>qurish</a:t>
            </a:r>
            <a:r>
              <a:rPr lang="en-US" dirty="0" err="1">
                <a:solidFill>
                  <a:srgbClr val="3D3D3D"/>
                </a:solidFill>
                <a:latin typeface="Calibri" pitchFamily="34" charset="0"/>
                <a:ea typeface="Calibri" pitchFamily="34" charset="-122"/>
                <a:cs typeface="Calibri" pitchFamily="34" charset="-120"/>
              </a:rPr>
              <a:t>adi</a:t>
            </a:r>
            <a:endParaRPr lang="en-US" sz="1800" dirty="0"/>
          </a:p>
        </p:txBody>
      </p:sp>
      <p:sp>
        <p:nvSpPr>
          <p:cNvPr id="6" name="Text 4"/>
          <p:cNvSpPr txBox="1"/>
          <p:nvPr/>
        </p:nvSpPr>
        <p:spPr>
          <a:xfrm>
            <a:off x="11368735" y="6355080"/>
            <a:ext cx="548640" cy="320040"/>
          </a:xfrm>
          <a:prstGeom prst="rect">
            <a:avLst/>
          </a:prstGeom>
          <a:noFill/>
          <a:ln/>
        </p:spPr>
        <p:txBody>
          <a:bodyPr wrap="square" lIns="0" tIns="0" rIns="0" bIns="0" rtlCol="0" anchor="ctr"/>
          <a:lstStyle/>
          <a:p>
            <a:pPr marL="0" indent="0" algn="r">
              <a:buNone/>
            </a:pPr>
            <a:r>
              <a:rPr lang="en-US" sz="1200" dirty="0">
                <a:solidFill>
                  <a:srgbClr val="6E6E6E"/>
                </a:solidFill>
                <a:latin typeface="Calibri" pitchFamily="34" charset="0"/>
                <a:ea typeface="Calibri" pitchFamily="34" charset="-122"/>
                <a:cs typeface="Calibri" pitchFamily="34" charset="-120"/>
              </a:rPr>
              <a:t>29</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640080" y="1965960"/>
            <a:ext cx="10911535" cy="0"/>
          </a:xfrm>
          <a:prstGeom prst="line">
            <a:avLst/>
          </a:prstGeom>
          <a:noFill/>
          <a:ln w="15875">
            <a:solidFill>
              <a:srgbClr val="3A3A3A"/>
            </a:solidFill>
            <a:prstDash val="solid"/>
          </a:ln>
        </p:spPr>
        <p:txBody>
          <a:bodyPr/>
          <a:lstStyle/>
          <a:p>
            <a:endParaRPr lang="en-US"/>
          </a:p>
        </p:txBody>
      </p:sp>
      <p:sp>
        <p:nvSpPr>
          <p:cNvPr id="3" name="Text 1"/>
          <p:cNvSpPr txBox="1"/>
          <p:nvPr/>
        </p:nvSpPr>
        <p:spPr>
          <a:xfrm>
            <a:off x="822960" y="2194560"/>
            <a:ext cx="2743200" cy="502920"/>
          </a:xfrm>
          <a:prstGeom prst="rect">
            <a:avLst/>
          </a:prstGeom>
          <a:noFill/>
          <a:ln/>
        </p:spPr>
        <p:txBody>
          <a:bodyPr wrap="square" lIns="0" tIns="0" rIns="0" bIns="0" rtlCol="0" anchor="ctr"/>
          <a:lstStyle/>
          <a:p>
            <a:pPr marL="0" indent="0">
              <a:buNone/>
            </a:pPr>
            <a:r>
              <a:rPr lang="en-US" sz="2400" dirty="0">
                <a:solidFill>
                  <a:srgbClr val="D9D9D9"/>
                </a:solidFill>
                <a:latin typeface="Cambria" pitchFamily="34" charset="0"/>
                <a:ea typeface="Cambria" pitchFamily="34" charset="-122"/>
                <a:cs typeface="Cambria" pitchFamily="34" charset="-120"/>
              </a:rPr>
              <a:t>06</a:t>
            </a:r>
            <a:endParaRPr lang="en-US" sz="2400" dirty="0"/>
          </a:p>
        </p:txBody>
      </p:sp>
      <p:sp>
        <p:nvSpPr>
          <p:cNvPr id="4" name="Text 2"/>
          <p:cNvSpPr txBox="1"/>
          <p:nvPr/>
        </p:nvSpPr>
        <p:spPr>
          <a:xfrm>
            <a:off x="822960" y="2743200"/>
            <a:ext cx="10515600" cy="1005840"/>
          </a:xfrm>
          <a:prstGeom prst="rect">
            <a:avLst/>
          </a:prstGeom>
          <a:noFill/>
          <a:ln/>
        </p:spPr>
        <p:txBody>
          <a:bodyPr wrap="square" lIns="0" tIns="0" rIns="0" bIns="0" rtlCol="0" anchor="t"/>
          <a:lstStyle/>
          <a:p>
            <a:pPr marL="0" indent="0">
              <a:buNone/>
            </a:pPr>
            <a:r>
              <a:rPr lang="en-US" sz="4200" b="1" dirty="0">
                <a:solidFill>
                  <a:srgbClr val="FFFFFF"/>
                </a:solidFill>
                <a:latin typeface="Cambria" pitchFamily="34" charset="0"/>
                <a:ea typeface="Cambria" pitchFamily="34" charset="-122"/>
                <a:cs typeface="Cambria" pitchFamily="34" charset="-120"/>
              </a:rPr>
              <a:t>Dasturlashda Sun'iy Intellekt</a:t>
            </a:r>
            <a:endParaRPr lang="en-US" sz="4200" dirty="0"/>
          </a:p>
        </p:txBody>
      </p:sp>
      <p:sp>
        <p:nvSpPr>
          <p:cNvPr id="5" name="Text 3"/>
          <p:cNvSpPr txBox="1"/>
          <p:nvPr/>
        </p:nvSpPr>
        <p:spPr>
          <a:xfrm>
            <a:off x="822960" y="3977640"/>
            <a:ext cx="9875520" cy="822960"/>
          </a:xfrm>
          <a:prstGeom prst="rect">
            <a:avLst/>
          </a:prstGeom>
          <a:noFill/>
          <a:ln/>
        </p:spPr>
        <p:txBody>
          <a:bodyPr wrap="square" lIns="0" tIns="0" rIns="0" bIns="0" rtlCol="0" anchor="ctr"/>
          <a:lstStyle/>
          <a:p>
            <a:pPr marL="0" indent="0">
              <a:lnSpc>
                <a:spcPct val="125000"/>
              </a:lnSpc>
              <a:buNone/>
            </a:pP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8686800" cy="365760"/>
          </a:xfrm>
          <a:prstGeom prst="rect">
            <a:avLst/>
          </a:prstGeom>
          <a:noFill/>
          <a:ln/>
        </p:spPr>
        <p:txBody>
          <a:bodyPr wrap="square" lIns="0" tIns="0" rIns="0" bIns="0" rtlCol="0" anchor="ctr"/>
          <a:lstStyle/>
          <a:p>
            <a:pPr marL="0" indent="0">
              <a:buNone/>
            </a:pPr>
            <a:endParaRPr lang="en-US" sz="1500" dirty="0"/>
          </a:p>
        </p:txBody>
      </p:sp>
      <p:sp>
        <p:nvSpPr>
          <p:cNvPr id="3" name="Text 1"/>
          <p:cNvSpPr txBox="1"/>
          <p:nvPr/>
        </p:nvSpPr>
        <p:spPr>
          <a:xfrm>
            <a:off x="640080" y="868680"/>
            <a:ext cx="10881360" cy="1005840"/>
          </a:xfrm>
          <a:prstGeom prst="rect">
            <a:avLst/>
          </a:prstGeom>
          <a:noFill/>
          <a:ln/>
        </p:spPr>
        <p:txBody>
          <a:bodyPr wrap="square" lIns="0" tIns="0" rIns="0" bIns="0" rtlCol="0" anchor="ctr"/>
          <a:lstStyle/>
          <a:p>
            <a:pPr marL="0" indent="0" algn="l">
              <a:buNone/>
            </a:pPr>
            <a:r>
              <a:rPr lang="en-US" sz="3200" b="1" dirty="0">
                <a:solidFill>
                  <a:srgbClr val="000000"/>
                </a:solidFill>
                <a:latin typeface="Cambria" pitchFamily="34" charset="0"/>
                <a:ea typeface="Cambria" pitchFamily="34" charset="-122"/>
                <a:cs typeface="Cambria" pitchFamily="34" charset="-120"/>
              </a:rPr>
              <a:t>Vositalar To'plamidagi Yangi Tur</a:t>
            </a:r>
            <a:endParaRPr lang="en-US" sz="3200" dirty="0"/>
          </a:p>
        </p:txBody>
      </p:sp>
      <p:sp>
        <p:nvSpPr>
          <p:cNvPr id="4" name="Shape 2"/>
          <p:cNvSpPr/>
          <p:nvPr/>
        </p:nvSpPr>
        <p:spPr>
          <a:xfrm>
            <a:off x="640080" y="1874520"/>
            <a:ext cx="10911535" cy="0"/>
          </a:xfrm>
          <a:prstGeom prst="line">
            <a:avLst/>
          </a:prstGeom>
          <a:noFill/>
          <a:ln w="15875">
            <a:solidFill>
              <a:srgbClr val="D9D9D9"/>
            </a:solidFill>
            <a:prstDash val="solid"/>
          </a:ln>
        </p:spPr>
        <p:txBody>
          <a:bodyPr/>
          <a:lstStyle/>
          <a:p>
            <a:endParaRPr lang="en-US"/>
          </a:p>
        </p:txBody>
      </p:sp>
      <p:sp>
        <p:nvSpPr>
          <p:cNvPr id="5" name="Text 3"/>
          <p:cNvSpPr txBox="1"/>
          <p:nvPr/>
        </p:nvSpPr>
        <p:spPr>
          <a:xfrm>
            <a:off x="640080" y="2286000"/>
            <a:ext cx="10515600" cy="3931920"/>
          </a:xfrm>
          <a:prstGeom prst="rect">
            <a:avLst/>
          </a:prstGeom>
          <a:noFill/>
          <a:ln/>
        </p:spPr>
        <p:txBody>
          <a:bodyPr wrap="square" lIns="0" tIns="0" rIns="0" bIns="0" rtlCol="0" anchor="t"/>
          <a:lstStyle/>
          <a:p>
            <a:pPr marL="279400" indent="-279400">
              <a:lnSpc>
                <a:spcPct val="115000"/>
              </a:lnSpc>
              <a:spcAft>
                <a:spcPts val="200"/>
              </a:spcAft>
              <a:buSzPct val="100000"/>
              <a:buChar char="•"/>
            </a:pPr>
            <a:r>
              <a:rPr lang="en-US" sz="1800" dirty="0">
                <a:solidFill>
                  <a:srgbClr val="3D3D3D"/>
                </a:solidFill>
                <a:latin typeface="Calibri" pitchFamily="34" charset="0"/>
                <a:ea typeface="Calibri" pitchFamily="34" charset="-122"/>
                <a:cs typeface="Calibri" pitchFamily="34" charset="-120"/>
              </a:rPr>
              <a:t>Kod yaratish va avtomatik to'ldirish</a:t>
            </a:r>
            <a:endParaRPr lang="en-US" sz="1800" dirty="0"/>
          </a:p>
          <a:p>
            <a:pPr marL="0" indent="0">
              <a:lnSpc>
                <a:spcPct val="115000"/>
              </a:lnSpc>
              <a:spcAft>
                <a:spcPts val="1800"/>
              </a:spcAft>
              <a:buNone/>
            </a:pPr>
            <a:r>
              <a:rPr lang="en-US" sz="1300" dirty="0">
                <a:solidFill>
                  <a:srgbClr val="6E6E6E"/>
                </a:solidFill>
                <a:latin typeface="Calibri" pitchFamily="34" charset="0"/>
                <a:ea typeface="Calibri" pitchFamily="34" charset="-122"/>
                <a:cs typeface="Calibri" pitchFamily="34" charset="-120"/>
              </a:rPr>
              <a:t>Sun'iy intellekt yordamchilari tavsifdan funksiyalar, andozaviy kod va testlar loyihalashi mumkin</a:t>
            </a:r>
            <a:endParaRPr lang="en-US" sz="1800" dirty="0"/>
          </a:p>
          <a:p>
            <a:pPr marL="279400" indent="-279400">
              <a:lnSpc>
                <a:spcPct val="115000"/>
              </a:lnSpc>
              <a:spcAft>
                <a:spcPts val="200"/>
              </a:spcAft>
              <a:buSzPct val="100000"/>
              <a:buChar char="•"/>
            </a:pPr>
            <a:r>
              <a:rPr lang="en-US" sz="1800" dirty="0">
                <a:solidFill>
                  <a:srgbClr val="3D3D3D"/>
                </a:solidFill>
                <a:latin typeface="Calibri" pitchFamily="34" charset="0"/>
                <a:ea typeface="Calibri" pitchFamily="34" charset="-122"/>
                <a:cs typeface="Calibri" pitchFamily="34" charset="-120"/>
              </a:rPr>
              <a:t>Xatolarni tuzatishga yordam</a:t>
            </a:r>
            <a:endParaRPr lang="en-US" sz="1800" dirty="0"/>
          </a:p>
          <a:p>
            <a:pPr marL="0" indent="0">
              <a:lnSpc>
                <a:spcPct val="115000"/>
              </a:lnSpc>
              <a:spcAft>
                <a:spcPts val="1800"/>
              </a:spcAft>
              <a:buNone/>
            </a:pPr>
            <a:r>
              <a:rPr lang="en-US" sz="1300" dirty="0">
                <a:solidFill>
                  <a:srgbClr val="6E6E6E"/>
                </a:solidFill>
                <a:latin typeface="Calibri" pitchFamily="34" charset="0"/>
                <a:ea typeface="Calibri" pitchFamily="34" charset="-122"/>
                <a:cs typeface="Calibri" pitchFamily="34" charset="-120"/>
              </a:rPr>
              <a:t>Xato xabarlarini tushuntirish va ehtimoliy yechimlarni taklif qilish</a:t>
            </a:r>
            <a:endParaRPr lang="en-US" sz="1800" dirty="0"/>
          </a:p>
          <a:p>
            <a:pPr marL="279400" indent="-279400">
              <a:lnSpc>
                <a:spcPct val="115000"/>
              </a:lnSpc>
              <a:spcAft>
                <a:spcPts val="200"/>
              </a:spcAft>
              <a:buSzPct val="100000"/>
              <a:buChar char="•"/>
            </a:pPr>
            <a:r>
              <a:rPr lang="en-US" sz="1800" dirty="0">
                <a:solidFill>
                  <a:srgbClr val="3D3D3D"/>
                </a:solidFill>
                <a:latin typeface="Calibri" pitchFamily="34" charset="0"/>
                <a:ea typeface="Calibri" pitchFamily="34" charset="-122"/>
                <a:cs typeface="Calibri" pitchFamily="34" charset="-120"/>
              </a:rPr>
              <a:t>O'rganish vositasi</a:t>
            </a:r>
            <a:endParaRPr lang="en-US" sz="1800" dirty="0"/>
          </a:p>
          <a:p>
            <a:pPr marL="0" indent="0">
              <a:lnSpc>
                <a:spcPct val="115000"/>
              </a:lnSpc>
              <a:spcAft>
                <a:spcPts val="1800"/>
              </a:spcAft>
              <a:buNone/>
            </a:pPr>
            <a:r>
              <a:rPr lang="en-US" sz="1300" dirty="0">
                <a:solidFill>
                  <a:srgbClr val="6E6E6E"/>
                </a:solidFill>
                <a:latin typeface="Calibri" pitchFamily="34" charset="0"/>
                <a:ea typeface="Calibri" pitchFamily="34" charset="-122"/>
                <a:cs typeface="Calibri" pitchFamily="34" charset="-120"/>
              </a:rPr>
              <a:t>Notanish kod yoki tushunchalarni talab bo'yicha tushuntirish</a:t>
            </a:r>
            <a:endParaRPr lang="en-US" sz="1800" dirty="0"/>
          </a:p>
          <a:p>
            <a:pPr marL="279400" indent="-279400">
              <a:lnSpc>
                <a:spcPct val="115000"/>
              </a:lnSpc>
              <a:spcAft>
                <a:spcPts val="200"/>
              </a:spcAft>
              <a:buSzPct val="100000"/>
              <a:buChar char="•"/>
            </a:pPr>
            <a:r>
              <a:rPr lang="en-US" sz="1800" dirty="0">
                <a:solidFill>
                  <a:srgbClr val="3D3D3D"/>
                </a:solidFill>
                <a:latin typeface="Calibri" pitchFamily="34" charset="0"/>
                <a:ea typeface="Calibri" pitchFamily="34" charset="-122"/>
                <a:cs typeface="Calibri" pitchFamily="34" charset="-120"/>
              </a:rPr>
              <a:t>Baribir vosita, tushunish o'rnini bosmaydi</a:t>
            </a:r>
            <a:endParaRPr lang="en-US" sz="1800" dirty="0"/>
          </a:p>
          <a:p>
            <a:pPr marL="0" indent="0">
              <a:lnSpc>
                <a:spcPct val="115000"/>
              </a:lnSpc>
              <a:spcAft>
                <a:spcPts val="1800"/>
              </a:spcAft>
              <a:buNone/>
            </a:pPr>
            <a:r>
              <a:rPr lang="en-US" sz="1300" dirty="0">
                <a:solidFill>
                  <a:srgbClr val="6E6E6E"/>
                </a:solidFill>
                <a:latin typeface="Calibri" pitchFamily="34" charset="0"/>
                <a:ea typeface="Calibri" pitchFamily="34" charset="-122"/>
                <a:cs typeface="Calibri" pitchFamily="34" charset="-120"/>
              </a:rPr>
              <a:t>Kimdir muammoni to'g'ri belgilashi va natijani baholashi kerak</a:t>
            </a:r>
            <a:endParaRPr lang="en-US" sz="1800" dirty="0"/>
          </a:p>
        </p:txBody>
      </p:sp>
      <p:sp>
        <p:nvSpPr>
          <p:cNvPr id="6" name="Text 4"/>
          <p:cNvSpPr txBox="1"/>
          <p:nvPr/>
        </p:nvSpPr>
        <p:spPr>
          <a:xfrm>
            <a:off x="11368735" y="6355080"/>
            <a:ext cx="548640" cy="320040"/>
          </a:xfrm>
          <a:prstGeom prst="rect">
            <a:avLst/>
          </a:prstGeom>
          <a:noFill/>
          <a:ln/>
        </p:spPr>
        <p:txBody>
          <a:bodyPr wrap="square" lIns="0" tIns="0" rIns="0" bIns="0" rtlCol="0" anchor="ctr"/>
          <a:lstStyle/>
          <a:p>
            <a:pPr marL="0" indent="0" algn="r">
              <a:buNone/>
            </a:pPr>
            <a:r>
              <a:rPr lang="en-US" sz="1200" dirty="0">
                <a:solidFill>
                  <a:srgbClr val="6E6E6E"/>
                </a:solidFill>
                <a:latin typeface="Calibri" pitchFamily="34" charset="0"/>
                <a:ea typeface="Calibri" pitchFamily="34" charset="-122"/>
                <a:cs typeface="Calibri" pitchFamily="34" charset="-120"/>
              </a:rPr>
              <a:t>31</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8686800" cy="365760"/>
          </a:xfrm>
          <a:prstGeom prst="rect">
            <a:avLst/>
          </a:prstGeom>
          <a:noFill/>
          <a:ln/>
        </p:spPr>
        <p:txBody>
          <a:bodyPr wrap="square" lIns="0" tIns="0" rIns="0" bIns="0" rtlCol="0" anchor="ctr"/>
          <a:lstStyle/>
          <a:p>
            <a:pPr marL="0" indent="0">
              <a:buNone/>
            </a:pPr>
            <a:r>
              <a:rPr lang="en-US" sz="1500" b="1" kern="0" spc="200" dirty="0">
                <a:solidFill>
                  <a:srgbClr val="6E6E6E"/>
                </a:solidFill>
                <a:latin typeface="Calibri" pitchFamily="34" charset="0"/>
                <a:ea typeface="Calibri" pitchFamily="34" charset="-122"/>
                <a:cs typeface="Calibri" pitchFamily="34" charset="-120"/>
              </a:rPr>
              <a:t>NIMA O'ZGARMAYDI</a:t>
            </a:r>
            <a:endParaRPr lang="en-US" sz="1500" dirty="0"/>
          </a:p>
        </p:txBody>
      </p:sp>
      <p:sp>
        <p:nvSpPr>
          <p:cNvPr id="3" name="Text 1"/>
          <p:cNvSpPr txBox="1"/>
          <p:nvPr/>
        </p:nvSpPr>
        <p:spPr>
          <a:xfrm>
            <a:off x="640080" y="868680"/>
            <a:ext cx="10881360" cy="1005840"/>
          </a:xfrm>
          <a:prstGeom prst="rect">
            <a:avLst/>
          </a:prstGeom>
          <a:noFill/>
          <a:ln/>
        </p:spPr>
        <p:txBody>
          <a:bodyPr wrap="square" lIns="0" tIns="0" rIns="0" bIns="0" rtlCol="0" anchor="ctr"/>
          <a:lstStyle/>
          <a:p>
            <a:pPr marL="0" indent="0" algn="l">
              <a:buNone/>
            </a:pPr>
            <a:r>
              <a:rPr lang="en-US" sz="3200" b="1" dirty="0">
                <a:solidFill>
                  <a:srgbClr val="000000"/>
                </a:solidFill>
                <a:latin typeface="Cambria" pitchFamily="34" charset="0"/>
                <a:ea typeface="Cambria" pitchFamily="34" charset="-122"/>
                <a:cs typeface="Cambria" pitchFamily="34" charset="-120"/>
              </a:rPr>
              <a:t>Bu Ko'nikmalar Kamroq Emas, Ko'proq Kerak</a:t>
            </a:r>
            <a:endParaRPr lang="en-US" sz="3200" dirty="0"/>
          </a:p>
        </p:txBody>
      </p:sp>
      <p:sp>
        <p:nvSpPr>
          <p:cNvPr id="4" name="Shape 2"/>
          <p:cNvSpPr/>
          <p:nvPr/>
        </p:nvSpPr>
        <p:spPr>
          <a:xfrm>
            <a:off x="640080" y="1874520"/>
            <a:ext cx="10911535" cy="0"/>
          </a:xfrm>
          <a:prstGeom prst="line">
            <a:avLst/>
          </a:prstGeom>
          <a:noFill/>
          <a:ln w="15875">
            <a:solidFill>
              <a:srgbClr val="D9D9D9"/>
            </a:solidFill>
            <a:prstDash val="solid"/>
          </a:ln>
        </p:spPr>
        <p:txBody>
          <a:bodyPr/>
          <a:lstStyle/>
          <a:p>
            <a:endParaRPr lang="en-US"/>
          </a:p>
        </p:txBody>
      </p:sp>
      <p:sp>
        <p:nvSpPr>
          <p:cNvPr id="5" name="Text 3"/>
          <p:cNvSpPr txBox="1"/>
          <p:nvPr/>
        </p:nvSpPr>
        <p:spPr>
          <a:xfrm>
            <a:off x="640080" y="2286000"/>
            <a:ext cx="10515600" cy="3931920"/>
          </a:xfrm>
          <a:prstGeom prst="rect">
            <a:avLst/>
          </a:prstGeom>
          <a:noFill/>
          <a:ln/>
        </p:spPr>
        <p:txBody>
          <a:bodyPr wrap="square" lIns="0" tIns="0" rIns="0" bIns="0" rtlCol="0" anchor="t"/>
          <a:lstStyle/>
          <a:p>
            <a:pPr marL="279400" indent="-279400">
              <a:lnSpc>
                <a:spcPct val="115000"/>
              </a:lnSpc>
              <a:spcAft>
                <a:spcPts val="200"/>
              </a:spcAft>
              <a:buSzPct val="100000"/>
              <a:buChar char="•"/>
            </a:pPr>
            <a:r>
              <a:rPr lang="en-US" sz="1800" dirty="0">
                <a:solidFill>
                  <a:srgbClr val="3D3D3D"/>
                </a:solidFill>
                <a:latin typeface="Calibri" pitchFamily="34" charset="0"/>
                <a:ea typeface="Calibri" pitchFamily="34" charset="-122"/>
                <a:cs typeface="Calibri" pitchFamily="34" charset="-120"/>
              </a:rPr>
              <a:t>Computational thinking</a:t>
            </a:r>
            <a:endParaRPr lang="en-US" sz="1800" dirty="0"/>
          </a:p>
          <a:p>
            <a:pPr marL="0" indent="0">
              <a:lnSpc>
                <a:spcPct val="115000"/>
              </a:lnSpc>
              <a:spcAft>
                <a:spcPts val="1800"/>
              </a:spcAft>
              <a:buNone/>
            </a:pPr>
            <a:r>
              <a:rPr lang="en-US" sz="1300" dirty="0">
                <a:solidFill>
                  <a:srgbClr val="6E6E6E"/>
                </a:solidFill>
                <a:latin typeface="Calibri" pitchFamily="34" charset="0"/>
                <a:ea typeface="Calibri" pitchFamily="34" charset="-122"/>
                <a:cs typeface="Calibri" pitchFamily="34" charset="-120"/>
              </a:rPr>
              <a:t>Yechimni so'rash — yoki baholash — dan oldin muammoni dekompozitsiya qilishingiz kerak</a:t>
            </a:r>
            <a:endParaRPr lang="en-US" sz="1800" dirty="0"/>
          </a:p>
          <a:p>
            <a:pPr marL="279400" indent="-279400">
              <a:lnSpc>
                <a:spcPct val="115000"/>
              </a:lnSpc>
              <a:spcAft>
                <a:spcPts val="200"/>
              </a:spcAft>
              <a:buSzPct val="100000"/>
              <a:buChar char="•"/>
            </a:pPr>
            <a:r>
              <a:rPr lang="en-US" sz="1800" dirty="0">
                <a:solidFill>
                  <a:srgbClr val="3D3D3D"/>
                </a:solidFill>
                <a:latin typeface="Calibri" pitchFamily="34" charset="0"/>
                <a:ea typeface="Calibri" pitchFamily="34" charset="-122"/>
                <a:cs typeface="Calibri" pitchFamily="34" charset="-120"/>
              </a:rPr>
              <a:t>Baholash qobiliyati</a:t>
            </a:r>
            <a:endParaRPr lang="en-US" sz="1800" dirty="0"/>
          </a:p>
          <a:p>
            <a:pPr marL="0" indent="0">
              <a:lnSpc>
                <a:spcPct val="115000"/>
              </a:lnSpc>
              <a:spcAft>
                <a:spcPts val="1800"/>
              </a:spcAft>
              <a:buNone/>
            </a:pPr>
            <a:r>
              <a:rPr lang="en-US" sz="1300" dirty="0">
                <a:solidFill>
                  <a:srgbClr val="6E6E6E"/>
                </a:solidFill>
                <a:latin typeface="Calibri" pitchFamily="34" charset="0"/>
                <a:ea typeface="Calibri" pitchFamily="34" charset="-122"/>
                <a:cs typeface="Calibri" pitchFamily="34" charset="-120"/>
              </a:rPr>
              <a:t>Sun'iy intellekt yaratgan kod ishonchli tarzda noto'g'ri bo'lishi mumkin; buni tutish uchun yetarlicha bilishingiz kerak</a:t>
            </a:r>
            <a:endParaRPr lang="en-US" sz="1800" dirty="0"/>
          </a:p>
          <a:p>
            <a:pPr marL="279400" indent="-279400">
              <a:lnSpc>
                <a:spcPct val="115000"/>
              </a:lnSpc>
              <a:spcAft>
                <a:spcPts val="200"/>
              </a:spcAft>
              <a:buSzPct val="100000"/>
              <a:buChar char="•"/>
            </a:pPr>
            <a:r>
              <a:rPr lang="en-US" sz="1800" dirty="0">
                <a:solidFill>
                  <a:srgbClr val="3D3D3D"/>
                </a:solidFill>
                <a:latin typeface="Calibri" pitchFamily="34" charset="0"/>
                <a:ea typeface="Calibri" pitchFamily="34" charset="-122"/>
                <a:cs typeface="Calibri" pitchFamily="34" charset="-120"/>
              </a:rPr>
              <a:t>Muammoni aniq belgilash</a:t>
            </a:r>
            <a:endParaRPr lang="en-US" sz="1800" dirty="0"/>
          </a:p>
          <a:p>
            <a:pPr marL="0" indent="0">
              <a:lnSpc>
                <a:spcPct val="115000"/>
              </a:lnSpc>
              <a:spcAft>
                <a:spcPts val="1800"/>
              </a:spcAft>
              <a:buNone/>
            </a:pPr>
            <a:r>
              <a:rPr lang="en-US" sz="1300" dirty="0">
                <a:solidFill>
                  <a:srgbClr val="6E6E6E"/>
                </a:solidFill>
                <a:latin typeface="Calibri" pitchFamily="34" charset="0"/>
                <a:ea typeface="Calibri" pitchFamily="34" charset="-122"/>
                <a:cs typeface="Calibri" pitchFamily="34" charset="-120"/>
              </a:rPr>
              <a:t>“Chiqindi kirsa, chiqindi chiqadi” qoidasi kodga qanchalik tegishli bo'lsa, sun'iy intellekt so'rovlariga ham shunchalik tegishli</a:t>
            </a:r>
            <a:endParaRPr lang="en-US" sz="1800" dirty="0"/>
          </a:p>
          <a:p>
            <a:pPr marL="279400" indent="-279400">
              <a:lnSpc>
                <a:spcPct val="115000"/>
              </a:lnSpc>
              <a:spcAft>
                <a:spcPts val="200"/>
              </a:spcAft>
              <a:buSzPct val="100000"/>
              <a:buChar char="•"/>
            </a:pPr>
            <a:r>
              <a:rPr lang="en-US" sz="1800" dirty="0">
                <a:solidFill>
                  <a:srgbClr val="3D3D3D"/>
                </a:solidFill>
                <a:latin typeface="Calibri" pitchFamily="34" charset="0"/>
                <a:ea typeface="Calibri" pitchFamily="34" charset="-122"/>
                <a:cs typeface="Calibri" pitchFamily="34" charset="-120"/>
              </a:rPr>
              <a:t>Asoslar</a:t>
            </a:r>
            <a:endParaRPr lang="en-US" sz="1800" dirty="0"/>
          </a:p>
          <a:p>
            <a:pPr marL="0" indent="0">
              <a:lnSpc>
                <a:spcPct val="115000"/>
              </a:lnSpc>
              <a:spcAft>
                <a:spcPts val="1800"/>
              </a:spcAft>
              <a:buNone/>
            </a:pPr>
            <a:r>
              <a:rPr lang="en-US" sz="1300" dirty="0">
                <a:solidFill>
                  <a:srgbClr val="6E6E6E"/>
                </a:solidFill>
                <a:latin typeface="Calibri" pitchFamily="34" charset="0"/>
                <a:ea typeface="Calibri" pitchFamily="34" charset="-122"/>
                <a:cs typeface="Calibri" pitchFamily="34" charset="-120"/>
              </a:rPr>
              <a:t>Bugungi ifodalash tushunchalari sun'iy intellekt vositalari yaratgan hamma narsaning ostida hali ham yotadi</a:t>
            </a:r>
            <a:endParaRPr lang="en-US" sz="1800" dirty="0"/>
          </a:p>
        </p:txBody>
      </p:sp>
      <p:sp>
        <p:nvSpPr>
          <p:cNvPr id="6" name="Text 4"/>
          <p:cNvSpPr txBox="1"/>
          <p:nvPr/>
        </p:nvSpPr>
        <p:spPr>
          <a:xfrm>
            <a:off x="11368735" y="6355080"/>
            <a:ext cx="548640" cy="320040"/>
          </a:xfrm>
          <a:prstGeom prst="rect">
            <a:avLst/>
          </a:prstGeom>
          <a:noFill/>
          <a:ln/>
        </p:spPr>
        <p:txBody>
          <a:bodyPr wrap="square" lIns="0" tIns="0" rIns="0" bIns="0" rtlCol="0" anchor="ctr"/>
          <a:lstStyle/>
          <a:p>
            <a:pPr marL="0" indent="0" algn="r">
              <a:buNone/>
            </a:pPr>
            <a:r>
              <a:rPr lang="en-US" sz="1200" dirty="0">
                <a:solidFill>
                  <a:srgbClr val="6E6E6E"/>
                </a:solidFill>
                <a:latin typeface="Calibri" pitchFamily="34" charset="0"/>
                <a:ea typeface="Calibri" pitchFamily="34" charset="-122"/>
                <a:cs typeface="Calibri" pitchFamily="34" charset="-120"/>
              </a:rPr>
              <a:t>32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3891</Words>
  <Application>Microsoft Office PowerPoint</Application>
  <PresentationFormat>Widescreen</PresentationFormat>
  <Paragraphs>373</Paragraphs>
  <Slides>33</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rbanana</cp:lastModifiedBy>
  <cp:revision>2</cp:revision>
  <dcterms:created xsi:type="dcterms:W3CDTF">2026-09-14T11:17:39Z</dcterms:created>
  <dcterms:modified xsi:type="dcterms:W3CDTF">2026-09-14T11:33:47Z</dcterms:modified>
</cp:coreProperties>
</file>