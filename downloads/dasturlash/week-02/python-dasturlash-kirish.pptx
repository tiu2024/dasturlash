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1.jpg"/><Relationship Id="rId3" Type="http://schemas.openxmlformats.org/officeDocument/2006/relationships/image" Target="../media/image-8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Dasturlash 1, 2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bilan birinchi qadamlar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4251960"/>
            <a:ext cx="2011680" cy="0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4348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2-ma'ruza  •  Kompyuter asoslari, o'zgaruvchilar va sonlar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O'qituvchi: [Ism Familiya]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Bugun nimalarni o'rganamiz?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1, 2 — 2-ma'ruza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4585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Kompyuterning asosiy qismlari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34640"/>
            <a:ext cx="4585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kodi qanday bajariladi (interpreter)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86200"/>
            <a:ext cx="4585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va input() funksiyalari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937760"/>
            <a:ext cx="4585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O'zgaruvchilar — ma'lumotni saqlash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68796" y="1828800"/>
            <a:ext cx="502920" cy="502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6879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054596" y="1783080"/>
            <a:ext cx="4585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 sonlar (int) va o'nlik sonlar (float)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368796" y="2880360"/>
            <a:ext cx="502920" cy="502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68796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054596" y="2834640"/>
            <a:ext cx="4585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Qiymatlarni birga chiqarish, shu jumladan f-string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368796" y="3931920"/>
            <a:ext cx="502920" cy="502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68796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054596" y="3886200"/>
            <a:ext cx="4585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Arifmetik amallar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368796" y="4983480"/>
            <a:ext cx="502920" cy="502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68796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7054596" y="4937760"/>
            <a:ext cx="4585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Foydalanuvchidan son qabul qilish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ASOSLARI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Kompyuterning asosiy qismlari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1, 2 — 2-ma'ruza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pic>
        <p:nvPicPr>
          <p:cNvPr id="7" name="Image 0" descr="/home/claude/build/img/cpu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01368"/>
            <a:ext cx="2432304" cy="1444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Protsessor (CPU)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7033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buyruqlarni bajaradi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29000" y="16916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pic>
        <p:nvPicPr>
          <p:cNvPr id="11" name="Image 1" descr="/home/claude/build/img/ram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38728" y="1801368"/>
            <a:ext cx="2432304" cy="1444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Xotira (RAM)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7033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ishlash paytida ma'lumotni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vaqtincha saqlaydi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09360" y="16916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pic>
        <p:nvPicPr>
          <p:cNvPr id="15" name="Image 2" descr="/home/claude/build/img/ssd_cro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19088" y="1801368"/>
            <a:ext cx="2432304" cy="144475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4652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Qattiq disk / SSD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46520" y="37033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fayllarni doimiy saqlaydi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189720" y="16916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pic>
        <p:nvPicPr>
          <p:cNvPr id="19" name="Image 3" descr="/home/claude/build/img/keyboard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99448" y="1801368"/>
            <a:ext cx="2432304" cy="144475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32688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Kiritish qurilmalari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9326880" y="37033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klaviatura, sichqoncha —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kiritamiz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48640" y="470916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pic>
        <p:nvPicPr>
          <p:cNvPr id="23" name="Image 4" descr="/home/claude/build/img/monitor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85800" y="4846320"/>
            <a:ext cx="1737360" cy="10058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2651760" y="4709160"/>
            <a:ext cx="8805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Chiqarish qurilmalari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2651760" y="5166360"/>
            <a:ext cx="8805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dinamik — dastur natijasini shu orqali ko'ramiz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ASOSLARI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kodi qanday bajariladi?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1, 2 — 2-ma'ruza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" y="283464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3756" y="3063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 kod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33756" y="3611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print("Salom")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76956" y="3456432"/>
            <a:ext cx="502920" cy="219456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71316" y="283464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1316" y="3063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71316" y="3611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dasturi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14516" y="3456432"/>
            <a:ext cx="502920" cy="219456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08876" y="283464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08876" y="3063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Mashina kodi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008876" y="3611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0101 1010 ...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46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Protsessor buyruqni bajaradi va ekranga natija chiqadi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ASOSLARI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Interpreter nima?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1, 2 — 2-ma'ruza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— kodni satrma-satr o'qib, darhol bajaradigan dastur</a:t>
            </a:r>
            <a:endParaRPr lang="en-US" sz="2100" dirty="0"/>
          </a:p>
          <a:p>
            <a:pPr marL="279400" indent="-2794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interpretatsiya qilinadigan til</a:t>
            </a:r>
            <a:endParaRPr lang="en-US" sz="2100" dirty="0"/>
          </a:p>
          <a:p>
            <a:pPr marL="279400" indent="-2794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Kodni oldindan alohida "yig'ish" (compile) shart emas</a:t>
            </a:r>
            <a:endParaRPr lang="en-US" sz="2100" dirty="0"/>
          </a:p>
          <a:p>
            <a:pPr marL="279400" indent="-2794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 sababli Python'da natijani tezda ko'ramiz — yozdik, ishga tushirdik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315200" y="1828800"/>
            <a:ext cx="4325112" cy="384048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 w="2540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2194560"/>
            <a:ext cx="3776472" cy="777240"/>
          </a:xfrm>
          <a:prstGeom prst="roundRect">
            <a:avLst>
              <a:gd name="adj" fmla="val 941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0" y="2194560"/>
            <a:ext cx="3776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yosh = 18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89520" y="3291840"/>
            <a:ext cx="37764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0" y="3291840"/>
            <a:ext cx="3776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print(yosh)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9520" y="4389120"/>
            <a:ext cx="37764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0" y="4389120"/>
            <a:ext cx="3776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print("Salom!")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4983480"/>
            <a:ext cx="4325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shu tartibda, birma-bir bajaradi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FUNKSIYALAR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print() — ekranga chiqarish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1, 2 — 2-ma'ruza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— Python'ning tayyor (built-in) funksiyasi</a:t>
            </a:r>
            <a:endParaRPr lang="en-US" sz="21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Qavs ichidagi qiymatni ekranga chiqaradi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&gt;_  Kod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4048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print("Salom, dunyo!")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print("Python o'rganamiz")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92240" y="3383280"/>
            <a:ext cx="5148072" cy="2377440"/>
          </a:xfrm>
          <a:prstGeom prst="roundRect">
            <a:avLst>
              <a:gd name="adj" fmla="val 307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347472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3840480"/>
            <a:ext cx="46908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Salom, dunyo!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o'rganamiz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92240" y="1828800"/>
            <a:ext cx="514807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920240"/>
            <a:ext cx="4873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Amaliyot: hoziroq birga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muharririda yozamiz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FUNKSIYALAR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input() — foydalanuvchidan ma'lumot olish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1, 2 — 2-ma'ruza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— foydalanuvchi klaviaturada yozgan matnni qabul qiladi</a:t>
            </a:r>
            <a:endParaRPr lang="en-US" sz="21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Muhim: input() har doim natijani matn (string) sifatida qaytaradi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&gt;_  Kod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8620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 = input("Ismingiz: ")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print("Salom,", ism)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92240" y="3429000"/>
            <a:ext cx="5148072" cy="2377440"/>
          </a:xfrm>
          <a:prstGeom prst="roundRect">
            <a:avLst>
              <a:gd name="adj" fmla="val 307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352044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3886200"/>
            <a:ext cx="46908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Ismingiz: Laylo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Salom, Laylo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O'ZGARUVCHILAR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O'zgaruvchilar — omborxonadagi qutilar kabi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1, 2 — 2-ma'ruza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o'zgaruvchi — ustiga nomi yozilgan yorliq osilgan quti, ichida qiymat saqlanadi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209544" cy="5486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 = "Ali"</a:t>
            </a:r>
            <a:endParaRPr lang="en-US" sz="1500" dirty="0"/>
          </a:p>
        </p:txBody>
      </p:sp>
      <p:pic>
        <p:nvPicPr>
          <p:cNvPr id="9" name="Image 0" descr="/home/claude/build/img/box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46120"/>
            <a:ext cx="3209544" cy="2606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444752" y="297180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44752" y="29718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37499" y="4679442"/>
            <a:ext cx="2631826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7499" y="4679442"/>
            <a:ext cx="26318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"Ali"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489704" y="2331720"/>
            <a:ext cx="3209544" cy="5486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9704" y="233172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yosh = 20</a:t>
            </a:r>
            <a:endParaRPr lang="en-US" sz="1500" dirty="0"/>
          </a:p>
        </p:txBody>
      </p:sp>
      <p:pic>
        <p:nvPicPr>
          <p:cNvPr id="16" name="Image 1" descr="/home/claude/build/img/box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9704" y="3246120"/>
            <a:ext cx="3209544" cy="26060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385816" y="297180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385816" y="29718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4778563" y="4679442"/>
            <a:ext cx="2631826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78563" y="4679442"/>
            <a:ext cx="26318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8430768" y="2331720"/>
            <a:ext cx="3209544" cy="5486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430768" y="233172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shahar = "Andijon"</a:t>
            </a:r>
            <a:endParaRPr lang="en-US" sz="1500" dirty="0"/>
          </a:p>
        </p:txBody>
      </p:sp>
      <p:pic>
        <p:nvPicPr>
          <p:cNvPr id="23" name="Image 2" descr="/home/claude/build/img/box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30768" y="3246120"/>
            <a:ext cx="3209544" cy="260604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9326880" y="297180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326880" y="29718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shahar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8719627" y="4679442"/>
            <a:ext cx="2631826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719627" y="4679442"/>
            <a:ext cx="26318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"Andijon"</a:t>
            </a:r>
            <a:endParaRPr lang="en-US" sz="22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1, 2 — 2-ma'ruza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1109167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O'ZGARUVCHILAR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O'zgaruvchi nomlash qoidalari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1, 2 — 2-ma'ruza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Harf yoki pastki chiziqdan ( _ ) boshlanishi kerak — raqamdan emas</a:t>
            </a:r>
            <a:endParaRPr lang="en-US" sz="20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harf, raqam va pastki chiziqdan iborat bo'lishi mumkin</a:t>
            </a:r>
            <a:endParaRPr lang="en-US" sz="20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Katta-kichik harf farqlanadi: Yosh va yosh — ikki xil o'zgaruvchi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271516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1E7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023360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To'g'ri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480560"/>
            <a:ext cx="49057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yosh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ism_familiya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_vaqtinchalik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natija2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68796" y="3931920"/>
            <a:ext cx="5271516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1676" y="4023360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Noto'g'ri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551676" y="4480560"/>
            <a:ext cx="49057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2natija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ism-familiya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yosh yil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TURLARI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Butun sonlar — int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1, 2 — 2-ma'ruza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— butun sonlar turi (kasrsiz)</a:t>
            </a:r>
            <a:endParaRPr lang="en-US" sz="21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Musbat, manfiy va nol bo'lishi mumkin</a:t>
            </a:r>
            <a:endParaRPr lang="en-US" sz="21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funksiyasi qiymat turini ko'rsatadi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&gt;_  Kod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976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yosh = 20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harorat = -5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print(type(yosh))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92240" y="3840480"/>
            <a:ext cx="5148072" cy="1920240"/>
          </a:xfrm>
          <a:prstGeom prst="roundRect">
            <a:avLst>
              <a:gd name="adj" fmla="val 381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393192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4297680"/>
            <a:ext cx="4690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'int'&gt;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BILAN CHIQARISH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Qiymatlarni birga chiqarish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1, 2 — 2-ma'ruza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Vergul ( , ) bilan — print() qiymatlar orasiga bo'shliq qo'yadi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&gt;_  Kod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632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 = "Laylo"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yosh = 19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print("Ism:", ism, "Yosh:", yosh)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92240" y="2606040"/>
            <a:ext cx="5148072" cy="1737360"/>
          </a:xfrm>
          <a:prstGeom prst="roundRect">
            <a:avLst>
              <a:gd name="adj" fmla="val 42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26974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3063240"/>
            <a:ext cx="4690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Ism: Laylo Yosh: 19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26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Diqqat: + belgisi bilan faqat bir xil turdagi qiymatlarni qo'shish mumkin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&gt;_  Kod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486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print("Yosh: " + str(yosh))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92240" y="5029200"/>
            <a:ext cx="5148072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512064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5486400"/>
            <a:ext cx="4690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Yosh: 19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BILAN CHIQARISH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f-string bilan chiqarish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1, 2 — 2-ma'ruza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 — "f" harfi bilan boshlangan matn, {} ichiga o'zgaruvchi yoziladi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&gt;_  Kod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0896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 = "Laylo"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yosh = 19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print(f"Salom, {ism}! Sen {yosh} yoshdasan.")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92240" y="2651760"/>
            <a:ext cx="5148072" cy="2468880"/>
          </a:xfrm>
          <a:prstGeom prst="roundRect">
            <a:avLst>
              <a:gd name="adj" fmla="val 2963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274320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3108960"/>
            <a:ext cx="46908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Salom, Laylo! Sen 19 yoshdasan.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3492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qulay va eng ko'p ishlatiladigan usul — shu bilan qolamiz!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TURLARI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O'nlik sonlar — float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1, 2 — 2-ma'ruza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— kasr (o'nlik) qismga ega sonlar</a:t>
            </a:r>
            <a:endParaRPr lang="en-US" sz="21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 va kasr qismi nuqta ( . ) bilan ajratiladi</a:t>
            </a:r>
            <a:endParaRPr lang="en-US" sz="2100" dirty="0"/>
          </a:p>
          <a:p>
            <a:pPr marL="279400" indent="-2794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va float — Python uchun ikki xil tur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&gt;_  Kod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976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narx = 15.5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3.14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print(type(narx))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92240" y="3840480"/>
            <a:ext cx="5148072" cy="1920240"/>
          </a:xfrm>
          <a:prstGeom prst="roundRect">
            <a:avLst>
              <a:gd name="adj" fmla="val 381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393192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4297680"/>
            <a:ext cx="4690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'float'&gt;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AMALLAR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Arifmetik amallar jadvali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1, 2 — 2-ma'ruza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448056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2743200"/>
                <a:gridCol w="3593592"/>
              </a:tblGrid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</a:rPr>
                        <a:t>Amal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</a:rPr>
                        <a:t>Belgi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</a:rPr>
                        <a:t>Misol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</a:rPr>
                        <a:t>Natija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Qo'shish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+ 2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Ayirish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7 - 2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Ko'paytirish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* 2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Bo'lish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/ 2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3.5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Butun bo'lish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//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// 2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Qoldiq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7 % 2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Daraja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**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** 2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49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BILAN ISHLASH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Foydalanuvchidan son qabul qilish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1, 2 — 2-ma'ruza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natijasi doim matn (str) — sonlarda hisoblash uchun uni int() yoki float() bilan o'giramiz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&gt;_  Kod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yosh = int(input("Yoshingiz: "))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bo'y = float(input("Bo'yingiz: "))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print(f"Sen {yosh} yoshdasan")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92240" y="2697480"/>
            <a:ext cx="5148072" cy="2286000"/>
          </a:xfrm>
          <a:prstGeom prst="roundRect">
            <a:avLst>
              <a:gd name="adj" fmla="val 32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278892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3154680"/>
            <a:ext cx="46908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Yoshingiz: 20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Bo'yingiz: 172.5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 20 yoshdasan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B326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25780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Diqqat: int()/float() ni unutsak, Python matn bilan sonni qo'sha olmaydi — xatolik (TypeError) chiqadi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2026-09-15T13:26:03Z</dcterms:created>
  <dcterms:modified xsi:type="dcterms:W3CDTF">2026-09-15T13:26:03Z</dcterms:modified>
</cp:coreProperties>
</file>