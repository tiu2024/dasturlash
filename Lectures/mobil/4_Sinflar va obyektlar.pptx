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0–1-daqiqa (1 daq)</a:t>
            </a:r>
          </a:p>
          <a:p/>
          <a:p>
            <a:r>
              <a:t>Salomlashing. O'tgan hafta funksiyalar va kolleksiyalarni o'rgandik. Bugun mobil ilova yozishning asosiy g'oyalaridan biri: o'z turimizni yaratamiz. Ilovada chipta, foydalanuvchi, mahsulot kabi narsalar bor, ularning har biri bitta sinf bo'ladi.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1–5-daqiqa (4 daq) · 3 ta bosish</a:t>
            </a:r>
          </a:p>
          <a:p/>
          <a:p>
            <a:r>
              <a:t>Talabalar javobni daftarga yozsin, keyin 2-3 kishidan so'rang. Uchala savol ham o'tgan haftadan: Map, Set va lambda. Bugun yana bir yangi tur yaratamiz, lekin o'zimiz.</a:t>
            </a:r>
          </a:p>
          <a:p/>
          <a:p>
            <a:r>
              <a:t>Talabalar daftarsiz, xotiradan javob yozadi (1–2 daqiqa). Keyin har bosishda bitta javobni oching. Eslab chiqarish qayta o'qishdan ko'ra yaxshiroq yodda qoldiradi.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5–8-daqiqa (3 daq)</a:t>
            </a:r>
          </a:p>
          <a:p/>
          <a:p>
            <a:r>
              <a:t>Bir-ikki taxmin eshiting. Ko'pchilik "ro'yxat qilaman" deydi. Ro'yxat nomlarni saqlaydi, lekin nom va narxni bir-biriga bog'lamaydi: birinchi nom bilan birinchi narx bir chiptaga tegishli ekanini dastur bilmaydi. Bugungi javob: chiptaning o'zini bitta narsa qilamiz. Bu obyekt.</a:t>
            </a:r>
          </a:p>
          <a:p/>
          <a:p>
            <a:r>
              <a:t>Talabalarga 30–60 soniya o'ylab, taxmin aytish imkonini bering. Javobni hozir aytmang.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8–10-daqiqa (2 daq) · 4 ta bosish</a:t>
            </a:r>
          </a:p>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10–10.5-daqiqa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10.5–13.5-daqiqa (3 daq) · 4 ta bosish</a:t>
            </a:r>
          </a:p>
          <a:p/>
          <a:p>
            <a:r>
              <a:t>Qolip misolini keltiring: pechenye qolipi bitta, pechenyelar ko'p. Sinf bitta, undan yasalgan chiptalar ko'p, har birining o'z nomi va narxi bor. Sinf nimalar saqlanishini aytadi, obyektda esa haqiqiy qiymatlar turadi. Bu to'rt atamani keyingi slaydlarda kodda ko'ramiz.</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13.5–16.5-daqiqa (3 daq) · 1 ta bosish</a:t>
            </a:r>
          </a:p>
          <a:p/>
          <a:p>
            <a:r>
              <a:t>Birinchi qator butun sinf: qavs ichida ikkita xossa. Keyin Ticket(...) bilan ikkita alohida obyekt yaratamiz. Xossaga nuqta orqali murojaat qilamiz: first.event. Diqqat: Kotlin'da `new` so'zi yo'q. Java yoki C++ bilgan talabalarga buni alohida ayting.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16.5–19.5-daqiqa (3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`new` — boshqa tillardan o'tgan odat. `Ticket.create` — tayyor create funksiyasi bor deb o'ylash. Oxirgisi — tayinlash sintaksisi sinf chaqiruvi emas.</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19.5–22.5-daqiqa (3 daq) · 5 ta bosish</a:t>
            </a:r>
          </a:p>
          <a:p/>
          <a:p>
            <a:r>
              <a:t>Har bir qismni bosib oching. Sinf tanasi (jingalak qavslar) bo'lmasa, yozish shart emas. Qavs ichidagi har bir yozuv bir xossani e'lon qiladi va uni yaratilgan obyektga beradi. Tur yozilishi o'zgaruvchi e'lon qilishdagidek: nom, ikki nuqta, tur.</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22.5–25.5-daqiqa (3 daq) · 1 ta bosish</a:t>
            </a:r>
          </a:p>
          <a:p/>
          <a:p>
            <a:r>
              <a:t>Narx o'zgarishi mumkin: chegirma e'lon qildik. Konsert nomi esa o'zgarmasligi kerak, shuning uchun val. Izohdagi qatorni ochsangiz, Kotlin "Val cannot be reassigned" xatosini beradi. Qoida o'zgaruvchilardagi bilan bir xil: val — bir marta, var — o'zgartirsa bo'ladi.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25.5–29.5-daqiqa (4 daq) · 1 ta bosish</a:t>
            </a:r>
          </a:p>
          <a:p/>
          <a:p>
            <a:r>
              <a:t>Kompilyatsiya xatosi — dastur ishga tushmasdan oldin Kotlin topgan xato. Ko'p talaba A deydi. Javobdan keyin ko'rsating: price oldida val yoki var yo'q, shuning uchun u faqat sinf ichida ishlaydi (label qatorida). Tashqaridan ko'rinishi uchun val yoki var kerak. Xato matni: Unresolved reference.</a:t>
            </a:r>
          </a:p>
          <a:p/>
          <a:p>
            <a:r>
              <a:t>Taxmin → juftlik → javob: 1 daqiqa har kim o'z taxminini yozadi, 1 daqiqa yonidagi bilan solishtiradi. 2–3 talabadan javob so'rang, keyin bosib javobni oching va kodni jonli ishga tushiring.</a:t>
            </a:r>
          </a:p>
          <a:p>
            <a:r>
              <a:t>Tekshiriladigan noto'g'ri tasavvur: Konstruktorning har bir parametri avtomatik xossa bo'ladi deb o'ylash</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29.5–32.5-daqiqa (3 daq) · 1 ta bosish</a:t>
            </a:r>
          </a:p>
          <a:p/>
          <a:p>
            <a:r>
              <a:t>Funksiya sinf ichida yozilgan, shuning uchun event va price ni to'g'ridan-to'g'ri ishlatadi. Chaqirilganda nuqta orqali: t.describe(). Narx o'zgarsa, xuddi shu chaqiruv yangi natija beradi, chunki funksiya obyektning hozirgi holatini o'qiydi.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32.5–33-daqiqa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33–36-daqiqa (3 daq) · 1 ta bosish</a:t>
            </a:r>
          </a:p>
          <a:p/>
          <a:p>
            <a:r>
              <a:t>Funksiyalardagi standart qiymatni eslang: konstruktorda ham xuddi shunday ishlaydi. a uchun narx berilmadi, 100000 ishlatildi. b uchun 90000 berildi va u standart qiymatni almashtirdi.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36–39-daqiqa (3 daq) · 1 ta bosish</a:t>
            </a:r>
          </a:p>
          <a:p/>
          <a:p>
            <a:r>
              <a:t>Oddiy qiymat berish uchun sarlavha yetadi. Murakkabroq ishlar uchun init blok bor: u obyekt yaratilganda avtomatik ishlaydi. Chaqiruvni biz alohida yozmadik. Shuning uchun "Chipta yaratildi" "Tayyor" dan oldin chiqdi. Bir sinfda bir nechta init bo'lishi mumkin, ular yozilgan tartibda ishlaydi.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39–42-daqiqa (3 daq) · 3 ta bosish</a:t>
            </a:r>
          </a:p>
          <a:p/>
          <a:p>
            <a:r>
              <a:t>require birinchi qavsda shartni, jingalak qavsda xato xabarini oladi. Shart to'g'ri bo'lsa, hech narsa bo'lmaydi. Noto'g'ri bo'lsa, IllegalArgumentException xatosi chiqadi va obyekt yaratilmaydi. Shunday qilib, manfiy narxli chipta dasturda hech qachon paydo bo'lmaydi.</a:t>
            </a:r>
          </a:p>
          <a:p/>
          <a:p>
            <a:r>
              <a:t>Kodni yuqoridan pastga tushuntiring; har bir ajratilgan joyda “agar ... bo'lsa nima bo'ladi?” deb so'rang.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42–46-daqiqa (4 daq) · 1 ta bosish</a:t>
            </a:r>
          </a:p>
          <a:p/>
          <a:p>
            <a:r>
              <a:t>-5 qiymatni Kotlin dastur ishga tushishidan oldin tekshirmaydi: u faqat dastur ishlayotganda aniqlanadi. Shuning uchun birinchi qator chiqadi. Xato chiqqach dastur to'xtaydi, oxirgi println bajarilmaydi.</a:t>
            </a:r>
          </a:p>
          <a:p/>
          <a:p>
            <a:r>
              <a:t>Taxmin → juftlik → javob: 1 daqiqa har kim o'z taxminini yozadi, 1 daqiqa yonidagi bilan solishtiradi. 2–3 talabadan javob so'rang, keyin bosib javobni oching va kodni jonli ishga tushiring.</a:t>
            </a:r>
          </a:p>
          <a:p>
            <a:r>
              <a:t>Tekshiriladigan noto'g'ri tasavvur: require faqat ogohlantiradi va dastur davom etadi; yoki xato dastur boshlanishidan oldin chiqadi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46–54-daqiqa (8 daq) · 4 ta bosish</a:t>
            </a:r>
          </a:p>
          <a:p/>
          <a:p>
            <a:r>
              <a:t>Kotlin Playground'da faqat izohlar yozilgan boshlang'ich fayldan boshlang. Ataylab event oldidagi val ni unutib qoldiring: describe() da "Unresolved reference" xatosi chiqadi. Xabarni birga o'qing va tuzating. Oxirida narxni -1 qilib, require ishlashini ko'rsating.</a:t>
            </a:r>
          </a:p>
          <a:p/>
          <a:p>
            <a:r>
              <a:t>Jonli kodlash: boshlang'ich fayldan boshlang, har bir qarorni ovoz chiqarib tushuntiring, tez-tez ishga tushiring, bitta haqiqiy xato qilib, uni ovoz chiqarib tuzating. Maqsadlarga yetganda to'xtang va mashqqa o'ting.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54–62-daqiqa (8 daq)</a:t>
            </a:r>
          </a:p>
          <a:p/>
          <a:p/>
          <a:p>
            <a:r>
              <a:t>Qatorlar orasida yurib, ekranlarga qarang. Vaqtning yarmida qiynalayotganlarga maslahatni ko'rsating.</a:t>
            </a:r>
          </a:p>
          <a:p>
            <a:r>
              <a:t>Maslahat: Chegirma summasi: price * percent / 100. Narxdan shuni ayiring.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62–62.5-daqiqa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62.5–65.5-daqiqa (3 daq) · 1 ta bosish</a:t>
            </a:r>
          </a:p>
          <a:p/>
          <a:p>
            <a:r>
              <a:t>Ilovada narxni foydalanuvchi matn maydoniga yozadi, ya'ni String keladi. Ikkilamchi konstruktor shu matnni songa aylantiradi. toIntOrNull son bo'lmasa null beradi, Elvis operatori ?: esa null o'rniga 0 qo'yadi. Shunda "abc" kelsa ham dastur sinmaydi.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65.5–67.5-daqiqa (2 daq) · 3 ta bosish</a:t>
            </a:r>
          </a:p>
          <a:p/>
          <a:p>
            <a:r>
              <a:t>Bu majburiy qoida: ikkilamchi konstruktor har doim asosiy konstruktorga murojaat qilishi kerak, to'g'ridan-to'g'ri yoki boshqa ikkilamchi orqali. Shunda obyekt har doim bir xil tayyorlanadi va init bloklari hech qachon o'tkazib yuborilmaydi.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67.5–70.5-daqiqa (3 daq) · 1 ta bosish</a:t>
            </a:r>
          </a:p>
          <a:p/>
          <a:p>
            <a:r>
              <a:t>Talabalar "ikkilamchi" chaqirilgani uchun birinchi uni chiqaradi deb o'ylaydi. Javobdan keyin oldingi slaydga qayting: this(...) avval asosiy konstruktorni ishga tushiradi, init uning qismi. Keyin ikkilamchining jingalak qavslari ichidagi kod ishlaydi.</a:t>
            </a:r>
          </a:p>
          <a:p/>
          <a:p>
            <a:r>
              <a:t>Taxmin → juftlik → javob: 1 daqiqa har kim o'z taxminini yozadi, 1 daqiqa yonidagi bilan solishtiradi. 2–3 talabadan javob so'rang, keyin bosib javobni oching va kodni jonli ishga tushiring.</a:t>
            </a:r>
          </a:p>
          <a:p>
            <a:r>
              <a:t>Tekshiriladigan noto'g'ri tasavvur: Ikkilamchi konstruktorning tanasi birinchi ishlaydi deb o'ylash</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70.5–73.5-daqiqa (3 daq) · 1 ta bosish</a:t>
            </a:r>
          </a:p>
          <a:p/>
          <a:p>
            <a:r>
              <a:t>Companion object ichidagi funksiyani chaqirish uchun obyekt kerak emas: Ticket.free(...). Bu sinfning o'ziga tegishli ishlar uchun qulay, masalan tayyor chipta yasovchi funksiya. Bunday funksiyalar ilovalarda tez-tez uchraydi.</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73.5–76.5-daqiqa (3 daq) · 4 ta bosish</a:t>
            </a:r>
          </a:p>
          <a:p/>
          <a:p/>
          <a:p>
            <a:r>
              <a:t>Vaqt bo'lsa, har bir bandni ochishdan oldin talabalardan aytib berishni so'rang.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76.5–79.5-daqiqa (3 daq)</a:t>
            </a:r>
          </a:p>
          <a:p/>
          <a:p/>
          <a:p>
            <a:r>
              <a:t>Javoblarni yig'ib oling; keyingi darsdan oldin o'qing va darsni eng ko'p uchragan bo'shliqdan boshlang.</a:t>
            </a:r>
          </a:p>
          <a:p/>
          <a:p>
            <a:r>
              <a:t>Manba: Kotlin hujjatlari (kotlinlang.org/docs)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Course"/>
          <p:cNvSpPr txBox="1"/>
          <p:nvPr/>
        </p:nvSpPr>
        <p:spPr>
          <a:xfrm>
            <a:off x="640080" y="13716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1" i="0">
                <a:solidFill>
                  <a:srgbClr val="FFC20E"/>
                </a:solidFill>
                <a:latin typeface="Courier New"/>
              </a:rPr>
              <a:t>MOBIL ILOVALAR YARATISH · TIU</a:t>
            </a:r>
          </a:p>
        </p:txBody>
      </p:sp>
      <p:sp>
        <p:nvSpPr>
          <p:cNvPr id="3" name="Title"/>
          <p:cNvSpPr txBox="1"/>
          <p:nvPr/>
        </p:nvSpPr>
        <p:spPr>
          <a:xfrm>
            <a:off x="640080" y="1965960"/>
            <a:ext cx="10911535" cy="2103120"/>
          </a:xfrm>
          <a:prstGeom prst="rect">
            <a:avLst/>
          </a:prstGeom>
          <a:noFill/>
        </p:spPr>
        <p:txBody>
          <a:bodyPr wrap="square" anchor="t" lIns="0" rIns="0" tIns="0" bIns="0">
            <a:noAutofit/>
          </a:bodyPr>
          <a:lstStyle/>
          <a:p>
            <a:pPr algn="l">
              <a:lnSpc>
                <a:spcPct val="100000"/>
              </a:lnSpc>
              <a:spcBef>
                <a:spcPts val="0"/>
              </a:spcBef>
              <a:spcAft>
                <a:spcPts val="0"/>
              </a:spcAft>
            </a:pPr>
            <a:r>
              <a:rPr sz="5600" b="1" i="0">
                <a:solidFill>
                  <a:srgbClr val="FFFFFF"/>
                </a:solidFill>
                <a:latin typeface="Arial"/>
              </a:rPr>
              <a:t>Sinflar va obyektlar</a:t>
            </a:r>
          </a:p>
        </p:txBody>
      </p:sp>
      <p:sp>
        <p:nvSpPr>
          <p:cNvPr id="4" name="Subtitle"/>
          <p:cNvSpPr txBox="1"/>
          <p:nvPr/>
        </p:nvSpPr>
        <p:spPr>
          <a:xfrm>
            <a:off x="640080" y="4160520"/>
            <a:ext cx="10911535" cy="54864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C3CCDA"/>
                </a:solidFill>
                <a:latin typeface="Arial"/>
              </a:rPr>
              <a:t>4-ma'ruza · Kotlin tilida sinflar va obyektlar</a:t>
            </a:r>
          </a:p>
        </p:txBody>
      </p:sp>
      <p:sp>
        <p:nvSpPr>
          <p:cNvPr id="5" name="Lecturer"/>
          <p:cNvSpPr txBox="1"/>
          <p:nvPr/>
        </p:nvSpPr>
        <p:spPr>
          <a:xfrm>
            <a:off x="640080" y="5532120"/>
            <a:ext cx="10911535" cy="41148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Arial"/>
              </a:rPr>
              <a:t>I. J. Husainov · Turan International University · 2026-2027</a:t>
            </a:r>
          </a:p>
        </p:txBody>
      </p:sp>
      <p:sp>
        <p:nvSpPr>
          <p:cNvPr id="6" name="Links"/>
          <p:cNvSpPr txBox="1"/>
          <p:nvPr/>
        </p:nvSpPr>
        <p:spPr>
          <a:xfrm>
            <a:off x="640080" y="5943600"/>
            <a:ext cx="10911535" cy="365760"/>
          </a:xfrm>
          <a:prstGeom prst="rect">
            <a:avLst/>
          </a:prstGeom>
          <a:noFill/>
        </p:spPr>
        <p:txBody>
          <a:bodyPr wrap="square" anchor="t" lIns="0" rIns="0" tIns="0" bIns="0">
            <a:noAutofit/>
          </a:bodyPr>
          <a:lstStyle/>
          <a:p>
            <a:pPr algn="l">
              <a:lnSpc>
                <a:spcPct val="115000"/>
              </a:lnSpc>
              <a:spcBef>
                <a:spcPts val="0"/>
              </a:spcBef>
              <a:spcAft>
                <a:spcPts val="0"/>
              </a:spcAft>
            </a:pPr>
            <a:r>
              <a:rPr sz="1600" b="0" i="0">
                <a:solidFill>
                  <a:srgbClr val="C3CCDA"/>
                </a:solidFill>
                <a:latin typeface="Arial"/>
              </a:rPr>
              <a:t>https://tiu2024.github.io/dasturlash/courses/mobil-ilovalar/</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TAKRORLASH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O'tgan haftadan uchta savol</a:t>
            </a:r>
          </a:p>
        </p:txBody>
      </p:sp>
      <p:sp>
        <p:nvSpPr>
          <p:cNvPr id="4" name="TextBox 3"/>
          <p:cNvSpPr txBox="1"/>
          <p:nvPr/>
        </p:nvSpPr>
        <p:spPr>
          <a:xfrm>
            <a:off x="640080" y="2148840"/>
            <a:ext cx="822960" cy="548640"/>
          </a:xfrm>
          <a:prstGeom prst="rect">
            <a:avLst/>
          </a:prstGeom>
          <a:noFill/>
        </p:spPr>
        <p:txBody>
          <a:bodyPr wrap="square" anchor="t" lIns="0" rIns="0" tIns="0" bIns="0">
            <a:noAutofit/>
          </a:bodyPr>
          <a:lstStyle/>
          <a:p>
            <a:pPr algn="l">
              <a:lnSpc>
                <a:spcPct val="115000"/>
              </a:lnSpc>
              <a:spcBef>
                <a:spcPts val="0"/>
              </a:spcBef>
              <a:spcAft>
                <a:spcPts val="0"/>
              </a:spcAft>
            </a:pPr>
            <a:r>
              <a:rPr sz="2800" b="1" i="0">
                <a:solidFill>
                  <a:srgbClr val="0052CC"/>
                </a:solidFill>
                <a:latin typeface="Courier New"/>
              </a:rPr>
              <a:t>1</a:t>
            </a:r>
          </a:p>
        </p:txBody>
      </p:sp>
      <p:sp>
        <p:nvSpPr>
          <p:cNvPr id="5" name="Question 1"/>
          <p:cNvSpPr txBox="1"/>
          <p:nvPr/>
        </p:nvSpPr>
        <p:spPr>
          <a:xfrm>
            <a:off x="1645920" y="2167128"/>
            <a:ext cx="990569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mapOf("a" to 1)["a"]</a:t>
            </a:r>
            <a:r>
              <a:rPr sz="2400" b="0" i="0">
                <a:solidFill>
                  <a:srgbClr val="111111"/>
                </a:solidFill>
                <a:latin typeface="Arial"/>
              </a:rPr>
              <a:t> nimani qaytaradi?</a:t>
            </a:r>
          </a:p>
        </p:txBody>
      </p:sp>
      <p:sp>
        <p:nvSpPr>
          <p:cNvPr id="6" name="Answer 1"/>
          <p:cNvSpPr txBox="1"/>
          <p:nvPr/>
        </p:nvSpPr>
        <p:spPr>
          <a:xfrm>
            <a:off x="1645920" y="2777947"/>
            <a:ext cx="9905695" cy="589788"/>
          </a:xfrm>
          <a:prstGeom prst="rect">
            <a:avLst/>
          </a:prstGeom>
          <a:noFill/>
        </p:spPr>
        <p:txBody>
          <a:bodyPr wrap="square" anchor="t" lIns="0" rIns="0" tIns="0" bIns="0">
            <a:noAutofit/>
          </a:bodyPr>
          <a:lstStyle/>
          <a:p>
            <a:pPr algn="l">
              <a:lnSpc>
                <a:spcPct val="115000"/>
              </a:lnSpc>
              <a:spcBef>
                <a:spcPts val="0"/>
              </a:spcBef>
              <a:spcAft>
                <a:spcPts val="0"/>
              </a:spcAft>
            </a:pPr>
            <a:r>
              <a:rPr sz="2200" b="0" i="0">
                <a:solidFill>
                  <a:srgbClr val="0052CC"/>
                </a:solidFill>
                <a:latin typeface="Arial"/>
              </a:rPr>
              <a:t>1 — Map kalit bo'yicha qiymatni topadi</a:t>
            </a:r>
          </a:p>
        </p:txBody>
      </p:sp>
      <p:sp>
        <p:nvSpPr>
          <p:cNvPr id="7" name="TextBox 6"/>
          <p:cNvSpPr txBox="1"/>
          <p:nvPr/>
        </p:nvSpPr>
        <p:spPr>
          <a:xfrm>
            <a:off x="640080" y="3459480"/>
            <a:ext cx="822960" cy="548640"/>
          </a:xfrm>
          <a:prstGeom prst="rect">
            <a:avLst/>
          </a:prstGeom>
          <a:noFill/>
        </p:spPr>
        <p:txBody>
          <a:bodyPr wrap="square" anchor="t" lIns="0" rIns="0" tIns="0" bIns="0">
            <a:noAutofit/>
          </a:bodyPr>
          <a:lstStyle/>
          <a:p>
            <a:pPr algn="l">
              <a:lnSpc>
                <a:spcPct val="115000"/>
              </a:lnSpc>
              <a:spcBef>
                <a:spcPts val="0"/>
              </a:spcBef>
              <a:spcAft>
                <a:spcPts val="0"/>
              </a:spcAft>
            </a:pPr>
            <a:r>
              <a:rPr sz="2800" b="1" i="0">
                <a:solidFill>
                  <a:srgbClr val="0052CC"/>
                </a:solidFill>
                <a:latin typeface="Courier New"/>
              </a:rPr>
              <a:t>2</a:t>
            </a:r>
          </a:p>
        </p:txBody>
      </p:sp>
      <p:sp>
        <p:nvSpPr>
          <p:cNvPr id="8" name="Question 2"/>
          <p:cNvSpPr txBox="1"/>
          <p:nvPr/>
        </p:nvSpPr>
        <p:spPr>
          <a:xfrm>
            <a:off x="1645920" y="3477768"/>
            <a:ext cx="990569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setOf(1, 2, 2, 3).size</a:t>
            </a:r>
            <a:r>
              <a:rPr sz="2400" b="0" i="0">
                <a:solidFill>
                  <a:srgbClr val="111111"/>
                </a:solidFill>
                <a:latin typeface="Arial"/>
              </a:rPr>
              <a:t> nimaga teng?</a:t>
            </a:r>
          </a:p>
        </p:txBody>
      </p:sp>
      <p:sp>
        <p:nvSpPr>
          <p:cNvPr id="9" name="Answer 2"/>
          <p:cNvSpPr txBox="1"/>
          <p:nvPr/>
        </p:nvSpPr>
        <p:spPr>
          <a:xfrm>
            <a:off x="1645920" y="4088587"/>
            <a:ext cx="9905695" cy="589788"/>
          </a:xfrm>
          <a:prstGeom prst="rect">
            <a:avLst/>
          </a:prstGeom>
          <a:noFill/>
        </p:spPr>
        <p:txBody>
          <a:bodyPr wrap="square" anchor="t" lIns="0" rIns="0" tIns="0" bIns="0">
            <a:noAutofit/>
          </a:bodyPr>
          <a:lstStyle/>
          <a:p>
            <a:pPr algn="l">
              <a:lnSpc>
                <a:spcPct val="115000"/>
              </a:lnSpc>
              <a:spcBef>
                <a:spcPts val="0"/>
              </a:spcBef>
              <a:spcAft>
                <a:spcPts val="0"/>
              </a:spcAft>
            </a:pPr>
            <a:r>
              <a:rPr sz="2200" b="0" i="0">
                <a:solidFill>
                  <a:srgbClr val="0052CC"/>
                </a:solidFill>
                <a:latin typeface="Arial"/>
              </a:rPr>
              <a:t>3 — Set takrorlanadigan qiymatni bir marta saqlaydi</a:t>
            </a:r>
          </a:p>
        </p:txBody>
      </p:sp>
      <p:sp>
        <p:nvSpPr>
          <p:cNvPr id="10" name="TextBox 9"/>
          <p:cNvSpPr txBox="1"/>
          <p:nvPr/>
        </p:nvSpPr>
        <p:spPr>
          <a:xfrm>
            <a:off x="640080" y="4770120"/>
            <a:ext cx="822960" cy="548640"/>
          </a:xfrm>
          <a:prstGeom prst="rect">
            <a:avLst/>
          </a:prstGeom>
          <a:noFill/>
        </p:spPr>
        <p:txBody>
          <a:bodyPr wrap="square" anchor="t" lIns="0" rIns="0" tIns="0" bIns="0">
            <a:noAutofit/>
          </a:bodyPr>
          <a:lstStyle/>
          <a:p>
            <a:pPr algn="l">
              <a:lnSpc>
                <a:spcPct val="115000"/>
              </a:lnSpc>
              <a:spcBef>
                <a:spcPts val="0"/>
              </a:spcBef>
              <a:spcAft>
                <a:spcPts val="0"/>
              </a:spcAft>
            </a:pPr>
            <a:r>
              <a:rPr sz="2800" b="1" i="0">
                <a:solidFill>
                  <a:srgbClr val="0052CC"/>
                </a:solidFill>
                <a:latin typeface="Courier New"/>
              </a:rPr>
              <a:t>3</a:t>
            </a:r>
          </a:p>
        </p:txBody>
      </p:sp>
      <p:sp>
        <p:nvSpPr>
          <p:cNvPr id="11" name="Question 3"/>
          <p:cNvSpPr txBox="1"/>
          <p:nvPr/>
        </p:nvSpPr>
        <p:spPr>
          <a:xfrm>
            <a:off x="1645920" y="4788408"/>
            <a:ext cx="990569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listOf(1, 2, 3).map { it * 2 }</a:t>
            </a:r>
            <a:r>
              <a:rPr sz="2400" b="0" i="0">
                <a:solidFill>
                  <a:srgbClr val="111111"/>
                </a:solidFill>
                <a:latin typeface="Arial"/>
              </a:rPr>
              <a:t> nimani beradi?</a:t>
            </a:r>
          </a:p>
        </p:txBody>
      </p:sp>
      <p:sp>
        <p:nvSpPr>
          <p:cNvPr id="12" name="Answer 3"/>
          <p:cNvSpPr txBox="1"/>
          <p:nvPr/>
        </p:nvSpPr>
        <p:spPr>
          <a:xfrm>
            <a:off x="1645920" y="5399227"/>
            <a:ext cx="9905695" cy="589788"/>
          </a:xfrm>
          <a:prstGeom prst="rect">
            <a:avLst/>
          </a:prstGeom>
          <a:noFill/>
        </p:spPr>
        <p:txBody>
          <a:bodyPr wrap="square" anchor="t" lIns="0" rIns="0" tIns="0" bIns="0">
            <a:noAutofit/>
          </a:bodyPr>
          <a:lstStyle/>
          <a:p>
            <a:pPr algn="l">
              <a:lnSpc>
                <a:spcPct val="115000"/>
              </a:lnSpc>
              <a:spcBef>
                <a:spcPts val="0"/>
              </a:spcBef>
              <a:spcAft>
                <a:spcPts val="0"/>
              </a:spcAft>
            </a:pPr>
            <a:r>
              <a:rPr sz="2200" b="0" i="0">
                <a:solidFill>
                  <a:srgbClr val="0052CC"/>
                </a:solidFill>
                <a:latin typeface="Arial"/>
              </a:rPr>
              <a:t>[2, 4, 6] — lambda har bir elementga qo'llanadi</a:t>
            </a:r>
          </a:p>
        </p:txBody>
      </p:sp>
      <p:sp>
        <p:nvSpPr>
          <p:cNvPr id="13"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MUAMMO</a:t>
            </a:r>
          </a:p>
        </p:txBody>
      </p:sp>
      <p:sp>
        <p:nvSpPr>
          <p:cNvPr id="3" name="Hook question"/>
          <p:cNvSpPr txBox="1"/>
          <p:nvPr/>
        </p:nvSpPr>
        <p:spPr>
          <a:xfrm>
            <a:off x="640080" y="914400"/>
            <a:ext cx="10911535" cy="2011680"/>
          </a:xfrm>
          <a:prstGeom prst="rect">
            <a:avLst/>
          </a:prstGeom>
          <a:noFill/>
        </p:spPr>
        <p:txBody>
          <a:bodyPr wrap="square" anchor="t" lIns="0" rIns="0" tIns="0" bIns="0">
            <a:noAutofit/>
          </a:bodyPr>
          <a:lstStyle/>
          <a:p>
            <a:pPr algn="l">
              <a:lnSpc>
                <a:spcPct val="110000"/>
              </a:lnSpc>
              <a:spcBef>
                <a:spcPts val="0"/>
              </a:spcBef>
              <a:spcAft>
                <a:spcPts val="0"/>
              </a:spcAft>
            </a:pPr>
            <a:r>
              <a:rPr sz="4000" b="1" i="0">
                <a:solidFill>
                  <a:srgbClr val="111111"/>
                </a:solidFill>
                <a:latin typeface="Arial"/>
              </a:rPr>
              <a:t>Konsert ilovasida 500 ta chipta bor. Har bir chipta uchun nom va narxni alohida o'zgaruvchida saqlaysizmi?</a:t>
            </a:r>
          </a:p>
        </p:txBody>
      </p:sp>
      <p:sp>
        <p:nvSpPr>
          <p:cNvPr id="4" name="Code panel"/>
          <p:cNvSpPr/>
          <p:nvPr/>
        </p:nvSpPr>
        <p:spPr>
          <a:xfrm>
            <a:off x="640080" y="3108960"/>
            <a:ext cx="10911535" cy="2106676"/>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3310128"/>
            <a:ext cx="502919"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8792A8"/>
                </a:solidFill>
                <a:latin typeface="Courier New"/>
              </a:rPr>
              <a:t>1</a:t>
            </a:r>
          </a:p>
          <a:p>
            <a:pPr>
              <a:lnSpc>
                <a:spcPts val="2684"/>
              </a:lnSpc>
              <a:spcBef>
                <a:spcPts val="0"/>
              </a:spcBef>
              <a:spcAft>
                <a:spcPts val="0"/>
              </a:spcAft>
            </a:pPr>
            <a:r>
              <a:rPr sz="2200" i="0">
                <a:solidFill>
                  <a:srgbClr val="8792A8"/>
                </a:solidFill>
                <a:latin typeface="Courier New"/>
              </a:rPr>
              <a:t>2</a:t>
            </a:r>
          </a:p>
          <a:p>
            <a:pPr>
              <a:lnSpc>
                <a:spcPts val="2684"/>
              </a:lnSpc>
              <a:spcBef>
                <a:spcPts val="0"/>
              </a:spcBef>
              <a:spcAft>
                <a:spcPts val="0"/>
              </a:spcAft>
            </a:pPr>
            <a:r>
              <a:rPr sz="2200" i="0">
                <a:solidFill>
                  <a:srgbClr val="8792A8"/>
                </a:solidFill>
                <a:latin typeface="Courier New"/>
              </a:rPr>
              <a:t>3</a:t>
            </a:r>
          </a:p>
          <a:p>
            <a:pPr>
              <a:lnSpc>
                <a:spcPts val="2684"/>
              </a:lnSpc>
              <a:spcBef>
                <a:spcPts val="0"/>
              </a:spcBef>
              <a:spcAft>
                <a:spcPts val="0"/>
              </a:spcAft>
            </a:pPr>
            <a:r>
              <a:rPr sz="2200" i="0">
                <a:solidFill>
                  <a:srgbClr val="8792A8"/>
                </a:solidFill>
                <a:latin typeface="Courier New"/>
              </a:rPr>
              <a:t>4</a:t>
            </a:r>
          </a:p>
          <a:p>
            <a:pPr>
              <a:lnSpc>
                <a:spcPts val="2684"/>
              </a:lnSpc>
              <a:spcBef>
                <a:spcPts val="0"/>
              </a:spcBef>
              <a:spcAft>
                <a:spcPts val="0"/>
              </a:spcAft>
            </a:pPr>
            <a:r>
              <a:rPr sz="2200" i="0">
                <a:solidFill>
                  <a:srgbClr val="8792A8"/>
                </a:solidFill>
                <a:latin typeface="Courier New"/>
              </a:rPr>
              <a:t>5</a:t>
            </a:r>
          </a:p>
        </p:txBody>
      </p:sp>
      <p:sp>
        <p:nvSpPr>
          <p:cNvPr id="6" name="Code"/>
          <p:cNvSpPr txBox="1"/>
          <p:nvPr/>
        </p:nvSpPr>
        <p:spPr>
          <a:xfrm>
            <a:off x="1399031" y="3310128"/>
            <a:ext cx="9896551" cy="1704340"/>
          </a:xfrm>
          <a:prstGeom prst="rect">
            <a:avLst/>
          </a:prstGeom>
          <a:noFill/>
        </p:spPr>
        <p:txBody>
          <a:bodyPr wrap="none" lIns="0" rIns="0" tIns="0" bIns="0">
            <a:noAutofit/>
          </a:bodyPr>
          <a:lstStyle/>
          <a:p>
            <a:pPr>
              <a:lnSpc>
                <a:spcPts val="2684"/>
              </a:lnSpc>
              <a:spcBef>
                <a:spcPts val="0"/>
              </a:spcBef>
              <a:spcAft>
                <a:spcPts val="0"/>
              </a:spcAft>
            </a:pPr>
            <a:r>
              <a:rPr sz="2200" i="0">
                <a:solidFill>
                  <a:srgbClr val="C792EA"/>
                </a:solidFill>
                <a:latin typeface="Courier New"/>
              </a:rPr>
              <a:t>val</a:t>
            </a:r>
            <a:r>
              <a:rPr sz="2200" i="0">
                <a:solidFill>
                  <a:srgbClr val="E6E9EF"/>
                </a:solidFill>
                <a:latin typeface="Courier New"/>
              </a:rPr>
              <a:t> </a:t>
            </a:r>
            <a:r>
              <a:rPr sz="2200" i="0">
                <a:solidFill>
                  <a:srgbClr val="E6E9EF"/>
                </a:solidFill>
                <a:latin typeface="Courier New"/>
              </a:rPr>
              <a:t>event1</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Navruz konserti</a:t>
            </a:r>
            <a:r>
              <a:rPr sz="2200" i="0">
                <a:solidFill>
                  <a:srgbClr val="A5E3A1"/>
                </a:solidFill>
                <a:latin typeface="Courier New"/>
              </a:rPr>
              <a:t>"</a:t>
            </a:r>
          </a:p>
          <a:p>
            <a:pPr>
              <a:lnSpc>
                <a:spcPts val="2684"/>
              </a:lnSpc>
              <a:spcBef>
                <a:spcPts val="0"/>
              </a:spcBef>
              <a:spcAft>
                <a:spcPts val="0"/>
              </a:spcAft>
            </a:pPr>
            <a:r>
              <a:rPr sz="2200" i="0">
                <a:solidFill>
                  <a:srgbClr val="C792EA"/>
                </a:solidFill>
                <a:latin typeface="Courier New"/>
              </a:rPr>
              <a:t>val</a:t>
            </a:r>
            <a:r>
              <a:rPr sz="2200" i="0">
                <a:solidFill>
                  <a:srgbClr val="E6E9EF"/>
                </a:solidFill>
                <a:latin typeface="Courier New"/>
              </a:rPr>
              <a:t> </a:t>
            </a:r>
            <a:r>
              <a:rPr sz="2200" i="0">
                <a:solidFill>
                  <a:srgbClr val="E6E9EF"/>
                </a:solidFill>
                <a:latin typeface="Courier New"/>
              </a:rPr>
              <a:t>price1</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78C6C"/>
                </a:solidFill>
                <a:latin typeface="Courier New"/>
              </a:rPr>
              <a:t>1</a:t>
            </a:r>
            <a:r>
              <a:rPr sz="2200" i="0">
                <a:solidFill>
                  <a:srgbClr val="F78C6C"/>
                </a:solidFill>
                <a:latin typeface="Courier New"/>
              </a:rPr>
              <a:t>5</a:t>
            </a:r>
            <a:r>
              <a:rPr sz="2200" i="0">
                <a:solidFill>
                  <a:srgbClr val="F78C6C"/>
                </a:solidFill>
                <a:latin typeface="Courier New"/>
              </a:rPr>
              <a:t>0</a:t>
            </a:r>
            <a:r>
              <a:rPr sz="2200" i="0">
                <a:solidFill>
                  <a:srgbClr val="F78C6C"/>
                </a:solidFill>
                <a:latin typeface="Courier New"/>
              </a:rPr>
              <a:t>0</a:t>
            </a:r>
            <a:r>
              <a:rPr sz="2200" i="0">
                <a:solidFill>
                  <a:srgbClr val="F78C6C"/>
                </a:solidFill>
                <a:latin typeface="Courier New"/>
              </a:rPr>
              <a:t>0</a:t>
            </a:r>
            <a:r>
              <a:rPr sz="2200" i="0">
                <a:solidFill>
                  <a:srgbClr val="F78C6C"/>
                </a:solidFill>
                <a:latin typeface="Courier New"/>
              </a:rPr>
              <a:t>0</a:t>
            </a:r>
          </a:p>
          <a:p>
            <a:pPr>
              <a:lnSpc>
                <a:spcPts val="2684"/>
              </a:lnSpc>
              <a:spcBef>
                <a:spcPts val="0"/>
              </a:spcBef>
              <a:spcAft>
                <a:spcPts val="0"/>
              </a:spcAft>
            </a:pPr>
            <a:r>
              <a:rPr sz="2200" i="0">
                <a:solidFill>
                  <a:srgbClr val="C792EA"/>
                </a:solidFill>
                <a:latin typeface="Courier New"/>
              </a:rPr>
              <a:t>val</a:t>
            </a:r>
            <a:r>
              <a:rPr sz="2200" i="0">
                <a:solidFill>
                  <a:srgbClr val="E6E9EF"/>
                </a:solidFill>
                <a:latin typeface="Courier New"/>
              </a:rPr>
              <a:t> </a:t>
            </a:r>
            <a:r>
              <a:rPr sz="2200" i="0">
                <a:solidFill>
                  <a:srgbClr val="E6E9EF"/>
                </a:solidFill>
                <a:latin typeface="Courier New"/>
              </a:rPr>
              <a:t>event2</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A5E3A1"/>
                </a:solidFill>
                <a:latin typeface="Courier New"/>
              </a:rPr>
              <a:t>"</a:t>
            </a:r>
            <a:r>
              <a:rPr sz="2200" i="0">
                <a:solidFill>
                  <a:srgbClr val="A5E3A1"/>
                </a:solidFill>
                <a:latin typeface="Courier New"/>
              </a:rPr>
              <a:t>Rok kechasi</a:t>
            </a:r>
            <a:r>
              <a:rPr sz="2200" i="0">
                <a:solidFill>
                  <a:srgbClr val="A5E3A1"/>
                </a:solidFill>
                <a:latin typeface="Courier New"/>
              </a:rPr>
              <a:t>"</a:t>
            </a:r>
          </a:p>
          <a:p>
            <a:pPr>
              <a:lnSpc>
                <a:spcPts val="2684"/>
              </a:lnSpc>
              <a:spcBef>
                <a:spcPts val="0"/>
              </a:spcBef>
              <a:spcAft>
                <a:spcPts val="0"/>
              </a:spcAft>
            </a:pPr>
            <a:r>
              <a:rPr sz="2200" i="0">
                <a:solidFill>
                  <a:srgbClr val="C792EA"/>
                </a:solidFill>
                <a:latin typeface="Courier New"/>
              </a:rPr>
              <a:t>val</a:t>
            </a:r>
            <a:r>
              <a:rPr sz="2200" i="0">
                <a:solidFill>
                  <a:srgbClr val="E6E9EF"/>
                </a:solidFill>
                <a:latin typeface="Courier New"/>
              </a:rPr>
              <a:t> </a:t>
            </a:r>
            <a:r>
              <a:rPr sz="2200" i="0">
                <a:solidFill>
                  <a:srgbClr val="E6E9EF"/>
                </a:solidFill>
                <a:latin typeface="Courier New"/>
              </a:rPr>
              <a:t>price2</a:t>
            </a:r>
            <a:r>
              <a:rPr sz="2200" i="0">
                <a:solidFill>
                  <a:srgbClr val="E6E9EF"/>
                </a:solidFill>
                <a:latin typeface="Courier New"/>
              </a:rPr>
              <a:t> </a:t>
            </a:r>
            <a:r>
              <a:rPr sz="2200" i="0">
                <a:solidFill>
                  <a:srgbClr val="89DDFF"/>
                </a:solidFill>
                <a:latin typeface="Courier New"/>
              </a:rPr>
              <a:t>=</a:t>
            </a:r>
            <a:r>
              <a:rPr sz="2200" i="0">
                <a:solidFill>
                  <a:srgbClr val="E6E9EF"/>
                </a:solidFill>
                <a:latin typeface="Courier New"/>
              </a:rPr>
              <a:t> </a:t>
            </a:r>
            <a:r>
              <a:rPr sz="2200" i="0">
                <a:solidFill>
                  <a:srgbClr val="F78C6C"/>
                </a:solidFill>
                <a:latin typeface="Courier New"/>
              </a:rPr>
              <a:t>9</a:t>
            </a:r>
            <a:r>
              <a:rPr sz="2200" i="0">
                <a:solidFill>
                  <a:srgbClr val="F78C6C"/>
                </a:solidFill>
                <a:latin typeface="Courier New"/>
              </a:rPr>
              <a:t>0</a:t>
            </a:r>
            <a:r>
              <a:rPr sz="2200" i="0">
                <a:solidFill>
                  <a:srgbClr val="F78C6C"/>
                </a:solidFill>
                <a:latin typeface="Courier New"/>
              </a:rPr>
              <a:t>0</a:t>
            </a:r>
            <a:r>
              <a:rPr sz="2200" i="0">
                <a:solidFill>
                  <a:srgbClr val="F78C6C"/>
                </a:solidFill>
                <a:latin typeface="Courier New"/>
              </a:rPr>
              <a:t>0</a:t>
            </a:r>
            <a:r>
              <a:rPr sz="2200" i="0">
                <a:solidFill>
                  <a:srgbClr val="F78C6C"/>
                </a:solidFill>
                <a:latin typeface="Courier New"/>
              </a:rPr>
              <a:t>0</a:t>
            </a:r>
          </a:p>
          <a:p>
            <a:pPr>
              <a:lnSpc>
                <a:spcPts val="2684"/>
              </a:lnSpc>
              <a:spcBef>
                <a:spcPts val="0"/>
              </a:spcBef>
              <a:spcAft>
                <a:spcPts val="0"/>
              </a:spcAft>
            </a:pPr>
            <a:r>
              <a:rPr sz="2200" i="0">
                <a:solidFill>
                  <a:srgbClr val="89DDFF"/>
                </a:solidFill>
                <a:latin typeface="Courier New"/>
              </a:rPr>
              <a:t>/</a:t>
            </a:r>
            <a:r>
              <a:rPr sz="2200" i="0">
                <a:solidFill>
                  <a:srgbClr val="89DDFF"/>
                </a:solidFill>
                <a:latin typeface="Courier New"/>
              </a:rPr>
              <a:t>/</a:t>
            </a:r>
            <a:r>
              <a:rPr sz="2200" i="0">
                <a:solidFill>
                  <a:srgbClr val="E6E9EF"/>
                </a:solidFill>
                <a:latin typeface="Courier New"/>
              </a:rPr>
              <a:t> </a:t>
            </a:r>
            <a:r>
              <a:rPr sz="2200" i="0">
                <a:solidFill>
                  <a:srgbClr val="C3CCDA"/>
                </a:solidFill>
                <a:latin typeface="Courier New"/>
              </a:rPr>
              <a:t>.</a:t>
            </a:r>
            <a:r>
              <a:rPr sz="2200" i="0">
                <a:solidFill>
                  <a:srgbClr val="C3CCDA"/>
                </a:solidFill>
                <a:latin typeface="Courier New"/>
              </a:rPr>
              <a:t>.</a:t>
            </a:r>
            <a:r>
              <a:rPr sz="2200" i="0">
                <a:solidFill>
                  <a:srgbClr val="C3CCDA"/>
                </a:solidFill>
                <a:latin typeface="Courier New"/>
              </a:rPr>
              <a:t>.</a:t>
            </a:r>
            <a:r>
              <a:rPr sz="2200" i="0">
                <a:solidFill>
                  <a:srgbClr val="E6E9EF"/>
                </a:solidFill>
                <a:latin typeface="Courier New"/>
              </a:rPr>
              <a:t> </a:t>
            </a:r>
            <a:r>
              <a:rPr sz="2200" i="0">
                <a:solidFill>
                  <a:srgbClr val="E6E9EF"/>
                </a:solidFill>
                <a:latin typeface="Courier New"/>
              </a:rPr>
              <a:t>yana</a:t>
            </a:r>
            <a:r>
              <a:rPr sz="2200" i="0">
                <a:solidFill>
                  <a:srgbClr val="E6E9EF"/>
                </a:solidFill>
                <a:latin typeface="Courier New"/>
              </a:rPr>
              <a:t> </a:t>
            </a:r>
            <a:r>
              <a:rPr sz="2200" i="0">
                <a:solidFill>
                  <a:srgbClr val="F78C6C"/>
                </a:solidFill>
                <a:latin typeface="Courier New"/>
              </a:rPr>
              <a:t>4</a:t>
            </a:r>
            <a:r>
              <a:rPr sz="2200" i="0">
                <a:solidFill>
                  <a:srgbClr val="F78C6C"/>
                </a:solidFill>
                <a:latin typeface="Courier New"/>
              </a:rPr>
              <a:t>9</a:t>
            </a:r>
            <a:r>
              <a:rPr sz="2200" i="0">
                <a:solidFill>
                  <a:srgbClr val="F78C6C"/>
                </a:solidFill>
                <a:latin typeface="Courier New"/>
              </a:rPr>
              <a:t>8</a:t>
            </a:r>
            <a:r>
              <a:rPr sz="2200" i="0">
                <a:solidFill>
                  <a:srgbClr val="E6E9EF"/>
                </a:solidFill>
                <a:latin typeface="Courier New"/>
              </a:rPr>
              <a:t> </a:t>
            </a:r>
            <a:r>
              <a:rPr sz="2200" i="0">
                <a:solidFill>
                  <a:srgbClr val="E6E9EF"/>
                </a:solidFill>
                <a:latin typeface="Courier New"/>
              </a:rPr>
              <a:t>ta</a:t>
            </a:r>
            <a:r>
              <a:rPr sz="2200" i="0">
                <a:solidFill>
                  <a:srgbClr val="E6E9EF"/>
                </a:solidFill>
                <a:latin typeface="Courier New"/>
              </a:rPr>
              <a:t> </a:t>
            </a:r>
            <a:r>
              <a:rPr sz="2200" i="0">
                <a:solidFill>
                  <a:srgbClr val="E6E9EF"/>
                </a:solidFill>
                <a:latin typeface="Courier New"/>
              </a:rPr>
              <a:t>chipta</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BUGUN</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Bugun nimani o'rganamiz</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class</a:t>
            </a:r>
            <a:r>
              <a:rPr sz="2600" b="0" i="0">
                <a:solidFill>
                  <a:srgbClr val="111111"/>
                </a:solidFill>
                <a:latin typeface="Arial"/>
              </a:rPr>
              <a:t> va asosiy konstruktor bilan o'z sinfini </a:t>
            </a:r>
            <a:r>
              <a:rPr sz="2600" b="1" i="0">
                <a:solidFill>
                  <a:srgbClr val="111111"/>
                </a:solidFill>
                <a:latin typeface="Arial"/>
              </a:rPr>
              <a:t>yoza oladi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val</a:t>
            </a:r>
            <a:r>
              <a:rPr sz="2600" b="0" i="0">
                <a:solidFill>
                  <a:srgbClr val="111111"/>
                </a:solidFill>
                <a:latin typeface="Arial"/>
              </a:rPr>
              <a:t>, </a:t>
            </a:r>
            <a:r>
              <a:rPr sz="2600" b="0" i="0">
                <a:solidFill>
                  <a:srgbClr val="0052CC"/>
                </a:solidFill>
                <a:latin typeface="Courier New"/>
              </a:rPr>
              <a:t>var</a:t>
            </a:r>
            <a:r>
              <a:rPr sz="2600" b="0" i="0">
                <a:solidFill>
                  <a:srgbClr val="111111"/>
                </a:solidFill>
                <a:latin typeface="Arial"/>
              </a:rPr>
              <a:t> va oddiy parametr farqini </a:t>
            </a:r>
            <a:r>
              <a:rPr sz="2600" b="1" i="0">
                <a:solidFill>
                  <a:srgbClr val="111111"/>
                </a:solidFill>
                <a:latin typeface="Arial"/>
              </a:rPr>
              <a:t>tushuntira oladi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Standart qiymat, </a:t>
            </a:r>
            <a:r>
              <a:rPr sz="2600" b="0" i="0">
                <a:solidFill>
                  <a:srgbClr val="0052CC"/>
                </a:solidFill>
                <a:latin typeface="Courier New"/>
              </a:rPr>
              <a:t>init</a:t>
            </a:r>
            <a:r>
              <a:rPr sz="2600" b="0" i="0">
                <a:solidFill>
                  <a:srgbClr val="111111"/>
                </a:solidFill>
                <a:latin typeface="Arial"/>
              </a:rPr>
              <a:t> va </a:t>
            </a:r>
            <a:r>
              <a:rPr sz="2600" b="0" i="0">
                <a:solidFill>
                  <a:srgbClr val="0052CC"/>
                </a:solidFill>
                <a:latin typeface="Courier New"/>
              </a:rPr>
              <a:t>require</a:t>
            </a:r>
            <a:r>
              <a:rPr sz="2600" b="0" i="0">
                <a:solidFill>
                  <a:srgbClr val="111111"/>
                </a:solidFill>
                <a:latin typeface="Arial"/>
              </a:rPr>
              <a:t> bilan to'g'ri obyekt </a:t>
            </a:r>
            <a:r>
              <a:rPr sz="2600" b="1" i="0">
                <a:solidFill>
                  <a:srgbClr val="111111"/>
                </a:solidFill>
                <a:latin typeface="Arial"/>
              </a:rPr>
              <a:t>yarata oladi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init</a:t>
            </a:r>
            <a:r>
              <a:rPr sz="2600" b="0" i="0">
                <a:solidFill>
                  <a:srgbClr val="111111"/>
                </a:solidFill>
                <a:latin typeface="Arial"/>
              </a:rPr>
              <a:t> va ikkilamchi konstruktorning bajarilish tartibini </a:t>
            </a:r>
            <a:r>
              <a:rPr sz="2600" b="1" i="0">
                <a:solidFill>
                  <a:srgbClr val="111111"/>
                </a:solidFill>
                <a:latin typeface="Arial"/>
              </a:rPr>
              <a:t>kuzata oladi</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01</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Sinf va obyekt</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SINF VA OBYEKT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Sinf — obyekt yasash uchun qolip</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sinf</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qolip: chipta qanday bo'lishini tasvirlaydi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obyekt</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qolipdan yasalgan haqiqiy chipta</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xossa</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obyektda saqlanadigan qiymat: nom, narx</a:t>
            </a:r>
          </a:p>
        </p:txBody>
      </p:sp>
      <p:sp>
        <p:nvSpPr>
          <p:cNvPr id="10" name="Term 4"/>
          <p:cNvSpPr txBox="1"/>
          <p:nvPr/>
        </p:nvSpPr>
        <p:spPr>
          <a:xfrm>
            <a:off x="640080" y="4754879"/>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konstruktor</a:t>
            </a:r>
          </a:p>
        </p:txBody>
      </p:sp>
      <p:sp>
        <p:nvSpPr>
          <p:cNvPr id="11" name="Meaning 4"/>
          <p:cNvSpPr txBox="1"/>
          <p:nvPr/>
        </p:nvSpPr>
        <p:spPr>
          <a:xfrm>
            <a:off x="4754880" y="477316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obyektni yasaydigan chaqiruv</a:t>
            </a:r>
          </a:p>
        </p:txBody>
      </p:sp>
      <p:sp>
        <p:nvSpPr>
          <p:cNvPr id="12"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3"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SINF VA OBYEKT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Sinf nomini funksiya kabi chaqirsak, yangi obyekt yaratiladi</a:t>
            </a:r>
          </a:p>
        </p:txBody>
      </p:sp>
      <p:sp>
        <p:nvSpPr>
          <p:cNvPr id="4" name="Code panel"/>
          <p:cNvSpPr/>
          <p:nvPr/>
        </p:nvSpPr>
        <p:spPr>
          <a:xfrm>
            <a:off x="640080" y="2148840"/>
            <a:ext cx="7619695" cy="2571495"/>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00049" cy="2169159"/>
          </a:xfrm>
          <a:prstGeom prst="rect">
            <a:avLst/>
          </a:prstGeom>
          <a:noFill/>
        </p:spPr>
        <p:txBody>
          <a:bodyPr wrap="none" lIns="0" rIns="0" tIns="0" bIns="0">
            <a:noAutofit/>
          </a:bodyPr>
          <a:lstStyle/>
          <a:p>
            <a:pPr>
              <a:lnSpc>
                <a:spcPts val="2135"/>
              </a:lnSpc>
              <a:spcBef>
                <a:spcPts val="0"/>
              </a:spcBef>
              <a:spcAft>
                <a:spcPts val="0"/>
              </a:spcAft>
            </a:pPr>
            <a:r>
              <a:rPr sz="1750" i="0">
                <a:solidFill>
                  <a:srgbClr val="8792A8"/>
                </a:solidFill>
                <a:latin typeface="Courier New"/>
              </a:rPr>
              <a:t>1</a:t>
            </a:r>
          </a:p>
          <a:p>
            <a:pPr>
              <a:lnSpc>
                <a:spcPts val="2135"/>
              </a:lnSpc>
              <a:spcBef>
                <a:spcPts val="0"/>
              </a:spcBef>
              <a:spcAft>
                <a:spcPts val="0"/>
              </a:spcAft>
            </a:pPr>
            <a:r>
              <a:rPr sz="1750" i="0">
                <a:solidFill>
                  <a:srgbClr val="8792A8"/>
                </a:solidFill>
                <a:latin typeface="Courier New"/>
              </a:rPr>
              <a:t>2</a:t>
            </a:r>
          </a:p>
          <a:p>
            <a:pPr>
              <a:lnSpc>
                <a:spcPts val="2135"/>
              </a:lnSpc>
              <a:spcBef>
                <a:spcPts val="0"/>
              </a:spcBef>
              <a:spcAft>
                <a:spcPts val="0"/>
              </a:spcAft>
            </a:pPr>
            <a:r>
              <a:rPr sz="1750" i="0">
                <a:solidFill>
                  <a:srgbClr val="8792A8"/>
                </a:solidFill>
                <a:latin typeface="Courier New"/>
              </a:rPr>
              <a:t>3</a:t>
            </a:r>
          </a:p>
          <a:p>
            <a:pPr>
              <a:lnSpc>
                <a:spcPts val="2135"/>
              </a:lnSpc>
              <a:spcBef>
                <a:spcPts val="0"/>
              </a:spcBef>
              <a:spcAft>
                <a:spcPts val="0"/>
              </a:spcAft>
            </a:pPr>
            <a:r>
              <a:rPr sz="1750" i="0">
                <a:solidFill>
                  <a:srgbClr val="8792A8"/>
                </a:solidFill>
                <a:latin typeface="Courier New"/>
              </a:rPr>
              <a:t>4</a:t>
            </a:r>
          </a:p>
          <a:p>
            <a:pPr>
              <a:lnSpc>
                <a:spcPts val="2135"/>
              </a:lnSpc>
              <a:spcBef>
                <a:spcPts val="0"/>
              </a:spcBef>
              <a:spcAft>
                <a:spcPts val="0"/>
              </a:spcAft>
            </a:pPr>
            <a:r>
              <a:rPr sz="1750" i="0">
                <a:solidFill>
                  <a:srgbClr val="8792A8"/>
                </a:solidFill>
                <a:latin typeface="Courier New"/>
              </a:rPr>
              <a:t>5</a:t>
            </a:r>
          </a:p>
          <a:p>
            <a:pPr>
              <a:lnSpc>
                <a:spcPts val="2135"/>
              </a:lnSpc>
              <a:spcBef>
                <a:spcPts val="0"/>
              </a:spcBef>
              <a:spcAft>
                <a:spcPts val="0"/>
              </a:spcAft>
            </a:pPr>
            <a:r>
              <a:rPr sz="1750" i="0">
                <a:solidFill>
                  <a:srgbClr val="8792A8"/>
                </a:solidFill>
                <a:latin typeface="Courier New"/>
              </a:rPr>
              <a:t>6</a:t>
            </a:r>
          </a:p>
          <a:p>
            <a:pPr>
              <a:lnSpc>
                <a:spcPts val="2135"/>
              </a:lnSpc>
              <a:spcBef>
                <a:spcPts val="0"/>
              </a:spcBef>
              <a:spcAft>
                <a:spcPts val="0"/>
              </a:spcAft>
            </a:pPr>
            <a:r>
              <a:rPr sz="1750" i="0">
                <a:solidFill>
                  <a:srgbClr val="8792A8"/>
                </a:solidFill>
                <a:latin typeface="Courier New"/>
              </a:rPr>
              <a:t>7</a:t>
            </a:r>
          </a:p>
          <a:p>
            <a:pPr>
              <a:lnSpc>
                <a:spcPts val="2135"/>
              </a:lnSpc>
              <a:spcBef>
                <a:spcPts val="0"/>
              </a:spcBef>
              <a:spcAft>
                <a:spcPts val="0"/>
              </a:spcAft>
            </a:pPr>
            <a:r>
              <a:rPr sz="1750" i="0">
                <a:solidFill>
                  <a:srgbClr val="8792A8"/>
                </a:solidFill>
                <a:latin typeface="Courier New"/>
              </a:rPr>
              <a:t>8</a:t>
            </a:r>
          </a:p>
        </p:txBody>
      </p:sp>
      <p:sp>
        <p:nvSpPr>
          <p:cNvPr id="6" name="Code"/>
          <p:cNvSpPr txBox="1"/>
          <p:nvPr/>
        </p:nvSpPr>
        <p:spPr>
          <a:xfrm>
            <a:off x="1296162" y="2350008"/>
            <a:ext cx="6707581" cy="2169159"/>
          </a:xfrm>
          <a:prstGeom prst="rect">
            <a:avLst/>
          </a:prstGeom>
          <a:noFill/>
        </p:spPr>
        <p:txBody>
          <a:bodyPr wrap="none" lIns="0" rIns="0" tIns="0" bIns="0">
            <a:noAutofit/>
          </a:bodyPr>
          <a:lstStyle/>
          <a:p>
            <a:pPr>
              <a:lnSpc>
                <a:spcPts val="2135"/>
              </a:lnSpc>
              <a:spcBef>
                <a:spcPts val="0"/>
              </a:spcBef>
              <a:spcAft>
                <a:spcPts val="0"/>
              </a:spcAft>
            </a:pPr>
            <a:r>
              <a:rPr sz="1750" i="0">
                <a:solidFill>
                  <a:srgbClr val="C792EA"/>
                </a:solidFill>
                <a:latin typeface="Courier New"/>
              </a:rPr>
              <a:t>class</a:t>
            </a:r>
            <a:r>
              <a:rPr sz="1750" i="0">
                <a:solidFill>
                  <a:srgbClr val="E6E9EF"/>
                </a:solidFill>
                <a:latin typeface="Courier New"/>
              </a:rPr>
              <a:t> </a:t>
            </a:r>
            <a:r>
              <a:rPr sz="1750" i="0">
                <a:solidFill>
                  <a:srgbClr val="FFCB6B"/>
                </a:solidFill>
                <a:latin typeface="Courier New"/>
              </a:rPr>
              <a:t>Ticket</a:t>
            </a:r>
            <a:r>
              <a:rPr sz="1750" i="0">
                <a:solidFill>
                  <a:srgbClr val="C3CCDA"/>
                </a:solidFill>
                <a:latin typeface="Courier New"/>
              </a:rPr>
              <a:t>(</a:t>
            </a:r>
            <a:r>
              <a:rPr sz="1750" i="0">
                <a:solidFill>
                  <a:srgbClr val="C792EA"/>
                </a:solidFill>
                <a:latin typeface="Courier New"/>
              </a:rPr>
              <a:t>val</a:t>
            </a:r>
            <a:r>
              <a:rPr sz="1750" i="0">
                <a:solidFill>
                  <a:srgbClr val="E6E9EF"/>
                </a:solidFill>
                <a:latin typeface="Courier New"/>
              </a:rPr>
              <a:t> </a:t>
            </a:r>
            <a:r>
              <a:rPr sz="1750" i="0">
                <a:solidFill>
                  <a:srgbClr val="E6E9EF"/>
                </a:solidFill>
                <a:latin typeface="Courier New"/>
              </a:rPr>
              <a:t>event</a:t>
            </a:r>
            <a:r>
              <a:rPr sz="1750" i="0">
                <a:solidFill>
                  <a:srgbClr val="C3CCDA"/>
                </a:solidFill>
                <a:latin typeface="Courier New"/>
              </a:rPr>
              <a:t>:</a:t>
            </a:r>
            <a:r>
              <a:rPr sz="1750" i="0">
                <a:solidFill>
                  <a:srgbClr val="E6E9EF"/>
                </a:solidFill>
                <a:latin typeface="Courier New"/>
              </a:rPr>
              <a:t> </a:t>
            </a:r>
            <a:r>
              <a:rPr sz="1750" i="0">
                <a:solidFill>
                  <a:srgbClr val="C792EA"/>
                </a:solidFill>
                <a:latin typeface="Courier New"/>
              </a:rPr>
              <a:t>String</a:t>
            </a:r>
            <a:r>
              <a:rPr sz="1750" i="0">
                <a:solidFill>
                  <a:srgbClr val="C3CCDA"/>
                </a:solidFill>
                <a:latin typeface="Courier New"/>
              </a:rPr>
              <a:t>,</a:t>
            </a:r>
            <a:r>
              <a:rPr sz="1750" i="0">
                <a:solidFill>
                  <a:srgbClr val="E6E9EF"/>
                </a:solidFill>
                <a:latin typeface="Courier New"/>
              </a:rPr>
              <a:t> </a:t>
            </a:r>
            <a:r>
              <a:rPr sz="1750" i="0">
                <a:solidFill>
                  <a:srgbClr val="C792EA"/>
                </a:solidFill>
                <a:latin typeface="Courier New"/>
              </a:rPr>
              <a:t>var</a:t>
            </a:r>
            <a:r>
              <a:rPr sz="1750" i="0">
                <a:solidFill>
                  <a:srgbClr val="E6E9EF"/>
                </a:solidFill>
                <a:latin typeface="Courier New"/>
              </a:rPr>
              <a:t> </a:t>
            </a:r>
            <a:r>
              <a:rPr sz="1750" i="0">
                <a:solidFill>
                  <a:srgbClr val="E6E9EF"/>
                </a:solidFill>
                <a:latin typeface="Courier New"/>
              </a:rPr>
              <a:t>price</a:t>
            </a:r>
            <a:r>
              <a:rPr sz="1750" i="0">
                <a:solidFill>
                  <a:srgbClr val="C3CCDA"/>
                </a:solidFill>
                <a:latin typeface="Courier New"/>
              </a:rPr>
              <a:t>:</a:t>
            </a:r>
            <a:r>
              <a:rPr sz="1750" i="0">
                <a:solidFill>
                  <a:srgbClr val="E6E9EF"/>
                </a:solidFill>
                <a:latin typeface="Courier New"/>
              </a:rPr>
              <a:t> </a:t>
            </a:r>
            <a:r>
              <a:rPr sz="1750" i="0">
                <a:solidFill>
                  <a:srgbClr val="C792EA"/>
                </a:solidFill>
                <a:latin typeface="Courier New"/>
              </a:rPr>
              <a:t>Int</a:t>
            </a:r>
            <a:r>
              <a:rPr sz="1750" i="0">
                <a:solidFill>
                  <a:srgbClr val="C3CCDA"/>
                </a:solidFill>
                <a:latin typeface="Courier New"/>
              </a:rPr>
              <a:t>)</a:t>
            </a:r>
          </a:p>
          <a:p>
            <a:pPr>
              <a:lnSpc>
                <a:spcPts val="2135"/>
              </a:lnSpc>
              <a:spcBef>
                <a:spcPts val="0"/>
              </a:spcBef>
              <a:spcAft>
                <a:spcPts val="0"/>
              </a:spcAft>
            </a:pPr>
            <a:r>
              <a:rPr sz="1750" i="0">
                <a:solidFill>
                  <a:srgbClr val="E6E9EF"/>
                </a:solidFill>
                <a:latin typeface="Courier New"/>
              </a:rPr>
              <a:t> </a:t>
            </a:r>
          </a:p>
          <a:p>
            <a:pPr>
              <a:lnSpc>
                <a:spcPts val="2135"/>
              </a:lnSpc>
              <a:spcBef>
                <a:spcPts val="0"/>
              </a:spcBef>
              <a:spcAft>
                <a:spcPts val="0"/>
              </a:spcAft>
            </a:pPr>
            <a:r>
              <a:rPr sz="1750" i="0">
                <a:solidFill>
                  <a:srgbClr val="C792EA"/>
                </a:solidFill>
                <a:latin typeface="Courier New"/>
              </a:rPr>
              <a:t>fun</a:t>
            </a:r>
            <a:r>
              <a:rPr sz="1750" i="0">
                <a:solidFill>
                  <a:srgbClr val="E6E9EF"/>
                </a:solidFill>
                <a:latin typeface="Courier New"/>
              </a:rPr>
              <a:t> </a:t>
            </a:r>
            <a:r>
              <a:rPr sz="1750" i="0">
                <a:solidFill>
                  <a:srgbClr val="82AAFF"/>
                </a:solidFill>
                <a:latin typeface="Courier New"/>
              </a:rPr>
              <a:t>main</a:t>
            </a:r>
            <a:r>
              <a:rPr sz="1750" i="0">
                <a:solidFill>
                  <a:srgbClr val="C3CCDA"/>
                </a:solidFill>
                <a:latin typeface="Courier New"/>
              </a:rPr>
              <a:t>(</a:t>
            </a:r>
            <a:r>
              <a:rPr sz="1750" i="0">
                <a:solidFill>
                  <a:srgbClr val="C3CCDA"/>
                </a:solidFill>
                <a:latin typeface="Courier New"/>
              </a:rPr>
              <a:t>)</a:t>
            </a:r>
            <a:r>
              <a:rPr sz="1750" i="0">
                <a:solidFill>
                  <a:srgbClr val="E6E9EF"/>
                </a:solidFill>
                <a:latin typeface="Courier New"/>
              </a:rPr>
              <a:t> </a:t>
            </a:r>
            <a:r>
              <a:rPr sz="1750" i="0">
                <a:solidFill>
                  <a:srgbClr val="C3CCDA"/>
                </a:solidFill>
                <a:latin typeface="Courier New"/>
              </a:rPr>
              <a:t>{</a:t>
            </a:r>
          </a:p>
          <a:p>
            <a:pPr>
              <a:lnSpc>
                <a:spcPts val="2135"/>
              </a:lnSpc>
              <a:spcBef>
                <a:spcPts val="0"/>
              </a:spcBef>
              <a:spcAft>
                <a:spcPts val="0"/>
              </a:spcAft>
            </a:pPr>
            <a:r>
              <a:rPr sz="1750" i="0">
                <a:solidFill>
                  <a:srgbClr val="E6E9EF"/>
                </a:solidFill>
                <a:latin typeface="Courier New"/>
              </a:rPr>
              <a:t>    </a:t>
            </a:r>
            <a:r>
              <a:rPr sz="1750" i="0">
                <a:solidFill>
                  <a:srgbClr val="C792EA"/>
                </a:solidFill>
                <a:latin typeface="Courier New"/>
              </a:rPr>
              <a:t>val</a:t>
            </a:r>
            <a:r>
              <a:rPr sz="1750" i="0">
                <a:solidFill>
                  <a:srgbClr val="E6E9EF"/>
                </a:solidFill>
                <a:latin typeface="Courier New"/>
              </a:rPr>
              <a:t> </a:t>
            </a:r>
            <a:r>
              <a:rPr sz="1750" i="0">
                <a:solidFill>
                  <a:srgbClr val="E6E9EF"/>
                </a:solidFill>
                <a:latin typeface="Courier New"/>
              </a:rPr>
              <a:t>first</a:t>
            </a:r>
            <a:r>
              <a:rPr sz="1750" i="0">
                <a:solidFill>
                  <a:srgbClr val="E6E9EF"/>
                </a:solidFill>
                <a:latin typeface="Courier New"/>
              </a:rPr>
              <a:t> </a:t>
            </a:r>
            <a:r>
              <a:rPr sz="1750" i="0">
                <a:solidFill>
                  <a:srgbClr val="89DDFF"/>
                </a:solidFill>
                <a:latin typeface="Courier New"/>
              </a:rPr>
              <a:t>=</a:t>
            </a:r>
            <a:r>
              <a:rPr sz="1750" i="0">
                <a:solidFill>
                  <a:srgbClr val="E6E9EF"/>
                </a:solidFill>
                <a:latin typeface="Courier New"/>
              </a:rPr>
              <a:t> </a:t>
            </a:r>
            <a:r>
              <a:rPr sz="1750" i="0">
                <a:solidFill>
                  <a:srgbClr val="E6E9EF"/>
                </a:solidFill>
                <a:latin typeface="Courier New"/>
              </a:rPr>
              <a:t>Ticket</a:t>
            </a:r>
            <a:r>
              <a:rPr sz="1750" i="0">
                <a:solidFill>
                  <a:srgbClr val="C3CCDA"/>
                </a:solidFill>
                <a:latin typeface="Courier New"/>
              </a:rPr>
              <a:t>(</a:t>
            </a:r>
            <a:r>
              <a:rPr sz="1750" i="0">
                <a:solidFill>
                  <a:srgbClr val="A5E3A1"/>
                </a:solidFill>
                <a:latin typeface="Courier New"/>
              </a:rPr>
              <a:t>"</a:t>
            </a:r>
            <a:r>
              <a:rPr sz="1750" i="0">
                <a:solidFill>
                  <a:srgbClr val="A5E3A1"/>
                </a:solidFill>
                <a:latin typeface="Courier New"/>
              </a:rPr>
              <a:t>Navruz konserti</a:t>
            </a:r>
            <a:r>
              <a:rPr sz="1750" i="0">
                <a:solidFill>
                  <a:srgbClr val="A5E3A1"/>
                </a:solidFill>
                <a:latin typeface="Courier New"/>
              </a:rPr>
              <a:t>"</a:t>
            </a:r>
            <a:r>
              <a:rPr sz="1750" i="0">
                <a:solidFill>
                  <a:srgbClr val="C3CCDA"/>
                </a:solidFill>
                <a:latin typeface="Courier New"/>
              </a:rPr>
              <a:t>,</a:t>
            </a:r>
            <a:r>
              <a:rPr sz="1750" i="0">
                <a:solidFill>
                  <a:srgbClr val="E6E9EF"/>
                </a:solidFill>
                <a:latin typeface="Courier New"/>
              </a:rPr>
              <a:t> </a:t>
            </a:r>
            <a:r>
              <a:rPr sz="1750" i="0">
                <a:solidFill>
                  <a:srgbClr val="F78C6C"/>
                </a:solidFill>
                <a:latin typeface="Courier New"/>
              </a:rPr>
              <a:t>1</a:t>
            </a:r>
            <a:r>
              <a:rPr sz="1750" i="0">
                <a:solidFill>
                  <a:srgbClr val="F78C6C"/>
                </a:solidFill>
                <a:latin typeface="Courier New"/>
              </a:rPr>
              <a:t>5</a:t>
            </a:r>
            <a:r>
              <a:rPr sz="1750" i="0">
                <a:solidFill>
                  <a:srgbClr val="F78C6C"/>
                </a:solidFill>
                <a:latin typeface="Courier New"/>
              </a:rPr>
              <a:t>0</a:t>
            </a:r>
            <a:r>
              <a:rPr sz="1750" i="0">
                <a:solidFill>
                  <a:srgbClr val="F78C6C"/>
                </a:solidFill>
                <a:latin typeface="Courier New"/>
              </a:rPr>
              <a:t>0</a:t>
            </a:r>
            <a:r>
              <a:rPr sz="1750" i="0">
                <a:solidFill>
                  <a:srgbClr val="F78C6C"/>
                </a:solidFill>
                <a:latin typeface="Courier New"/>
              </a:rPr>
              <a:t>0</a:t>
            </a:r>
            <a:r>
              <a:rPr sz="1750" i="0">
                <a:solidFill>
                  <a:srgbClr val="F78C6C"/>
                </a:solidFill>
                <a:latin typeface="Courier New"/>
              </a:rPr>
              <a:t>0</a:t>
            </a:r>
            <a:r>
              <a:rPr sz="1750" i="0">
                <a:solidFill>
                  <a:srgbClr val="C3CCDA"/>
                </a:solidFill>
                <a:latin typeface="Courier New"/>
              </a:rPr>
              <a:t>)</a:t>
            </a:r>
          </a:p>
          <a:p>
            <a:pPr>
              <a:lnSpc>
                <a:spcPts val="2135"/>
              </a:lnSpc>
              <a:spcBef>
                <a:spcPts val="0"/>
              </a:spcBef>
              <a:spcAft>
                <a:spcPts val="0"/>
              </a:spcAft>
            </a:pPr>
            <a:r>
              <a:rPr sz="1750" i="0">
                <a:solidFill>
                  <a:srgbClr val="E6E9EF"/>
                </a:solidFill>
                <a:latin typeface="Courier New"/>
              </a:rPr>
              <a:t>    </a:t>
            </a:r>
            <a:r>
              <a:rPr sz="1750" i="0">
                <a:solidFill>
                  <a:srgbClr val="C792EA"/>
                </a:solidFill>
                <a:latin typeface="Courier New"/>
              </a:rPr>
              <a:t>val</a:t>
            </a:r>
            <a:r>
              <a:rPr sz="1750" i="0">
                <a:solidFill>
                  <a:srgbClr val="E6E9EF"/>
                </a:solidFill>
                <a:latin typeface="Courier New"/>
              </a:rPr>
              <a:t> </a:t>
            </a:r>
            <a:r>
              <a:rPr sz="1750" i="0">
                <a:solidFill>
                  <a:srgbClr val="E6E9EF"/>
                </a:solidFill>
                <a:latin typeface="Courier New"/>
              </a:rPr>
              <a:t>second</a:t>
            </a:r>
            <a:r>
              <a:rPr sz="1750" i="0">
                <a:solidFill>
                  <a:srgbClr val="E6E9EF"/>
                </a:solidFill>
                <a:latin typeface="Courier New"/>
              </a:rPr>
              <a:t> </a:t>
            </a:r>
            <a:r>
              <a:rPr sz="1750" i="0">
                <a:solidFill>
                  <a:srgbClr val="89DDFF"/>
                </a:solidFill>
                <a:latin typeface="Courier New"/>
              </a:rPr>
              <a:t>=</a:t>
            </a:r>
            <a:r>
              <a:rPr sz="1750" i="0">
                <a:solidFill>
                  <a:srgbClr val="E6E9EF"/>
                </a:solidFill>
                <a:latin typeface="Courier New"/>
              </a:rPr>
              <a:t> </a:t>
            </a:r>
            <a:r>
              <a:rPr sz="1750" i="0">
                <a:solidFill>
                  <a:srgbClr val="E6E9EF"/>
                </a:solidFill>
                <a:latin typeface="Courier New"/>
              </a:rPr>
              <a:t>Ticket</a:t>
            </a:r>
            <a:r>
              <a:rPr sz="1750" i="0">
                <a:solidFill>
                  <a:srgbClr val="C3CCDA"/>
                </a:solidFill>
                <a:latin typeface="Courier New"/>
              </a:rPr>
              <a:t>(</a:t>
            </a:r>
            <a:r>
              <a:rPr sz="1750" i="0">
                <a:solidFill>
                  <a:srgbClr val="A5E3A1"/>
                </a:solidFill>
                <a:latin typeface="Courier New"/>
              </a:rPr>
              <a:t>"</a:t>
            </a:r>
            <a:r>
              <a:rPr sz="1750" i="0">
                <a:solidFill>
                  <a:srgbClr val="A5E3A1"/>
                </a:solidFill>
                <a:latin typeface="Courier New"/>
              </a:rPr>
              <a:t>Rok kechasi</a:t>
            </a:r>
            <a:r>
              <a:rPr sz="1750" i="0">
                <a:solidFill>
                  <a:srgbClr val="A5E3A1"/>
                </a:solidFill>
                <a:latin typeface="Courier New"/>
              </a:rPr>
              <a:t>"</a:t>
            </a:r>
            <a:r>
              <a:rPr sz="1750" i="0">
                <a:solidFill>
                  <a:srgbClr val="C3CCDA"/>
                </a:solidFill>
                <a:latin typeface="Courier New"/>
              </a:rPr>
              <a:t>,</a:t>
            </a:r>
            <a:r>
              <a:rPr sz="1750" i="0">
                <a:solidFill>
                  <a:srgbClr val="E6E9EF"/>
                </a:solidFill>
                <a:latin typeface="Courier New"/>
              </a:rPr>
              <a:t> </a:t>
            </a:r>
            <a:r>
              <a:rPr sz="1750" i="0">
                <a:solidFill>
                  <a:srgbClr val="F78C6C"/>
                </a:solidFill>
                <a:latin typeface="Courier New"/>
              </a:rPr>
              <a:t>9</a:t>
            </a:r>
            <a:r>
              <a:rPr sz="1750" i="0">
                <a:solidFill>
                  <a:srgbClr val="F78C6C"/>
                </a:solidFill>
                <a:latin typeface="Courier New"/>
              </a:rPr>
              <a:t>0</a:t>
            </a:r>
            <a:r>
              <a:rPr sz="1750" i="0">
                <a:solidFill>
                  <a:srgbClr val="F78C6C"/>
                </a:solidFill>
                <a:latin typeface="Courier New"/>
              </a:rPr>
              <a:t>0</a:t>
            </a:r>
            <a:r>
              <a:rPr sz="1750" i="0">
                <a:solidFill>
                  <a:srgbClr val="F78C6C"/>
                </a:solidFill>
                <a:latin typeface="Courier New"/>
              </a:rPr>
              <a:t>0</a:t>
            </a:r>
            <a:r>
              <a:rPr sz="1750" i="0">
                <a:solidFill>
                  <a:srgbClr val="F78C6C"/>
                </a:solidFill>
                <a:latin typeface="Courier New"/>
              </a:rPr>
              <a:t>0</a:t>
            </a:r>
            <a:r>
              <a:rPr sz="1750" i="0">
                <a:solidFill>
                  <a:srgbClr val="C3CCDA"/>
                </a:solidFill>
                <a:latin typeface="Courier New"/>
              </a:rPr>
              <a:t>)</a:t>
            </a:r>
          </a:p>
          <a:p>
            <a:pPr>
              <a:lnSpc>
                <a:spcPts val="2135"/>
              </a:lnSpc>
              <a:spcBef>
                <a:spcPts val="0"/>
              </a:spcBef>
              <a:spcAft>
                <a:spcPts val="0"/>
              </a:spcAft>
            </a:pPr>
            <a:r>
              <a:rPr sz="1750" i="0">
                <a:solidFill>
                  <a:srgbClr val="E6E9EF"/>
                </a:solidFill>
                <a:latin typeface="Courier New"/>
              </a:rPr>
              <a:t>    </a:t>
            </a:r>
            <a:r>
              <a:rPr sz="1750" i="0">
                <a:solidFill>
                  <a:srgbClr val="E6E9EF"/>
                </a:solidFill>
                <a:latin typeface="Courier New"/>
              </a:rPr>
              <a:t>println</a:t>
            </a:r>
            <a:r>
              <a:rPr sz="1750" i="0">
                <a:solidFill>
                  <a:srgbClr val="C3CCDA"/>
                </a:solidFill>
                <a:latin typeface="Courier New"/>
              </a:rPr>
              <a:t>(</a:t>
            </a:r>
            <a:r>
              <a:rPr sz="1750" i="0">
                <a:solidFill>
                  <a:srgbClr val="E6E9EF"/>
                </a:solidFill>
                <a:latin typeface="Courier New"/>
              </a:rPr>
              <a:t>first</a:t>
            </a:r>
            <a:r>
              <a:rPr sz="1750" i="0">
                <a:solidFill>
                  <a:srgbClr val="C3CCDA"/>
                </a:solidFill>
                <a:latin typeface="Courier New"/>
              </a:rPr>
              <a:t>.</a:t>
            </a:r>
            <a:r>
              <a:rPr sz="1750" i="0">
                <a:solidFill>
                  <a:srgbClr val="E6E9EF"/>
                </a:solidFill>
                <a:latin typeface="Courier New"/>
              </a:rPr>
              <a:t>event</a:t>
            </a:r>
            <a:r>
              <a:rPr sz="1750" i="0">
                <a:solidFill>
                  <a:srgbClr val="C3CCDA"/>
                </a:solidFill>
                <a:latin typeface="Courier New"/>
              </a:rPr>
              <a:t>)</a:t>
            </a:r>
          </a:p>
          <a:p>
            <a:pPr>
              <a:lnSpc>
                <a:spcPts val="2135"/>
              </a:lnSpc>
              <a:spcBef>
                <a:spcPts val="0"/>
              </a:spcBef>
              <a:spcAft>
                <a:spcPts val="0"/>
              </a:spcAft>
            </a:pPr>
            <a:r>
              <a:rPr sz="1750" i="0">
                <a:solidFill>
                  <a:srgbClr val="E6E9EF"/>
                </a:solidFill>
                <a:latin typeface="Courier New"/>
              </a:rPr>
              <a:t>    </a:t>
            </a:r>
            <a:r>
              <a:rPr sz="1750" i="0">
                <a:solidFill>
                  <a:srgbClr val="E6E9EF"/>
                </a:solidFill>
                <a:latin typeface="Courier New"/>
              </a:rPr>
              <a:t>println</a:t>
            </a:r>
            <a:r>
              <a:rPr sz="1750" i="0">
                <a:solidFill>
                  <a:srgbClr val="C3CCDA"/>
                </a:solidFill>
                <a:latin typeface="Courier New"/>
              </a:rPr>
              <a:t>(</a:t>
            </a:r>
            <a:r>
              <a:rPr sz="1750" i="0">
                <a:solidFill>
                  <a:srgbClr val="E6E9EF"/>
                </a:solidFill>
                <a:latin typeface="Courier New"/>
              </a:rPr>
              <a:t>second</a:t>
            </a:r>
            <a:r>
              <a:rPr sz="1750" i="0">
                <a:solidFill>
                  <a:srgbClr val="C3CCDA"/>
                </a:solidFill>
                <a:latin typeface="Courier New"/>
              </a:rPr>
              <a:t>.</a:t>
            </a:r>
            <a:r>
              <a:rPr sz="1750" i="0">
                <a:solidFill>
                  <a:srgbClr val="E6E9EF"/>
                </a:solidFill>
                <a:latin typeface="Courier New"/>
              </a:rPr>
              <a:t>price</a:t>
            </a:r>
            <a:r>
              <a:rPr sz="1750" i="0">
                <a:solidFill>
                  <a:srgbClr val="C3CCDA"/>
                </a:solidFill>
                <a:latin typeface="Courier New"/>
              </a:rPr>
              <a:t>)</a:t>
            </a:r>
          </a:p>
          <a:p>
            <a:pPr>
              <a:lnSpc>
                <a:spcPts val="2135"/>
              </a:lnSpc>
              <a:spcBef>
                <a:spcPts val="0"/>
              </a:spcBef>
              <a:spcAft>
                <a:spcPts val="0"/>
              </a:spcAft>
            </a:pPr>
            <a:r>
              <a:rPr sz="1750" i="0">
                <a:solidFill>
                  <a:srgbClr val="C3CCDA"/>
                </a:solidFill>
                <a:latin typeface="Courier New"/>
              </a:rPr>
              <a:t>}</a:t>
            </a:r>
          </a:p>
        </p:txBody>
      </p:sp>
      <p:sp>
        <p:nvSpPr>
          <p:cNvPr id="7" name="Output"/>
          <p:cNvSpPr/>
          <p:nvPr/>
        </p:nvSpPr>
        <p:spPr>
          <a:xfrm>
            <a:off x="8625535" y="2148840"/>
            <a:ext cx="2926080" cy="10287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1800" i="0">
                <a:solidFill>
                  <a:srgbClr val="111111"/>
                </a:solidFill>
                <a:latin typeface="Courier New"/>
              </a:rPr>
              <a:t>Navruz konserti</a:t>
            </a:r>
          </a:p>
          <a:p>
            <a:pPr algn="l"/>
            <a:r>
              <a:rPr sz="1800" i="0">
                <a:solidFill>
                  <a:srgbClr val="111111"/>
                </a:solidFill>
                <a:latin typeface="Courier New"/>
              </a:rPr>
              <a:t>90000</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Qaysi yozuv Ticket obyektini yaratadi?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new Ticket("Rok kechasi", 90000)</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Ticket("Rok kechasi", 90000)</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Ticket.create("Rok kechasi", 90000)</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Ticket = ("Rok kechasi", 90000)</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Kotlin'da </a:t>
            </a:r>
            <a:r>
              <a:rPr sz="2200" b="0" i="0">
                <a:solidFill>
                  <a:srgbClr val="0052CC"/>
                </a:solidFill>
                <a:latin typeface="Courier New"/>
              </a:rPr>
              <a:t>new</a:t>
            </a:r>
            <a:r>
              <a:rPr sz="2200" b="0" i="0">
                <a:solidFill>
                  <a:srgbClr val="111111"/>
                </a:solidFill>
                <a:latin typeface="Arial"/>
              </a:rPr>
              <a:t> kerak emas: sinf nomi va qavs obyekt yaratadi.</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SINF VA OBYEKT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Asosiy konstruktor sinf sarlavhasida yoziladi</a:t>
            </a:r>
          </a:p>
        </p:txBody>
      </p:sp>
      <p:sp>
        <p:nvSpPr>
          <p:cNvPr id="4" name="Term 1"/>
          <p:cNvSpPr txBox="1"/>
          <p:nvPr/>
        </p:nvSpPr>
        <p:spPr>
          <a:xfrm>
            <a:off x="640080" y="2148840"/>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class Ticket</a:t>
            </a:r>
          </a:p>
        </p:txBody>
      </p:sp>
      <p:sp>
        <p:nvSpPr>
          <p:cNvPr id="5" name="Meaning 1"/>
          <p:cNvSpPr txBox="1"/>
          <p:nvPr/>
        </p:nvSpPr>
        <p:spPr>
          <a:xfrm>
            <a:off x="4754880" y="2167128"/>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yangi sinf va uning nomi</a:t>
            </a:r>
          </a:p>
        </p:txBody>
      </p:sp>
      <p:sp>
        <p:nvSpPr>
          <p:cNvPr id="6" name="Term 2"/>
          <p:cNvSpPr txBox="1"/>
          <p:nvPr/>
        </p:nvSpPr>
        <p:spPr>
          <a:xfrm>
            <a:off x="640080" y="2935224"/>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a:t>
            </a:r>
          </a:p>
        </p:txBody>
      </p:sp>
      <p:sp>
        <p:nvSpPr>
          <p:cNvPr id="7" name="Meaning 2"/>
          <p:cNvSpPr txBox="1"/>
          <p:nvPr/>
        </p:nvSpPr>
        <p:spPr>
          <a:xfrm>
            <a:off x="4754880" y="2953512"/>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asosiy konstruktor: obyekt uchun kerakli qiymatlar</a:t>
            </a:r>
          </a:p>
        </p:txBody>
      </p:sp>
      <p:sp>
        <p:nvSpPr>
          <p:cNvPr id="8" name="Term 3"/>
          <p:cNvSpPr txBox="1"/>
          <p:nvPr/>
        </p:nvSpPr>
        <p:spPr>
          <a:xfrm>
            <a:off x="640080" y="3721608"/>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val event</a:t>
            </a:r>
          </a:p>
        </p:txBody>
      </p:sp>
      <p:sp>
        <p:nvSpPr>
          <p:cNvPr id="9" name="Meaning 3"/>
          <p:cNvSpPr txBox="1"/>
          <p:nvPr/>
        </p:nvSpPr>
        <p:spPr>
          <a:xfrm>
            <a:off x="4754880" y="3739896"/>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o'zgarmaydigan xossa</a:t>
            </a:r>
          </a:p>
        </p:txBody>
      </p:sp>
      <p:sp>
        <p:nvSpPr>
          <p:cNvPr id="10" name="Term 4"/>
          <p:cNvSpPr txBox="1"/>
          <p:nvPr/>
        </p:nvSpPr>
        <p:spPr>
          <a:xfrm>
            <a:off x="640080" y="4507992"/>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var price</a:t>
            </a:r>
          </a:p>
        </p:txBody>
      </p:sp>
      <p:sp>
        <p:nvSpPr>
          <p:cNvPr id="11" name="Meaning 4"/>
          <p:cNvSpPr txBox="1"/>
          <p:nvPr/>
        </p:nvSpPr>
        <p:spPr>
          <a:xfrm>
            <a:off x="4754880" y="4526279"/>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keyin o'zgartirsa bo'ladigan xossa</a:t>
            </a:r>
          </a:p>
        </p:txBody>
      </p:sp>
      <p:sp>
        <p:nvSpPr>
          <p:cNvPr id="12" name="Term 5"/>
          <p:cNvSpPr txBox="1"/>
          <p:nvPr/>
        </p:nvSpPr>
        <p:spPr>
          <a:xfrm>
            <a:off x="640080" y="5294376"/>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 String</a:t>
            </a:r>
          </a:p>
        </p:txBody>
      </p:sp>
      <p:sp>
        <p:nvSpPr>
          <p:cNvPr id="13" name="Meaning 5"/>
          <p:cNvSpPr txBox="1"/>
          <p:nvPr/>
        </p:nvSpPr>
        <p:spPr>
          <a:xfrm>
            <a:off x="4754880" y="5312664"/>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qiymat turi, o'zgaruvchidagidek</a:t>
            </a:r>
          </a:p>
        </p:txBody>
      </p:sp>
      <p:sp>
        <p:nvSpPr>
          <p:cNvPr id="14"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SINF VA OBYEKT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var xossani o'zgartirish mumkin, val xossani esa mumkin emas</a:t>
            </a:r>
          </a:p>
        </p:txBody>
      </p:sp>
      <p:sp>
        <p:nvSpPr>
          <p:cNvPr id="4" name="Code panel"/>
          <p:cNvSpPr/>
          <p:nvPr/>
        </p:nvSpPr>
        <p:spPr>
          <a:xfrm>
            <a:off x="640080" y="2148840"/>
            <a:ext cx="10911535" cy="2819399"/>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45769" cy="2417064"/>
          </a:xfrm>
          <a:prstGeom prst="rect">
            <a:avLst/>
          </a:prstGeom>
          <a:noFill/>
        </p:spPr>
        <p:txBody>
          <a:bodyPr wrap="none" lIns="0" rIns="0" tIns="0" bIns="0">
            <a:noAutofit/>
          </a:bodyPr>
          <a:lstStyle/>
          <a:p>
            <a:pPr>
              <a:lnSpc>
                <a:spcPts val="2379"/>
              </a:lnSpc>
              <a:spcBef>
                <a:spcPts val="0"/>
              </a:spcBef>
              <a:spcAft>
                <a:spcPts val="0"/>
              </a:spcAft>
            </a:pPr>
            <a:r>
              <a:rPr sz="1950" i="0">
                <a:solidFill>
                  <a:srgbClr val="8792A8"/>
                </a:solidFill>
                <a:latin typeface="Courier New"/>
              </a:rPr>
              <a:t>1</a:t>
            </a:r>
          </a:p>
          <a:p>
            <a:pPr>
              <a:lnSpc>
                <a:spcPts val="2379"/>
              </a:lnSpc>
              <a:spcBef>
                <a:spcPts val="0"/>
              </a:spcBef>
              <a:spcAft>
                <a:spcPts val="0"/>
              </a:spcAft>
            </a:pPr>
            <a:r>
              <a:rPr sz="1950" i="0">
                <a:solidFill>
                  <a:srgbClr val="8792A8"/>
                </a:solidFill>
                <a:latin typeface="Courier New"/>
              </a:rPr>
              <a:t>2</a:t>
            </a:r>
          </a:p>
          <a:p>
            <a:pPr>
              <a:lnSpc>
                <a:spcPts val="2379"/>
              </a:lnSpc>
              <a:spcBef>
                <a:spcPts val="0"/>
              </a:spcBef>
              <a:spcAft>
                <a:spcPts val="0"/>
              </a:spcAft>
            </a:pPr>
            <a:r>
              <a:rPr sz="1950" i="0">
                <a:solidFill>
                  <a:srgbClr val="8792A8"/>
                </a:solidFill>
                <a:latin typeface="Courier New"/>
              </a:rPr>
              <a:t>3</a:t>
            </a:r>
          </a:p>
          <a:p>
            <a:pPr>
              <a:lnSpc>
                <a:spcPts val="2379"/>
              </a:lnSpc>
              <a:spcBef>
                <a:spcPts val="0"/>
              </a:spcBef>
              <a:spcAft>
                <a:spcPts val="0"/>
              </a:spcAft>
            </a:pPr>
            <a:r>
              <a:rPr sz="1950" i="0">
                <a:solidFill>
                  <a:srgbClr val="8792A8"/>
                </a:solidFill>
                <a:latin typeface="Courier New"/>
              </a:rPr>
              <a:t>4</a:t>
            </a:r>
          </a:p>
          <a:p>
            <a:pPr>
              <a:lnSpc>
                <a:spcPts val="2379"/>
              </a:lnSpc>
              <a:spcBef>
                <a:spcPts val="0"/>
              </a:spcBef>
              <a:spcAft>
                <a:spcPts val="0"/>
              </a:spcAft>
            </a:pPr>
            <a:r>
              <a:rPr sz="1950" i="0">
                <a:solidFill>
                  <a:srgbClr val="8792A8"/>
                </a:solidFill>
                <a:latin typeface="Courier New"/>
              </a:rPr>
              <a:t>5</a:t>
            </a:r>
          </a:p>
          <a:p>
            <a:pPr>
              <a:lnSpc>
                <a:spcPts val="2379"/>
              </a:lnSpc>
              <a:spcBef>
                <a:spcPts val="0"/>
              </a:spcBef>
              <a:spcAft>
                <a:spcPts val="0"/>
              </a:spcAft>
            </a:pPr>
            <a:r>
              <a:rPr sz="1950" i="0">
                <a:solidFill>
                  <a:srgbClr val="8792A8"/>
                </a:solidFill>
                <a:latin typeface="Courier New"/>
              </a:rPr>
              <a:t>6</a:t>
            </a:r>
          </a:p>
          <a:p>
            <a:pPr>
              <a:lnSpc>
                <a:spcPts val="2379"/>
              </a:lnSpc>
              <a:spcBef>
                <a:spcPts val="0"/>
              </a:spcBef>
              <a:spcAft>
                <a:spcPts val="0"/>
              </a:spcAft>
            </a:pPr>
            <a:r>
              <a:rPr sz="1950" i="0">
                <a:solidFill>
                  <a:srgbClr val="8792A8"/>
                </a:solidFill>
                <a:latin typeface="Courier New"/>
              </a:rPr>
              <a:t>7</a:t>
            </a:r>
          </a:p>
          <a:p>
            <a:pPr>
              <a:lnSpc>
                <a:spcPts val="2379"/>
              </a:lnSpc>
              <a:spcBef>
                <a:spcPts val="0"/>
              </a:spcBef>
              <a:spcAft>
                <a:spcPts val="0"/>
              </a:spcAft>
            </a:pPr>
            <a:r>
              <a:rPr sz="1950" i="0">
                <a:solidFill>
                  <a:srgbClr val="8792A8"/>
                </a:solidFill>
                <a:latin typeface="Courier New"/>
              </a:rPr>
              <a:t>8</a:t>
            </a:r>
          </a:p>
        </p:txBody>
      </p:sp>
      <p:sp>
        <p:nvSpPr>
          <p:cNvPr id="6" name="Code"/>
          <p:cNvSpPr txBox="1"/>
          <p:nvPr/>
        </p:nvSpPr>
        <p:spPr>
          <a:xfrm>
            <a:off x="1341881" y="2350008"/>
            <a:ext cx="9953701" cy="2417064"/>
          </a:xfrm>
          <a:prstGeom prst="rect">
            <a:avLst/>
          </a:prstGeom>
          <a:noFill/>
        </p:spPr>
        <p:txBody>
          <a:bodyPr wrap="none" lIns="0" rIns="0" tIns="0" bIns="0">
            <a:noAutofit/>
          </a:bodyPr>
          <a:lstStyle/>
          <a:p>
            <a:pPr>
              <a:lnSpc>
                <a:spcPts val="2379"/>
              </a:lnSpc>
              <a:spcBef>
                <a:spcPts val="0"/>
              </a:spcBef>
              <a:spcAft>
                <a:spcPts val="0"/>
              </a:spcAft>
            </a:pPr>
            <a:r>
              <a:rPr sz="1950" i="0">
                <a:solidFill>
                  <a:srgbClr val="C792EA"/>
                </a:solidFill>
                <a:latin typeface="Courier New"/>
              </a:rPr>
              <a:t>class</a:t>
            </a:r>
            <a:r>
              <a:rPr sz="1950" i="0">
                <a:solidFill>
                  <a:srgbClr val="E6E9EF"/>
                </a:solidFill>
                <a:latin typeface="Courier New"/>
              </a:rPr>
              <a:t> </a:t>
            </a:r>
            <a:r>
              <a:rPr sz="1950" i="0">
                <a:solidFill>
                  <a:srgbClr val="FFCB6B"/>
                </a:solidFill>
                <a:latin typeface="Courier New"/>
              </a:rPr>
              <a:t>Ticket</a:t>
            </a:r>
            <a:r>
              <a:rPr sz="1950" i="0">
                <a:solidFill>
                  <a:srgbClr val="C3CCDA"/>
                </a:solidFill>
                <a:latin typeface="Courier New"/>
              </a:rPr>
              <a:t>(</a:t>
            </a:r>
            <a:r>
              <a:rPr sz="1950" i="0">
                <a:solidFill>
                  <a:srgbClr val="C792EA"/>
                </a:solidFill>
                <a:latin typeface="Courier New"/>
              </a:rPr>
              <a:t>val</a:t>
            </a:r>
            <a:r>
              <a:rPr sz="1950" i="0">
                <a:solidFill>
                  <a:srgbClr val="E6E9EF"/>
                </a:solidFill>
                <a:latin typeface="Courier New"/>
              </a:rPr>
              <a:t> </a:t>
            </a:r>
            <a:r>
              <a:rPr sz="1950" i="0">
                <a:solidFill>
                  <a:srgbClr val="E6E9EF"/>
                </a:solidFill>
                <a:latin typeface="Courier New"/>
              </a:rPr>
              <a:t>event</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String</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var</a:t>
            </a:r>
            <a:r>
              <a:rPr sz="1950" i="0">
                <a:solidFill>
                  <a:srgbClr val="E6E9EF"/>
                </a:solidFill>
                <a:latin typeface="Courier New"/>
              </a:rPr>
              <a:t> </a:t>
            </a:r>
            <a:r>
              <a:rPr sz="1950" i="0">
                <a:solidFill>
                  <a:srgbClr val="E6E9EF"/>
                </a:solidFill>
                <a:latin typeface="Courier New"/>
              </a:rPr>
              <a:t>price</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Int</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p>
          <a:p>
            <a:pPr>
              <a:lnSpc>
                <a:spcPts val="2379"/>
              </a:lnSpc>
              <a:spcBef>
                <a:spcPts val="0"/>
              </a:spcBef>
              <a:spcAft>
                <a:spcPts val="0"/>
              </a:spcAft>
            </a:pPr>
            <a:r>
              <a:rPr sz="1950" i="0">
                <a:solidFill>
                  <a:srgbClr val="C792EA"/>
                </a:solidFill>
                <a:latin typeface="Courier New"/>
              </a:rPr>
              <a:t>fun</a:t>
            </a:r>
            <a:r>
              <a:rPr sz="1950" i="0">
                <a:solidFill>
                  <a:srgbClr val="E6E9EF"/>
                </a:solidFill>
                <a:latin typeface="Courier New"/>
              </a:rPr>
              <a:t> </a:t>
            </a:r>
            <a:r>
              <a:rPr sz="1950" i="0">
                <a:solidFill>
                  <a:srgbClr val="82AAFF"/>
                </a:solidFill>
                <a:latin typeface="Courier New"/>
              </a:rPr>
              <a:t>main</a:t>
            </a:r>
            <a:r>
              <a:rPr sz="1950" i="0">
                <a:solidFill>
                  <a:srgbClr val="C3CCDA"/>
                </a:solidFill>
                <a:latin typeface="Courier New"/>
              </a:rPr>
              <a:t>(</a:t>
            </a:r>
            <a:r>
              <a:rPr sz="1950" i="0">
                <a:solidFill>
                  <a:srgbClr val="C3CCDA"/>
                </a:solidFill>
                <a:latin typeface="Courier New"/>
              </a:rPr>
              <a:t>)</a:t>
            </a:r>
            <a:r>
              <a:rPr sz="1950" i="0">
                <a:solidFill>
                  <a:srgbClr val="E6E9EF"/>
                </a:solidFill>
                <a:latin typeface="Courier New"/>
              </a:rPr>
              <a:t> </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r>
              <a:rPr sz="1950" i="0">
                <a:solidFill>
                  <a:srgbClr val="C792EA"/>
                </a:solidFill>
                <a:latin typeface="Courier New"/>
              </a:rPr>
              <a:t>val</a:t>
            </a:r>
            <a:r>
              <a:rPr sz="1950" i="0">
                <a:solidFill>
                  <a:srgbClr val="E6E9EF"/>
                </a:solidFill>
                <a:latin typeface="Courier New"/>
              </a:rPr>
              <a:t> </a:t>
            </a:r>
            <a:r>
              <a:rPr sz="1950" i="0">
                <a:solidFill>
                  <a:srgbClr val="E6E9EF"/>
                </a:solidFill>
                <a:latin typeface="Courier New"/>
              </a:rPr>
              <a:t>t</a:t>
            </a:r>
            <a:r>
              <a:rPr sz="1950" i="0">
                <a:solidFill>
                  <a:srgbClr val="E6E9EF"/>
                </a:solidFill>
                <a:latin typeface="Courier New"/>
              </a:rPr>
              <a:t> </a:t>
            </a:r>
            <a:r>
              <a:rPr sz="1950" i="0">
                <a:solidFill>
                  <a:srgbClr val="89DDFF"/>
                </a:solidFill>
                <a:latin typeface="Courier New"/>
              </a:rPr>
              <a:t>=</a:t>
            </a:r>
            <a:r>
              <a:rPr sz="1950" i="0">
                <a:solidFill>
                  <a:srgbClr val="E6E9EF"/>
                </a:solidFill>
                <a:latin typeface="Courier New"/>
              </a:rPr>
              <a:t> </a:t>
            </a:r>
            <a:r>
              <a:rPr sz="1950" i="0">
                <a:solidFill>
                  <a:srgbClr val="E6E9EF"/>
                </a:solidFill>
                <a:latin typeface="Courier New"/>
              </a:rPr>
              <a:t>Ticket</a:t>
            </a:r>
            <a:r>
              <a:rPr sz="1950" i="0">
                <a:solidFill>
                  <a:srgbClr val="C3CCDA"/>
                </a:solidFill>
                <a:latin typeface="Courier New"/>
              </a:rPr>
              <a:t>(</a:t>
            </a:r>
            <a:r>
              <a:rPr sz="1950" i="0">
                <a:solidFill>
                  <a:srgbClr val="A5E3A1"/>
                </a:solidFill>
                <a:latin typeface="Courier New"/>
              </a:rPr>
              <a:t>"</a:t>
            </a:r>
            <a:r>
              <a:rPr sz="1950" i="0">
                <a:solidFill>
                  <a:srgbClr val="A5E3A1"/>
                </a:solidFill>
                <a:latin typeface="Courier New"/>
              </a:rPr>
              <a:t>Navruz konserti</a:t>
            </a:r>
            <a:r>
              <a:rPr sz="1950" i="0">
                <a:solidFill>
                  <a:srgbClr val="A5E3A1"/>
                </a:solidFill>
                <a:latin typeface="Courier New"/>
              </a:rPr>
              <a:t>"</a:t>
            </a:r>
            <a:r>
              <a:rPr sz="1950" i="0">
                <a:solidFill>
                  <a:srgbClr val="C3CCDA"/>
                </a:solidFill>
                <a:latin typeface="Courier New"/>
              </a:rPr>
              <a:t>,</a:t>
            </a:r>
            <a:r>
              <a:rPr sz="1950" i="0">
                <a:solidFill>
                  <a:srgbClr val="E6E9EF"/>
                </a:solidFill>
                <a:latin typeface="Courier New"/>
              </a:rPr>
              <a:t> </a:t>
            </a:r>
            <a:r>
              <a:rPr sz="1950" i="0">
                <a:solidFill>
                  <a:srgbClr val="F78C6C"/>
                </a:solidFill>
                <a:latin typeface="Courier New"/>
              </a:rPr>
              <a:t>1</a:t>
            </a:r>
            <a:r>
              <a:rPr sz="1950" i="0">
                <a:solidFill>
                  <a:srgbClr val="F78C6C"/>
                </a:solidFill>
                <a:latin typeface="Courier New"/>
              </a:rPr>
              <a:t>5</a:t>
            </a:r>
            <a:r>
              <a:rPr sz="1950" i="0">
                <a:solidFill>
                  <a:srgbClr val="F78C6C"/>
                </a:solidFill>
                <a:latin typeface="Courier New"/>
              </a:rPr>
              <a:t>0</a:t>
            </a:r>
            <a:r>
              <a:rPr sz="1950" i="0">
                <a:solidFill>
                  <a:srgbClr val="F78C6C"/>
                </a:solidFill>
                <a:latin typeface="Courier New"/>
              </a:rPr>
              <a:t>0</a:t>
            </a:r>
            <a:r>
              <a:rPr sz="1950" i="0">
                <a:solidFill>
                  <a:srgbClr val="F78C6C"/>
                </a:solidFill>
                <a:latin typeface="Courier New"/>
              </a:rPr>
              <a:t>0</a:t>
            </a:r>
            <a:r>
              <a:rPr sz="1950" i="0">
                <a:solidFill>
                  <a:srgbClr val="F78C6C"/>
                </a:solidFill>
                <a:latin typeface="Courier New"/>
              </a:rPr>
              <a:t>0</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r>
              <a:rPr sz="1950" i="0">
                <a:solidFill>
                  <a:srgbClr val="E6E9EF"/>
                </a:solidFill>
                <a:latin typeface="Courier New"/>
              </a:rPr>
              <a:t>t</a:t>
            </a:r>
            <a:r>
              <a:rPr sz="1950" i="0">
                <a:solidFill>
                  <a:srgbClr val="C3CCDA"/>
                </a:solidFill>
                <a:latin typeface="Courier New"/>
              </a:rPr>
              <a:t>.</a:t>
            </a:r>
            <a:r>
              <a:rPr sz="1950" i="0">
                <a:solidFill>
                  <a:srgbClr val="E6E9EF"/>
                </a:solidFill>
                <a:latin typeface="Courier New"/>
              </a:rPr>
              <a:t>price</a:t>
            </a:r>
            <a:r>
              <a:rPr sz="1950" i="0">
                <a:solidFill>
                  <a:srgbClr val="E6E9EF"/>
                </a:solidFill>
                <a:latin typeface="Courier New"/>
              </a:rPr>
              <a:t> </a:t>
            </a:r>
            <a:r>
              <a:rPr sz="1950" i="0">
                <a:solidFill>
                  <a:srgbClr val="89DDFF"/>
                </a:solidFill>
                <a:latin typeface="Courier New"/>
              </a:rPr>
              <a:t>=</a:t>
            </a:r>
            <a:r>
              <a:rPr sz="1950" i="0">
                <a:solidFill>
                  <a:srgbClr val="E6E9EF"/>
                </a:solidFill>
                <a:latin typeface="Courier New"/>
              </a:rPr>
              <a:t> </a:t>
            </a:r>
            <a:r>
              <a:rPr sz="1950" i="0">
                <a:solidFill>
                  <a:srgbClr val="F78C6C"/>
                </a:solidFill>
                <a:latin typeface="Courier New"/>
              </a:rPr>
              <a:t>1</a:t>
            </a:r>
            <a:r>
              <a:rPr sz="1950" i="0">
                <a:solidFill>
                  <a:srgbClr val="F78C6C"/>
                </a:solidFill>
                <a:latin typeface="Courier New"/>
              </a:rPr>
              <a:t>2</a:t>
            </a:r>
            <a:r>
              <a:rPr sz="1950" i="0">
                <a:solidFill>
                  <a:srgbClr val="F78C6C"/>
                </a:solidFill>
                <a:latin typeface="Courier New"/>
              </a:rPr>
              <a:t>0</a:t>
            </a:r>
            <a:r>
              <a:rPr sz="1950" i="0">
                <a:solidFill>
                  <a:srgbClr val="F78C6C"/>
                </a:solidFill>
                <a:latin typeface="Courier New"/>
              </a:rPr>
              <a:t>0</a:t>
            </a:r>
            <a:r>
              <a:rPr sz="1950" i="0">
                <a:solidFill>
                  <a:srgbClr val="F78C6C"/>
                </a:solidFill>
                <a:latin typeface="Courier New"/>
              </a:rPr>
              <a:t>0</a:t>
            </a:r>
            <a:r>
              <a:rPr sz="1950" i="0">
                <a:solidFill>
                  <a:srgbClr val="F78C6C"/>
                </a:solidFill>
                <a:latin typeface="Courier New"/>
              </a:rPr>
              <a:t>0</a:t>
            </a:r>
          </a:p>
          <a:p>
            <a:pPr>
              <a:lnSpc>
                <a:spcPts val="2379"/>
              </a:lnSpc>
              <a:spcBef>
                <a:spcPts val="0"/>
              </a:spcBef>
              <a:spcAft>
                <a:spcPts val="0"/>
              </a:spcAft>
            </a:pPr>
            <a:r>
              <a:rPr sz="1950" i="0">
                <a:solidFill>
                  <a:srgbClr val="E6E9EF"/>
                </a:solidFill>
                <a:latin typeface="Courier New"/>
              </a:rPr>
              <a:t>    </a:t>
            </a:r>
            <a:r>
              <a:rPr sz="1950" i="0">
                <a:solidFill>
                  <a:srgbClr val="E6E9EF"/>
                </a:solidFill>
                <a:latin typeface="Courier New"/>
              </a:rPr>
              <a:t>println</a:t>
            </a:r>
            <a:r>
              <a:rPr sz="1950" i="0">
                <a:solidFill>
                  <a:srgbClr val="C3CCDA"/>
                </a:solidFill>
                <a:latin typeface="Courier New"/>
              </a:rPr>
              <a:t>(</a:t>
            </a:r>
            <a:r>
              <a:rPr sz="1950" i="0">
                <a:solidFill>
                  <a:srgbClr val="E6E9EF"/>
                </a:solidFill>
                <a:latin typeface="Courier New"/>
              </a:rPr>
              <a:t>t</a:t>
            </a:r>
            <a:r>
              <a:rPr sz="1950" i="0">
                <a:solidFill>
                  <a:srgbClr val="C3CCDA"/>
                </a:solidFill>
                <a:latin typeface="Courier New"/>
              </a:rPr>
              <a:t>.</a:t>
            </a:r>
            <a:r>
              <a:rPr sz="1950" i="0">
                <a:solidFill>
                  <a:srgbClr val="E6E9EF"/>
                </a:solidFill>
                <a:latin typeface="Courier New"/>
              </a:rPr>
              <a:t>price</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r>
              <a:rPr sz="1950" i="1">
                <a:solidFill>
                  <a:srgbClr val="9AA5B8"/>
                </a:solidFill>
                <a:latin typeface="Courier New"/>
              </a:rPr>
              <a:t>// t.event = "Boshqa"   // xato: val o'zgarmaydi</a:t>
            </a:r>
          </a:p>
          <a:p>
            <a:pPr>
              <a:lnSpc>
                <a:spcPts val="2379"/>
              </a:lnSpc>
              <a:spcBef>
                <a:spcPts val="0"/>
              </a:spcBef>
              <a:spcAft>
                <a:spcPts val="0"/>
              </a:spcAft>
            </a:pPr>
            <a:r>
              <a:rPr sz="1950" i="0">
                <a:solidFill>
                  <a:srgbClr val="C3CCDA"/>
                </a:solidFill>
                <a:latin typeface="Courier New"/>
              </a:rPr>
              <a:t>}</a:t>
            </a:r>
          </a:p>
        </p:txBody>
      </p:sp>
      <p:sp>
        <p:nvSpPr>
          <p:cNvPr id="7" name="Output"/>
          <p:cNvSpPr/>
          <p:nvPr/>
        </p:nvSpPr>
        <p:spPr>
          <a:xfrm>
            <a:off x="640080" y="5196840"/>
            <a:ext cx="10911535" cy="838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120000</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2563748"/>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354329" cy="2161412"/>
          </a:xfrm>
          <a:prstGeom prst="rect">
            <a:avLst/>
          </a:prstGeom>
          <a:noFill/>
        </p:spPr>
        <p:txBody>
          <a:bodyPr wrap="none" lIns="0" rIns="0" tIns="0" bIns="0">
            <a:noAutofit/>
          </a:bodyPr>
          <a:lstStyle/>
          <a:p>
            <a:pPr>
              <a:lnSpc>
                <a:spcPts val="1891"/>
              </a:lnSpc>
              <a:spcBef>
                <a:spcPts val="0"/>
              </a:spcBef>
              <a:spcAft>
                <a:spcPts val="0"/>
              </a:spcAft>
            </a:pPr>
            <a:r>
              <a:rPr sz="1550" i="0">
                <a:solidFill>
                  <a:srgbClr val="8792A8"/>
                </a:solidFill>
                <a:latin typeface="Courier New"/>
              </a:rPr>
              <a:t>1</a:t>
            </a:r>
          </a:p>
          <a:p>
            <a:pPr>
              <a:lnSpc>
                <a:spcPts val="1891"/>
              </a:lnSpc>
              <a:spcBef>
                <a:spcPts val="0"/>
              </a:spcBef>
              <a:spcAft>
                <a:spcPts val="0"/>
              </a:spcAft>
            </a:pPr>
            <a:r>
              <a:rPr sz="1550" i="0">
                <a:solidFill>
                  <a:srgbClr val="8792A8"/>
                </a:solidFill>
                <a:latin typeface="Courier New"/>
              </a:rPr>
              <a:t>2</a:t>
            </a:r>
          </a:p>
          <a:p>
            <a:pPr>
              <a:lnSpc>
                <a:spcPts val="1891"/>
              </a:lnSpc>
              <a:spcBef>
                <a:spcPts val="0"/>
              </a:spcBef>
              <a:spcAft>
                <a:spcPts val="0"/>
              </a:spcAft>
            </a:pPr>
            <a:r>
              <a:rPr sz="1550" i="0">
                <a:solidFill>
                  <a:srgbClr val="8792A8"/>
                </a:solidFill>
                <a:latin typeface="Courier New"/>
              </a:rPr>
              <a:t>3</a:t>
            </a:r>
          </a:p>
          <a:p>
            <a:pPr>
              <a:lnSpc>
                <a:spcPts val="1891"/>
              </a:lnSpc>
              <a:spcBef>
                <a:spcPts val="0"/>
              </a:spcBef>
              <a:spcAft>
                <a:spcPts val="0"/>
              </a:spcAft>
            </a:pPr>
            <a:r>
              <a:rPr sz="1550" i="0">
                <a:solidFill>
                  <a:srgbClr val="8792A8"/>
                </a:solidFill>
                <a:latin typeface="Courier New"/>
              </a:rPr>
              <a:t>4</a:t>
            </a:r>
          </a:p>
          <a:p>
            <a:pPr>
              <a:lnSpc>
                <a:spcPts val="1891"/>
              </a:lnSpc>
              <a:spcBef>
                <a:spcPts val="0"/>
              </a:spcBef>
              <a:spcAft>
                <a:spcPts val="0"/>
              </a:spcAft>
            </a:pPr>
            <a:r>
              <a:rPr sz="1550" i="0">
                <a:solidFill>
                  <a:srgbClr val="8792A8"/>
                </a:solidFill>
                <a:latin typeface="Courier New"/>
              </a:rPr>
              <a:t>5</a:t>
            </a:r>
          </a:p>
          <a:p>
            <a:pPr>
              <a:lnSpc>
                <a:spcPts val="1891"/>
              </a:lnSpc>
              <a:spcBef>
                <a:spcPts val="0"/>
              </a:spcBef>
              <a:spcAft>
                <a:spcPts val="0"/>
              </a:spcAft>
            </a:pPr>
            <a:r>
              <a:rPr sz="1550" i="0">
                <a:solidFill>
                  <a:srgbClr val="8792A8"/>
                </a:solidFill>
                <a:latin typeface="Courier New"/>
              </a:rPr>
              <a:t>6</a:t>
            </a:r>
          </a:p>
          <a:p>
            <a:pPr>
              <a:lnSpc>
                <a:spcPts val="1891"/>
              </a:lnSpc>
              <a:spcBef>
                <a:spcPts val="0"/>
              </a:spcBef>
              <a:spcAft>
                <a:spcPts val="0"/>
              </a:spcAft>
            </a:pPr>
            <a:r>
              <a:rPr sz="1550" i="0">
                <a:solidFill>
                  <a:srgbClr val="8792A8"/>
                </a:solidFill>
                <a:latin typeface="Courier New"/>
              </a:rPr>
              <a:t>7</a:t>
            </a:r>
          </a:p>
          <a:p>
            <a:pPr>
              <a:lnSpc>
                <a:spcPts val="1891"/>
              </a:lnSpc>
              <a:spcBef>
                <a:spcPts val="0"/>
              </a:spcBef>
              <a:spcAft>
                <a:spcPts val="0"/>
              </a:spcAft>
            </a:pPr>
            <a:r>
              <a:rPr sz="1550" i="0">
                <a:solidFill>
                  <a:srgbClr val="8792A8"/>
                </a:solidFill>
                <a:latin typeface="Courier New"/>
              </a:rPr>
              <a:t>8</a:t>
            </a:r>
          </a:p>
          <a:p>
            <a:pPr>
              <a:lnSpc>
                <a:spcPts val="1891"/>
              </a:lnSpc>
              <a:spcBef>
                <a:spcPts val="0"/>
              </a:spcBef>
              <a:spcAft>
                <a:spcPts val="0"/>
              </a:spcAft>
            </a:pPr>
            <a:r>
              <a:rPr sz="1550" i="0">
                <a:solidFill>
                  <a:srgbClr val="8792A8"/>
                </a:solidFill>
                <a:latin typeface="Courier New"/>
              </a:rPr>
              <a:t>9</a:t>
            </a:r>
          </a:p>
        </p:txBody>
      </p:sp>
      <p:sp>
        <p:nvSpPr>
          <p:cNvPr id="6" name="Code"/>
          <p:cNvSpPr txBox="1"/>
          <p:nvPr/>
        </p:nvSpPr>
        <p:spPr>
          <a:xfrm>
            <a:off x="1250442" y="2350008"/>
            <a:ext cx="5462296" cy="2161412"/>
          </a:xfrm>
          <a:prstGeom prst="rect">
            <a:avLst/>
          </a:prstGeom>
          <a:noFill/>
        </p:spPr>
        <p:txBody>
          <a:bodyPr wrap="none" lIns="0" rIns="0" tIns="0" bIns="0">
            <a:noAutofit/>
          </a:bodyPr>
          <a:lstStyle/>
          <a:p>
            <a:pPr>
              <a:lnSpc>
                <a:spcPts val="1891"/>
              </a:lnSpc>
              <a:spcBef>
                <a:spcPts val="0"/>
              </a:spcBef>
              <a:spcAft>
                <a:spcPts val="0"/>
              </a:spcAft>
            </a:pPr>
            <a:r>
              <a:rPr sz="1550" i="0">
                <a:solidFill>
                  <a:srgbClr val="C792EA"/>
                </a:solidFill>
                <a:latin typeface="Courier New"/>
              </a:rPr>
              <a:t>class</a:t>
            </a:r>
            <a:r>
              <a:rPr sz="1550" i="0">
                <a:solidFill>
                  <a:srgbClr val="E6E9EF"/>
                </a:solidFill>
                <a:latin typeface="Courier New"/>
              </a:rPr>
              <a:t> </a:t>
            </a:r>
            <a:r>
              <a:rPr sz="1550" i="0">
                <a:solidFill>
                  <a:srgbClr val="FFCB6B"/>
                </a:solidFill>
                <a:latin typeface="Courier New"/>
              </a:rPr>
              <a:t>Ticket</a:t>
            </a:r>
            <a:r>
              <a:rPr sz="1550" i="0">
                <a:solidFill>
                  <a:srgbClr val="C3CCDA"/>
                </a:solidFill>
                <a:latin typeface="Courier New"/>
              </a:rPr>
              <a:t>(</a:t>
            </a:r>
            <a:r>
              <a:rPr sz="1550" i="0">
                <a:solidFill>
                  <a:srgbClr val="C792EA"/>
                </a:solidFill>
                <a:latin typeface="Courier New"/>
              </a:rPr>
              <a:t>val</a:t>
            </a:r>
            <a:r>
              <a:rPr sz="1550" i="0">
                <a:solidFill>
                  <a:srgbClr val="E6E9EF"/>
                </a:solidFill>
                <a:latin typeface="Courier New"/>
              </a:rPr>
              <a:t> </a:t>
            </a:r>
            <a:r>
              <a:rPr sz="1550" i="0">
                <a:solidFill>
                  <a:srgbClr val="E6E9EF"/>
                </a:solidFill>
                <a:latin typeface="Courier New"/>
              </a:rPr>
              <a:t>event</a:t>
            </a:r>
            <a:r>
              <a:rPr sz="1550" i="0">
                <a:solidFill>
                  <a:srgbClr val="C3CCDA"/>
                </a:solidFill>
                <a:latin typeface="Courier New"/>
              </a:rPr>
              <a:t>:</a:t>
            </a:r>
            <a:r>
              <a:rPr sz="1550" i="0">
                <a:solidFill>
                  <a:srgbClr val="E6E9EF"/>
                </a:solidFill>
                <a:latin typeface="Courier New"/>
              </a:rPr>
              <a:t> </a:t>
            </a:r>
            <a:r>
              <a:rPr sz="1550" i="0">
                <a:solidFill>
                  <a:srgbClr val="C792EA"/>
                </a:solidFill>
                <a:latin typeface="Courier New"/>
              </a:rPr>
              <a:t>String</a:t>
            </a:r>
            <a:r>
              <a:rPr sz="1550" i="0">
                <a:solidFill>
                  <a:srgbClr val="C3CCDA"/>
                </a:solidFill>
                <a:latin typeface="Courier New"/>
              </a:rPr>
              <a:t>,</a:t>
            </a:r>
            <a:r>
              <a:rPr sz="1550" i="0">
                <a:solidFill>
                  <a:srgbClr val="E6E9EF"/>
                </a:solidFill>
                <a:latin typeface="Courier New"/>
              </a:rPr>
              <a:t> </a:t>
            </a:r>
            <a:r>
              <a:rPr sz="1550" i="0">
                <a:solidFill>
                  <a:srgbClr val="E6E9EF"/>
                </a:solidFill>
                <a:latin typeface="Courier New"/>
              </a:rPr>
              <a:t>price</a:t>
            </a:r>
            <a:r>
              <a:rPr sz="1550" i="0">
                <a:solidFill>
                  <a:srgbClr val="C3CCDA"/>
                </a:solidFill>
                <a:latin typeface="Courier New"/>
              </a:rPr>
              <a:t>:</a:t>
            </a:r>
            <a:r>
              <a:rPr sz="1550" i="0">
                <a:solidFill>
                  <a:srgbClr val="E6E9EF"/>
                </a:solidFill>
                <a:latin typeface="Courier New"/>
              </a:rPr>
              <a:t> </a:t>
            </a:r>
            <a:r>
              <a:rPr sz="1550" i="0">
                <a:solidFill>
                  <a:srgbClr val="C792EA"/>
                </a:solidFill>
                <a:latin typeface="Courier New"/>
              </a:rPr>
              <a:t>Int</a:t>
            </a:r>
            <a:r>
              <a:rPr sz="1550" i="0">
                <a:solidFill>
                  <a:srgbClr val="C3CCDA"/>
                </a:solidFill>
                <a:latin typeface="Courier New"/>
              </a:rPr>
              <a:t>)</a:t>
            </a:r>
            <a:r>
              <a:rPr sz="1550" i="0">
                <a:solidFill>
                  <a:srgbClr val="E6E9EF"/>
                </a:solidFill>
                <a:latin typeface="Courier New"/>
              </a:rPr>
              <a:t> </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C792EA"/>
                </a:solidFill>
                <a:latin typeface="Courier New"/>
              </a:rPr>
              <a:t>val</a:t>
            </a:r>
            <a:r>
              <a:rPr sz="1550" i="0">
                <a:solidFill>
                  <a:srgbClr val="E6E9EF"/>
                </a:solidFill>
                <a:latin typeface="Courier New"/>
              </a:rPr>
              <a:t> </a:t>
            </a:r>
            <a:r>
              <a:rPr sz="1550" i="0">
                <a:solidFill>
                  <a:srgbClr val="E6E9EF"/>
                </a:solidFill>
                <a:latin typeface="Courier New"/>
              </a:rPr>
              <a:t>label</a:t>
            </a:r>
            <a:r>
              <a:rPr sz="1550" i="0">
                <a:solidFill>
                  <a:srgbClr val="E6E9EF"/>
                </a:solidFill>
                <a:latin typeface="Courier New"/>
              </a:rPr>
              <a:t> </a:t>
            </a:r>
            <a:r>
              <a:rPr sz="1550" i="0">
                <a:solidFill>
                  <a:srgbClr val="89DDFF"/>
                </a:solidFill>
                <a:latin typeface="Courier New"/>
              </a:rPr>
              <a:t>=</a:t>
            </a:r>
            <a:r>
              <a:rPr sz="1550" i="0">
                <a:solidFill>
                  <a:srgbClr val="E6E9EF"/>
                </a:solidFill>
                <a:latin typeface="Courier New"/>
              </a:rPr>
              <a:t> </a:t>
            </a:r>
            <a:r>
              <a:rPr sz="1550" i="0">
                <a:solidFill>
                  <a:srgbClr val="A5E3A1"/>
                </a:solidFill>
                <a:latin typeface="Courier New"/>
              </a:rPr>
              <a:t>"</a:t>
            </a:r>
            <a:r>
              <a:rPr sz="1550" i="0">
                <a:solidFill>
                  <a:srgbClr val="A5E3A1"/>
                </a:solidFill>
                <a:latin typeface="Courier New"/>
              </a:rPr>
              <a:t>$</a:t>
            </a:r>
            <a:r>
              <a:rPr sz="1550" i="0">
                <a:solidFill>
                  <a:srgbClr val="E6E9EF"/>
                </a:solidFill>
                <a:latin typeface="Courier New"/>
              </a:rPr>
              <a:t>event</a:t>
            </a:r>
            <a:r>
              <a:rPr sz="1550" i="0">
                <a:solidFill>
                  <a:srgbClr val="A5E3A1"/>
                </a:solidFill>
                <a:latin typeface="Courier New"/>
              </a:rPr>
              <a:t>: </a:t>
            </a:r>
            <a:r>
              <a:rPr sz="1550" i="0">
                <a:solidFill>
                  <a:srgbClr val="A5E3A1"/>
                </a:solidFill>
                <a:latin typeface="Courier New"/>
              </a:rPr>
              <a:t>$</a:t>
            </a:r>
            <a:r>
              <a:rPr sz="1550" i="0">
                <a:solidFill>
                  <a:srgbClr val="E6E9EF"/>
                </a:solidFill>
                <a:latin typeface="Courier New"/>
              </a:rPr>
              <a:t>price</a:t>
            </a:r>
            <a:r>
              <a:rPr sz="1550" i="0">
                <a:solidFill>
                  <a:srgbClr val="A5E3A1"/>
                </a:solidFill>
                <a:latin typeface="Courier New"/>
              </a:rPr>
              <a:t> so'm</a:t>
            </a:r>
            <a:r>
              <a:rPr sz="1550" i="0">
                <a:solidFill>
                  <a:srgbClr val="A5E3A1"/>
                </a:solidFill>
                <a:latin typeface="Courier New"/>
              </a:rPr>
              <a:t>"</a:t>
            </a:r>
          </a:p>
          <a:p>
            <a:pPr>
              <a:lnSpc>
                <a:spcPts val="1891"/>
              </a:lnSpc>
              <a:spcBef>
                <a:spcPts val="0"/>
              </a:spcBef>
              <a:spcAft>
                <a:spcPts val="0"/>
              </a:spcAft>
            </a:pP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p>
          <a:p>
            <a:pPr>
              <a:lnSpc>
                <a:spcPts val="1891"/>
              </a:lnSpc>
              <a:spcBef>
                <a:spcPts val="0"/>
              </a:spcBef>
              <a:spcAft>
                <a:spcPts val="0"/>
              </a:spcAft>
            </a:pPr>
            <a:r>
              <a:rPr sz="1550" i="0">
                <a:solidFill>
                  <a:srgbClr val="C792EA"/>
                </a:solidFill>
                <a:latin typeface="Courier New"/>
              </a:rPr>
              <a:t>fun</a:t>
            </a:r>
            <a:r>
              <a:rPr sz="1550" i="0">
                <a:solidFill>
                  <a:srgbClr val="E6E9EF"/>
                </a:solidFill>
                <a:latin typeface="Courier New"/>
              </a:rPr>
              <a:t> </a:t>
            </a:r>
            <a:r>
              <a:rPr sz="1550" i="0">
                <a:solidFill>
                  <a:srgbClr val="82AAFF"/>
                </a:solidFill>
                <a:latin typeface="Courier New"/>
              </a:rPr>
              <a:t>main</a:t>
            </a:r>
            <a:r>
              <a:rPr sz="1550" i="0">
                <a:solidFill>
                  <a:srgbClr val="C3CCDA"/>
                </a:solidFill>
                <a:latin typeface="Courier New"/>
              </a:rPr>
              <a:t>(</a:t>
            </a:r>
            <a:r>
              <a:rPr sz="1550" i="0">
                <a:solidFill>
                  <a:srgbClr val="C3CCDA"/>
                </a:solidFill>
                <a:latin typeface="Courier New"/>
              </a:rPr>
              <a:t>)</a:t>
            </a:r>
            <a:r>
              <a:rPr sz="1550" i="0">
                <a:solidFill>
                  <a:srgbClr val="E6E9EF"/>
                </a:solidFill>
                <a:latin typeface="Courier New"/>
              </a:rPr>
              <a:t> </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C792EA"/>
                </a:solidFill>
                <a:latin typeface="Courier New"/>
              </a:rPr>
              <a:t>val</a:t>
            </a:r>
            <a:r>
              <a:rPr sz="1550" i="0">
                <a:solidFill>
                  <a:srgbClr val="E6E9EF"/>
                </a:solidFill>
                <a:latin typeface="Courier New"/>
              </a:rPr>
              <a:t> </a:t>
            </a:r>
            <a:r>
              <a:rPr sz="1550" i="0">
                <a:solidFill>
                  <a:srgbClr val="E6E9EF"/>
                </a:solidFill>
                <a:latin typeface="Courier New"/>
              </a:rPr>
              <a:t>t</a:t>
            </a:r>
            <a:r>
              <a:rPr sz="1550" i="0">
                <a:solidFill>
                  <a:srgbClr val="E6E9EF"/>
                </a:solidFill>
                <a:latin typeface="Courier New"/>
              </a:rPr>
              <a:t> </a:t>
            </a:r>
            <a:r>
              <a:rPr sz="1550" i="0">
                <a:solidFill>
                  <a:srgbClr val="89DDFF"/>
                </a:solidFill>
                <a:latin typeface="Courier New"/>
              </a:rPr>
              <a:t>=</a:t>
            </a:r>
            <a:r>
              <a:rPr sz="1550" i="0">
                <a:solidFill>
                  <a:srgbClr val="E6E9EF"/>
                </a:solidFill>
                <a:latin typeface="Courier New"/>
              </a:rPr>
              <a:t> </a:t>
            </a:r>
            <a:r>
              <a:rPr sz="1550" i="0">
                <a:solidFill>
                  <a:srgbClr val="E6E9EF"/>
                </a:solidFill>
                <a:latin typeface="Courier New"/>
              </a:rPr>
              <a:t>Ticket</a:t>
            </a:r>
            <a:r>
              <a:rPr sz="1550" i="0">
                <a:solidFill>
                  <a:srgbClr val="C3CCDA"/>
                </a:solidFill>
                <a:latin typeface="Courier New"/>
              </a:rPr>
              <a:t>(</a:t>
            </a:r>
            <a:r>
              <a:rPr sz="1550" i="0">
                <a:solidFill>
                  <a:srgbClr val="A5E3A1"/>
                </a:solidFill>
                <a:latin typeface="Courier New"/>
              </a:rPr>
              <a:t>"</a:t>
            </a:r>
            <a:r>
              <a:rPr sz="1550" i="0">
                <a:solidFill>
                  <a:srgbClr val="A5E3A1"/>
                </a:solidFill>
                <a:latin typeface="Courier New"/>
              </a:rPr>
              <a:t>Rok kechasi</a:t>
            </a:r>
            <a:r>
              <a:rPr sz="1550" i="0">
                <a:solidFill>
                  <a:srgbClr val="A5E3A1"/>
                </a:solidFill>
                <a:latin typeface="Courier New"/>
              </a:rPr>
              <a:t>"</a:t>
            </a:r>
            <a:r>
              <a:rPr sz="1550" i="0">
                <a:solidFill>
                  <a:srgbClr val="C3CCDA"/>
                </a:solidFill>
                <a:latin typeface="Courier New"/>
              </a:rPr>
              <a:t>,</a:t>
            </a:r>
            <a:r>
              <a:rPr sz="1550" i="0">
                <a:solidFill>
                  <a:srgbClr val="E6E9EF"/>
                </a:solidFill>
                <a:latin typeface="Courier New"/>
              </a:rPr>
              <a:t> </a:t>
            </a:r>
            <a:r>
              <a:rPr sz="1550" i="0">
                <a:solidFill>
                  <a:srgbClr val="F78C6C"/>
                </a:solidFill>
                <a:latin typeface="Courier New"/>
              </a:rPr>
              <a:t>9</a:t>
            </a:r>
            <a:r>
              <a:rPr sz="1550" i="0">
                <a:solidFill>
                  <a:srgbClr val="F78C6C"/>
                </a:solidFill>
                <a:latin typeface="Courier New"/>
              </a:rPr>
              <a:t>0</a:t>
            </a:r>
            <a:r>
              <a:rPr sz="1550" i="0">
                <a:solidFill>
                  <a:srgbClr val="F78C6C"/>
                </a:solidFill>
                <a:latin typeface="Courier New"/>
              </a:rPr>
              <a:t>0</a:t>
            </a:r>
            <a:r>
              <a:rPr sz="1550" i="0">
                <a:solidFill>
                  <a:srgbClr val="F78C6C"/>
                </a:solidFill>
                <a:latin typeface="Courier New"/>
              </a:rPr>
              <a:t>0</a:t>
            </a:r>
            <a:r>
              <a:rPr sz="1550" i="0">
                <a:solidFill>
                  <a:srgbClr val="F78C6C"/>
                </a:solidFill>
                <a:latin typeface="Courier New"/>
              </a:rPr>
              <a:t>0</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E6E9EF"/>
                </a:solidFill>
                <a:latin typeface="Courier New"/>
              </a:rPr>
              <a:t>println</a:t>
            </a:r>
            <a:r>
              <a:rPr sz="1550" i="0">
                <a:solidFill>
                  <a:srgbClr val="C3CCDA"/>
                </a:solidFill>
                <a:latin typeface="Courier New"/>
              </a:rPr>
              <a:t>(</a:t>
            </a:r>
            <a:r>
              <a:rPr sz="1550" i="0">
                <a:solidFill>
                  <a:srgbClr val="E6E9EF"/>
                </a:solidFill>
                <a:latin typeface="Courier New"/>
              </a:rPr>
              <a:t>t</a:t>
            </a:r>
            <a:r>
              <a:rPr sz="1550" i="0">
                <a:solidFill>
                  <a:srgbClr val="C3CCDA"/>
                </a:solidFill>
                <a:latin typeface="Courier New"/>
              </a:rPr>
              <a:t>.</a:t>
            </a:r>
            <a:r>
              <a:rPr sz="1550" i="0">
                <a:solidFill>
                  <a:srgbClr val="E6E9EF"/>
                </a:solidFill>
                <a:latin typeface="Courier New"/>
              </a:rPr>
              <a:t>label</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E6E9EF"/>
                </a:solidFill>
                <a:latin typeface="Courier New"/>
              </a:rPr>
              <a:t>println</a:t>
            </a:r>
            <a:r>
              <a:rPr sz="1550" i="0">
                <a:solidFill>
                  <a:srgbClr val="C3CCDA"/>
                </a:solidFill>
                <a:latin typeface="Courier New"/>
              </a:rPr>
              <a:t>(</a:t>
            </a:r>
            <a:r>
              <a:rPr sz="1550" i="0">
                <a:solidFill>
                  <a:srgbClr val="E6E9EF"/>
                </a:solidFill>
                <a:latin typeface="Courier New"/>
              </a:rPr>
              <a:t>t</a:t>
            </a:r>
            <a:r>
              <a:rPr sz="1550" i="0">
                <a:solidFill>
                  <a:srgbClr val="C3CCDA"/>
                </a:solidFill>
                <a:latin typeface="Courier New"/>
              </a:rPr>
              <a:t>.</a:t>
            </a:r>
            <a:r>
              <a:rPr sz="1550" i="0">
                <a:solidFill>
                  <a:srgbClr val="E6E9EF"/>
                </a:solidFill>
                <a:latin typeface="Courier New"/>
              </a:rPr>
              <a:t>price</a:t>
            </a:r>
            <a:r>
              <a:rPr sz="1550" i="0">
                <a:solidFill>
                  <a:srgbClr val="C3CCDA"/>
                </a:solidFill>
                <a:latin typeface="Courier New"/>
              </a:rPr>
              <a:t>)</a:t>
            </a:r>
          </a:p>
          <a:p>
            <a:pPr>
              <a:lnSpc>
                <a:spcPts val="1891"/>
              </a:lnSpc>
              <a:spcBef>
                <a:spcPts val="0"/>
              </a:spcBef>
              <a:spcAft>
                <a:spcPts val="0"/>
              </a:spcAft>
            </a:pPr>
            <a:r>
              <a:rPr sz="155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Ikki qator chiqadi</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111111"/>
                </a:solidFill>
                <a:latin typeface="Arial"/>
              </a:rPr>
              <a:t>Birinchi qator chiqadi, ikkinchisida xato</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111111"/>
                </a:solidFill>
                <a:latin typeface="Arial"/>
              </a:rPr>
              <a:t>Dastur ishga tushmaydi: kompilyatsiya xatosi</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000" b="0" i="0">
                <a:solidFill>
                  <a:srgbClr val="111111"/>
                </a:solidFill>
                <a:latin typeface="Arial"/>
              </a:rPr>
              <a:t>Ikkinchi qatorda 0 chiqadi</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1800" b="1" i="0">
                <a:solidFill>
                  <a:srgbClr val="111111"/>
                </a:solidFill>
                <a:latin typeface="Arial"/>
              </a:rPr>
              <a:t>Javob:</a:t>
            </a:r>
            <a:r>
              <a:rPr sz="1800" b="0" i="0">
                <a:solidFill>
                  <a:srgbClr val="111111"/>
                </a:solidFill>
                <a:latin typeface="Arial"/>
              </a:rPr>
              <a:t> C — </a:t>
            </a:r>
            <a:r>
              <a:rPr sz="1800" b="0" i="0">
                <a:solidFill>
                  <a:srgbClr val="0052CC"/>
                </a:solidFill>
                <a:latin typeface="Courier New"/>
              </a:rPr>
              <a:t>t.price</a:t>
            </a:r>
            <a:r>
              <a:rPr sz="1800" b="0" i="0">
                <a:solidFill>
                  <a:srgbClr val="111111"/>
                </a:solidFill>
                <a:latin typeface="Arial"/>
              </a:rPr>
              <a:t> topilmaydi</a:t>
            </a:r>
          </a:p>
          <a:p>
            <a:pPr algn="l">
              <a:lnSpc>
                <a:spcPct val="115000"/>
              </a:lnSpc>
              <a:spcBef>
                <a:spcPts val="0"/>
              </a:spcBef>
              <a:spcAft>
                <a:spcPts val="800"/>
              </a:spcAft>
            </a:pPr>
            <a:r>
              <a:rPr sz="1800" b="0" i="0">
                <a:solidFill>
                  <a:srgbClr val="0052CC"/>
                </a:solidFill>
                <a:latin typeface="Courier New"/>
              </a:rPr>
              <a:t>price</a:t>
            </a:r>
            <a:r>
              <a:rPr sz="1800" b="0" i="0">
                <a:solidFill>
                  <a:srgbClr val="111111"/>
                </a:solidFill>
                <a:latin typeface="Arial"/>
              </a:rPr>
              <a:t> xossa emas, u faqat sinf ichida ishlaydi.</a:t>
            </a:r>
          </a:p>
        </p:txBody>
      </p:sp>
      <p:sp>
        <p:nvSpPr>
          <p:cNvPr id="1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SINF VA OBYEKT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Sinf ichidagi funksiya obyektning o'z xossalari bilan ishlaydi</a:t>
            </a:r>
          </a:p>
        </p:txBody>
      </p:sp>
      <p:sp>
        <p:nvSpPr>
          <p:cNvPr id="4" name="Code panel"/>
          <p:cNvSpPr/>
          <p:nvPr/>
        </p:nvSpPr>
        <p:spPr>
          <a:xfrm>
            <a:off x="640080" y="2148840"/>
            <a:ext cx="10911535" cy="2819399"/>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45769" cy="2417064"/>
          </a:xfrm>
          <a:prstGeom prst="rect">
            <a:avLst/>
          </a:prstGeom>
          <a:noFill/>
        </p:spPr>
        <p:txBody>
          <a:bodyPr wrap="none" lIns="0" rIns="0" tIns="0" bIns="0">
            <a:noAutofit/>
          </a:bodyPr>
          <a:lstStyle/>
          <a:p>
            <a:pPr>
              <a:lnSpc>
                <a:spcPts val="2379"/>
              </a:lnSpc>
              <a:spcBef>
                <a:spcPts val="0"/>
              </a:spcBef>
              <a:spcAft>
                <a:spcPts val="0"/>
              </a:spcAft>
            </a:pPr>
            <a:r>
              <a:rPr sz="1950" i="0">
                <a:solidFill>
                  <a:srgbClr val="8792A8"/>
                </a:solidFill>
                <a:latin typeface="Courier New"/>
              </a:rPr>
              <a:t>1</a:t>
            </a:r>
          </a:p>
          <a:p>
            <a:pPr>
              <a:lnSpc>
                <a:spcPts val="2379"/>
              </a:lnSpc>
              <a:spcBef>
                <a:spcPts val="0"/>
              </a:spcBef>
              <a:spcAft>
                <a:spcPts val="0"/>
              </a:spcAft>
            </a:pPr>
            <a:r>
              <a:rPr sz="1950" i="0">
                <a:solidFill>
                  <a:srgbClr val="8792A8"/>
                </a:solidFill>
                <a:latin typeface="Courier New"/>
              </a:rPr>
              <a:t>2</a:t>
            </a:r>
          </a:p>
          <a:p>
            <a:pPr>
              <a:lnSpc>
                <a:spcPts val="2379"/>
              </a:lnSpc>
              <a:spcBef>
                <a:spcPts val="0"/>
              </a:spcBef>
              <a:spcAft>
                <a:spcPts val="0"/>
              </a:spcAft>
            </a:pPr>
            <a:r>
              <a:rPr sz="1950" i="0">
                <a:solidFill>
                  <a:srgbClr val="8792A8"/>
                </a:solidFill>
                <a:latin typeface="Courier New"/>
              </a:rPr>
              <a:t>3</a:t>
            </a:r>
          </a:p>
          <a:p>
            <a:pPr>
              <a:lnSpc>
                <a:spcPts val="2379"/>
              </a:lnSpc>
              <a:spcBef>
                <a:spcPts val="0"/>
              </a:spcBef>
              <a:spcAft>
                <a:spcPts val="0"/>
              </a:spcAft>
            </a:pPr>
            <a:r>
              <a:rPr sz="1950" i="0">
                <a:solidFill>
                  <a:srgbClr val="8792A8"/>
                </a:solidFill>
                <a:latin typeface="Courier New"/>
              </a:rPr>
              <a:t>4</a:t>
            </a:r>
          </a:p>
          <a:p>
            <a:pPr>
              <a:lnSpc>
                <a:spcPts val="2379"/>
              </a:lnSpc>
              <a:spcBef>
                <a:spcPts val="0"/>
              </a:spcBef>
              <a:spcAft>
                <a:spcPts val="0"/>
              </a:spcAft>
            </a:pPr>
            <a:r>
              <a:rPr sz="1950" i="0">
                <a:solidFill>
                  <a:srgbClr val="8792A8"/>
                </a:solidFill>
                <a:latin typeface="Courier New"/>
              </a:rPr>
              <a:t>5</a:t>
            </a:r>
          </a:p>
          <a:p>
            <a:pPr>
              <a:lnSpc>
                <a:spcPts val="2379"/>
              </a:lnSpc>
              <a:spcBef>
                <a:spcPts val="0"/>
              </a:spcBef>
              <a:spcAft>
                <a:spcPts val="0"/>
              </a:spcAft>
            </a:pPr>
            <a:r>
              <a:rPr sz="1950" i="0">
                <a:solidFill>
                  <a:srgbClr val="8792A8"/>
                </a:solidFill>
                <a:latin typeface="Courier New"/>
              </a:rPr>
              <a:t>6</a:t>
            </a:r>
          </a:p>
          <a:p>
            <a:pPr>
              <a:lnSpc>
                <a:spcPts val="2379"/>
              </a:lnSpc>
              <a:spcBef>
                <a:spcPts val="0"/>
              </a:spcBef>
              <a:spcAft>
                <a:spcPts val="0"/>
              </a:spcAft>
            </a:pPr>
            <a:r>
              <a:rPr sz="1950" i="0">
                <a:solidFill>
                  <a:srgbClr val="8792A8"/>
                </a:solidFill>
                <a:latin typeface="Courier New"/>
              </a:rPr>
              <a:t>7</a:t>
            </a:r>
          </a:p>
          <a:p>
            <a:pPr>
              <a:lnSpc>
                <a:spcPts val="2379"/>
              </a:lnSpc>
              <a:spcBef>
                <a:spcPts val="0"/>
              </a:spcBef>
              <a:spcAft>
                <a:spcPts val="0"/>
              </a:spcAft>
            </a:pPr>
            <a:r>
              <a:rPr sz="1950" i="0">
                <a:solidFill>
                  <a:srgbClr val="8792A8"/>
                </a:solidFill>
                <a:latin typeface="Courier New"/>
              </a:rPr>
              <a:t>8</a:t>
            </a:r>
          </a:p>
        </p:txBody>
      </p:sp>
      <p:sp>
        <p:nvSpPr>
          <p:cNvPr id="6" name="Code"/>
          <p:cNvSpPr txBox="1"/>
          <p:nvPr/>
        </p:nvSpPr>
        <p:spPr>
          <a:xfrm>
            <a:off x="1341881" y="2350008"/>
            <a:ext cx="9953701" cy="2417064"/>
          </a:xfrm>
          <a:prstGeom prst="rect">
            <a:avLst/>
          </a:prstGeom>
          <a:noFill/>
        </p:spPr>
        <p:txBody>
          <a:bodyPr wrap="none" lIns="0" rIns="0" tIns="0" bIns="0">
            <a:noAutofit/>
          </a:bodyPr>
          <a:lstStyle/>
          <a:p>
            <a:pPr>
              <a:lnSpc>
                <a:spcPts val="2379"/>
              </a:lnSpc>
              <a:spcBef>
                <a:spcPts val="0"/>
              </a:spcBef>
              <a:spcAft>
                <a:spcPts val="0"/>
              </a:spcAft>
            </a:pPr>
            <a:r>
              <a:rPr sz="1950" i="0">
                <a:solidFill>
                  <a:srgbClr val="C792EA"/>
                </a:solidFill>
                <a:latin typeface="Courier New"/>
              </a:rPr>
              <a:t>class</a:t>
            </a:r>
            <a:r>
              <a:rPr sz="1950" i="0">
                <a:solidFill>
                  <a:srgbClr val="E6E9EF"/>
                </a:solidFill>
                <a:latin typeface="Courier New"/>
              </a:rPr>
              <a:t> </a:t>
            </a:r>
            <a:r>
              <a:rPr sz="1950" i="0">
                <a:solidFill>
                  <a:srgbClr val="FFCB6B"/>
                </a:solidFill>
                <a:latin typeface="Courier New"/>
              </a:rPr>
              <a:t>Ticket</a:t>
            </a:r>
            <a:r>
              <a:rPr sz="1950" i="0">
                <a:solidFill>
                  <a:srgbClr val="C3CCDA"/>
                </a:solidFill>
                <a:latin typeface="Courier New"/>
              </a:rPr>
              <a:t>(</a:t>
            </a:r>
            <a:r>
              <a:rPr sz="1950" i="0">
                <a:solidFill>
                  <a:srgbClr val="C792EA"/>
                </a:solidFill>
                <a:latin typeface="Courier New"/>
              </a:rPr>
              <a:t>val</a:t>
            </a:r>
            <a:r>
              <a:rPr sz="1950" i="0">
                <a:solidFill>
                  <a:srgbClr val="E6E9EF"/>
                </a:solidFill>
                <a:latin typeface="Courier New"/>
              </a:rPr>
              <a:t> </a:t>
            </a:r>
            <a:r>
              <a:rPr sz="1950" i="0">
                <a:solidFill>
                  <a:srgbClr val="E6E9EF"/>
                </a:solidFill>
                <a:latin typeface="Courier New"/>
              </a:rPr>
              <a:t>event</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String</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var</a:t>
            </a:r>
            <a:r>
              <a:rPr sz="1950" i="0">
                <a:solidFill>
                  <a:srgbClr val="E6E9EF"/>
                </a:solidFill>
                <a:latin typeface="Courier New"/>
              </a:rPr>
              <a:t> </a:t>
            </a:r>
            <a:r>
              <a:rPr sz="1950" i="0">
                <a:solidFill>
                  <a:srgbClr val="E6E9EF"/>
                </a:solidFill>
                <a:latin typeface="Courier New"/>
              </a:rPr>
              <a:t>price</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Int</a:t>
            </a:r>
            <a:r>
              <a:rPr sz="1950" i="0">
                <a:solidFill>
                  <a:srgbClr val="C3CCDA"/>
                </a:solidFill>
                <a:latin typeface="Courier New"/>
              </a:rPr>
              <a:t>)</a:t>
            </a:r>
            <a:r>
              <a:rPr sz="1950" i="0">
                <a:solidFill>
                  <a:srgbClr val="E6E9EF"/>
                </a:solidFill>
                <a:latin typeface="Courier New"/>
              </a:rPr>
              <a:t> </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r>
              <a:rPr sz="1950" i="0">
                <a:solidFill>
                  <a:srgbClr val="C792EA"/>
                </a:solidFill>
                <a:latin typeface="Courier New"/>
              </a:rPr>
              <a:t>fun</a:t>
            </a:r>
            <a:r>
              <a:rPr sz="1950" i="0">
                <a:solidFill>
                  <a:srgbClr val="E6E9EF"/>
                </a:solidFill>
                <a:latin typeface="Courier New"/>
              </a:rPr>
              <a:t> </a:t>
            </a:r>
            <a:r>
              <a:rPr sz="1950" i="0">
                <a:solidFill>
                  <a:srgbClr val="82AAFF"/>
                </a:solidFill>
                <a:latin typeface="Courier New"/>
              </a:rPr>
              <a:t>describe</a:t>
            </a:r>
            <a:r>
              <a:rPr sz="1950" i="0">
                <a:solidFill>
                  <a:srgbClr val="C3CCDA"/>
                </a:solidFill>
                <a:latin typeface="Courier New"/>
              </a:rPr>
              <a:t>(</a:t>
            </a:r>
            <a:r>
              <a:rPr sz="1950" i="0">
                <a:solidFill>
                  <a:srgbClr val="C3CCDA"/>
                </a:solidFill>
                <a:latin typeface="Courier New"/>
              </a:rPr>
              <a:t>)</a:t>
            </a:r>
            <a:r>
              <a:rPr sz="1950" i="0">
                <a:solidFill>
                  <a:srgbClr val="C3CCDA"/>
                </a:solidFill>
                <a:latin typeface="Courier New"/>
              </a:rPr>
              <a:t>:</a:t>
            </a:r>
            <a:r>
              <a:rPr sz="1950" i="0">
                <a:solidFill>
                  <a:srgbClr val="E6E9EF"/>
                </a:solidFill>
                <a:latin typeface="Courier New"/>
              </a:rPr>
              <a:t> </a:t>
            </a:r>
            <a:r>
              <a:rPr sz="1950" i="0">
                <a:solidFill>
                  <a:srgbClr val="C792EA"/>
                </a:solidFill>
                <a:latin typeface="Courier New"/>
              </a:rPr>
              <a:t>String</a:t>
            </a:r>
            <a:r>
              <a:rPr sz="1950" i="0">
                <a:solidFill>
                  <a:srgbClr val="E6E9EF"/>
                </a:solidFill>
                <a:latin typeface="Courier New"/>
              </a:rPr>
              <a:t> </a:t>
            </a:r>
            <a:r>
              <a:rPr sz="1950" i="0">
                <a:solidFill>
                  <a:srgbClr val="89DDFF"/>
                </a:solidFill>
                <a:latin typeface="Courier New"/>
              </a:rPr>
              <a:t>=</a:t>
            </a:r>
            <a:r>
              <a:rPr sz="1950" i="0">
                <a:solidFill>
                  <a:srgbClr val="E6E9EF"/>
                </a:solidFill>
                <a:latin typeface="Courier New"/>
              </a:rPr>
              <a:t> </a:t>
            </a:r>
            <a:r>
              <a:rPr sz="1950" i="0">
                <a:solidFill>
                  <a:srgbClr val="A5E3A1"/>
                </a:solidFill>
                <a:latin typeface="Courier New"/>
              </a:rPr>
              <a:t>"</a:t>
            </a:r>
            <a:r>
              <a:rPr sz="1950" i="0">
                <a:solidFill>
                  <a:srgbClr val="A5E3A1"/>
                </a:solidFill>
                <a:latin typeface="Courier New"/>
              </a:rPr>
              <a:t>$</a:t>
            </a:r>
            <a:r>
              <a:rPr sz="1950" i="0">
                <a:solidFill>
                  <a:srgbClr val="E6E9EF"/>
                </a:solidFill>
                <a:latin typeface="Courier New"/>
              </a:rPr>
              <a:t>event</a:t>
            </a:r>
            <a:r>
              <a:rPr sz="1950" i="0">
                <a:solidFill>
                  <a:srgbClr val="A5E3A1"/>
                </a:solidFill>
                <a:latin typeface="Courier New"/>
              </a:rPr>
              <a:t>: </a:t>
            </a:r>
            <a:r>
              <a:rPr sz="1950" i="0">
                <a:solidFill>
                  <a:srgbClr val="A5E3A1"/>
                </a:solidFill>
                <a:latin typeface="Courier New"/>
              </a:rPr>
              <a:t>$</a:t>
            </a:r>
            <a:r>
              <a:rPr sz="1950" i="0">
                <a:solidFill>
                  <a:srgbClr val="E6E9EF"/>
                </a:solidFill>
                <a:latin typeface="Courier New"/>
              </a:rPr>
              <a:t>price</a:t>
            </a:r>
            <a:r>
              <a:rPr sz="1950" i="0">
                <a:solidFill>
                  <a:srgbClr val="A5E3A1"/>
                </a:solidFill>
                <a:latin typeface="Courier New"/>
              </a:rPr>
              <a:t> so'm</a:t>
            </a:r>
            <a:r>
              <a:rPr sz="1950" i="0">
                <a:solidFill>
                  <a:srgbClr val="A5E3A1"/>
                </a:solidFill>
                <a:latin typeface="Courier New"/>
              </a:rPr>
              <a:t>"</a:t>
            </a:r>
          </a:p>
          <a:p>
            <a:pPr>
              <a:lnSpc>
                <a:spcPts val="2379"/>
              </a:lnSpc>
              <a:spcBef>
                <a:spcPts val="0"/>
              </a:spcBef>
              <a:spcAft>
                <a:spcPts val="0"/>
              </a:spcAft>
            </a:pP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p>
          <a:p>
            <a:pPr>
              <a:lnSpc>
                <a:spcPts val="2379"/>
              </a:lnSpc>
              <a:spcBef>
                <a:spcPts val="0"/>
              </a:spcBef>
              <a:spcAft>
                <a:spcPts val="0"/>
              </a:spcAft>
            </a:pPr>
            <a:r>
              <a:rPr sz="1950" i="0">
                <a:solidFill>
                  <a:srgbClr val="C792EA"/>
                </a:solidFill>
                <a:latin typeface="Courier New"/>
              </a:rPr>
              <a:t>fun</a:t>
            </a:r>
            <a:r>
              <a:rPr sz="1950" i="0">
                <a:solidFill>
                  <a:srgbClr val="E6E9EF"/>
                </a:solidFill>
                <a:latin typeface="Courier New"/>
              </a:rPr>
              <a:t> </a:t>
            </a:r>
            <a:r>
              <a:rPr sz="1950" i="0">
                <a:solidFill>
                  <a:srgbClr val="82AAFF"/>
                </a:solidFill>
                <a:latin typeface="Courier New"/>
              </a:rPr>
              <a:t>main</a:t>
            </a:r>
            <a:r>
              <a:rPr sz="1950" i="0">
                <a:solidFill>
                  <a:srgbClr val="C3CCDA"/>
                </a:solidFill>
                <a:latin typeface="Courier New"/>
              </a:rPr>
              <a:t>(</a:t>
            </a:r>
            <a:r>
              <a:rPr sz="1950" i="0">
                <a:solidFill>
                  <a:srgbClr val="C3CCDA"/>
                </a:solidFill>
                <a:latin typeface="Courier New"/>
              </a:rPr>
              <a:t>)</a:t>
            </a:r>
            <a:r>
              <a:rPr sz="1950" i="0">
                <a:solidFill>
                  <a:srgbClr val="E6E9EF"/>
                </a:solidFill>
                <a:latin typeface="Courier New"/>
              </a:rPr>
              <a:t> </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r>
              <a:rPr sz="1950" i="0">
                <a:solidFill>
                  <a:srgbClr val="C792EA"/>
                </a:solidFill>
                <a:latin typeface="Courier New"/>
              </a:rPr>
              <a:t>val</a:t>
            </a:r>
            <a:r>
              <a:rPr sz="1950" i="0">
                <a:solidFill>
                  <a:srgbClr val="E6E9EF"/>
                </a:solidFill>
                <a:latin typeface="Courier New"/>
              </a:rPr>
              <a:t> </a:t>
            </a:r>
            <a:r>
              <a:rPr sz="1950" i="0">
                <a:solidFill>
                  <a:srgbClr val="E6E9EF"/>
                </a:solidFill>
                <a:latin typeface="Courier New"/>
              </a:rPr>
              <a:t>t</a:t>
            </a:r>
            <a:r>
              <a:rPr sz="1950" i="0">
                <a:solidFill>
                  <a:srgbClr val="E6E9EF"/>
                </a:solidFill>
                <a:latin typeface="Courier New"/>
              </a:rPr>
              <a:t> </a:t>
            </a:r>
            <a:r>
              <a:rPr sz="1950" i="0">
                <a:solidFill>
                  <a:srgbClr val="89DDFF"/>
                </a:solidFill>
                <a:latin typeface="Courier New"/>
              </a:rPr>
              <a:t>=</a:t>
            </a:r>
            <a:r>
              <a:rPr sz="1950" i="0">
                <a:solidFill>
                  <a:srgbClr val="E6E9EF"/>
                </a:solidFill>
                <a:latin typeface="Courier New"/>
              </a:rPr>
              <a:t> </a:t>
            </a:r>
            <a:r>
              <a:rPr sz="1950" i="0">
                <a:solidFill>
                  <a:srgbClr val="E6E9EF"/>
                </a:solidFill>
                <a:latin typeface="Courier New"/>
              </a:rPr>
              <a:t>Ticket</a:t>
            </a:r>
            <a:r>
              <a:rPr sz="1950" i="0">
                <a:solidFill>
                  <a:srgbClr val="C3CCDA"/>
                </a:solidFill>
                <a:latin typeface="Courier New"/>
              </a:rPr>
              <a:t>(</a:t>
            </a:r>
            <a:r>
              <a:rPr sz="1950" i="0">
                <a:solidFill>
                  <a:srgbClr val="A5E3A1"/>
                </a:solidFill>
                <a:latin typeface="Courier New"/>
              </a:rPr>
              <a:t>"</a:t>
            </a:r>
            <a:r>
              <a:rPr sz="1950" i="0">
                <a:solidFill>
                  <a:srgbClr val="A5E3A1"/>
                </a:solidFill>
                <a:latin typeface="Courier New"/>
              </a:rPr>
              <a:t>Navruz konserti</a:t>
            </a:r>
            <a:r>
              <a:rPr sz="1950" i="0">
                <a:solidFill>
                  <a:srgbClr val="A5E3A1"/>
                </a:solidFill>
                <a:latin typeface="Courier New"/>
              </a:rPr>
              <a:t>"</a:t>
            </a:r>
            <a:r>
              <a:rPr sz="1950" i="0">
                <a:solidFill>
                  <a:srgbClr val="C3CCDA"/>
                </a:solidFill>
                <a:latin typeface="Courier New"/>
              </a:rPr>
              <a:t>,</a:t>
            </a:r>
            <a:r>
              <a:rPr sz="1950" i="0">
                <a:solidFill>
                  <a:srgbClr val="E6E9EF"/>
                </a:solidFill>
                <a:latin typeface="Courier New"/>
              </a:rPr>
              <a:t> </a:t>
            </a:r>
            <a:r>
              <a:rPr sz="1950" i="0">
                <a:solidFill>
                  <a:srgbClr val="F78C6C"/>
                </a:solidFill>
                <a:latin typeface="Courier New"/>
              </a:rPr>
              <a:t>1</a:t>
            </a:r>
            <a:r>
              <a:rPr sz="1950" i="0">
                <a:solidFill>
                  <a:srgbClr val="F78C6C"/>
                </a:solidFill>
                <a:latin typeface="Courier New"/>
              </a:rPr>
              <a:t>5</a:t>
            </a:r>
            <a:r>
              <a:rPr sz="1950" i="0">
                <a:solidFill>
                  <a:srgbClr val="F78C6C"/>
                </a:solidFill>
                <a:latin typeface="Courier New"/>
              </a:rPr>
              <a:t>0</a:t>
            </a:r>
            <a:r>
              <a:rPr sz="1950" i="0">
                <a:solidFill>
                  <a:srgbClr val="F78C6C"/>
                </a:solidFill>
                <a:latin typeface="Courier New"/>
              </a:rPr>
              <a:t>0</a:t>
            </a:r>
            <a:r>
              <a:rPr sz="1950" i="0">
                <a:solidFill>
                  <a:srgbClr val="F78C6C"/>
                </a:solidFill>
                <a:latin typeface="Courier New"/>
              </a:rPr>
              <a:t>0</a:t>
            </a:r>
            <a:r>
              <a:rPr sz="1950" i="0">
                <a:solidFill>
                  <a:srgbClr val="F78C6C"/>
                </a:solidFill>
                <a:latin typeface="Courier New"/>
              </a:rPr>
              <a:t>0</a:t>
            </a:r>
            <a:r>
              <a:rPr sz="1950" i="0">
                <a:solidFill>
                  <a:srgbClr val="C3CCDA"/>
                </a:solidFill>
                <a:latin typeface="Courier New"/>
              </a:rPr>
              <a:t>)</a:t>
            </a:r>
          </a:p>
          <a:p>
            <a:pPr>
              <a:lnSpc>
                <a:spcPts val="2379"/>
              </a:lnSpc>
              <a:spcBef>
                <a:spcPts val="0"/>
              </a:spcBef>
              <a:spcAft>
                <a:spcPts val="0"/>
              </a:spcAft>
            </a:pPr>
            <a:r>
              <a:rPr sz="1950" i="0">
                <a:solidFill>
                  <a:srgbClr val="E6E9EF"/>
                </a:solidFill>
                <a:latin typeface="Courier New"/>
              </a:rPr>
              <a:t>    </a:t>
            </a:r>
            <a:r>
              <a:rPr sz="1950" i="0">
                <a:solidFill>
                  <a:srgbClr val="E6E9EF"/>
                </a:solidFill>
                <a:latin typeface="Courier New"/>
              </a:rPr>
              <a:t>println</a:t>
            </a:r>
            <a:r>
              <a:rPr sz="1950" i="0">
                <a:solidFill>
                  <a:srgbClr val="C3CCDA"/>
                </a:solidFill>
                <a:latin typeface="Courier New"/>
              </a:rPr>
              <a:t>(</a:t>
            </a:r>
            <a:r>
              <a:rPr sz="1950" i="0">
                <a:solidFill>
                  <a:srgbClr val="E6E9EF"/>
                </a:solidFill>
                <a:latin typeface="Courier New"/>
              </a:rPr>
              <a:t>t</a:t>
            </a:r>
            <a:r>
              <a:rPr sz="1950" i="0">
                <a:solidFill>
                  <a:srgbClr val="C3CCDA"/>
                </a:solidFill>
                <a:latin typeface="Courier New"/>
              </a:rPr>
              <a:t>.</a:t>
            </a:r>
            <a:r>
              <a:rPr sz="1950" i="0">
                <a:solidFill>
                  <a:srgbClr val="E6E9EF"/>
                </a:solidFill>
                <a:latin typeface="Courier New"/>
              </a:rPr>
              <a:t>describe</a:t>
            </a:r>
            <a:r>
              <a:rPr sz="1950" i="0">
                <a:solidFill>
                  <a:srgbClr val="C3CCDA"/>
                </a:solidFill>
                <a:latin typeface="Courier New"/>
              </a:rPr>
              <a:t>(</a:t>
            </a:r>
            <a:r>
              <a:rPr sz="1950" i="0">
                <a:solidFill>
                  <a:srgbClr val="C3CCDA"/>
                </a:solidFill>
                <a:latin typeface="Courier New"/>
              </a:rPr>
              <a:t>)</a:t>
            </a:r>
            <a:r>
              <a:rPr sz="1950" i="0">
                <a:solidFill>
                  <a:srgbClr val="C3CCDA"/>
                </a:solidFill>
                <a:latin typeface="Courier New"/>
              </a:rPr>
              <a:t>)</a:t>
            </a:r>
          </a:p>
          <a:p>
            <a:pPr>
              <a:lnSpc>
                <a:spcPts val="2379"/>
              </a:lnSpc>
              <a:spcBef>
                <a:spcPts val="0"/>
              </a:spcBef>
              <a:spcAft>
                <a:spcPts val="0"/>
              </a:spcAft>
            </a:pPr>
            <a:r>
              <a:rPr sz="1950" i="0">
                <a:solidFill>
                  <a:srgbClr val="C3CCDA"/>
                </a:solidFill>
                <a:latin typeface="Courier New"/>
              </a:rPr>
              <a:t>}</a:t>
            </a:r>
          </a:p>
        </p:txBody>
      </p:sp>
      <p:sp>
        <p:nvSpPr>
          <p:cNvPr id="7" name="Output"/>
          <p:cNvSpPr/>
          <p:nvPr/>
        </p:nvSpPr>
        <p:spPr>
          <a:xfrm>
            <a:off x="640080" y="5196840"/>
            <a:ext cx="10911535" cy="838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Navruz konserti: 150000 so'm</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02</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Standart qiymat va init</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STANDART QIYMAT VA INIT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Standart qiymat argument berilmaganda ishlatiladi</a:t>
            </a:r>
          </a:p>
        </p:txBody>
      </p:sp>
      <p:sp>
        <p:nvSpPr>
          <p:cNvPr id="4" name="Code panel"/>
          <p:cNvSpPr/>
          <p:nvPr/>
        </p:nvSpPr>
        <p:spPr>
          <a:xfrm>
            <a:off x="640080" y="2148840"/>
            <a:ext cx="10911535" cy="2447543"/>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377189" cy="2045207"/>
          </a:xfrm>
          <a:prstGeom prst="rect">
            <a:avLst/>
          </a:prstGeom>
          <a:noFill/>
        </p:spPr>
        <p:txBody>
          <a:bodyPr wrap="none" lIns="0" rIns="0" tIns="0" bIns="0">
            <a:noAutofit/>
          </a:bodyPr>
          <a:lstStyle/>
          <a:p>
            <a:pPr>
              <a:lnSpc>
                <a:spcPts val="2013"/>
              </a:lnSpc>
              <a:spcBef>
                <a:spcPts val="0"/>
              </a:spcBef>
              <a:spcAft>
                <a:spcPts val="0"/>
              </a:spcAft>
            </a:pPr>
            <a:r>
              <a:rPr sz="1650" i="0">
                <a:solidFill>
                  <a:srgbClr val="8792A8"/>
                </a:solidFill>
                <a:latin typeface="Courier New"/>
              </a:rPr>
              <a:t>1</a:t>
            </a:r>
          </a:p>
          <a:p>
            <a:pPr>
              <a:lnSpc>
                <a:spcPts val="2013"/>
              </a:lnSpc>
              <a:spcBef>
                <a:spcPts val="0"/>
              </a:spcBef>
              <a:spcAft>
                <a:spcPts val="0"/>
              </a:spcAft>
            </a:pPr>
            <a:r>
              <a:rPr sz="1650" i="0">
                <a:solidFill>
                  <a:srgbClr val="8792A8"/>
                </a:solidFill>
                <a:latin typeface="Courier New"/>
              </a:rPr>
              <a:t>2</a:t>
            </a:r>
          </a:p>
          <a:p>
            <a:pPr>
              <a:lnSpc>
                <a:spcPts val="2013"/>
              </a:lnSpc>
              <a:spcBef>
                <a:spcPts val="0"/>
              </a:spcBef>
              <a:spcAft>
                <a:spcPts val="0"/>
              </a:spcAft>
            </a:pPr>
            <a:r>
              <a:rPr sz="1650" i="0">
                <a:solidFill>
                  <a:srgbClr val="8792A8"/>
                </a:solidFill>
                <a:latin typeface="Courier New"/>
              </a:rPr>
              <a:t>3</a:t>
            </a:r>
          </a:p>
          <a:p>
            <a:pPr>
              <a:lnSpc>
                <a:spcPts val="2013"/>
              </a:lnSpc>
              <a:spcBef>
                <a:spcPts val="0"/>
              </a:spcBef>
              <a:spcAft>
                <a:spcPts val="0"/>
              </a:spcAft>
            </a:pPr>
            <a:r>
              <a:rPr sz="1650" i="0">
                <a:solidFill>
                  <a:srgbClr val="8792A8"/>
                </a:solidFill>
                <a:latin typeface="Courier New"/>
              </a:rPr>
              <a:t>4</a:t>
            </a:r>
          </a:p>
          <a:p>
            <a:pPr>
              <a:lnSpc>
                <a:spcPts val="2013"/>
              </a:lnSpc>
              <a:spcBef>
                <a:spcPts val="0"/>
              </a:spcBef>
              <a:spcAft>
                <a:spcPts val="0"/>
              </a:spcAft>
            </a:pPr>
            <a:r>
              <a:rPr sz="1650" i="0">
                <a:solidFill>
                  <a:srgbClr val="8792A8"/>
                </a:solidFill>
                <a:latin typeface="Courier New"/>
              </a:rPr>
              <a:t>5</a:t>
            </a:r>
          </a:p>
          <a:p>
            <a:pPr>
              <a:lnSpc>
                <a:spcPts val="2013"/>
              </a:lnSpc>
              <a:spcBef>
                <a:spcPts val="0"/>
              </a:spcBef>
              <a:spcAft>
                <a:spcPts val="0"/>
              </a:spcAft>
            </a:pPr>
            <a:r>
              <a:rPr sz="1650" i="0">
                <a:solidFill>
                  <a:srgbClr val="8792A8"/>
                </a:solidFill>
                <a:latin typeface="Courier New"/>
              </a:rPr>
              <a:t>6</a:t>
            </a:r>
          </a:p>
          <a:p>
            <a:pPr>
              <a:lnSpc>
                <a:spcPts val="2013"/>
              </a:lnSpc>
              <a:spcBef>
                <a:spcPts val="0"/>
              </a:spcBef>
              <a:spcAft>
                <a:spcPts val="0"/>
              </a:spcAft>
            </a:pPr>
            <a:r>
              <a:rPr sz="1650" i="0">
                <a:solidFill>
                  <a:srgbClr val="8792A8"/>
                </a:solidFill>
                <a:latin typeface="Courier New"/>
              </a:rPr>
              <a:t>7</a:t>
            </a:r>
          </a:p>
          <a:p>
            <a:pPr>
              <a:lnSpc>
                <a:spcPts val="2013"/>
              </a:lnSpc>
              <a:spcBef>
                <a:spcPts val="0"/>
              </a:spcBef>
              <a:spcAft>
                <a:spcPts val="0"/>
              </a:spcAft>
            </a:pPr>
            <a:r>
              <a:rPr sz="1650" i="0">
                <a:solidFill>
                  <a:srgbClr val="8792A8"/>
                </a:solidFill>
                <a:latin typeface="Courier New"/>
              </a:rPr>
              <a:t>8</a:t>
            </a:r>
          </a:p>
        </p:txBody>
      </p:sp>
      <p:sp>
        <p:nvSpPr>
          <p:cNvPr id="6" name="Code"/>
          <p:cNvSpPr txBox="1"/>
          <p:nvPr/>
        </p:nvSpPr>
        <p:spPr>
          <a:xfrm>
            <a:off x="1273301" y="2350008"/>
            <a:ext cx="10022281" cy="2045207"/>
          </a:xfrm>
          <a:prstGeom prst="rect">
            <a:avLst/>
          </a:prstGeom>
          <a:noFill/>
        </p:spPr>
        <p:txBody>
          <a:bodyPr wrap="none" lIns="0" rIns="0" tIns="0" bIns="0">
            <a:noAutofit/>
          </a:bodyPr>
          <a:lstStyle/>
          <a:p>
            <a:pPr>
              <a:lnSpc>
                <a:spcPts val="2013"/>
              </a:lnSpc>
              <a:spcBef>
                <a:spcPts val="0"/>
              </a:spcBef>
              <a:spcAft>
                <a:spcPts val="0"/>
              </a:spcAft>
            </a:pPr>
            <a:r>
              <a:rPr sz="1650" i="0">
                <a:solidFill>
                  <a:srgbClr val="C792EA"/>
                </a:solidFill>
                <a:latin typeface="Courier New"/>
              </a:rPr>
              <a:t>class</a:t>
            </a:r>
            <a:r>
              <a:rPr sz="1650" i="0">
                <a:solidFill>
                  <a:srgbClr val="E6E9EF"/>
                </a:solidFill>
                <a:latin typeface="Courier New"/>
              </a:rPr>
              <a:t> </a:t>
            </a:r>
            <a:r>
              <a:rPr sz="1650" i="0">
                <a:solidFill>
                  <a:srgbClr val="FFCB6B"/>
                </a:solidFill>
                <a:latin typeface="Courier New"/>
              </a:rPr>
              <a:t>Ticket</a:t>
            </a:r>
            <a:r>
              <a:rPr sz="1650" i="0">
                <a:solidFill>
                  <a:srgbClr val="C3CCDA"/>
                </a:solidFill>
                <a:latin typeface="Courier New"/>
              </a:rPr>
              <a:t>(</a:t>
            </a:r>
            <a:r>
              <a:rPr sz="1650" i="0">
                <a:solidFill>
                  <a:srgbClr val="C792EA"/>
                </a:solidFill>
                <a:latin typeface="Courier New"/>
              </a:rPr>
              <a:t>val</a:t>
            </a:r>
            <a:r>
              <a:rPr sz="1650" i="0">
                <a:solidFill>
                  <a:srgbClr val="E6E9EF"/>
                </a:solidFill>
                <a:latin typeface="Courier New"/>
              </a:rPr>
              <a:t> </a:t>
            </a:r>
            <a:r>
              <a:rPr sz="1650" i="0">
                <a:solidFill>
                  <a:srgbClr val="E6E9EF"/>
                </a:solidFill>
                <a:latin typeface="Courier New"/>
              </a:rPr>
              <a:t>event</a:t>
            </a:r>
            <a:r>
              <a:rPr sz="1650" i="0">
                <a:solidFill>
                  <a:srgbClr val="C3CCDA"/>
                </a:solidFill>
                <a:latin typeface="Courier New"/>
              </a:rPr>
              <a:t>:</a:t>
            </a:r>
            <a:r>
              <a:rPr sz="1650" i="0">
                <a:solidFill>
                  <a:srgbClr val="E6E9EF"/>
                </a:solidFill>
                <a:latin typeface="Courier New"/>
              </a:rPr>
              <a:t> </a:t>
            </a:r>
            <a:r>
              <a:rPr sz="1650" i="0">
                <a:solidFill>
                  <a:srgbClr val="C792EA"/>
                </a:solidFill>
                <a:latin typeface="Courier New"/>
              </a:rPr>
              <a:t>String</a:t>
            </a:r>
            <a:r>
              <a:rPr sz="1650" i="0">
                <a:solidFill>
                  <a:srgbClr val="C3CCDA"/>
                </a:solidFill>
                <a:latin typeface="Courier New"/>
              </a:rPr>
              <a:t>,</a:t>
            </a:r>
            <a:r>
              <a:rPr sz="1650" i="0">
                <a:solidFill>
                  <a:srgbClr val="E6E9EF"/>
                </a:solidFill>
                <a:latin typeface="Courier New"/>
              </a:rPr>
              <a:t> </a:t>
            </a:r>
            <a:r>
              <a:rPr sz="1650" i="0">
                <a:solidFill>
                  <a:srgbClr val="C792EA"/>
                </a:solidFill>
                <a:latin typeface="Courier New"/>
              </a:rPr>
              <a:t>var</a:t>
            </a:r>
            <a:r>
              <a:rPr sz="1650" i="0">
                <a:solidFill>
                  <a:srgbClr val="E6E9EF"/>
                </a:solidFill>
                <a:latin typeface="Courier New"/>
              </a:rPr>
              <a:t> </a:t>
            </a:r>
            <a:r>
              <a:rPr sz="1650" i="0">
                <a:solidFill>
                  <a:srgbClr val="E6E9EF"/>
                </a:solidFill>
                <a:latin typeface="Courier New"/>
              </a:rPr>
              <a:t>price</a:t>
            </a:r>
            <a:r>
              <a:rPr sz="1650" i="0">
                <a:solidFill>
                  <a:srgbClr val="C3CCDA"/>
                </a:solidFill>
                <a:latin typeface="Courier New"/>
              </a:rPr>
              <a:t>:</a:t>
            </a:r>
            <a:r>
              <a:rPr sz="1650" i="0">
                <a:solidFill>
                  <a:srgbClr val="E6E9EF"/>
                </a:solidFill>
                <a:latin typeface="Courier New"/>
              </a:rPr>
              <a:t> </a:t>
            </a:r>
            <a:r>
              <a:rPr sz="1650" i="0">
                <a:solidFill>
                  <a:srgbClr val="C792EA"/>
                </a:solidFill>
                <a:latin typeface="Courier New"/>
              </a:rPr>
              <a:t>Int</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F78C6C"/>
                </a:solidFill>
                <a:latin typeface="Courier New"/>
              </a:rPr>
              <a:t>1</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p>
          <a:p>
            <a:pPr>
              <a:lnSpc>
                <a:spcPts val="2013"/>
              </a:lnSpc>
              <a:spcBef>
                <a:spcPts val="0"/>
              </a:spcBef>
              <a:spcAft>
                <a:spcPts val="0"/>
              </a:spcAft>
            </a:pPr>
            <a:r>
              <a:rPr sz="1650" i="0">
                <a:solidFill>
                  <a:srgbClr val="C792EA"/>
                </a:solidFill>
                <a:latin typeface="Courier New"/>
              </a:rPr>
              <a:t>fun</a:t>
            </a:r>
            <a:r>
              <a:rPr sz="1650" i="0">
                <a:solidFill>
                  <a:srgbClr val="E6E9EF"/>
                </a:solidFill>
                <a:latin typeface="Courier New"/>
              </a:rPr>
              <a:t> </a:t>
            </a:r>
            <a:r>
              <a:rPr sz="1650" i="0">
                <a:solidFill>
                  <a:srgbClr val="82AAFF"/>
                </a:solidFill>
                <a:latin typeface="Courier New"/>
              </a:rPr>
              <a:t>main</a:t>
            </a:r>
            <a:r>
              <a:rPr sz="1650" i="0">
                <a:solidFill>
                  <a:srgbClr val="C3CCDA"/>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C792EA"/>
                </a:solidFill>
                <a:latin typeface="Courier New"/>
              </a:rPr>
              <a:t>val</a:t>
            </a:r>
            <a:r>
              <a:rPr sz="1650" i="0">
                <a:solidFill>
                  <a:srgbClr val="E6E9EF"/>
                </a:solidFill>
                <a:latin typeface="Courier New"/>
              </a:rPr>
              <a:t> </a:t>
            </a:r>
            <a:r>
              <a:rPr sz="1650" i="0">
                <a:solidFill>
                  <a:srgbClr val="E6E9EF"/>
                </a:solidFill>
                <a:latin typeface="Courier New"/>
              </a:rPr>
              <a:t>a</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E6E9EF"/>
                </a:solidFill>
                <a:latin typeface="Courier New"/>
              </a:rPr>
              <a:t>Ticket</a:t>
            </a:r>
            <a:r>
              <a:rPr sz="1650" i="0">
                <a:solidFill>
                  <a:srgbClr val="C3CCDA"/>
                </a:solidFill>
                <a:latin typeface="Courier New"/>
              </a:rPr>
              <a:t>(</a:t>
            </a:r>
            <a:r>
              <a:rPr sz="1650" i="0">
                <a:solidFill>
                  <a:srgbClr val="A5E3A1"/>
                </a:solidFill>
                <a:latin typeface="Courier New"/>
              </a:rPr>
              <a:t>"</a:t>
            </a:r>
            <a:r>
              <a:rPr sz="1650" i="0">
                <a:solidFill>
                  <a:srgbClr val="A5E3A1"/>
                </a:solidFill>
                <a:latin typeface="Courier New"/>
              </a:rPr>
              <a:t>Ochiq dars</a:t>
            </a:r>
            <a:r>
              <a:rPr sz="1650" i="0">
                <a:solidFill>
                  <a:srgbClr val="A5E3A1"/>
                </a:solidFill>
                <a:latin typeface="Courier New"/>
              </a:rPr>
              <a:t>"</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C792EA"/>
                </a:solidFill>
                <a:latin typeface="Courier New"/>
              </a:rPr>
              <a:t>val</a:t>
            </a:r>
            <a:r>
              <a:rPr sz="1650" i="0">
                <a:solidFill>
                  <a:srgbClr val="E6E9EF"/>
                </a:solidFill>
                <a:latin typeface="Courier New"/>
              </a:rPr>
              <a:t> </a:t>
            </a:r>
            <a:r>
              <a:rPr sz="1650" i="0">
                <a:solidFill>
                  <a:srgbClr val="E6E9EF"/>
                </a:solidFill>
                <a:latin typeface="Courier New"/>
              </a:rPr>
              <a:t>b</a:t>
            </a:r>
            <a:r>
              <a:rPr sz="1650" i="0">
                <a:solidFill>
                  <a:srgbClr val="E6E9EF"/>
                </a:solidFill>
                <a:latin typeface="Courier New"/>
              </a:rPr>
              <a:t> </a:t>
            </a:r>
            <a:r>
              <a:rPr sz="1650" i="0">
                <a:solidFill>
                  <a:srgbClr val="89DDFF"/>
                </a:solidFill>
                <a:latin typeface="Courier New"/>
              </a:rPr>
              <a:t>=</a:t>
            </a:r>
            <a:r>
              <a:rPr sz="1650" i="0">
                <a:solidFill>
                  <a:srgbClr val="E6E9EF"/>
                </a:solidFill>
                <a:latin typeface="Courier New"/>
              </a:rPr>
              <a:t> </a:t>
            </a:r>
            <a:r>
              <a:rPr sz="1650" i="0">
                <a:solidFill>
                  <a:srgbClr val="E6E9EF"/>
                </a:solidFill>
                <a:latin typeface="Courier New"/>
              </a:rPr>
              <a:t>Ticket</a:t>
            </a:r>
            <a:r>
              <a:rPr sz="1650" i="0">
                <a:solidFill>
                  <a:srgbClr val="C3CCDA"/>
                </a:solidFill>
                <a:latin typeface="Courier New"/>
              </a:rPr>
              <a:t>(</a:t>
            </a:r>
            <a:r>
              <a:rPr sz="1650" i="0">
                <a:solidFill>
                  <a:srgbClr val="A5E3A1"/>
                </a:solidFill>
                <a:latin typeface="Courier New"/>
              </a:rPr>
              <a:t>"</a:t>
            </a:r>
            <a:r>
              <a:rPr sz="1650" i="0">
                <a:solidFill>
                  <a:srgbClr val="A5E3A1"/>
                </a:solidFill>
                <a:latin typeface="Courier New"/>
              </a:rPr>
              <a:t>Rok kechasi</a:t>
            </a:r>
            <a:r>
              <a:rPr sz="1650" i="0">
                <a:solidFill>
                  <a:srgbClr val="A5E3A1"/>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F78C6C"/>
                </a:solidFill>
                <a:latin typeface="Courier New"/>
              </a:rPr>
              <a:t>9</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E6E9EF"/>
                </a:solidFill>
                <a:latin typeface="Courier New"/>
              </a:rPr>
              <a:t>println</a:t>
            </a:r>
            <a:r>
              <a:rPr sz="1650" i="0">
                <a:solidFill>
                  <a:srgbClr val="C3CCDA"/>
                </a:solidFill>
                <a:latin typeface="Courier New"/>
              </a:rPr>
              <a:t>(</a:t>
            </a:r>
            <a:r>
              <a:rPr sz="1650" i="0">
                <a:solidFill>
                  <a:srgbClr val="E6E9EF"/>
                </a:solidFill>
                <a:latin typeface="Courier New"/>
              </a:rPr>
              <a:t>a</a:t>
            </a:r>
            <a:r>
              <a:rPr sz="1650" i="0">
                <a:solidFill>
                  <a:srgbClr val="C3CCDA"/>
                </a:solidFill>
                <a:latin typeface="Courier New"/>
              </a:rPr>
              <a:t>.</a:t>
            </a:r>
            <a:r>
              <a:rPr sz="1650" i="0">
                <a:solidFill>
                  <a:srgbClr val="E6E9EF"/>
                </a:solidFill>
                <a:latin typeface="Courier New"/>
              </a:rPr>
              <a:t>price</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E6E9EF"/>
                </a:solidFill>
                <a:latin typeface="Courier New"/>
              </a:rPr>
              <a:t>println</a:t>
            </a:r>
            <a:r>
              <a:rPr sz="1650" i="0">
                <a:solidFill>
                  <a:srgbClr val="C3CCDA"/>
                </a:solidFill>
                <a:latin typeface="Courier New"/>
              </a:rPr>
              <a:t>(</a:t>
            </a:r>
            <a:r>
              <a:rPr sz="1650" i="0">
                <a:solidFill>
                  <a:srgbClr val="E6E9EF"/>
                </a:solidFill>
                <a:latin typeface="Courier New"/>
              </a:rPr>
              <a:t>b</a:t>
            </a:r>
            <a:r>
              <a:rPr sz="1650" i="0">
                <a:solidFill>
                  <a:srgbClr val="C3CCDA"/>
                </a:solidFill>
                <a:latin typeface="Courier New"/>
              </a:rPr>
              <a:t>.</a:t>
            </a:r>
            <a:r>
              <a:rPr sz="1650" i="0">
                <a:solidFill>
                  <a:srgbClr val="E6E9EF"/>
                </a:solidFill>
                <a:latin typeface="Courier New"/>
              </a:rPr>
              <a:t>price</a:t>
            </a:r>
            <a:r>
              <a:rPr sz="1650" i="0">
                <a:solidFill>
                  <a:srgbClr val="C3CCDA"/>
                </a:solidFill>
                <a:latin typeface="Courier New"/>
              </a:rPr>
              <a:t>)</a:t>
            </a:r>
          </a:p>
          <a:p>
            <a:pPr>
              <a:lnSpc>
                <a:spcPts val="2013"/>
              </a:lnSpc>
              <a:spcBef>
                <a:spcPts val="0"/>
              </a:spcBef>
              <a:spcAft>
                <a:spcPts val="0"/>
              </a:spcAft>
            </a:pPr>
            <a:r>
              <a:rPr sz="1650" i="0">
                <a:solidFill>
                  <a:srgbClr val="C3CCDA"/>
                </a:solidFill>
                <a:latin typeface="Courier New"/>
              </a:rPr>
              <a:t>}</a:t>
            </a:r>
          </a:p>
        </p:txBody>
      </p:sp>
      <p:sp>
        <p:nvSpPr>
          <p:cNvPr id="7" name="Output"/>
          <p:cNvSpPr/>
          <p:nvPr/>
        </p:nvSpPr>
        <p:spPr>
          <a:xfrm>
            <a:off x="640080" y="4824984"/>
            <a:ext cx="10911535"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100000</a:t>
            </a:r>
          </a:p>
          <a:p>
            <a:pPr algn="l"/>
            <a:r>
              <a:rPr sz="2400" i="0">
                <a:solidFill>
                  <a:srgbClr val="111111"/>
                </a:solidFill>
                <a:latin typeface="Courier New"/>
              </a:rPr>
              <a:t>90000</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STANDART QIYMAT VA INIT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init blok obyekt yaratilganda ishga tushadi</a:t>
            </a:r>
          </a:p>
        </p:txBody>
      </p:sp>
      <p:sp>
        <p:nvSpPr>
          <p:cNvPr id="4" name="Code panel"/>
          <p:cNvSpPr/>
          <p:nvPr/>
        </p:nvSpPr>
        <p:spPr>
          <a:xfrm>
            <a:off x="640080" y="2148840"/>
            <a:ext cx="10911535" cy="2447543"/>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377189" cy="2045207"/>
          </a:xfrm>
          <a:prstGeom prst="rect">
            <a:avLst/>
          </a:prstGeom>
          <a:noFill/>
        </p:spPr>
        <p:txBody>
          <a:bodyPr wrap="none" lIns="0" rIns="0" tIns="0" bIns="0">
            <a:noAutofit/>
          </a:bodyPr>
          <a:lstStyle/>
          <a:p>
            <a:pPr>
              <a:lnSpc>
                <a:spcPts val="2013"/>
              </a:lnSpc>
              <a:spcBef>
                <a:spcPts val="0"/>
              </a:spcBef>
              <a:spcAft>
                <a:spcPts val="0"/>
              </a:spcAft>
            </a:pPr>
            <a:r>
              <a:rPr sz="1650" i="0">
                <a:solidFill>
                  <a:srgbClr val="8792A8"/>
                </a:solidFill>
                <a:latin typeface="Courier New"/>
              </a:rPr>
              <a:t>1</a:t>
            </a:r>
          </a:p>
          <a:p>
            <a:pPr>
              <a:lnSpc>
                <a:spcPts val="2013"/>
              </a:lnSpc>
              <a:spcBef>
                <a:spcPts val="0"/>
              </a:spcBef>
              <a:spcAft>
                <a:spcPts val="0"/>
              </a:spcAft>
            </a:pPr>
            <a:r>
              <a:rPr sz="1650" i="0">
                <a:solidFill>
                  <a:srgbClr val="8792A8"/>
                </a:solidFill>
                <a:latin typeface="Courier New"/>
              </a:rPr>
              <a:t>2</a:t>
            </a:r>
          </a:p>
          <a:p>
            <a:pPr>
              <a:lnSpc>
                <a:spcPts val="2013"/>
              </a:lnSpc>
              <a:spcBef>
                <a:spcPts val="0"/>
              </a:spcBef>
              <a:spcAft>
                <a:spcPts val="0"/>
              </a:spcAft>
            </a:pPr>
            <a:r>
              <a:rPr sz="1650" i="0">
                <a:solidFill>
                  <a:srgbClr val="8792A8"/>
                </a:solidFill>
                <a:latin typeface="Courier New"/>
              </a:rPr>
              <a:t>3</a:t>
            </a:r>
          </a:p>
          <a:p>
            <a:pPr>
              <a:lnSpc>
                <a:spcPts val="2013"/>
              </a:lnSpc>
              <a:spcBef>
                <a:spcPts val="0"/>
              </a:spcBef>
              <a:spcAft>
                <a:spcPts val="0"/>
              </a:spcAft>
            </a:pPr>
            <a:r>
              <a:rPr sz="1650" i="0">
                <a:solidFill>
                  <a:srgbClr val="8792A8"/>
                </a:solidFill>
                <a:latin typeface="Courier New"/>
              </a:rPr>
              <a:t>4</a:t>
            </a:r>
          </a:p>
          <a:p>
            <a:pPr>
              <a:lnSpc>
                <a:spcPts val="2013"/>
              </a:lnSpc>
              <a:spcBef>
                <a:spcPts val="0"/>
              </a:spcBef>
              <a:spcAft>
                <a:spcPts val="0"/>
              </a:spcAft>
            </a:pPr>
            <a:r>
              <a:rPr sz="1650" i="0">
                <a:solidFill>
                  <a:srgbClr val="8792A8"/>
                </a:solidFill>
                <a:latin typeface="Courier New"/>
              </a:rPr>
              <a:t>5</a:t>
            </a:r>
          </a:p>
          <a:p>
            <a:pPr>
              <a:lnSpc>
                <a:spcPts val="2013"/>
              </a:lnSpc>
              <a:spcBef>
                <a:spcPts val="0"/>
              </a:spcBef>
              <a:spcAft>
                <a:spcPts val="0"/>
              </a:spcAft>
            </a:pPr>
            <a:r>
              <a:rPr sz="1650" i="0">
                <a:solidFill>
                  <a:srgbClr val="8792A8"/>
                </a:solidFill>
                <a:latin typeface="Courier New"/>
              </a:rPr>
              <a:t>6</a:t>
            </a:r>
          </a:p>
          <a:p>
            <a:pPr>
              <a:lnSpc>
                <a:spcPts val="2013"/>
              </a:lnSpc>
              <a:spcBef>
                <a:spcPts val="0"/>
              </a:spcBef>
              <a:spcAft>
                <a:spcPts val="0"/>
              </a:spcAft>
            </a:pPr>
            <a:r>
              <a:rPr sz="1650" i="0">
                <a:solidFill>
                  <a:srgbClr val="8792A8"/>
                </a:solidFill>
                <a:latin typeface="Courier New"/>
              </a:rPr>
              <a:t>7</a:t>
            </a:r>
          </a:p>
          <a:p>
            <a:pPr>
              <a:lnSpc>
                <a:spcPts val="2013"/>
              </a:lnSpc>
              <a:spcBef>
                <a:spcPts val="0"/>
              </a:spcBef>
              <a:spcAft>
                <a:spcPts val="0"/>
              </a:spcAft>
            </a:pPr>
            <a:r>
              <a:rPr sz="1650" i="0">
                <a:solidFill>
                  <a:srgbClr val="8792A8"/>
                </a:solidFill>
                <a:latin typeface="Courier New"/>
              </a:rPr>
              <a:t>8</a:t>
            </a:r>
          </a:p>
        </p:txBody>
      </p:sp>
      <p:sp>
        <p:nvSpPr>
          <p:cNvPr id="6" name="Code"/>
          <p:cNvSpPr txBox="1"/>
          <p:nvPr/>
        </p:nvSpPr>
        <p:spPr>
          <a:xfrm>
            <a:off x="1273301" y="2350008"/>
            <a:ext cx="10022281" cy="2045207"/>
          </a:xfrm>
          <a:prstGeom prst="rect">
            <a:avLst/>
          </a:prstGeom>
          <a:noFill/>
        </p:spPr>
        <p:txBody>
          <a:bodyPr wrap="none" lIns="0" rIns="0" tIns="0" bIns="0">
            <a:noAutofit/>
          </a:bodyPr>
          <a:lstStyle/>
          <a:p>
            <a:pPr>
              <a:lnSpc>
                <a:spcPts val="2013"/>
              </a:lnSpc>
              <a:spcBef>
                <a:spcPts val="0"/>
              </a:spcBef>
              <a:spcAft>
                <a:spcPts val="0"/>
              </a:spcAft>
            </a:pPr>
            <a:r>
              <a:rPr sz="1650" i="0">
                <a:solidFill>
                  <a:srgbClr val="C792EA"/>
                </a:solidFill>
                <a:latin typeface="Courier New"/>
              </a:rPr>
              <a:t>class</a:t>
            </a:r>
            <a:r>
              <a:rPr sz="1650" i="0">
                <a:solidFill>
                  <a:srgbClr val="E6E9EF"/>
                </a:solidFill>
                <a:latin typeface="Courier New"/>
              </a:rPr>
              <a:t> </a:t>
            </a:r>
            <a:r>
              <a:rPr sz="1650" i="0">
                <a:solidFill>
                  <a:srgbClr val="FFCB6B"/>
                </a:solidFill>
                <a:latin typeface="Courier New"/>
              </a:rPr>
              <a:t>Ticket</a:t>
            </a:r>
            <a:r>
              <a:rPr sz="1650" i="0">
                <a:solidFill>
                  <a:srgbClr val="C3CCDA"/>
                </a:solidFill>
                <a:latin typeface="Courier New"/>
              </a:rPr>
              <a:t>(</a:t>
            </a:r>
            <a:r>
              <a:rPr sz="1650" i="0">
                <a:solidFill>
                  <a:srgbClr val="C792EA"/>
                </a:solidFill>
                <a:latin typeface="Courier New"/>
              </a:rPr>
              <a:t>val</a:t>
            </a:r>
            <a:r>
              <a:rPr sz="1650" i="0">
                <a:solidFill>
                  <a:srgbClr val="E6E9EF"/>
                </a:solidFill>
                <a:latin typeface="Courier New"/>
              </a:rPr>
              <a:t> </a:t>
            </a:r>
            <a:r>
              <a:rPr sz="1650" i="0">
                <a:solidFill>
                  <a:srgbClr val="E6E9EF"/>
                </a:solidFill>
                <a:latin typeface="Courier New"/>
              </a:rPr>
              <a:t>event</a:t>
            </a:r>
            <a:r>
              <a:rPr sz="1650" i="0">
                <a:solidFill>
                  <a:srgbClr val="C3CCDA"/>
                </a:solidFill>
                <a:latin typeface="Courier New"/>
              </a:rPr>
              <a:t>:</a:t>
            </a:r>
            <a:r>
              <a:rPr sz="1650" i="0">
                <a:solidFill>
                  <a:srgbClr val="E6E9EF"/>
                </a:solidFill>
                <a:latin typeface="Courier New"/>
              </a:rPr>
              <a:t> </a:t>
            </a:r>
            <a:r>
              <a:rPr sz="1650" i="0">
                <a:solidFill>
                  <a:srgbClr val="C792EA"/>
                </a:solidFill>
                <a:latin typeface="Courier New"/>
              </a:rPr>
              <a:t>String</a:t>
            </a:r>
            <a:r>
              <a:rPr sz="1650" i="0">
                <a:solidFill>
                  <a:srgbClr val="C3CCDA"/>
                </a:solidFill>
                <a:latin typeface="Courier New"/>
              </a:rPr>
              <a:t>,</a:t>
            </a:r>
            <a:r>
              <a:rPr sz="1650" i="0">
                <a:solidFill>
                  <a:srgbClr val="E6E9EF"/>
                </a:solidFill>
                <a:latin typeface="Courier New"/>
              </a:rPr>
              <a:t> </a:t>
            </a:r>
            <a:r>
              <a:rPr sz="1650" i="0">
                <a:solidFill>
                  <a:srgbClr val="C792EA"/>
                </a:solidFill>
                <a:latin typeface="Courier New"/>
              </a:rPr>
              <a:t>var</a:t>
            </a:r>
            <a:r>
              <a:rPr sz="1650" i="0">
                <a:solidFill>
                  <a:srgbClr val="E6E9EF"/>
                </a:solidFill>
                <a:latin typeface="Courier New"/>
              </a:rPr>
              <a:t> </a:t>
            </a:r>
            <a:r>
              <a:rPr sz="1650" i="0">
                <a:solidFill>
                  <a:srgbClr val="E6E9EF"/>
                </a:solidFill>
                <a:latin typeface="Courier New"/>
              </a:rPr>
              <a:t>price</a:t>
            </a:r>
            <a:r>
              <a:rPr sz="1650" i="0">
                <a:solidFill>
                  <a:srgbClr val="C3CCDA"/>
                </a:solidFill>
                <a:latin typeface="Courier New"/>
              </a:rPr>
              <a:t>:</a:t>
            </a:r>
            <a:r>
              <a:rPr sz="1650" i="0">
                <a:solidFill>
                  <a:srgbClr val="E6E9EF"/>
                </a:solidFill>
                <a:latin typeface="Courier New"/>
              </a:rPr>
              <a:t> </a:t>
            </a:r>
            <a:r>
              <a:rPr sz="1650" i="0">
                <a:solidFill>
                  <a:srgbClr val="C792EA"/>
                </a:solidFill>
                <a:latin typeface="Courier New"/>
              </a:rPr>
              <a:t>Int</a:t>
            </a:r>
            <a:r>
              <a:rPr sz="1650" i="0">
                <a:solidFill>
                  <a:srgbClr val="C3CCDA"/>
                </a:solidFill>
                <a:latin typeface="Courier New"/>
              </a:rPr>
              <a:t>)</a:t>
            </a:r>
            <a:r>
              <a:rPr sz="1650" i="0">
                <a:solidFill>
                  <a:srgbClr val="E6E9EF"/>
                </a:solidFill>
                <a:latin typeface="Courier New"/>
              </a:rPr>
              <a:t> </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C792EA"/>
                </a:solidFill>
                <a:latin typeface="Courier New"/>
              </a:rPr>
              <a:t>init</a:t>
            </a:r>
            <a:r>
              <a:rPr sz="1650" i="0">
                <a:solidFill>
                  <a:srgbClr val="E6E9EF"/>
                </a:solidFill>
                <a:latin typeface="Courier New"/>
              </a:rPr>
              <a:t> </a:t>
            </a:r>
            <a:r>
              <a:rPr sz="1650" i="0">
                <a:solidFill>
                  <a:srgbClr val="C3CCDA"/>
                </a:solidFill>
                <a:latin typeface="Courier New"/>
              </a:rPr>
              <a:t>{</a:t>
            </a:r>
            <a:r>
              <a:rPr sz="1650" i="0">
                <a:solidFill>
                  <a:srgbClr val="E6E9EF"/>
                </a:solidFill>
                <a:latin typeface="Courier New"/>
              </a:rPr>
              <a:t> </a:t>
            </a:r>
            <a:r>
              <a:rPr sz="1650" i="0">
                <a:solidFill>
                  <a:srgbClr val="E6E9EF"/>
                </a:solidFill>
                <a:latin typeface="Courier New"/>
              </a:rPr>
              <a:t>println</a:t>
            </a:r>
            <a:r>
              <a:rPr sz="1650" i="0">
                <a:solidFill>
                  <a:srgbClr val="C3CCDA"/>
                </a:solidFill>
                <a:latin typeface="Courier New"/>
              </a:rPr>
              <a:t>(</a:t>
            </a:r>
            <a:r>
              <a:rPr sz="1650" i="0">
                <a:solidFill>
                  <a:srgbClr val="A5E3A1"/>
                </a:solidFill>
                <a:latin typeface="Courier New"/>
              </a:rPr>
              <a:t>"</a:t>
            </a:r>
            <a:r>
              <a:rPr sz="1650" i="0">
                <a:solidFill>
                  <a:srgbClr val="A5E3A1"/>
                </a:solidFill>
                <a:latin typeface="Courier New"/>
              </a:rPr>
              <a:t>Chipta yaratildi: </a:t>
            </a:r>
            <a:r>
              <a:rPr sz="1650" i="0">
                <a:solidFill>
                  <a:srgbClr val="A5E3A1"/>
                </a:solidFill>
                <a:latin typeface="Courier New"/>
              </a:rPr>
              <a:t>$</a:t>
            </a:r>
            <a:r>
              <a:rPr sz="1650" i="0">
                <a:solidFill>
                  <a:srgbClr val="E6E9EF"/>
                </a:solidFill>
                <a:latin typeface="Courier New"/>
              </a:rPr>
              <a:t>event</a:t>
            </a:r>
            <a:r>
              <a:rPr sz="1650" i="0">
                <a:solidFill>
                  <a:srgbClr val="A5E3A1"/>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C3CCDA"/>
                </a:solidFill>
                <a:latin typeface="Courier New"/>
              </a:rPr>
              <a:t>}</a:t>
            </a:r>
          </a:p>
          <a:p>
            <a:pPr>
              <a:lnSpc>
                <a:spcPts val="2013"/>
              </a:lnSpc>
              <a:spcBef>
                <a:spcPts val="0"/>
              </a:spcBef>
              <a:spcAft>
                <a:spcPts val="0"/>
              </a:spcAft>
            </a:pP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p>
          <a:p>
            <a:pPr>
              <a:lnSpc>
                <a:spcPts val="2013"/>
              </a:lnSpc>
              <a:spcBef>
                <a:spcPts val="0"/>
              </a:spcBef>
              <a:spcAft>
                <a:spcPts val="0"/>
              </a:spcAft>
            </a:pPr>
            <a:r>
              <a:rPr sz="1650" i="0">
                <a:solidFill>
                  <a:srgbClr val="C792EA"/>
                </a:solidFill>
                <a:latin typeface="Courier New"/>
              </a:rPr>
              <a:t>fun</a:t>
            </a:r>
            <a:r>
              <a:rPr sz="1650" i="0">
                <a:solidFill>
                  <a:srgbClr val="E6E9EF"/>
                </a:solidFill>
                <a:latin typeface="Courier New"/>
              </a:rPr>
              <a:t> </a:t>
            </a:r>
            <a:r>
              <a:rPr sz="1650" i="0">
                <a:solidFill>
                  <a:srgbClr val="82AAFF"/>
                </a:solidFill>
                <a:latin typeface="Courier New"/>
              </a:rPr>
              <a:t>main</a:t>
            </a:r>
            <a:r>
              <a:rPr sz="1650" i="0">
                <a:solidFill>
                  <a:srgbClr val="C3CCDA"/>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E6E9EF"/>
                </a:solidFill>
                <a:latin typeface="Courier New"/>
              </a:rPr>
              <a:t>Ticket</a:t>
            </a:r>
            <a:r>
              <a:rPr sz="1650" i="0">
                <a:solidFill>
                  <a:srgbClr val="C3CCDA"/>
                </a:solidFill>
                <a:latin typeface="Courier New"/>
              </a:rPr>
              <a:t>(</a:t>
            </a:r>
            <a:r>
              <a:rPr sz="1650" i="0">
                <a:solidFill>
                  <a:srgbClr val="A5E3A1"/>
                </a:solidFill>
                <a:latin typeface="Courier New"/>
              </a:rPr>
              <a:t>"</a:t>
            </a:r>
            <a:r>
              <a:rPr sz="1650" i="0">
                <a:solidFill>
                  <a:srgbClr val="A5E3A1"/>
                </a:solidFill>
                <a:latin typeface="Courier New"/>
              </a:rPr>
              <a:t>Navruz konserti</a:t>
            </a:r>
            <a:r>
              <a:rPr sz="1650" i="0">
                <a:solidFill>
                  <a:srgbClr val="A5E3A1"/>
                </a:solidFill>
                <a:latin typeface="Courier New"/>
              </a:rPr>
              <a:t>"</a:t>
            </a:r>
            <a:r>
              <a:rPr sz="1650" i="0">
                <a:solidFill>
                  <a:srgbClr val="C3CCDA"/>
                </a:solidFill>
                <a:latin typeface="Courier New"/>
              </a:rPr>
              <a:t>,</a:t>
            </a:r>
            <a:r>
              <a:rPr sz="1650" i="0">
                <a:solidFill>
                  <a:srgbClr val="E6E9EF"/>
                </a:solidFill>
                <a:latin typeface="Courier New"/>
              </a:rPr>
              <a:t> </a:t>
            </a:r>
            <a:r>
              <a:rPr sz="1650" i="0">
                <a:solidFill>
                  <a:srgbClr val="F78C6C"/>
                </a:solidFill>
                <a:latin typeface="Courier New"/>
              </a:rPr>
              <a:t>1</a:t>
            </a:r>
            <a:r>
              <a:rPr sz="1650" i="0">
                <a:solidFill>
                  <a:srgbClr val="F78C6C"/>
                </a:solidFill>
                <a:latin typeface="Courier New"/>
              </a:rPr>
              <a:t>5</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F78C6C"/>
                </a:solidFill>
                <a:latin typeface="Courier New"/>
              </a:rPr>
              <a:t>0</a:t>
            </a:r>
            <a:r>
              <a:rPr sz="1650" i="0">
                <a:solidFill>
                  <a:srgbClr val="C3CCDA"/>
                </a:solidFill>
                <a:latin typeface="Courier New"/>
              </a:rPr>
              <a:t>)</a:t>
            </a:r>
          </a:p>
          <a:p>
            <a:pPr>
              <a:lnSpc>
                <a:spcPts val="2013"/>
              </a:lnSpc>
              <a:spcBef>
                <a:spcPts val="0"/>
              </a:spcBef>
              <a:spcAft>
                <a:spcPts val="0"/>
              </a:spcAft>
            </a:pPr>
            <a:r>
              <a:rPr sz="1650" i="0">
                <a:solidFill>
                  <a:srgbClr val="E6E9EF"/>
                </a:solidFill>
                <a:latin typeface="Courier New"/>
              </a:rPr>
              <a:t>    </a:t>
            </a:r>
            <a:r>
              <a:rPr sz="1650" i="0">
                <a:solidFill>
                  <a:srgbClr val="E6E9EF"/>
                </a:solidFill>
                <a:latin typeface="Courier New"/>
              </a:rPr>
              <a:t>println</a:t>
            </a:r>
            <a:r>
              <a:rPr sz="1650" i="0">
                <a:solidFill>
                  <a:srgbClr val="C3CCDA"/>
                </a:solidFill>
                <a:latin typeface="Courier New"/>
              </a:rPr>
              <a:t>(</a:t>
            </a:r>
            <a:r>
              <a:rPr sz="1650" i="0">
                <a:solidFill>
                  <a:srgbClr val="A5E3A1"/>
                </a:solidFill>
                <a:latin typeface="Courier New"/>
              </a:rPr>
              <a:t>"</a:t>
            </a:r>
            <a:r>
              <a:rPr sz="1650" i="0">
                <a:solidFill>
                  <a:srgbClr val="A5E3A1"/>
                </a:solidFill>
                <a:latin typeface="Courier New"/>
              </a:rPr>
              <a:t>Tayyor</a:t>
            </a:r>
            <a:r>
              <a:rPr sz="1650" i="0">
                <a:solidFill>
                  <a:srgbClr val="A5E3A1"/>
                </a:solidFill>
                <a:latin typeface="Courier New"/>
              </a:rPr>
              <a:t>"</a:t>
            </a:r>
            <a:r>
              <a:rPr sz="1650" i="0">
                <a:solidFill>
                  <a:srgbClr val="C3CCDA"/>
                </a:solidFill>
                <a:latin typeface="Courier New"/>
              </a:rPr>
              <a:t>)</a:t>
            </a:r>
          </a:p>
          <a:p>
            <a:pPr>
              <a:lnSpc>
                <a:spcPts val="2013"/>
              </a:lnSpc>
              <a:spcBef>
                <a:spcPts val="0"/>
              </a:spcBef>
              <a:spcAft>
                <a:spcPts val="0"/>
              </a:spcAft>
            </a:pPr>
            <a:r>
              <a:rPr sz="1650" i="0">
                <a:solidFill>
                  <a:srgbClr val="C3CCDA"/>
                </a:solidFill>
                <a:latin typeface="Courier New"/>
              </a:rPr>
              <a:t>}</a:t>
            </a:r>
          </a:p>
        </p:txBody>
      </p:sp>
      <p:sp>
        <p:nvSpPr>
          <p:cNvPr id="7" name="Output"/>
          <p:cNvSpPr/>
          <p:nvPr/>
        </p:nvSpPr>
        <p:spPr>
          <a:xfrm>
            <a:off x="640080" y="4824984"/>
            <a:ext cx="10911535"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Chipta yaratildi: Navruz konserti</a:t>
            </a:r>
          </a:p>
          <a:p>
            <a:pPr algn="l"/>
            <a:r>
              <a:rPr sz="2400" i="0">
                <a:solidFill>
                  <a:srgbClr val="111111"/>
                </a:solidFill>
                <a:latin typeface="Courier New"/>
              </a:rPr>
              <a:t>Tayyor</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STANDART QIYMAT VA INIT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require noto'g'ri qiymatda obyekt yaratilishini to'xtatadi</a:t>
            </a:r>
          </a:p>
        </p:txBody>
      </p:sp>
      <p:sp>
        <p:nvSpPr>
          <p:cNvPr id="4" name="Code panel"/>
          <p:cNvSpPr/>
          <p:nvPr/>
        </p:nvSpPr>
        <p:spPr>
          <a:xfrm>
            <a:off x="640080" y="2148840"/>
            <a:ext cx="6765151" cy="1843277"/>
          </a:xfrm>
          <a:prstGeom prst="roundRect">
            <a:avLst>
              <a:gd name="adj" fmla="val 3000"/>
            </a:avLst>
          </a:prstGeom>
          <a:solidFill>
            <a:srgbClr val="111827"/>
          </a:solidFill>
          <a:ln>
            <a:noFill/>
          </a:ln>
        </p:spPr>
        <p:txBody>
          <a:bodyPr rtlCol="0" anchor="ctr"/>
          <a:lstStyle/>
          <a:p>
            <a:pPr algn="ctr"/>
          </a:p>
        </p:txBody>
      </p:sp>
      <p:sp>
        <p:nvSpPr>
          <p:cNvPr id="5" name="Highlight line 2"/>
          <p:cNvSpPr/>
          <p:nvPr/>
        </p:nvSpPr>
        <p:spPr>
          <a:xfrm>
            <a:off x="713231" y="2590165"/>
            <a:ext cx="6618847" cy="240156"/>
          </a:xfrm>
          <a:prstGeom prst="rect">
            <a:avLst/>
          </a:prstGeom>
          <a:solidFill>
            <a:srgbClr val="FFC20E">
              <a:alpha val="34000"/>
            </a:srgbClr>
          </a:solidFill>
          <a:ln>
            <a:noFill/>
          </a:ln>
        </p:spPr>
        <p:txBody>
          <a:bodyPr rtlCol="0" anchor="ctr"/>
          <a:lstStyle/>
          <a:p>
            <a:pPr algn="ctr"/>
          </a:p>
        </p:txBody>
      </p:sp>
      <p:sp>
        <p:nvSpPr>
          <p:cNvPr id="6" name="Highlight line 3"/>
          <p:cNvSpPr/>
          <p:nvPr/>
        </p:nvSpPr>
        <p:spPr>
          <a:xfrm>
            <a:off x="713231" y="2830322"/>
            <a:ext cx="6618847" cy="240156"/>
          </a:xfrm>
          <a:prstGeom prst="rect">
            <a:avLst/>
          </a:prstGeom>
          <a:solidFill>
            <a:srgbClr val="FFC20E">
              <a:alpha val="34000"/>
            </a:srgbClr>
          </a:solidFill>
          <a:ln>
            <a:noFill/>
          </a:ln>
        </p:spPr>
        <p:txBody>
          <a:bodyPr rtlCol="0" anchor="ctr"/>
          <a:lstStyle/>
          <a:p>
            <a:pPr algn="ctr"/>
          </a:p>
        </p:txBody>
      </p:sp>
      <p:sp>
        <p:nvSpPr>
          <p:cNvPr id="7" name="Highlight line 4"/>
          <p:cNvSpPr/>
          <p:nvPr/>
        </p:nvSpPr>
        <p:spPr>
          <a:xfrm>
            <a:off x="713231" y="3070479"/>
            <a:ext cx="6618847" cy="240156"/>
          </a:xfrm>
          <a:prstGeom prst="rect">
            <a:avLst/>
          </a:prstGeom>
          <a:solidFill>
            <a:srgbClr val="FFC20E">
              <a:alpha val="34000"/>
            </a:srgbClr>
          </a:solidFill>
          <a:ln>
            <a:noFill/>
          </a:ln>
        </p:spPr>
        <p:txBody>
          <a:bodyPr rtlCol="0" anchor="ctr"/>
          <a:lstStyle/>
          <a:p>
            <a:pPr algn="ctr"/>
          </a:p>
        </p:txBody>
      </p:sp>
      <p:sp>
        <p:nvSpPr>
          <p:cNvPr id="8" name="Line numbers"/>
          <p:cNvSpPr txBox="1"/>
          <p:nvPr/>
        </p:nvSpPr>
        <p:spPr>
          <a:xfrm>
            <a:off x="896112" y="2350008"/>
            <a:ext cx="354329" cy="1440941"/>
          </a:xfrm>
          <a:prstGeom prst="rect">
            <a:avLst/>
          </a:prstGeom>
          <a:noFill/>
        </p:spPr>
        <p:txBody>
          <a:bodyPr wrap="none" lIns="0" rIns="0" tIns="0" bIns="0">
            <a:noAutofit/>
          </a:bodyPr>
          <a:lstStyle/>
          <a:p>
            <a:pPr>
              <a:lnSpc>
                <a:spcPts val="1891"/>
              </a:lnSpc>
              <a:spcBef>
                <a:spcPts val="0"/>
              </a:spcBef>
              <a:spcAft>
                <a:spcPts val="0"/>
              </a:spcAft>
            </a:pPr>
            <a:r>
              <a:rPr sz="1550" i="0">
                <a:solidFill>
                  <a:srgbClr val="8792A8"/>
                </a:solidFill>
                <a:latin typeface="Courier New"/>
              </a:rPr>
              <a:t>1</a:t>
            </a:r>
          </a:p>
          <a:p>
            <a:pPr>
              <a:lnSpc>
                <a:spcPts val="1891"/>
              </a:lnSpc>
              <a:spcBef>
                <a:spcPts val="0"/>
              </a:spcBef>
              <a:spcAft>
                <a:spcPts val="0"/>
              </a:spcAft>
            </a:pPr>
            <a:r>
              <a:rPr sz="1550" i="0">
                <a:solidFill>
                  <a:srgbClr val="8792A8"/>
                </a:solidFill>
                <a:latin typeface="Courier New"/>
              </a:rPr>
              <a:t>2</a:t>
            </a:r>
          </a:p>
          <a:p>
            <a:pPr>
              <a:lnSpc>
                <a:spcPts val="1891"/>
              </a:lnSpc>
              <a:spcBef>
                <a:spcPts val="0"/>
              </a:spcBef>
              <a:spcAft>
                <a:spcPts val="0"/>
              </a:spcAft>
            </a:pPr>
            <a:r>
              <a:rPr sz="1550" i="0">
                <a:solidFill>
                  <a:srgbClr val="8792A8"/>
                </a:solidFill>
                <a:latin typeface="Courier New"/>
              </a:rPr>
              <a:t>3</a:t>
            </a:r>
          </a:p>
          <a:p>
            <a:pPr>
              <a:lnSpc>
                <a:spcPts val="1891"/>
              </a:lnSpc>
              <a:spcBef>
                <a:spcPts val="0"/>
              </a:spcBef>
              <a:spcAft>
                <a:spcPts val="0"/>
              </a:spcAft>
            </a:pPr>
            <a:r>
              <a:rPr sz="1550" i="0">
                <a:solidFill>
                  <a:srgbClr val="8792A8"/>
                </a:solidFill>
                <a:latin typeface="Courier New"/>
              </a:rPr>
              <a:t>4</a:t>
            </a:r>
          </a:p>
          <a:p>
            <a:pPr>
              <a:lnSpc>
                <a:spcPts val="1891"/>
              </a:lnSpc>
              <a:spcBef>
                <a:spcPts val="0"/>
              </a:spcBef>
              <a:spcAft>
                <a:spcPts val="0"/>
              </a:spcAft>
            </a:pPr>
            <a:r>
              <a:rPr sz="1550" i="0">
                <a:solidFill>
                  <a:srgbClr val="8792A8"/>
                </a:solidFill>
                <a:latin typeface="Courier New"/>
              </a:rPr>
              <a:t>5</a:t>
            </a:r>
          </a:p>
          <a:p>
            <a:pPr>
              <a:lnSpc>
                <a:spcPts val="1891"/>
              </a:lnSpc>
              <a:spcBef>
                <a:spcPts val="0"/>
              </a:spcBef>
              <a:spcAft>
                <a:spcPts val="0"/>
              </a:spcAft>
            </a:pPr>
            <a:r>
              <a:rPr sz="1550" i="0">
                <a:solidFill>
                  <a:srgbClr val="8792A8"/>
                </a:solidFill>
                <a:latin typeface="Courier New"/>
              </a:rPr>
              <a:t>6</a:t>
            </a:r>
          </a:p>
        </p:txBody>
      </p:sp>
      <p:sp>
        <p:nvSpPr>
          <p:cNvPr id="9" name="Code"/>
          <p:cNvSpPr txBox="1"/>
          <p:nvPr/>
        </p:nvSpPr>
        <p:spPr>
          <a:xfrm>
            <a:off x="1250442" y="2350008"/>
            <a:ext cx="5898757" cy="1440941"/>
          </a:xfrm>
          <a:prstGeom prst="rect">
            <a:avLst/>
          </a:prstGeom>
          <a:noFill/>
        </p:spPr>
        <p:txBody>
          <a:bodyPr wrap="none" lIns="0" rIns="0" tIns="0" bIns="0">
            <a:noAutofit/>
          </a:bodyPr>
          <a:lstStyle/>
          <a:p>
            <a:pPr>
              <a:lnSpc>
                <a:spcPts val="1891"/>
              </a:lnSpc>
              <a:spcBef>
                <a:spcPts val="0"/>
              </a:spcBef>
              <a:spcAft>
                <a:spcPts val="0"/>
              </a:spcAft>
            </a:pPr>
            <a:r>
              <a:rPr sz="1550" i="0">
                <a:solidFill>
                  <a:srgbClr val="C792EA"/>
                </a:solidFill>
                <a:latin typeface="Courier New"/>
              </a:rPr>
              <a:t>class</a:t>
            </a:r>
            <a:r>
              <a:rPr sz="1550" i="0">
                <a:solidFill>
                  <a:srgbClr val="E6E9EF"/>
                </a:solidFill>
                <a:latin typeface="Courier New"/>
              </a:rPr>
              <a:t> </a:t>
            </a:r>
            <a:r>
              <a:rPr sz="1550" i="0">
                <a:solidFill>
                  <a:srgbClr val="FFCB6B"/>
                </a:solidFill>
                <a:latin typeface="Courier New"/>
              </a:rPr>
              <a:t>Ticket</a:t>
            </a:r>
            <a:r>
              <a:rPr sz="1550" i="0">
                <a:solidFill>
                  <a:srgbClr val="C3CCDA"/>
                </a:solidFill>
                <a:latin typeface="Courier New"/>
              </a:rPr>
              <a:t>(</a:t>
            </a:r>
            <a:r>
              <a:rPr sz="1550" i="0">
                <a:solidFill>
                  <a:srgbClr val="C792EA"/>
                </a:solidFill>
                <a:latin typeface="Courier New"/>
              </a:rPr>
              <a:t>val</a:t>
            </a:r>
            <a:r>
              <a:rPr sz="1550" i="0">
                <a:solidFill>
                  <a:srgbClr val="E6E9EF"/>
                </a:solidFill>
                <a:latin typeface="Courier New"/>
              </a:rPr>
              <a:t> </a:t>
            </a:r>
            <a:r>
              <a:rPr sz="1550" i="0">
                <a:solidFill>
                  <a:srgbClr val="E6E9EF"/>
                </a:solidFill>
                <a:latin typeface="Courier New"/>
              </a:rPr>
              <a:t>event</a:t>
            </a:r>
            <a:r>
              <a:rPr sz="1550" i="0">
                <a:solidFill>
                  <a:srgbClr val="C3CCDA"/>
                </a:solidFill>
                <a:latin typeface="Courier New"/>
              </a:rPr>
              <a:t>:</a:t>
            </a:r>
            <a:r>
              <a:rPr sz="1550" i="0">
                <a:solidFill>
                  <a:srgbClr val="E6E9EF"/>
                </a:solidFill>
                <a:latin typeface="Courier New"/>
              </a:rPr>
              <a:t> </a:t>
            </a:r>
            <a:r>
              <a:rPr sz="1550" i="0">
                <a:solidFill>
                  <a:srgbClr val="C792EA"/>
                </a:solidFill>
                <a:latin typeface="Courier New"/>
              </a:rPr>
              <a:t>String</a:t>
            </a:r>
            <a:r>
              <a:rPr sz="1550" i="0">
                <a:solidFill>
                  <a:srgbClr val="C3CCDA"/>
                </a:solidFill>
                <a:latin typeface="Courier New"/>
              </a:rPr>
              <a:t>,</a:t>
            </a:r>
            <a:r>
              <a:rPr sz="1550" i="0">
                <a:solidFill>
                  <a:srgbClr val="E6E9EF"/>
                </a:solidFill>
                <a:latin typeface="Courier New"/>
              </a:rPr>
              <a:t> </a:t>
            </a:r>
            <a:r>
              <a:rPr sz="1550" i="0">
                <a:solidFill>
                  <a:srgbClr val="C792EA"/>
                </a:solidFill>
                <a:latin typeface="Courier New"/>
              </a:rPr>
              <a:t>var</a:t>
            </a:r>
            <a:r>
              <a:rPr sz="1550" i="0">
                <a:solidFill>
                  <a:srgbClr val="E6E9EF"/>
                </a:solidFill>
                <a:latin typeface="Courier New"/>
              </a:rPr>
              <a:t> </a:t>
            </a:r>
            <a:r>
              <a:rPr sz="1550" i="0">
                <a:solidFill>
                  <a:srgbClr val="E6E9EF"/>
                </a:solidFill>
                <a:latin typeface="Courier New"/>
              </a:rPr>
              <a:t>price</a:t>
            </a:r>
            <a:r>
              <a:rPr sz="1550" i="0">
                <a:solidFill>
                  <a:srgbClr val="C3CCDA"/>
                </a:solidFill>
                <a:latin typeface="Courier New"/>
              </a:rPr>
              <a:t>:</a:t>
            </a:r>
            <a:r>
              <a:rPr sz="1550" i="0">
                <a:solidFill>
                  <a:srgbClr val="E6E9EF"/>
                </a:solidFill>
                <a:latin typeface="Courier New"/>
              </a:rPr>
              <a:t> </a:t>
            </a:r>
            <a:r>
              <a:rPr sz="1550" i="0">
                <a:solidFill>
                  <a:srgbClr val="C792EA"/>
                </a:solidFill>
                <a:latin typeface="Courier New"/>
              </a:rPr>
              <a:t>Int</a:t>
            </a:r>
            <a:r>
              <a:rPr sz="1550" i="0">
                <a:solidFill>
                  <a:srgbClr val="C3CCDA"/>
                </a:solidFill>
                <a:latin typeface="Courier New"/>
              </a:rPr>
              <a:t>)</a:t>
            </a:r>
            <a:r>
              <a:rPr sz="1550" i="0">
                <a:solidFill>
                  <a:srgbClr val="E6E9EF"/>
                </a:solidFill>
                <a:latin typeface="Courier New"/>
              </a:rPr>
              <a:t> </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C792EA"/>
                </a:solidFill>
                <a:latin typeface="Courier New"/>
              </a:rPr>
              <a:t>init</a:t>
            </a:r>
            <a:r>
              <a:rPr sz="1550" i="0">
                <a:solidFill>
                  <a:srgbClr val="E6E9EF"/>
                </a:solidFill>
                <a:latin typeface="Courier New"/>
              </a:rPr>
              <a:t> </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E6E9EF"/>
                </a:solidFill>
                <a:latin typeface="Courier New"/>
              </a:rPr>
              <a:t>require</a:t>
            </a:r>
            <a:r>
              <a:rPr sz="1550" i="0">
                <a:solidFill>
                  <a:srgbClr val="C3CCDA"/>
                </a:solidFill>
                <a:latin typeface="Courier New"/>
              </a:rPr>
              <a:t>(</a:t>
            </a:r>
            <a:r>
              <a:rPr sz="1550" i="0">
                <a:solidFill>
                  <a:srgbClr val="E6E9EF"/>
                </a:solidFill>
                <a:latin typeface="Courier New"/>
              </a:rPr>
              <a:t>price</a:t>
            </a:r>
            <a:r>
              <a:rPr sz="1550" i="0">
                <a:solidFill>
                  <a:srgbClr val="E6E9EF"/>
                </a:solidFill>
                <a:latin typeface="Courier New"/>
              </a:rPr>
              <a:t> </a:t>
            </a:r>
            <a:r>
              <a:rPr sz="1550" i="0">
                <a:solidFill>
                  <a:srgbClr val="89DDFF"/>
                </a:solidFill>
                <a:latin typeface="Courier New"/>
              </a:rPr>
              <a:t>&gt;</a:t>
            </a:r>
            <a:r>
              <a:rPr sz="1550" i="0">
                <a:solidFill>
                  <a:srgbClr val="89DDFF"/>
                </a:solidFill>
                <a:latin typeface="Courier New"/>
              </a:rPr>
              <a:t>=</a:t>
            </a:r>
            <a:r>
              <a:rPr sz="1550" i="0">
                <a:solidFill>
                  <a:srgbClr val="E6E9EF"/>
                </a:solidFill>
                <a:latin typeface="Courier New"/>
              </a:rPr>
              <a:t> </a:t>
            </a:r>
            <a:r>
              <a:rPr sz="1550" i="0">
                <a:solidFill>
                  <a:srgbClr val="F78C6C"/>
                </a:solidFill>
                <a:latin typeface="Courier New"/>
              </a:rPr>
              <a:t>0</a:t>
            </a:r>
            <a:r>
              <a:rPr sz="1550" i="0">
                <a:solidFill>
                  <a:srgbClr val="C3CCDA"/>
                </a:solidFill>
                <a:latin typeface="Courier New"/>
              </a:rPr>
              <a:t>)</a:t>
            </a:r>
            <a:r>
              <a:rPr sz="1550" i="0">
                <a:solidFill>
                  <a:srgbClr val="E6E9EF"/>
                </a:solidFill>
                <a:latin typeface="Courier New"/>
              </a:rPr>
              <a:t> </a:t>
            </a:r>
            <a:r>
              <a:rPr sz="1550" i="0">
                <a:solidFill>
                  <a:srgbClr val="C3CCDA"/>
                </a:solidFill>
                <a:latin typeface="Courier New"/>
              </a:rPr>
              <a:t>{</a:t>
            </a:r>
            <a:r>
              <a:rPr sz="1550" i="0">
                <a:solidFill>
                  <a:srgbClr val="E6E9EF"/>
                </a:solidFill>
                <a:latin typeface="Courier New"/>
              </a:rPr>
              <a:t> </a:t>
            </a:r>
            <a:r>
              <a:rPr sz="1550" i="0">
                <a:solidFill>
                  <a:srgbClr val="A5E3A1"/>
                </a:solidFill>
                <a:latin typeface="Courier New"/>
              </a:rPr>
              <a:t>"</a:t>
            </a:r>
            <a:r>
              <a:rPr sz="1550" i="0">
                <a:solidFill>
                  <a:srgbClr val="A5E3A1"/>
                </a:solidFill>
                <a:latin typeface="Courier New"/>
              </a:rPr>
              <a:t>Narx manfiy</a:t>
            </a:r>
            <a:r>
              <a:rPr sz="1550" i="0">
                <a:solidFill>
                  <a:srgbClr val="A5E3A1"/>
                </a:solidFill>
                <a:latin typeface="Courier New"/>
              </a:rPr>
              <a:t>"</a:t>
            </a:r>
            <a:r>
              <a:rPr sz="1550" i="0">
                <a:solidFill>
                  <a:srgbClr val="E6E9EF"/>
                </a:solidFill>
                <a:latin typeface="Courier New"/>
              </a:rPr>
              <a:t> </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E6E9EF"/>
                </a:solidFill>
                <a:latin typeface="Courier New"/>
              </a:rPr>
              <a:t>println</a:t>
            </a:r>
            <a:r>
              <a:rPr sz="1550" i="0">
                <a:solidFill>
                  <a:srgbClr val="C3CCDA"/>
                </a:solidFill>
                <a:latin typeface="Courier New"/>
              </a:rPr>
              <a:t>(</a:t>
            </a:r>
            <a:r>
              <a:rPr sz="1550" i="0">
                <a:solidFill>
                  <a:srgbClr val="A5E3A1"/>
                </a:solidFill>
                <a:latin typeface="Courier New"/>
              </a:rPr>
              <a:t>"</a:t>
            </a:r>
            <a:r>
              <a:rPr sz="1550" i="0">
                <a:solidFill>
                  <a:srgbClr val="A5E3A1"/>
                </a:solidFill>
                <a:latin typeface="Courier New"/>
              </a:rPr>
              <a:t>Chipta yaratildi: </a:t>
            </a:r>
            <a:r>
              <a:rPr sz="1550" i="0">
                <a:solidFill>
                  <a:srgbClr val="A5E3A1"/>
                </a:solidFill>
                <a:latin typeface="Courier New"/>
              </a:rPr>
              <a:t>$</a:t>
            </a:r>
            <a:r>
              <a:rPr sz="1550" i="0">
                <a:solidFill>
                  <a:srgbClr val="E6E9EF"/>
                </a:solidFill>
                <a:latin typeface="Courier New"/>
              </a:rPr>
              <a:t>event</a:t>
            </a:r>
            <a:r>
              <a:rPr sz="1550" i="0">
                <a:solidFill>
                  <a:srgbClr val="A5E3A1"/>
                </a:solidFill>
                <a:latin typeface="Courier New"/>
              </a:rPr>
              <a:t>"</a:t>
            </a:r>
            <a:r>
              <a:rPr sz="1550" i="0">
                <a:solidFill>
                  <a:srgbClr val="C3CCDA"/>
                </a:solidFill>
                <a:latin typeface="Courier New"/>
              </a:rPr>
              <a:t>)</a:t>
            </a:r>
          </a:p>
          <a:p>
            <a:pPr>
              <a:lnSpc>
                <a:spcPts val="1891"/>
              </a:lnSpc>
              <a:spcBef>
                <a:spcPts val="0"/>
              </a:spcBef>
              <a:spcAft>
                <a:spcPts val="0"/>
              </a:spcAft>
            </a:pPr>
            <a:r>
              <a:rPr sz="1550" i="0">
                <a:solidFill>
                  <a:srgbClr val="E6E9EF"/>
                </a:solidFill>
                <a:latin typeface="Courier New"/>
              </a:rPr>
              <a:t>    </a:t>
            </a:r>
            <a:r>
              <a:rPr sz="1550" i="0">
                <a:solidFill>
                  <a:srgbClr val="C3CCDA"/>
                </a:solidFill>
                <a:latin typeface="Courier New"/>
              </a:rPr>
              <a:t>}</a:t>
            </a:r>
          </a:p>
          <a:p>
            <a:pPr>
              <a:lnSpc>
                <a:spcPts val="1891"/>
              </a:lnSpc>
              <a:spcBef>
                <a:spcPts val="0"/>
              </a:spcBef>
              <a:spcAft>
                <a:spcPts val="0"/>
              </a:spcAft>
            </a:pPr>
            <a:r>
              <a:rPr sz="1550" i="0">
                <a:solidFill>
                  <a:srgbClr val="C3CCDA"/>
                </a:solidFill>
                <a:latin typeface="Courier New"/>
              </a:rPr>
              <a:t>}</a:t>
            </a:r>
          </a:p>
        </p:txBody>
      </p:sp>
      <p:sp>
        <p:nvSpPr>
          <p:cNvPr id="10" name="Step 1 badge"/>
          <p:cNvSpPr/>
          <p:nvPr/>
        </p:nvSpPr>
        <p:spPr>
          <a:xfrm>
            <a:off x="7770991" y="2258568"/>
            <a:ext cx="402336" cy="402336"/>
          </a:xfrm>
          <a:prstGeom prst="ellipse">
            <a:avLst/>
          </a:prstGeom>
          <a:solidFill>
            <a:srgbClr val="FFC20E"/>
          </a:solidFill>
          <a:ln>
            <a:noFill/>
          </a:ln>
        </p:spPr>
        <p:txBody>
          <a:bodyPr rtlCol="0" anchor="ctr" wrap="square" lIns="0" rIns="0" tIns="0" bIns="0">
            <a:noAutofit/>
          </a:bodyPr>
          <a:lstStyle/>
          <a:p>
            <a:pPr algn="ctr">
              <a:lnSpc>
                <a:spcPct val="115000"/>
              </a:lnSpc>
              <a:spcBef>
                <a:spcPts val="0"/>
              </a:spcBef>
              <a:spcAft>
                <a:spcPts val="0"/>
              </a:spcAft>
            </a:pPr>
            <a:r>
              <a:rPr sz="1600" b="1" i="0">
                <a:solidFill>
                  <a:srgbClr val="111111"/>
                </a:solidFill>
                <a:latin typeface="Courier New"/>
              </a:rPr>
              <a:t>1</a:t>
            </a:r>
          </a:p>
        </p:txBody>
      </p:sp>
      <p:sp>
        <p:nvSpPr>
          <p:cNvPr id="11" name="Step 1 note"/>
          <p:cNvSpPr txBox="1"/>
          <p:nvPr/>
        </p:nvSpPr>
        <p:spPr>
          <a:xfrm>
            <a:off x="8319631" y="2221992"/>
            <a:ext cx="3213695" cy="1123188"/>
          </a:xfrm>
          <a:prstGeom prst="rect">
            <a:avLst/>
          </a:prstGeom>
          <a:noFill/>
        </p:spPr>
        <p:txBody>
          <a:bodyPr wrap="square" anchor="t" lIns="0" rIns="0" tIns="0" bIns="0">
            <a:noAutofit/>
          </a:bodyPr>
          <a:lstStyle/>
          <a:p>
            <a:pPr algn="l">
              <a:lnSpc>
                <a:spcPct val="110000"/>
              </a:lnSpc>
              <a:spcBef>
                <a:spcPts val="0"/>
              </a:spcBef>
              <a:spcAft>
                <a:spcPts val="0"/>
              </a:spcAft>
            </a:pPr>
            <a:r>
              <a:rPr sz="2200" b="0" i="0">
                <a:solidFill>
                  <a:srgbClr val="111111"/>
                </a:solidFill>
                <a:latin typeface="Arial"/>
              </a:rPr>
              <a:t>init blok obyekt yaratilganda ishlaydi</a:t>
            </a:r>
          </a:p>
        </p:txBody>
      </p:sp>
      <p:sp>
        <p:nvSpPr>
          <p:cNvPr id="12" name="Step 2 badge"/>
          <p:cNvSpPr/>
          <p:nvPr/>
        </p:nvSpPr>
        <p:spPr>
          <a:xfrm>
            <a:off x="7770991" y="3567684"/>
            <a:ext cx="402336" cy="402336"/>
          </a:xfrm>
          <a:prstGeom prst="ellipse">
            <a:avLst/>
          </a:prstGeom>
          <a:solidFill>
            <a:srgbClr val="FFC20E"/>
          </a:solidFill>
          <a:ln>
            <a:noFill/>
          </a:ln>
        </p:spPr>
        <p:txBody>
          <a:bodyPr rtlCol="0" anchor="ctr" wrap="square" lIns="0" rIns="0" tIns="0" bIns="0">
            <a:noAutofit/>
          </a:bodyPr>
          <a:lstStyle/>
          <a:p>
            <a:pPr algn="ctr">
              <a:lnSpc>
                <a:spcPct val="115000"/>
              </a:lnSpc>
              <a:spcBef>
                <a:spcPts val="0"/>
              </a:spcBef>
              <a:spcAft>
                <a:spcPts val="0"/>
              </a:spcAft>
            </a:pPr>
            <a:r>
              <a:rPr sz="1600" b="1" i="0">
                <a:solidFill>
                  <a:srgbClr val="111111"/>
                </a:solidFill>
                <a:latin typeface="Courier New"/>
              </a:rPr>
              <a:t>2</a:t>
            </a:r>
          </a:p>
        </p:txBody>
      </p:sp>
      <p:sp>
        <p:nvSpPr>
          <p:cNvPr id="13" name="Step 2 note"/>
          <p:cNvSpPr txBox="1"/>
          <p:nvPr/>
        </p:nvSpPr>
        <p:spPr>
          <a:xfrm>
            <a:off x="8319631" y="3531108"/>
            <a:ext cx="3213695" cy="1123188"/>
          </a:xfrm>
          <a:prstGeom prst="rect">
            <a:avLst/>
          </a:prstGeom>
          <a:noFill/>
        </p:spPr>
        <p:txBody>
          <a:bodyPr wrap="square" anchor="t" lIns="0" rIns="0" tIns="0" bIns="0">
            <a:noAutofit/>
          </a:bodyPr>
          <a:lstStyle/>
          <a:p>
            <a:pPr algn="l">
              <a:lnSpc>
                <a:spcPct val="110000"/>
              </a:lnSpc>
              <a:spcBef>
                <a:spcPts val="0"/>
              </a:spcBef>
              <a:spcAft>
                <a:spcPts val="0"/>
              </a:spcAft>
            </a:pPr>
            <a:r>
              <a:rPr sz="2200" b="0" i="0">
                <a:solidFill>
                  <a:srgbClr val="111111"/>
                </a:solidFill>
                <a:latin typeface="Arial"/>
              </a:rPr>
              <a:t>Shart </a:t>
            </a:r>
            <a:r>
              <a:rPr sz="2200" b="0" i="0">
                <a:solidFill>
                  <a:srgbClr val="0052CC"/>
                </a:solidFill>
                <a:latin typeface="Courier New"/>
              </a:rPr>
              <a:t>False</a:t>
            </a:r>
            <a:r>
              <a:rPr sz="2200" b="0" i="0">
                <a:solidFill>
                  <a:srgbClr val="111111"/>
                </a:solidFill>
                <a:latin typeface="Arial"/>
              </a:rPr>
              <a:t> bo'lsa, xato chiqadi va dastur to'xtaydi</a:t>
            </a:r>
          </a:p>
        </p:txBody>
      </p:sp>
      <p:sp>
        <p:nvSpPr>
          <p:cNvPr id="14" name="Step 3 badge"/>
          <p:cNvSpPr/>
          <p:nvPr/>
        </p:nvSpPr>
        <p:spPr>
          <a:xfrm>
            <a:off x="7770991" y="4876800"/>
            <a:ext cx="402336" cy="402336"/>
          </a:xfrm>
          <a:prstGeom prst="ellipse">
            <a:avLst/>
          </a:prstGeom>
          <a:solidFill>
            <a:srgbClr val="FFC20E"/>
          </a:solidFill>
          <a:ln>
            <a:noFill/>
          </a:ln>
        </p:spPr>
        <p:txBody>
          <a:bodyPr rtlCol="0" anchor="ctr" wrap="square" lIns="0" rIns="0" tIns="0" bIns="0">
            <a:noAutofit/>
          </a:bodyPr>
          <a:lstStyle/>
          <a:p>
            <a:pPr algn="ctr">
              <a:lnSpc>
                <a:spcPct val="115000"/>
              </a:lnSpc>
              <a:spcBef>
                <a:spcPts val="0"/>
              </a:spcBef>
              <a:spcAft>
                <a:spcPts val="0"/>
              </a:spcAft>
            </a:pPr>
            <a:r>
              <a:rPr sz="1600" b="1" i="0">
                <a:solidFill>
                  <a:srgbClr val="111111"/>
                </a:solidFill>
                <a:latin typeface="Courier New"/>
              </a:rPr>
              <a:t>3</a:t>
            </a:r>
          </a:p>
        </p:txBody>
      </p:sp>
      <p:sp>
        <p:nvSpPr>
          <p:cNvPr id="15" name="Step 3 note"/>
          <p:cNvSpPr txBox="1"/>
          <p:nvPr/>
        </p:nvSpPr>
        <p:spPr>
          <a:xfrm>
            <a:off x="8319631" y="4840224"/>
            <a:ext cx="3213695" cy="815848"/>
          </a:xfrm>
          <a:prstGeom prst="rect">
            <a:avLst/>
          </a:prstGeom>
          <a:noFill/>
        </p:spPr>
        <p:txBody>
          <a:bodyPr wrap="square" anchor="t" lIns="0" rIns="0" tIns="0" bIns="0">
            <a:noAutofit/>
          </a:bodyPr>
          <a:lstStyle/>
          <a:p>
            <a:pPr algn="l">
              <a:lnSpc>
                <a:spcPct val="110000"/>
              </a:lnSpc>
              <a:spcBef>
                <a:spcPts val="0"/>
              </a:spcBef>
              <a:spcAft>
                <a:spcPts val="0"/>
              </a:spcAft>
            </a:pPr>
            <a:r>
              <a:rPr sz="2200" b="0" i="0">
                <a:solidFill>
                  <a:srgbClr val="111111"/>
                </a:solidFill>
                <a:latin typeface="Arial"/>
              </a:rPr>
              <a:t>Shart </a:t>
            </a:r>
            <a:r>
              <a:rPr sz="2200" b="0" i="0">
                <a:solidFill>
                  <a:srgbClr val="0052CC"/>
                </a:solidFill>
                <a:latin typeface="Courier New"/>
              </a:rPr>
              <a:t>True</a:t>
            </a:r>
            <a:r>
              <a:rPr sz="2200" b="0" i="0">
                <a:solidFill>
                  <a:srgbClr val="111111"/>
                </a:solidFill>
                <a:latin typeface="Arial"/>
              </a:rPr>
              <a:t> bo'lsa, ish davom etadi</a:t>
            </a:r>
          </a:p>
        </p:txBody>
      </p:sp>
      <p:sp>
        <p:nvSpPr>
          <p:cNvPr id="1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par>
                                <p:cTn id="25" presetID="10" presetClass="exit" presetSubtype="0" fill="hold" grpId="1" nodeType="withEffect">
                                  <p:stCondLst>
                                    <p:cond delay="0"/>
                                  </p:stCondLst>
                                  <p:childTnLst>
                                    <p:animEffect transition="out" filter="fade">
                                      <p:cBhvr>
                                        <p:cTn id="26" dur="300"/>
                                        <p:tgtEl>
                                          <p:spTgt spid="5"/>
                                        </p:tgtEl>
                                      </p:cBhvr>
                                    </p:animEffect>
                                    <p:set>
                                      <p:cBhvr>
                                        <p:cTn id="27" dur="1" fill="hold">
                                          <p:stCondLst>
                                            <p:cond delay="299"/>
                                          </p:stCondLst>
                                        </p:cTn>
                                        <p:tgtEl>
                                          <p:spTgt spid="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xit" presetSubtype="0" fill="hold" grpId="1" nodeType="withEffect">
                                  <p:stCondLst>
                                    <p:cond delay="0"/>
                                  </p:stCondLst>
                                  <p:childTnLst>
                                    <p:animEffect transition="out" filter="fade">
                                      <p:cBhvr>
                                        <p:cTn id="40" dur="300"/>
                                        <p:tgtEl>
                                          <p:spTgt spid="6"/>
                                        </p:tgtEl>
                                      </p:cBhvr>
                                    </p:animEffect>
                                    <p:set>
                                      <p:cBhvr>
                                        <p:cTn id="41" dur="1" fill="hold">
                                          <p:stCondLst>
                                            <p:cond delay="2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P spid="6" grpId="0" animBg="1"/>
      <p:bldP spid="12" grpId="0" animBg="1"/>
      <p:bldP spid="13" grpId="0" animBg="1"/>
      <p:bldP spid="5" grpId="1" animBg="1"/>
      <p:bldP spid="7" grpId="0" animBg="1"/>
      <p:bldP spid="14" grpId="0" animBg="1"/>
      <p:bldP spid="15" grpId="0" animBg="1"/>
      <p:bldP spid="6" grpId="1"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2354579"/>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320039" cy="1952243"/>
          </a:xfrm>
          <a:prstGeom prst="rect">
            <a:avLst/>
          </a:prstGeom>
          <a:noFill/>
        </p:spPr>
        <p:txBody>
          <a:bodyPr wrap="none" lIns="0" rIns="0" tIns="0" bIns="0">
            <a:noAutofit/>
          </a:bodyPr>
          <a:lstStyle/>
          <a:p>
            <a:pPr>
              <a:lnSpc>
                <a:spcPts val="1707"/>
              </a:lnSpc>
              <a:spcBef>
                <a:spcPts val="0"/>
              </a:spcBef>
              <a:spcAft>
                <a:spcPts val="0"/>
              </a:spcAft>
            </a:pPr>
            <a:r>
              <a:rPr sz="1400" i="0">
                <a:solidFill>
                  <a:srgbClr val="8792A8"/>
                </a:solidFill>
                <a:latin typeface="Courier New"/>
              </a:rPr>
              <a:t>1</a:t>
            </a:r>
          </a:p>
          <a:p>
            <a:pPr>
              <a:lnSpc>
                <a:spcPts val="1707"/>
              </a:lnSpc>
              <a:spcBef>
                <a:spcPts val="0"/>
              </a:spcBef>
              <a:spcAft>
                <a:spcPts val="0"/>
              </a:spcAft>
            </a:pPr>
            <a:r>
              <a:rPr sz="1400" i="0">
                <a:solidFill>
                  <a:srgbClr val="8792A8"/>
                </a:solidFill>
                <a:latin typeface="Courier New"/>
              </a:rPr>
              <a:t>2</a:t>
            </a:r>
          </a:p>
          <a:p>
            <a:pPr>
              <a:lnSpc>
                <a:spcPts val="1707"/>
              </a:lnSpc>
              <a:spcBef>
                <a:spcPts val="0"/>
              </a:spcBef>
              <a:spcAft>
                <a:spcPts val="0"/>
              </a:spcAft>
            </a:pPr>
            <a:r>
              <a:rPr sz="1400" i="0">
                <a:solidFill>
                  <a:srgbClr val="8792A8"/>
                </a:solidFill>
                <a:latin typeface="Courier New"/>
              </a:rPr>
              <a:t>3</a:t>
            </a:r>
          </a:p>
          <a:p>
            <a:pPr>
              <a:lnSpc>
                <a:spcPts val="1707"/>
              </a:lnSpc>
              <a:spcBef>
                <a:spcPts val="0"/>
              </a:spcBef>
              <a:spcAft>
                <a:spcPts val="0"/>
              </a:spcAft>
            </a:pPr>
            <a:r>
              <a:rPr sz="1400" i="0">
                <a:solidFill>
                  <a:srgbClr val="8792A8"/>
                </a:solidFill>
                <a:latin typeface="Courier New"/>
              </a:rPr>
              <a:t>4</a:t>
            </a:r>
          </a:p>
          <a:p>
            <a:pPr>
              <a:lnSpc>
                <a:spcPts val="1707"/>
              </a:lnSpc>
              <a:spcBef>
                <a:spcPts val="0"/>
              </a:spcBef>
              <a:spcAft>
                <a:spcPts val="0"/>
              </a:spcAft>
            </a:pPr>
            <a:r>
              <a:rPr sz="1400" i="0">
                <a:solidFill>
                  <a:srgbClr val="8792A8"/>
                </a:solidFill>
                <a:latin typeface="Courier New"/>
              </a:rPr>
              <a:t>5</a:t>
            </a:r>
          </a:p>
          <a:p>
            <a:pPr>
              <a:lnSpc>
                <a:spcPts val="1707"/>
              </a:lnSpc>
              <a:spcBef>
                <a:spcPts val="0"/>
              </a:spcBef>
              <a:spcAft>
                <a:spcPts val="0"/>
              </a:spcAft>
            </a:pPr>
            <a:r>
              <a:rPr sz="1400" i="0">
                <a:solidFill>
                  <a:srgbClr val="8792A8"/>
                </a:solidFill>
                <a:latin typeface="Courier New"/>
              </a:rPr>
              <a:t>6</a:t>
            </a:r>
          </a:p>
          <a:p>
            <a:pPr>
              <a:lnSpc>
                <a:spcPts val="1707"/>
              </a:lnSpc>
              <a:spcBef>
                <a:spcPts val="0"/>
              </a:spcBef>
              <a:spcAft>
                <a:spcPts val="0"/>
              </a:spcAft>
            </a:pPr>
            <a:r>
              <a:rPr sz="1400" i="0">
                <a:solidFill>
                  <a:srgbClr val="8792A8"/>
                </a:solidFill>
                <a:latin typeface="Courier New"/>
              </a:rPr>
              <a:t>7</a:t>
            </a:r>
          </a:p>
          <a:p>
            <a:pPr>
              <a:lnSpc>
                <a:spcPts val="1707"/>
              </a:lnSpc>
              <a:spcBef>
                <a:spcPts val="0"/>
              </a:spcBef>
              <a:spcAft>
                <a:spcPts val="0"/>
              </a:spcAft>
            </a:pPr>
            <a:r>
              <a:rPr sz="1400" i="0">
                <a:solidFill>
                  <a:srgbClr val="8792A8"/>
                </a:solidFill>
                <a:latin typeface="Courier New"/>
              </a:rPr>
              <a:t>8</a:t>
            </a:r>
          </a:p>
          <a:p>
            <a:pPr>
              <a:lnSpc>
                <a:spcPts val="1707"/>
              </a:lnSpc>
              <a:spcBef>
                <a:spcPts val="0"/>
              </a:spcBef>
              <a:spcAft>
                <a:spcPts val="0"/>
              </a:spcAft>
            </a:pPr>
            <a:r>
              <a:rPr sz="1400" i="0">
                <a:solidFill>
                  <a:srgbClr val="8792A8"/>
                </a:solidFill>
                <a:latin typeface="Courier New"/>
              </a:rPr>
              <a:t>9</a:t>
            </a:r>
          </a:p>
        </p:txBody>
      </p:sp>
      <p:sp>
        <p:nvSpPr>
          <p:cNvPr id="6" name="Code"/>
          <p:cNvSpPr txBox="1"/>
          <p:nvPr/>
        </p:nvSpPr>
        <p:spPr>
          <a:xfrm>
            <a:off x="1216151" y="2350008"/>
            <a:ext cx="5496586" cy="1952243"/>
          </a:xfrm>
          <a:prstGeom prst="rect">
            <a:avLst/>
          </a:prstGeom>
          <a:noFill/>
        </p:spPr>
        <p:txBody>
          <a:bodyPr wrap="none" lIns="0" rIns="0" tIns="0" bIns="0">
            <a:noAutofit/>
          </a:bodyPr>
          <a:lstStyle/>
          <a:p>
            <a:pPr>
              <a:lnSpc>
                <a:spcPts val="1707"/>
              </a:lnSpc>
              <a:spcBef>
                <a:spcPts val="0"/>
              </a:spcBef>
              <a:spcAft>
                <a:spcPts val="0"/>
              </a:spcAft>
            </a:pPr>
            <a:r>
              <a:rPr sz="1400" i="0">
                <a:solidFill>
                  <a:srgbClr val="C792EA"/>
                </a:solidFill>
                <a:latin typeface="Courier New"/>
              </a:rPr>
              <a:t>class</a:t>
            </a:r>
            <a:r>
              <a:rPr sz="1400" i="0">
                <a:solidFill>
                  <a:srgbClr val="E6E9EF"/>
                </a:solidFill>
                <a:latin typeface="Courier New"/>
              </a:rPr>
              <a:t> </a:t>
            </a:r>
            <a:r>
              <a:rPr sz="1400" i="0">
                <a:solidFill>
                  <a:srgbClr val="FFCB6B"/>
                </a:solidFill>
                <a:latin typeface="Courier New"/>
              </a:rPr>
              <a:t>Ticket</a:t>
            </a:r>
            <a:r>
              <a:rPr sz="1400" i="0">
                <a:solidFill>
                  <a:srgbClr val="C3CCDA"/>
                </a:solidFill>
                <a:latin typeface="Courier New"/>
              </a:rPr>
              <a:t>(</a:t>
            </a:r>
            <a:r>
              <a:rPr sz="1400" i="0">
                <a:solidFill>
                  <a:srgbClr val="C792EA"/>
                </a:solidFill>
                <a:latin typeface="Courier New"/>
              </a:rPr>
              <a:t>val</a:t>
            </a:r>
            <a:r>
              <a:rPr sz="1400" i="0">
                <a:solidFill>
                  <a:srgbClr val="E6E9EF"/>
                </a:solidFill>
                <a:latin typeface="Courier New"/>
              </a:rPr>
              <a:t> </a:t>
            </a:r>
            <a:r>
              <a:rPr sz="1400" i="0">
                <a:solidFill>
                  <a:srgbClr val="E6E9EF"/>
                </a:solidFill>
                <a:latin typeface="Courier New"/>
              </a:rPr>
              <a:t>event</a:t>
            </a:r>
            <a:r>
              <a:rPr sz="1400" i="0">
                <a:solidFill>
                  <a:srgbClr val="C3CCDA"/>
                </a:solidFill>
                <a:latin typeface="Courier New"/>
              </a:rPr>
              <a:t>:</a:t>
            </a:r>
            <a:r>
              <a:rPr sz="1400" i="0">
                <a:solidFill>
                  <a:srgbClr val="E6E9EF"/>
                </a:solidFill>
                <a:latin typeface="Courier New"/>
              </a:rPr>
              <a:t> </a:t>
            </a:r>
            <a:r>
              <a:rPr sz="1400" i="0">
                <a:solidFill>
                  <a:srgbClr val="C792EA"/>
                </a:solidFill>
                <a:latin typeface="Courier New"/>
              </a:rPr>
              <a:t>String</a:t>
            </a:r>
            <a:r>
              <a:rPr sz="1400" i="0">
                <a:solidFill>
                  <a:srgbClr val="C3CCDA"/>
                </a:solidFill>
                <a:latin typeface="Courier New"/>
              </a:rPr>
              <a:t>,</a:t>
            </a:r>
            <a:r>
              <a:rPr sz="1400" i="0">
                <a:solidFill>
                  <a:srgbClr val="E6E9EF"/>
                </a:solidFill>
                <a:latin typeface="Courier New"/>
              </a:rPr>
              <a:t> </a:t>
            </a:r>
            <a:r>
              <a:rPr sz="1400" i="0">
                <a:solidFill>
                  <a:srgbClr val="C792EA"/>
                </a:solidFill>
                <a:latin typeface="Courier New"/>
              </a:rPr>
              <a:t>var</a:t>
            </a:r>
            <a:r>
              <a:rPr sz="1400" i="0">
                <a:solidFill>
                  <a:srgbClr val="E6E9EF"/>
                </a:solidFill>
                <a:latin typeface="Courier New"/>
              </a:rPr>
              <a:t> </a:t>
            </a:r>
            <a:r>
              <a:rPr sz="1400" i="0">
                <a:solidFill>
                  <a:srgbClr val="E6E9EF"/>
                </a:solidFill>
                <a:latin typeface="Courier New"/>
              </a:rPr>
              <a:t>price</a:t>
            </a:r>
            <a:r>
              <a:rPr sz="1400" i="0">
                <a:solidFill>
                  <a:srgbClr val="C3CCDA"/>
                </a:solidFill>
                <a:latin typeface="Courier New"/>
              </a:rPr>
              <a:t>:</a:t>
            </a:r>
            <a:r>
              <a:rPr sz="1400" i="0">
                <a:solidFill>
                  <a:srgbClr val="E6E9EF"/>
                </a:solidFill>
                <a:latin typeface="Courier New"/>
              </a:rPr>
              <a:t> </a:t>
            </a:r>
            <a:r>
              <a:rPr sz="1400" i="0">
                <a:solidFill>
                  <a:srgbClr val="C792EA"/>
                </a:solidFill>
                <a:latin typeface="Courier New"/>
              </a:rPr>
              <a:t>Int</a:t>
            </a:r>
            <a:r>
              <a:rPr sz="1400" i="0">
                <a:solidFill>
                  <a:srgbClr val="C3CCDA"/>
                </a:solidFill>
                <a:latin typeface="Courier New"/>
              </a:rPr>
              <a:t>)</a:t>
            </a:r>
            <a:r>
              <a:rPr sz="1400" i="0">
                <a:solidFill>
                  <a:srgbClr val="E6E9EF"/>
                </a:solidFill>
                <a:latin typeface="Courier New"/>
              </a:rPr>
              <a:t> </a:t>
            </a:r>
            <a:r>
              <a:rPr sz="1400" i="0">
                <a:solidFill>
                  <a:srgbClr val="C3CCDA"/>
                </a:solidFill>
                <a:latin typeface="Courier New"/>
              </a:rPr>
              <a:t>{</a:t>
            </a:r>
          </a:p>
          <a:p>
            <a:pPr>
              <a:lnSpc>
                <a:spcPts val="1707"/>
              </a:lnSpc>
              <a:spcBef>
                <a:spcPts val="0"/>
              </a:spcBef>
              <a:spcAft>
                <a:spcPts val="0"/>
              </a:spcAft>
            </a:pPr>
            <a:r>
              <a:rPr sz="1400" i="0">
                <a:solidFill>
                  <a:srgbClr val="E6E9EF"/>
                </a:solidFill>
                <a:latin typeface="Courier New"/>
              </a:rPr>
              <a:t>    </a:t>
            </a:r>
            <a:r>
              <a:rPr sz="1400" i="0">
                <a:solidFill>
                  <a:srgbClr val="C792EA"/>
                </a:solidFill>
                <a:latin typeface="Courier New"/>
              </a:rPr>
              <a:t>init</a:t>
            </a:r>
            <a:r>
              <a:rPr sz="1400" i="0">
                <a:solidFill>
                  <a:srgbClr val="E6E9EF"/>
                </a:solidFill>
                <a:latin typeface="Courier New"/>
              </a:rPr>
              <a:t> </a:t>
            </a:r>
            <a:r>
              <a:rPr sz="1400" i="0">
                <a:solidFill>
                  <a:srgbClr val="C3CCDA"/>
                </a:solidFill>
                <a:latin typeface="Courier New"/>
              </a:rPr>
              <a:t>{</a:t>
            </a:r>
            <a:r>
              <a:rPr sz="1400" i="0">
                <a:solidFill>
                  <a:srgbClr val="E6E9EF"/>
                </a:solidFill>
                <a:latin typeface="Courier New"/>
              </a:rPr>
              <a:t> </a:t>
            </a:r>
            <a:r>
              <a:rPr sz="1400" i="0">
                <a:solidFill>
                  <a:srgbClr val="E6E9EF"/>
                </a:solidFill>
                <a:latin typeface="Courier New"/>
              </a:rPr>
              <a:t>require</a:t>
            </a:r>
            <a:r>
              <a:rPr sz="1400" i="0">
                <a:solidFill>
                  <a:srgbClr val="C3CCDA"/>
                </a:solidFill>
                <a:latin typeface="Courier New"/>
              </a:rPr>
              <a:t>(</a:t>
            </a:r>
            <a:r>
              <a:rPr sz="1400" i="0">
                <a:solidFill>
                  <a:srgbClr val="E6E9EF"/>
                </a:solidFill>
                <a:latin typeface="Courier New"/>
              </a:rPr>
              <a:t>price</a:t>
            </a:r>
            <a:r>
              <a:rPr sz="1400" i="0">
                <a:solidFill>
                  <a:srgbClr val="E6E9EF"/>
                </a:solidFill>
                <a:latin typeface="Courier New"/>
              </a:rPr>
              <a:t> </a:t>
            </a:r>
            <a:r>
              <a:rPr sz="1400" i="0">
                <a:solidFill>
                  <a:srgbClr val="89DDFF"/>
                </a:solidFill>
                <a:latin typeface="Courier New"/>
              </a:rPr>
              <a:t>&gt;</a:t>
            </a:r>
            <a:r>
              <a:rPr sz="1400" i="0">
                <a:solidFill>
                  <a:srgbClr val="89DDFF"/>
                </a:solidFill>
                <a:latin typeface="Courier New"/>
              </a:rPr>
              <a:t>=</a:t>
            </a:r>
            <a:r>
              <a:rPr sz="1400" i="0">
                <a:solidFill>
                  <a:srgbClr val="E6E9EF"/>
                </a:solidFill>
                <a:latin typeface="Courier New"/>
              </a:rPr>
              <a:t> </a:t>
            </a:r>
            <a:r>
              <a:rPr sz="1400" i="0">
                <a:solidFill>
                  <a:srgbClr val="F78C6C"/>
                </a:solidFill>
                <a:latin typeface="Courier New"/>
              </a:rPr>
              <a:t>0</a:t>
            </a:r>
            <a:r>
              <a:rPr sz="1400" i="0">
                <a:solidFill>
                  <a:srgbClr val="C3CCDA"/>
                </a:solidFill>
                <a:latin typeface="Courier New"/>
              </a:rPr>
              <a:t>)</a:t>
            </a:r>
            <a:r>
              <a:rPr sz="1400" i="0">
                <a:solidFill>
                  <a:srgbClr val="E6E9EF"/>
                </a:solidFill>
                <a:latin typeface="Courier New"/>
              </a:rPr>
              <a:t> </a:t>
            </a:r>
            <a:r>
              <a:rPr sz="1400" i="0">
                <a:solidFill>
                  <a:srgbClr val="C3CCDA"/>
                </a:solidFill>
                <a:latin typeface="Courier New"/>
              </a:rPr>
              <a:t>{</a:t>
            </a:r>
            <a:r>
              <a:rPr sz="1400" i="0">
                <a:solidFill>
                  <a:srgbClr val="E6E9EF"/>
                </a:solidFill>
                <a:latin typeface="Courier New"/>
              </a:rPr>
              <a:t> </a:t>
            </a:r>
            <a:r>
              <a:rPr sz="1400" i="0">
                <a:solidFill>
                  <a:srgbClr val="A5E3A1"/>
                </a:solidFill>
                <a:latin typeface="Courier New"/>
              </a:rPr>
              <a:t>"</a:t>
            </a:r>
            <a:r>
              <a:rPr sz="1400" i="0">
                <a:solidFill>
                  <a:srgbClr val="A5E3A1"/>
                </a:solidFill>
                <a:latin typeface="Courier New"/>
              </a:rPr>
              <a:t>Narx manfiy</a:t>
            </a:r>
            <a:r>
              <a:rPr sz="1400" i="0">
                <a:solidFill>
                  <a:srgbClr val="A5E3A1"/>
                </a:solidFill>
                <a:latin typeface="Courier New"/>
              </a:rPr>
              <a:t>"</a:t>
            </a:r>
            <a:r>
              <a:rPr sz="1400" i="0">
                <a:solidFill>
                  <a:srgbClr val="E6E9EF"/>
                </a:solidFill>
                <a:latin typeface="Courier New"/>
              </a:rPr>
              <a:t> </a:t>
            </a:r>
            <a:r>
              <a:rPr sz="1400" i="0">
                <a:solidFill>
                  <a:srgbClr val="C3CCDA"/>
                </a:solidFill>
                <a:latin typeface="Courier New"/>
              </a:rPr>
              <a:t>}</a:t>
            </a:r>
            <a:r>
              <a:rPr sz="1400" i="0">
                <a:solidFill>
                  <a:srgbClr val="E6E9EF"/>
                </a:solidFill>
                <a:latin typeface="Courier New"/>
              </a:rPr>
              <a:t> </a:t>
            </a:r>
            <a:r>
              <a:rPr sz="1400" i="0">
                <a:solidFill>
                  <a:srgbClr val="C3CCDA"/>
                </a:solidFill>
                <a:latin typeface="Courier New"/>
              </a:rPr>
              <a:t>}</a:t>
            </a:r>
          </a:p>
          <a:p>
            <a:pPr>
              <a:lnSpc>
                <a:spcPts val="1707"/>
              </a:lnSpc>
              <a:spcBef>
                <a:spcPts val="0"/>
              </a:spcBef>
              <a:spcAft>
                <a:spcPts val="0"/>
              </a:spcAft>
            </a:pPr>
            <a:r>
              <a:rPr sz="1400" i="0">
                <a:solidFill>
                  <a:srgbClr val="C3CCDA"/>
                </a:solidFill>
                <a:latin typeface="Courier New"/>
              </a:rPr>
              <a:t>}</a:t>
            </a:r>
          </a:p>
          <a:p>
            <a:pPr>
              <a:lnSpc>
                <a:spcPts val="1707"/>
              </a:lnSpc>
              <a:spcBef>
                <a:spcPts val="0"/>
              </a:spcBef>
              <a:spcAft>
                <a:spcPts val="0"/>
              </a:spcAft>
            </a:pPr>
            <a:r>
              <a:rPr sz="1400" i="0">
                <a:solidFill>
                  <a:srgbClr val="C792EA"/>
                </a:solidFill>
                <a:latin typeface="Courier New"/>
              </a:rPr>
              <a:t>fun</a:t>
            </a:r>
            <a:r>
              <a:rPr sz="1400" i="0">
                <a:solidFill>
                  <a:srgbClr val="E6E9EF"/>
                </a:solidFill>
                <a:latin typeface="Courier New"/>
              </a:rPr>
              <a:t> </a:t>
            </a:r>
            <a:r>
              <a:rPr sz="1400" i="0">
                <a:solidFill>
                  <a:srgbClr val="82AAFF"/>
                </a:solidFill>
                <a:latin typeface="Courier New"/>
              </a:rPr>
              <a:t>main</a:t>
            </a:r>
            <a:r>
              <a:rPr sz="1400" i="0">
                <a:solidFill>
                  <a:srgbClr val="C3CCDA"/>
                </a:solidFill>
                <a:latin typeface="Courier New"/>
              </a:rPr>
              <a:t>(</a:t>
            </a:r>
            <a:r>
              <a:rPr sz="1400" i="0">
                <a:solidFill>
                  <a:srgbClr val="C3CCDA"/>
                </a:solidFill>
                <a:latin typeface="Courier New"/>
              </a:rPr>
              <a:t>)</a:t>
            </a:r>
            <a:r>
              <a:rPr sz="1400" i="0">
                <a:solidFill>
                  <a:srgbClr val="E6E9EF"/>
                </a:solidFill>
                <a:latin typeface="Courier New"/>
              </a:rPr>
              <a:t> </a:t>
            </a:r>
            <a:r>
              <a:rPr sz="1400" i="0">
                <a:solidFill>
                  <a:srgbClr val="C3CCDA"/>
                </a:solidFill>
                <a:latin typeface="Courier New"/>
              </a:rPr>
              <a:t>{</a:t>
            </a:r>
          </a:p>
          <a:p>
            <a:pPr>
              <a:lnSpc>
                <a:spcPts val="1707"/>
              </a:lnSpc>
              <a:spcBef>
                <a:spcPts val="0"/>
              </a:spcBef>
              <a:spcAft>
                <a:spcPts val="0"/>
              </a:spcAft>
            </a:pPr>
            <a:r>
              <a:rPr sz="1400" i="0">
                <a:solidFill>
                  <a:srgbClr val="E6E9EF"/>
                </a:solidFill>
                <a:latin typeface="Courier New"/>
              </a:rPr>
              <a:t>    </a:t>
            </a:r>
            <a:r>
              <a:rPr sz="1400" i="0">
                <a:solidFill>
                  <a:srgbClr val="E6E9EF"/>
                </a:solidFill>
                <a:latin typeface="Courier New"/>
              </a:rPr>
              <a:t>Ticket</a:t>
            </a:r>
            <a:r>
              <a:rPr sz="1400" i="0">
                <a:solidFill>
                  <a:srgbClr val="C3CCDA"/>
                </a:solidFill>
                <a:latin typeface="Courier New"/>
              </a:rPr>
              <a:t>(</a:t>
            </a:r>
            <a:r>
              <a:rPr sz="1400" i="0">
                <a:solidFill>
                  <a:srgbClr val="A5E3A1"/>
                </a:solidFill>
                <a:latin typeface="Courier New"/>
              </a:rPr>
              <a:t>"</a:t>
            </a:r>
            <a:r>
              <a:rPr sz="1400" i="0">
                <a:solidFill>
                  <a:srgbClr val="A5E3A1"/>
                </a:solidFill>
                <a:latin typeface="Courier New"/>
              </a:rPr>
              <a:t>Rok kechasi</a:t>
            </a:r>
            <a:r>
              <a:rPr sz="1400" i="0">
                <a:solidFill>
                  <a:srgbClr val="A5E3A1"/>
                </a:solidFill>
                <a:latin typeface="Courier New"/>
              </a:rPr>
              <a:t>"</a:t>
            </a:r>
            <a:r>
              <a:rPr sz="1400" i="0">
                <a:solidFill>
                  <a:srgbClr val="C3CCDA"/>
                </a:solidFill>
                <a:latin typeface="Courier New"/>
              </a:rPr>
              <a:t>,</a:t>
            </a:r>
            <a:r>
              <a:rPr sz="1400" i="0">
                <a:solidFill>
                  <a:srgbClr val="E6E9EF"/>
                </a:solidFill>
                <a:latin typeface="Courier New"/>
              </a:rPr>
              <a:t> </a:t>
            </a:r>
            <a:r>
              <a:rPr sz="1400" i="0">
                <a:solidFill>
                  <a:srgbClr val="F78C6C"/>
                </a:solidFill>
                <a:latin typeface="Courier New"/>
              </a:rPr>
              <a:t>9</a:t>
            </a:r>
            <a:r>
              <a:rPr sz="1400" i="0">
                <a:solidFill>
                  <a:srgbClr val="F78C6C"/>
                </a:solidFill>
                <a:latin typeface="Courier New"/>
              </a:rPr>
              <a:t>0</a:t>
            </a:r>
            <a:r>
              <a:rPr sz="1400" i="0">
                <a:solidFill>
                  <a:srgbClr val="F78C6C"/>
                </a:solidFill>
                <a:latin typeface="Courier New"/>
              </a:rPr>
              <a:t>0</a:t>
            </a:r>
            <a:r>
              <a:rPr sz="1400" i="0">
                <a:solidFill>
                  <a:srgbClr val="F78C6C"/>
                </a:solidFill>
                <a:latin typeface="Courier New"/>
              </a:rPr>
              <a:t>0</a:t>
            </a:r>
            <a:r>
              <a:rPr sz="1400" i="0">
                <a:solidFill>
                  <a:srgbClr val="F78C6C"/>
                </a:solidFill>
                <a:latin typeface="Courier New"/>
              </a:rPr>
              <a:t>0</a:t>
            </a:r>
            <a:r>
              <a:rPr sz="1400" i="0">
                <a:solidFill>
                  <a:srgbClr val="C3CCDA"/>
                </a:solidFill>
                <a:latin typeface="Courier New"/>
              </a:rPr>
              <a:t>)</a:t>
            </a:r>
          </a:p>
          <a:p>
            <a:pPr>
              <a:lnSpc>
                <a:spcPts val="1707"/>
              </a:lnSpc>
              <a:spcBef>
                <a:spcPts val="0"/>
              </a:spcBef>
              <a:spcAft>
                <a:spcPts val="0"/>
              </a:spcAft>
            </a:pPr>
            <a:r>
              <a:rPr sz="1400" i="0">
                <a:solidFill>
                  <a:srgbClr val="E6E9EF"/>
                </a:solidFill>
                <a:latin typeface="Courier New"/>
              </a:rPr>
              <a:t>    </a:t>
            </a:r>
            <a:r>
              <a:rPr sz="1400" i="0">
                <a:solidFill>
                  <a:srgbClr val="E6E9EF"/>
                </a:solidFill>
                <a:latin typeface="Courier New"/>
              </a:rPr>
              <a:t>println</a:t>
            </a:r>
            <a:r>
              <a:rPr sz="1400" i="0">
                <a:solidFill>
                  <a:srgbClr val="C3CCDA"/>
                </a:solidFill>
                <a:latin typeface="Courier New"/>
              </a:rPr>
              <a:t>(</a:t>
            </a:r>
            <a:r>
              <a:rPr sz="1400" i="0">
                <a:solidFill>
                  <a:srgbClr val="A5E3A1"/>
                </a:solidFill>
                <a:latin typeface="Courier New"/>
              </a:rPr>
              <a:t>"</a:t>
            </a:r>
            <a:r>
              <a:rPr sz="1400" i="0">
                <a:solidFill>
                  <a:srgbClr val="A5E3A1"/>
                </a:solidFill>
                <a:latin typeface="Courier New"/>
              </a:rPr>
              <a:t>1-chipta tayyor</a:t>
            </a:r>
            <a:r>
              <a:rPr sz="1400" i="0">
                <a:solidFill>
                  <a:srgbClr val="A5E3A1"/>
                </a:solidFill>
                <a:latin typeface="Courier New"/>
              </a:rPr>
              <a:t>"</a:t>
            </a:r>
            <a:r>
              <a:rPr sz="1400" i="0">
                <a:solidFill>
                  <a:srgbClr val="C3CCDA"/>
                </a:solidFill>
                <a:latin typeface="Courier New"/>
              </a:rPr>
              <a:t>)</a:t>
            </a:r>
          </a:p>
          <a:p>
            <a:pPr>
              <a:lnSpc>
                <a:spcPts val="1707"/>
              </a:lnSpc>
              <a:spcBef>
                <a:spcPts val="0"/>
              </a:spcBef>
              <a:spcAft>
                <a:spcPts val="0"/>
              </a:spcAft>
            </a:pPr>
            <a:r>
              <a:rPr sz="1400" i="0">
                <a:solidFill>
                  <a:srgbClr val="E6E9EF"/>
                </a:solidFill>
                <a:latin typeface="Courier New"/>
              </a:rPr>
              <a:t>    </a:t>
            </a:r>
            <a:r>
              <a:rPr sz="1400" i="0">
                <a:solidFill>
                  <a:srgbClr val="E6E9EF"/>
                </a:solidFill>
                <a:latin typeface="Courier New"/>
              </a:rPr>
              <a:t>Ticket</a:t>
            </a:r>
            <a:r>
              <a:rPr sz="1400" i="0">
                <a:solidFill>
                  <a:srgbClr val="C3CCDA"/>
                </a:solidFill>
                <a:latin typeface="Courier New"/>
              </a:rPr>
              <a:t>(</a:t>
            </a:r>
            <a:r>
              <a:rPr sz="1400" i="0">
                <a:solidFill>
                  <a:srgbClr val="A5E3A1"/>
                </a:solidFill>
                <a:latin typeface="Courier New"/>
              </a:rPr>
              <a:t>"</a:t>
            </a:r>
            <a:r>
              <a:rPr sz="1400" i="0">
                <a:solidFill>
                  <a:srgbClr val="A5E3A1"/>
                </a:solidFill>
                <a:latin typeface="Courier New"/>
              </a:rPr>
              <a:t>Xato chipta</a:t>
            </a:r>
            <a:r>
              <a:rPr sz="1400" i="0">
                <a:solidFill>
                  <a:srgbClr val="A5E3A1"/>
                </a:solidFill>
                <a:latin typeface="Courier New"/>
              </a:rPr>
              <a:t>"</a:t>
            </a:r>
            <a:r>
              <a:rPr sz="1400" i="0">
                <a:solidFill>
                  <a:srgbClr val="C3CCDA"/>
                </a:solidFill>
                <a:latin typeface="Courier New"/>
              </a:rPr>
              <a:t>,</a:t>
            </a:r>
            <a:r>
              <a:rPr sz="1400" i="0">
                <a:solidFill>
                  <a:srgbClr val="E6E9EF"/>
                </a:solidFill>
                <a:latin typeface="Courier New"/>
              </a:rPr>
              <a:t> </a:t>
            </a:r>
            <a:r>
              <a:rPr sz="1400" i="0">
                <a:solidFill>
                  <a:srgbClr val="89DDFF"/>
                </a:solidFill>
                <a:latin typeface="Courier New"/>
              </a:rPr>
              <a:t>-</a:t>
            </a:r>
            <a:r>
              <a:rPr sz="1400" i="0">
                <a:solidFill>
                  <a:srgbClr val="F78C6C"/>
                </a:solidFill>
                <a:latin typeface="Courier New"/>
              </a:rPr>
              <a:t>5</a:t>
            </a:r>
            <a:r>
              <a:rPr sz="1400" i="0">
                <a:solidFill>
                  <a:srgbClr val="C3CCDA"/>
                </a:solidFill>
                <a:latin typeface="Courier New"/>
              </a:rPr>
              <a:t>)</a:t>
            </a:r>
          </a:p>
          <a:p>
            <a:pPr>
              <a:lnSpc>
                <a:spcPts val="1707"/>
              </a:lnSpc>
              <a:spcBef>
                <a:spcPts val="0"/>
              </a:spcBef>
              <a:spcAft>
                <a:spcPts val="0"/>
              </a:spcAft>
            </a:pPr>
            <a:r>
              <a:rPr sz="1400" i="0">
                <a:solidFill>
                  <a:srgbClr val="E6E9EF"/>
                </a:solidFill>
                <a:latin typeface="Courier New"/>
              </a:rPr>
              <a:t>    </a:t>
            </a:r>
            <a:r>
              <a:rPr sz="1400" i="0">
                <a:solidFill>
                  <a:srgbClr val="E6E9EF"/>
                </a:solidFill>
                <a:latin typeface="Courier New"/>
              </a:rPr>
              <a:t>println</a:t>
            </a:r>
            <a:r>
              <a:rPr sz="1400" i="0">
                <a:solidFill>
                  <a:srgbClr val="C3CCDA"/>
                </a:solidFill>
                <a:latin typeface="Courier New"/>
              </a:rPr>
              <a:t>(</a:t>
            </a:r>
            <a:r>
              <a:rPr sz="1400" i="0">
                <a:solidFill>
                  <a:srgbClr val="A5E3A1"/>
                </a:solidFill>
                <a:latin typeface="Courier New"/>
              </a:rPr>
              <a:t>"</a:t>
            </a:r>
            <a:r>
              <a:rPr sz="1400" i="0">
                <a:solidFill>
                  <a:srgbClr val="A5E3A1"/>
                </a:solidFill>
                <a:latin typeface="Courier New"/>
              </a:rPr>
              <a:t>2-chipta tayyor</a:t>
            </a:r>
            <a:r>
              <a:rPr sz="1400" i="0">
                <a:solidFill>
                  <a:srgbClr val="A5E3A1"/>
                </a:solidFill>
                <a:latin typeface="Courier New"/>
              </a:rPr>
              <a:t>"</a:t>
            </a:r>
            <a:r>
              <a:rPr sz="1400" i="0">
                <a:solidFill>
                  <a:srgbClr val="C3CCDA"/>
                </a:solidFill>
                <a:latin typeface="Courier New"/>
              </a:rPr>
              <a:t>)</a:t>
            </a:r>
          </a:p>
          <a:p>
            <a:pPr>
              <a:lnSpc>
                <a:spcPts val="1707"/>
              </a:lnSpc>
              <a:spcBef>
                <a:spcPts val="0"/>
              </a:spcBef>
              <a:spcAft>
                <a:spcPts val="0"/>
              </a:spcAft>
            </a:pPr>
            <a:r>
              <a:rPr sz="140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Ikkala chipta tayyor</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1900" b="0" i="0">
                <a:solidFill>
                  <a:srgbClr val="111111"/>
                </a:solidFill>
                <a:latin typeface="Arial"/>
              </a:rPr>
              <a:t>1-chipta tayyor, keyin xato</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111111"/>
                </a:solidFill>
                <a:latin typeface="Arial"/>
              </a:rPr>
              <a:t>Hech narsa chiqmaydi, darhol xato</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Faqat 2-chipta tayyor</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1800" b="1" i="0">
                <a:solidFill>
                  <a:srgbClr val="111111"/>
                </a:solidFill>
                <a:latin typeface="Arial"/>
              </a:rPr>
              <a:t>Javob:</a:t>
            </a:r>
            <a:r>
              <a:rPr sz="1800" b="0" i="0">
                <a:solidFill>
                  <a:srgbClr val="111111"/>
                </a:solidFill>
                <a:latin typeface="Arial"/>
              </a:rPr>
              <a:t> B — 1-chipta tayyor, keyin xato</a:t>
            </a:r>
          </a:p>
          <a:p>
            <a:pPr algn="l">
              <a:lnSpc>
                <a:spcPct val="115000"/>
              </a:lnSpc>
              <a:spcBef>
                <a:spcPts val="0"/>
              </a:spcBef>
              <a:spcAft>
                <a:spcPts val="800"/>
              </a:spcAft>
            </a:pPr>
            <a:r>
              <a:rPr sz="1800" b="0" i="0">
                <a:solidFill>
                  <a:srgbClr val="111111"/>
                </a:solidFill>
                <a:latin typeface="Arial"/>
              </a:rPr>
              <a:t>Ikkinchida shart </a:t>
            </a:r>
            <a:r>
              <a:rPr sz="1800" b="0" i="0">
                <a:solidFill>
                  <a:srgbClr val="0052CC"/>
                </a:solidFill>
                <a:latin typeface="Courier New"/>
              </a:rPr>
              <a:t>False</a:t>
            </a:r>
            <a:r>
              <a:rPr sz="1800" b="0" i="0">
                <a:solidFill>
                  <a:srgbClr val="111111"/>
                </a:solidFill>
                <a:latin typeface="Arial"/>
              </a:rPr>
              <a:t>: dastur to'xtaydi.</a:t>
            </a:r>
          </a:p>
        </p:txBody>
      </p:sp>
      <p:sp>
        <p:nvSpPr>
          <p:cNvPr id="1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JONLI KODLASH · AVVAL KUZATING, KEYIN O'ZINGIZ</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Chipta sinfini noldan yozamiz</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8 DAQ</a:t>
            </a:r>
          </a:p>
        </p:txBody>
      </p:sp>
      <p:sp>
        <p:nvSpPr>
          <p:cNvPr id="5" name="Starter file"/>
          <p:cNvSpPr txBox="1"/>
          <p:nvPr/>
        </p:nvSpPr>
        <p:spPr>
          <a:xfrm>
            <a:off x="640080" y="20574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Courier New"/>
              </a:rPr>
              <a:t>boshlang'ich fayl: livecode/starter/Ticket.kt</a:t>
            </a:r>
          </a:p>
        </p:txBody>
      </p:sp>
      <p:sp>
        <p:nvSpPr>
          <p:cNvPr id="6" name="Goals"/>
          <p:cNvSpPr txBox="1"/>
          <p:nvPr/>
        </p:nvSpPr>
        <p:spPr>
          <a:xfrm>
            <a:off x="640080" y="2651760"/>
            <a:ext cx="10911535" cy="338328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class Ticket(val event: String, var price: Int)</a:t>
            </a:r>
          </a:p>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init</a:t>
            </a:r>
            <a:r>
              <a:rPr sz="2600" b="0" i="0">
                <a:solidFill>
                  <a:srgbClr val="FFFFFF"/>
                </a:solidFill>
                <a:latin typeface="Arial"/>
              </a:rPr>
              <a:t> ichida </a:t>
            </a:r>
            <a:r>
              <a:rPr sz="2600" b="0" i="0">
                <a:solidFill>
                  <a:srgbClr val="FFC20E"/>
                </a:solidFill>
                <a:latin typeface="Courier New"/>
              </a:rPr>
              <a:t>require</a:t>
            </a:r>
            <a:r>
              <a:rPr sz="2600" b="0" i="0">
                <a:solidFill>
                  <a:srgbClr val="FFFFFF"/>
                </a:solidFill>
                <a:latin typeface="Arial"/>
              </a:rPr>
              <a:t> bilan narxni tekshirish</a:t>
            </a:r>
          </a:p>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describe()</a:t>
            </a:r>
            <a:r>
              <a:rPr sz="2600" b="0" i="0">
                <a:solidFill>
                  <a:srgbClr val="FFFFFF"/>
                </a:solidFill>
                <a:latin typeface="Arial"/>
              </a:rPr>
              <a:t> funksiyasi</a:t>
            </a:r>
          </a:p>
          <a:p>
            <a:pPr algn="l" marL="384048" indent="-384048">
              <a:lnSpc>
                <a:spcPct val="115000"/>
              </a:lnSpc>
              <a:spcBef>
                <a:spcPts val="0"/>
              </a:spcBef>
              <a:spcAft>
                <a:spcPts val="1200"/>
              </a:spcAft>
              <a:buClr>
                <a:srgbClr val="FFC20E"/>
              </a:buClr>
              <a:buFont typeface="Arial"/>
              <a:buChar char="•"/>
            </a:pPr>
            <a:r>
              <a:rPr sz="2600" b="0" i="0">
                <a:solidFill>
                  <a:srgbClr val="FFC20E"/>
                </a:solidFill>
                <a:latin typeface="Courier New"/>
              </a:rPr>
              <a:t>main()</a:t>
            </a:r>
            <a:r>
              <a:rPr sz="2600" b="0" i="0">
                <a:solidFill>
                  <a:srgbClr val="FFFFFF"/>
                </a:solidFill>
                <a:latin typeface="Arial"/>
              </a:rPr>
              <a:t> da obyekt yaratib chiqarish</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18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4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4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4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4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NAVBAT SIZDA · JUFTLIKDA</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Chegirmali narxni hisoblang</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8 DAQ</a:t>
            </a:r>
          </a:p>
        </p:txBody>
      </p:sp>
      <p:sp>
        <p:nvSpPr>
          <p:cNvPr id="5" name="Starter file"/>
          <p:cNvSpPr txBox="1"/>
          <p:nvPr/>
        </p:nvSpPr>
        <p:spPr>
          <a:xfrm>
            <a:off x="640080" y="20574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Courier New"/>
              </a:rPr>
              <a:t>oching: livecode/starter/Discount.kt</a:t>
            </a:r>
          </a:p>
        </p:txBody>
      </p:sp>
      <p:sp>
        <p:nvSpPr>
          <p:cNvPr id="6" name="Steps"/>
          <p:cNvSpPr txBox="1"/>
          <p:nvPr/>
        </p:nvSpPr>
        <p:spPr>
          <a:xfrm>
            <a:off x="640080" y="2651760"/>
            <a:ext cx="10911535" cy="342900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200"/>
              </a:spcAft>
              <a:buClr>
                <a:srgbClr val="FFC20E"/>
              </a:buClr>
              <a:buFont typeface="Arial"/>
              <a:buAutoNum type="arabicPeriod"/>
            </a:pPr>
            <a:r>
              <a:rPr sz="2600" b="0" i="0">
                <a:solidFill>
                  <a:srgbClr val="FFC20E"/>
                </a:solidFill>
                <a:latin typeface="Courier New"/>
              </a:rPr>
              <a:t>withDiscount(percent: Int): Int</a:t>
            </a:r>
            <a:r>
              <a:rPr sz="2600" b="0" i="0">
                <a:solidFill>
                  <a:srgbClr val="FFFFFF"/>
                </a:solidFill>
                <a:latin typeface="Arial"/>
              </a:rPr>
              <a:t> funksiyasini yozing: narxdan foizni ayirsin</a:t>
            </a:r>
          </a:p>
          <a:p>
            <a:pPr algn="l" marL="457200" indent="-457200">
              <a:lnSpc>
                <a:spcPct val="115000"/>
              </a:lnSpc>
              <a:spcBef>
                <a:spcPts val="0"/>
              </a:spcBef>
              <a:spcAft>
                <a:spcPts val="1200"/>
              </a:spcAft>
              <a:buClr>
                <a:srgbClr val="FFC20E"/>
              </a:buClr>
              <a:buFont typeface="Arial"/>
              <a:buAutoNum type="arabicPeriod"/>
            </a:pPr>
            <a:r>
              <a:rPr sz="2600" b="0" i="0">
                <a:solidFill>
                  <a:srgbClr val="FFC20E"/>
                </a:solidFill>
                <a:latin typeface="Courier New"/>
              </a:rPr>
              <a:t>main()</a:t>
            </a:r>
            <a:r>
              <a:rPr sz="2600" b="0" i="0">
                <a:solidFill>
                  <a:srgbClr val="FFFFFF"/>
                </a:solidFill>
                <a:latin typeface="Arial"/>
              </a:rPr>
              <a:t> da </a:t>
            </a:r>
            <a:r>
              <a:rPr sz="2600" b="0" i="0">
                <a:solidFill>
                  <a:srgbClr val="FFC20E"/>
                </a:solidFill>
                <a:latin typeface="Courier New"/>
              </a:rPr>
              <a:t>ticket.withDiscount(20)</a:t>
            </a:r>
            <a:r>
              <a:rPr sz="2600" b="0" i="0">
                <a:solidFill>
                  <a:srgbClr val="FFFFFF"/>
                </a:solidFill>
                <a:latin typeface="Arial"/>
              </a:rPr>
              <a:t> ni chiqaring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150000 so'm va 20 foiz uchun 120000 chiqishi kerak</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Tez tugatdingizmi? </a:t>
            </a:r>
            <a:r>
              <a:rPr sz="2600" b="0" i="0">
                <a:solidFill>
                  <a:srgbClr val="FFC20E"/>
                </a:solidFill>
                <a:latin typeface="Courier New"/>
              </a:rPr>
              <a:t>require(percent in 0..100)</a:t>
            </a:r>
            <a:r>
              <a:rPr sz="2600" b="0" i="0">
                <a:solidFill>
                  <a:srgbClr val="FFFFFF"/>
                </a:solidFill>
                <a:latin typeface="Arial"/>
              </a:rPr>
              <a:t> qo'shing</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03</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Ikkilamchi konstruktor va companion object</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IKKILAMCHI KONSTRUKTOR VA COMPANION OBJECT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Ikkilamchi konstruktor obyektni boshqa qiymat turi bilan yaratadi</a:t>
            </a:r>
          </a:p>
        </p:txBody>
      </p:sp>
      <p:sp>
        <p:nvSpPr>
          <p:cNvPr id="4" name="Code panel"/>
          <p:cNvSpPr/>
          <p:nvPr/>
        </p:nvSpPr>
        <p:spPr>
          <a:xfrm>
            <a:off x="640080" y="2148840"/>
            <a:ext cx="7985455" cy="2982087"/>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422909" cy="2579751"/>
          </a:xfrm>
          <a:prstGeom prst="rect">
            <a:avLst/>
          </a:prstGeom>
          <a:noFill/>
        </p:spPr>
        <p:txBody>
          <a:bodyPr wrap="none" lIns="0" rIns="0" tIns="0" bIns="0">
            <a:noAutofit/>
          </a:bodyPr>
          <a:lstStyle/>
          <a:p>
            <a:pPr>
              <a:lnSpc>
                <a:spcPts val="2257"/>
              </a:lnSpc>
              <a:spcBef>
                <a:spcPts val="0"/>
              </a:spcBef>
              <a:spcAft>
                <a:spcPts val="0"/>
              </a:spcAft>
            </a:pPr>
            <a:r>
              <a:rPr sz="1850" i="0">
                <a:solidFill>
                  <a:srgbClr val="8792A8"/>
                </a:solidFill>
                <a:latin typeface="Courier New"/>
              </a:rPr>
              <a:t>1</a:t>
            </a:r>
          </a:p>
          <a:p>
            <a:pPr>
              <a:lnSpc>
                <a:spcPts val="2257"/>
              </a:lnSpc>
              <a:spcBef>
                <a:spcPts val="0"/>
              </a:spcBef>
              <a:spcAft>
                <a:spcPts val="0"/>
              </a:spcAft>
            </a:pPr>
            <a:r>
              <a:rPr sz="1850" i="0">
                <a:solidFill>
                  <a:srgbClr val="8792A8"/>
                </a:solidFill>
                <a:latin typeface="Courier New"/>
              </a:rPr>
              <a:t>2</a:t>
            </a:r>
          </a:p>
          <a:p>
            <a:pPr>
              <a:lnSpc>
                <a:spcPts val="2257"/>
              </a:lnSpc>
              <a:spcBef>
                <a:spcPts val="0"/>
              </a:spcBef>
              <a:spcAft>
                <a:spcPts val="0"/>
              </a:spcAft>
            </a:pPr>
            <a:r>
              <a:rPr sz="1850" i="0">
                <a:solidFill>
                  <a:srgbClr val="8792A8"/>
                </a:solidFill>
                <a:latin typeface="Courier New"/>
              </a:rPr>
              <a:t>3</a:t>
            </a:r>
          </a:p>
          <a:p>
            <a:pPr>
              <a:lnSpc>
                <a:spcPts val="2257"/>
              </a:lnSpc>
              <a:spcBef>
                <a:spcPts val="0"/>
              </a:spcBef>
              <a:spcAft>
                <a:spcPts val="0"/>
              </a:spcAft>
            </a:pPr>
            <a:r>
              <a:rPr sz="1850" i="0">
                <a:solidFill>
                  <a:srgbClr val="8792A8"/>
                </a:solidFill>
                <a:latin typeface="Courier New"/>
              </a:rPr>
              <a:t>4</a:t>
            </a:r>
          </a:p>
          <a:p>
            <a:pPr>
              <a:lnSpc>
                <a:spcPts val="2257"/>
              </a:lnSpc>
              <a:spcBef>
                <a:spcPts val="0"/>
              </a:spcBef>
              <a:spcAft>
                <a:spcPts val="0"/>
              </a:spcAft>
            </a:pPr>
            <a:r>
              <a:rPr sz="1850" i="0">
                <a:solidFill>
                  <a:srgbClr val="8792A8"/>
                </a:solidFill>
                <a:latin typeface="Courier New"/>
              </a:rPr>
              <a:t>5</a:t>
            </a:r>
          </a:p>
          <a:p>
            <a:pPr>
              <a:lnSpc>
                <a:spcPts val="2257"/>
              </a:lnSpc>
              <a:spcBef>
                <a:spcPts val="0"/>
              </a:spcBef>
              <a:spcAft>
                <a:spcPts val="0"/>
              </a:spcAft>
            </a:pPr>
            <a:r>
              <a:rPr sz="1850" i="0">
                <a:solidFill>
                  <a:srgbClr val="8792A8"/>
                </a:solidFill>
                <a:latin typeface="Courier New"/>
              </a:rPr>
              <a:t>6</a:t>
            </a:r>
          </a:p>
          <a:p>
            <a:pPr>
              <a:lnSpc>
                <a:spcPts val="2257"/>
              </a:lnSpc>
              <a:spcBef>
                <a:spcPts val="0"/>
              </a:spcBef>
              <a:spcAft>
                <a:spcPts val="0"/>
              </a:spcAft>
            </a:pPr>
            <a:r>
              <a:rPr sz="1850" i="0">
                <a:solidFill>
                  <a:srgbClr val="8792A8"/>
                </a:solidFill>
                <a:latin typeface="Courier New"/>
              </a:rPr>
              <a:t>7</a:t>
            </a:r>
          </a:p>
          <a:p>
            <a:pPr>
              <a:lnSpc>
                <a:spcPts val="2257"/>
              </a:lnSpc>
              <a:spcBef>
                <a:spcPts val="0"/>
              </a:spcBef>
              <a:spcAft>
                <a:spcPts val="0"/>
              </a:spcAft>
            </a:pPr>
            <a:r>
              <a:rPr sz="1850" i="0">
                <a:solidFill>
                  <a:srgbClr val="8792A8"/>
                </a:solidFill>
                <a:latin typeface="Courier New"/>
              </a:rPr>
              <a:t>8</a:t>
            </a:r>
          </a:p>
          <a:p>
            <a:pPr>
              <a:lnSpc>
                <a:spcPts val="2257"/>
              </a:lnSpc>
              <a:spcBef>
                <a:spcPts val="0"/>
              </a:spcBef>
              <a:spcAft>
                <a:spcPts val="0"/>
              </a:spcAft>
            </a:pPr>
            <a:r>
              <a:rPr sz="1850" i="0">
                <a:solidFill>
                  <a:srgbClr val="8792A8"/>
                </a:solidFill>
                <a:latin typeface="Courier New"/>
              </a:rPr>
              <a:t>9</a:t>
            </a:r>
          </a:p>
        </p:txBody>
      </p:sp>
      <p:sp>
        <p:nvSpPr>
          <p:cNvPr id="6" name="Code"/>
          <p:cNvSpPr txBox="1"/>
          <p:nvPr/>
        </p:nvSpPr>
        <p:spPr>
          <a:xfrm>
            <a:off x="1319022" y="2350008"/>
            <a:ext cx="7050481" cy="2579751"/>
          </a:xfrm>
          <a:prstGeom prst="rect">
            <a:avLst/>
          </a:prstGeom>
          <a:noFill/>
        </p:spPr>
        <p:txBody>
          <a:bodyPr wrap="none" lIns="0" rIns="0" tIns="0" bIns="0">
            <a:noAutofit/>
          </a:bodyPr>
          <a:lstStyle/>
          <a:p>
            <a:pPr>
              <a:lnSpc>
                <a:spcPts val="2257"/>
              </a:lnSpc>
              <a:spcBef>
                <a:spcPts val="0"/>
              </a:spcBef>
              <a:spcAft>
                <a:spcPts val="0"/>
              </a:spcAft>
            </a:pPr>
            <a:r>
              <a:rPr sz="1850" i="0">
                <a:solidFill>
                  <a:srgbClr val="C792EA"/>
                </a:solidFill>
                <a:latin typeface="Courier New"/>
              </a:rPr>
              <a:t>class</a:t>
            </a:r>
            <a:r>
              <a:rPr sz="1850" i="0">
                <a:solidFill>
                  <a:srgbClr val="E6E9EF"/>
                </a:solidFill>
                <a:latin typeface="Courier New"/>
              </a:rPr>
              <a:t> </a:t>
            </a:r>
            <a:r>
              <a:rPr sz="1850" i="0">
                <a:solidFill>
                  <a:srgbClr val="FFCB6B"/>
                </a:solidFill>
                <a:latin typeface="Courier New"/>
              </a:rPr>
              <a:t>Ticket</a:t>
            </a:r>
            <a:r>
              <a:rPr sz="1850" i="0">
                <a:solidFill>
                  <a:srgbClr val="C3CCDA"/>
                </a:solidFill>
                <a:latin typeface="Courier New"/>
              </a:rPr>
              <a:t>(</a:t>
            </a:r>
            <a:r>
              <a:rPr sz="1850" i="0">
                <a:solidFill>
                  <a:srgbClr val="C792EA"/>
                </a:solidFill>
                <a:latin typeface="Courier New"/>
              </a:rPr>
              <a:t>val</a:t>
            </a:r>
            <a:r>
              <a:rPr sz="1850" i="0">
                <a:solidFill>
                  <a:srgbClr val="E6E9EF"/>
                </a:solidFill>
                <a:latin typeface="Courier New"/>
              </a:rPr>
              <a:t> </a:t>
            </a:r>
            <a:r>
              <a:rPr sz="1850" i="0">
                <a:solidFill>
                  <a:srgbClr val="E6E9EF"/>
                </a:solidFill>
                <a:latin typeface="Courier New"/>
              </a:rPr>
              <a:t>event</a:t>
            </a:r>
            <a:r>
              <a:rPr sz="1850" i="0">
                <a:solidFill>
                  <a:srgbClr val="C3CCDA"/>
                </a:solidFill>
                <a:latin typeface="Courier New"/>
              </a:rPr>
              <a:t>:</a:t>
            </a:r>
            <a:r>
              <a:rPr sz="1850" i="0">
                <a:solidFill>
                  <a:srgbClr val="E6E9EF"/>
                </a:solidFill>
                <a:latin typeface="Courier New"/>
              </a:rPr>
              <a:t> </a:t>
            </a:r>
            <a:r>
              <a:rPr sz="1850" i="0">
                <a:solidFill>
                  <a:srgbClr val="C792EA"/>
                </a:solidFill>
                <a:latin typeface="Courier New"/>
              </a:rPr>
              <a:t>String</a:t>
            </a:r>
            <a:r>
              <a:rPr sz="1850" i="0">
                <a:solidFill>
                  <a:srgbClr val="C3CCDA"/>
                </a:solidFill>
                <a:latin typeface="Courier New"/>
              </a:rPr>
              <a:t>,</a:t>
            </a:r>
            <a:r>
              <a:rPr sz="1850" i="0">
                <a:solidFill>
                  <a:srgbClr val="E6E9EF"/>
                </a:solidFill>
                <a:latin typeface="Courier New"/>
              </a:rPr>
              <a:t> </a:t>
            </a:r>
            <a:r>
              <a:rPr sz="1850" i="0">
                <a:solidFill>
                  <a:srgbClr val="C792EA"/>
                </a:solidFill>
                <a:latin typeface="Courier New"/>
              </a:rPr>
              <a:t>var</a:t>
            </a:r>
            <a:r>
              <a:rPr sz="1850" i="0">
                <a:solidFill>
                  <a:srgbClr val="E6E9EF"/>
                </a:solidFill>
                <a:latin typeface="Courier New"/>
              </a:rPr>
              <a:t> </a:t>
            </a:r>
            <a:r>
              <a:rPr sz="1850" i="0">
                <a:solidFill>
                  <a:srgbClr val="E6E9EF"/>
                </a:solidFill>
                <a:latin typeface="Courier New"/>
              </a:rPr>
              <a:t>price</a:t>
            </a:r>
            <a:r>
              <a:rPr sz="1850" i="0">
                <a:solidFill>
                  <a:srgbClr val="C3CCDA"/>
                </a:solidFill>
                <a:latin typeface="Courier New"/>
              </a:rPr>
              <a:t>:</a:t>
            </a:r>
            <a:r>
              <a:rPr sz="1850" i="0">
                <a:solidFill>
                  <a:srgbClr val="E6E9EF"/>
                </a:solidFill>
                <a:latin typeface="Courier New"/>
              </a:rPr>
              <a:t> </a:t>
            </a:r>
            <a:r>
              <a:rPr sz="1850" i="0">
                <a:solidFill>
                  <a:srgbClr val="C792EA"/>
                </a:solidFill>
                <a:latin typeface="Courier New"/>
              </a:rPr>
              <a:t>Int</a:t>
            </a:r>
            <a:r>
              <a:rPr sz="1850" i="0">
                <a:solidFill>
                  <a:srgbClr val="C3CCDA"/>
                </a:solidFill>
                <a:latin typeface="Courier New"/>
              </a:rPr>
              <a:t>)</a:t>
            </a:r>
            <a:r>
              <a:rPr sz="1850" i="0">
                <a:solidFill>
                  <a:srgbClr val="E6E9EF"/>
                </a:solidFill>
                <a:latin typeface="Courier New"/>
              </a:rPr>
              <a:t> </a:t>
            </a:r>
            <a:r>
              <a:rPr sz="1850" i="0">
                <a:solidFill>
                  <a:srgbClr val="C3CCDA"/>
                </a:solidFill>
                <a:latin typeface="Courier New"/>
              </a:rPr>
              <a:t>{</a:t>
            </a:r>
          </a:p>
          <a:p>
            <a:pPr>
              <a:lnSpc>
                <a:spcPts val="2257"/>
              </a:lnSpc>
              <a:spcBef>
                <a:spcPts val="0"/>
              </a:spcBef>
              <a:spcAft>
                <a:spcPts val="0"/>
              </a:spcAft>
            </a:pPr>
            <a:r>
              <a:rPr sz="1850" i="0">
                <a:solidFill>
                  <a:srgbClr val="E6E9EF"/>
                </a:solidFill>
                <a:latin typeface="Courier New"/>
              </a:rPr>
              <a:t>    </a:t>
            </a:r>
            <a:r>
              <a:rPr sz="1850" i="0">
                <a:solidFill>
                  <a:srgbClr val="C792EA"/>
                </a:solidFill>
                <a:latin typeface="Courier New"/>
              </a:rPr>
              <a:t>constructor</a:t>
            </a:r>
            <a:r>
              <a:rPr sz="1850" i="0">
                <a:solidFill>
                  <a:srgbClr val="C3CCDA"/>
                </a:solidFill>
                <a:latin typeface="Courier New"/>
              </a:rPr>
              <a:t>(</a:t>
            </a:r>
            <a:r>
              <a:rPr sz="1850" i="0">
                <a:solidFill>
                  <a:srgbClr val="E6E9EF"/>
                </a:solidFill>
                <a:latin typeface="Courier New"/>
              </a:rPr>
              <a:t>event</a:t>
            </a:r>
            <a:r>
              <a:rPr sz="1850" i="0">
                <a:solidFill>
                  <a:srgbClr val="C3CCDA"/>
                </a:solidFill>
                <a:latin typeface="Courier New"/>
              </a:rPr>
              <a:t>:</a:t>
            </a:r>
            <a:r>
              <a:rPr sz="1850" i="0">
                <a:solidFill>
                  <a:srgbClr val="E6E9EF"/>
                </a:solidFill>
                <a:latin typeface="Courier New"/>
              </a:rPr>
              <a:t> </a:t>
            </a:r>
            <a:r>
              <a:rPr sz="1850" i="0">
                <a:solidFill>
                  <a:srgbClr val="C792EA"/>
                </a:solidFill>
                <a:latin typeface="Courier New"/>
              </a:rPr>
              <a:t>String</a:t>
            </a:r>
            <a:r>
              <a:rPr sz="1850" i="0">
                <a:solidFill>
                  <a:srgbClr val="C3CCDA"/>
                </a:solidFill>
                <a:latin typeface="Courier New"/>
              </a:rPr>
              <a:t>,</a:t>
            </a:r>
            <a:r>
              <a:rPr sz="1850" i="0">
                <a:solidFill>
                  <a:srgbClr val="E6E9EF"/>
                </a:solidFill>
                <a:latin typeface="Courier New"/>
              </a:rPr>
              <a:t> </a:t>
            </a:r>
            <a:r>
              <a:rPr sz="1850" i="0">
                <a:solidFill>
                  <a:srgbClr val="E6E9EF"/>
                </a:solidFill>
                <a:latin typeface="Courier New"/>
              </a:rPr>
              <a:t>text</a:t>
            </a:r>
            <a:r>
              <a:rPr sz="1850" i="0">
                <a:solidFill>
                  <a:srgbClr val="C3CCDA"/>
                </a:solidFill>
                <a:latin typeface="Courier New"/>
              </a:rPr>
              <a:t>:</a:t>
            </a:r>
            <a:r>
              <a:rPr sz="1850" i="0">
                <a:solidFill>
                  <a:srgbClr val="E6E9EF"/>
                </a:solidFill>
                <a:latin typeface="Courier New"/>
              </a:rPr>
              <a:t> </a:t>
            </a:r>
            <a:r>
              <a:rPr sz="1850" i="0">
                <a:solidFill>
                  <a:srgbClr val="C792EA"/>
                </a:solidFill>
                <a:latin typeface="Courier New"/>
              </a:rPr>
              <a:t>String</a:t>
            </a:r>
            <a:r>
              <a:rPr sz="1850" i="0">
                <a:solidFill>
                  <a:srgbClr val="C3CCDA"/>
                </a:solidFill>
                <a:latin typeface="Courier New"/>
              </a:rPr>
              <a:t>)</a:t>
            </a:r>
            <a:r>
              <a:rPr sz="1850" i="0">
                <a:solidFill>
                  <a:srgbClr val="E6E9EF"/>
                </a:solidFill>
                <a:latin typeface="Courier New"/>
              </a:rPr>
              <a:t> </a:t>
            </a:r>
            <a:r>
              <a:rPr sz="1850" i="0">
                <a:solidFill>
                  <a:srgbClr val="C3CCDA"/>
                </a:solidFill>
                <a:latin typeface="Courier New"/>
              </a:rPr>
              <a:t>:</a:t>
            </a:r>
          </a:p>
          <a:p>
            <a:pPr>
              <a:lnSpc>
                <a:spcPts val="2257"/>
              </a:lnSpc>
              <a:spcBef>
                <a:spcPts val="0"/>
              </a:spcBef>
              <a:spcAft>
                <a:spcPts val="0"/>
              </a:spcAft>
            </a:pPr>
            <a:r>
              <a:rPr sz="1850" i="0">
                <a:solidFill>
                  <a:srgbClr val="E6E9EF"/>
                </a:solidFill>
                <a:latin typeface="Courier New"/>
              </a:rPr>
              <a:t>        </a:t>
            </a:r>
            <a:r>
              <a:rPr sz="1850" i="0">
                <a:solidFill>
                  <a:srgbClr val="C792EA"/>
                </a:solidFill>
                <a:latin typeface="Courier New"/>
              </a:rPr>
              <a:t>this</a:t>
            </a:r>
            <a:r>
              <a:rPr sz="1850" i="0">
                <a:solidFill>
                  <a:srgbClr val="C3CCDA"/>
                </a:solidFill>
                <a:latin typeface="Courier New"/>
              </a:rPr>
              <a:t>(</a:t>
            </a:r>
            <a:r>
              <a:rPr sz="1850" i="0">
                <a:solidFill>
                  <a:srgbClr val="E6E9EF"/>
                </a:solidFill>
                <a:latin typeface="Courier New"/>
              </a:rPr>
              <a:t>event</a:t>
            </a:r>
            <a:r>
              <a:rPr sz="1850" i="0">
                <a:solidFill>
                  <a:srgbClr val="C3CCDA"/>
                </a:solidFill>
                <a:latin typeface="Courier New"/>
              </a:rPr>
              <a:t>,</a:t>
            </a:r>
            <a:r>
              <a:rPr sz="1850" i="0">
                <a:solidFill>
                  <a:srgbClr val="E6E9EF"/>
                </a:solidFill>
                <a:latin typeface="Courier New"/>
              </a:rPr>
              <a:t> </a:t>
            </a:r>
            <a:r>
              <a:rPr sz="1850" i="0">
                <a:solidFill>
                  <a:srgbClr val="E6E9EF"/>
                </a:solidFill>
                <a:latin typeface="Courier New"/>
              </a:rPr>
              <a:t>text</a:t>
            </a:r>
            <a:r>
              <a:rPr sz="1850" i="0">
                <a:solidFill>
                  <a:srgbClr val="C3CCDA"/>
                </a:solidFill>
                <a:latin typeface="Courier New"/>
              </a:rPr>
              <a:t>.</a:t>
            </a:r>
            <a:r>
              <a:rPr sz="1850" i="0">
                <a:solidFill>
                  <a:srgbClr val="E6E9EF"/>
                </a:solidFill>
                <a:latin typeface="Courier New"/>
              </a:rPr>
              <a:t>toIntOrNull</a:t>
            </a:r>
            <a:r>
              <a:rPr sz="1850" i="0">
                <a:solidFill>
                  <a:srgbClr val="C3CCDA"/>
                </a:solidFill>
                <a:latin typeface="Courier New"/>
              </a:rPr>
              <a:t>(</a:t>
            </a:r>
            <a:r>
              <a:rPr sz="1850" i="0">
                <a:solidFill>
                  <a:srgbClr val="C3CCDA"/>
                </a:solidFill>
                <a:latin typeface="Courier New"/>
              </a:rPr>
              <a:t>)</a:t>
            </a:r>
            <a:r>
              <a:rPr sz="1850" i="0">
                <a:solidFill>
                  <a:srgbClr val="E6E9EF"/>
                </a:solidFill>
                <a:latin typeface="Courier New"/>
              </a:rPr>
              <a:t> </a:t>
            </a:r>
            <a:r>
              <a:rPr sz="1850" i="0">
                <a:solidFill>
                  <a:srgbClr val="89DDFF"/>
                </a:solidFill>
                <a:latin typeface="Courier New"/>
              </a:rPr>
              <a:t>?:</a:t>
            </a:r>
            <a:r>
              <a:rPr sz="1850" i="0">
                <a:solidFill>
                  <a:srgbClr val="E6E9EF"/>
                </a:solidFill>
                <a:latin typeface="Courier New"/>
              </a:rPr>
              <a:t> </a:t>
            </a:r>
            <a:r>
              <a:rPr sz="1850" i="0">
                <a:solidFill>
                  <a:srgbClr val="F78C6C"/>
                </a:solidFill>
                <a:latin typeface="Courier New"/>
              </a:rPr>
              <a:t>0</a:t>
            </a:r>
            <a:r>
              <a:rPr sz="1850" i="0">
                <a:solidFill>
                  <a:srgbClr val="C3CCDA"/>
                </a:solidFill>
                <a:latin typeface="Courier New"/>
              </a:rPr>
              <a:t>)</a:t>
            </a:r>
          </a:p>
          <a:p>
            <a:pPr>
              <a:lnSpc>
                <a:spcPts val="2257"/>
              </a:lnSpc>
              <a:spcBef>
                <a:spcPts val="0"/>
              </a:spcBef>
              <a:spcAft>
                <a:spcPts val="0"/>
              </a:spcAft>
            </a:pPr>
            <a:r>
              <a:rPr sz="1850" i="0">
                <a:solidFill>
                  <a:srgbClr val="C3CCDA"/>
                </a:solidFill>
                <a:latin typeface="Courier New"/>
              </a:rPr>
              <a:t>}</a:t>
            </a:r>
          </a:p>
          <a:p>
            <a:pPr>
              <a:lnSpc>
                <a:spcPts val="2257"/>
              </a:lnSpc>
              <a:spcBef>
                <a:spcPts val="0"/>
              </a:spcBef>
              <a:spcAft>
                <a:spcPts val="0"/>
              </a:spcAft>
            </a:pPr>
            <a:r>
              <a:rPr sz="1850" i="0">
                <a:solidFill>
                  <a:srgbClr val="E6E9EF"/>
                </a:solidFill>
                <a:latin typeface="Courier New"/>
              </a:rPr>
              <a:t> </a:t>
            </a:r>
          </a:p>
          <a:p>
            <a:pPr>
              <a:lnSpc>
                <a:spcPts val="2257"/>
              </a:lnSpc>
              <a:spcBef>
                <a:spcPts val="0"/>
              </a:spcBef>
              <a:spcAft>
                <a:spcPts val="0"/>
              </a:spcAft>
            </a:pPr>
            <a:r>
              <a:rPr sz="1850" i="0">
                <a:solidFill>
                  <a:srgbClr val="C792EA"/>
                </a:solidFill>
                <a:latin typeface="Courier New"/>
              </a:rPr>
              <a:t>fun</a:t>
            </a:r>
            <a:r>
              <a:rPr sz="1850" i="0">
                <a:solidFill>
                  <a:srgbClr val="E6E9EF"/>
                </a:solidFill>
                <a:latin typeface="Courier New"/>
              </a:rPr>
              <a:t> </a:t>
            </a:r>
            <a:r>
              <a:rPr sz="1850" i="0">
                <a:solidFill>
                  <a:srgbClr val="82AAFF"/>
                </a:solidFill>
                <a:latin typeface="Courier New"/>
              </a:rPr>
              <a:t>main</a:t>
            </a:r>
            <a:r>
              <a:rPr sz="1850" i="0">
                <a:solidFill>
                  <a:srgbClr val="C3CCDA"/>
                </a:solidFill>
                <a:latin typeface="Courier New"/>
              </a:rPr>
              <a:t>(</a:t>
            </a:r>
            <a:r>
              <a:rPr sz="1850" i="0">
                <a:solidFill>
                  <a:srgbClr val="C3CCDA"/>
                </a:solidFill>
                <a:latin typeface="Courier New"/>
              </a:rPr>
              <a:t>)</a:t>
            </a:r>
            <a:r>
              <a:rPr sz="1850" i="0">
                <a:solidFill>
                  <a:srgbClr val="E6E9EF"/>
                </a:solidFill>
                <a:latin typeface="Courier New"/>
              </a:rPr>
              <a:t> </a:t>
            </a:r>
            <a:r>
              <a:rPr sz="1850" i="0">
                <a:solidFill>
                  <a:srgbClr val="C3CCDA"/>
                </a:solidFill>
                <a:latin typeface="Courier New"/>
              </a:rPr>
              <a:t>{</a:t>
            </a:r>
          </a:p>
          <a:p>
            <a:pPr>
              <a:lnSpc>
                <a:spcPts val="2257"/>
              </a:lnSpc>
              <a:spcBef>
                <a:spcPts val="0"/>
              </a:spcBef>
              <a:spcAft>
                <a:spcPts val="0"/>
              </a:spcAft>
            </a:pPr>
            <a:r>
              <a:rPr sz="1850" i="0">
                <a:solidFill>
                  <a:srgbClr val="E6E9EF"/>
                </a:solidFill>
                <a:latin typeface="Courier New"/>
              </a:rPr>
              <a:t>    </a:t>
            </a:r>
            <a:r>
              <a:rPr sz="1850" i="0">
                <a:solidFill>
                  <a:srgbClr val="E6E9EF"/>
                </a:solidFill>
                <a:latin typeface="Courier New"/>
              </a:rPr>
              <a:t>println</a:t>
            </a:r>
            <a:r>
              <a:rPr sz="1850" i="0">
                <a:solidFill>
                  <a:srgbClr val="C3CCDA"/>
                </a:solidFill>
                <a:latin typeface="Courier New"/>
              </a:rPr>
              <a:t>(</a:t>
            </a:r>
            <a:r>
              <a:rPr sz="1850" i="0">
                <a:solidFill>
                  <a:srgbClr val="E6E9EF"/>
                </a:solidFill>
                <a:latin typeface="Courier New"/>
              </a:rPr>
              <a:t>Ticket</a:t>
            </a:r>
            <a:r>
              <a:rPr sz="1850" i="0">
                <a:solidFill>
                  <a:srgbClr val="C3CCDA"/>
                </a:solidFill>
                <a:latin typeface="Courier New"/>
              </a:rPr>
              <a:t>(</a:t>
            </a:r>
            <a:r>
              <a:rPr sz="1850" i="0">
                <a:solidFill>
                  <a:srgbClr val="A5E3A1"/>
                </a:solidFill>
                <a:latin typeface="Courier New"/>
              </a:rPr>
              <a:t>"</a:t>
            </a:r>
            <a:r>
              <a:rPr sz="1850" i="0">
                <a:solidFill>
                  <a:srgbClr val="A5E3A1"/>
                </a:solidFill>
                <a:latin typeface="Courier New"/>
              </a:rPr>
              <a:t>Rok</a:t>
            </a:r>
            <a:r>
              <a:rPr sz="1850" i="0">
                <a:solidFill>
                  <a:srgbClr val="A5E3A1"/>
                </a:solidFill>
                <a:latin typeface="Courier New"/>
              </a:rPr>
              <a:t>"</a:t>
            </a:r>
            <a:r>
              <a:rPr sz="1850" i="0">
                <a:solidFill>
                  <a:srgbClr val="C3CCDA"/>
                </a:solidFill>
                <a:latin typeface="Courier New"/>
              </a:rPr>
              <a:t>,</a:t>
            </a:r>
            <a:r>
              <a:rPr sz="1850" i="0">
                <a:solidFill>
                  <a:srgbClr val="E6E9EF"/>
                </a:solidFill>
                <a:latin typeface="Courier New"/>
              </a:rPr>
              <a:t> </a:t>
            </a:r>
            <a:r>
              <a:rPr sz="1850" i="0">
                <a:solidFill>
                  <a:srgbClr val="A5E3A1"/>
                </a:solidFill>
                <a:latin typeface="Courier New"/>
              </a:rPr>
              <a:t>"</a:t>
            </a:r>
            <a:r>
              <a:rPr sz="1850" i="0">
                <a:solidFill>
                  <a:srgbClr val="A5E3A1"/>
                </a:solidFill>
                <a:latin typeface="Courier New"/>
              </a:rPr>
              <a:t>85000</a:t>
            </a:r>
            <a:r>
              <a:rPr sz="1850" i="0">
                <a:solidFill>
                  <a:srgbClr val="A5E3A1"/>
                </a:solidFill>
                <a:latin typeface="Courier New"/>
              </a:rPr>
              <a:t>"</a:t>
            </a:r>
            <a:r>
              <a:rPr sz="1850" i="0">
                <a:solidFill>
                  <a:srgbClr val="C3CCDA"/>
                </a:solidFill>
                <a:latin typeface="Courier New"/>
              </a:rPr>
              <a:t>)</a:t>
            </a:r>
            <a:r>
              <a:rPr sz="1850" i="0">
                <a:solidFill>
                  <a:srgbClr val="C3CCDA"/>
                </a:solidFill>
                <a:latin typeface="Courier New"/>
              </a:rPr>
              <a:t>.</a:t>
            </a:r>
            <a:r>
              <a:rPr sz="1850" i="0">
                <a:solidFill>
                  <a:srgbClr val="E6E9EF"/>
                </a:solidFill>
                <a:latin typeface="Courier New"/>
              </a:rPr>
              <a:t>price</a:t>
            </a:r>
            <a:r>
              <a:rPr sz="1850" i="0">
                <a:solidFill>
                  <a:srgbClr val="C3CCDA"/>
                </a:solidFill>
                <a:latin typeface="Courier New"/>
              </a:rPr>
              <a:t>)</a:t>
            </a:r>
          </a:p>
          <a:p>
            <a:pPr>
              <a:lnSpc>
                <a:spcPts val="2257"/>
              </a:lnSpc>
              <a:spcBef>
                <a:spcPts val="0"/>
              </a:spcBef>
              <a:spcAft>
                <a:spcPts val="0"/>
              </a:spcAft>
            </a:pPr>
            <a:r>
              <a:rPr sz="1850" i="0">
                <a:solidFill>
                  <a:srgbClr val="E6E9EF"/>
                </a:solidFill>
                <a:latin typeface="Courier New"/>
              </a:rPr>
              <a:t>    </a:t>
            </a:r>
            <a:r>
              <a:rPr sz="1850" i="0">
                <a:solidFill>
                  <a:srgbClr val="E6E9EF"/>
                </a:solidFill>
                <a:latin typeface="Courier New"/>
              </a:rPr>
              <a:t>println</a:t>
            </a:r>
            <a:r>
              <a:rPr sz="1850" i="0">
                <a:solidFill>
                  <a:srgbClr val="C3CCDA"/>
                </a:solidFill>
                <a:latin typeface="Courier New"/>
              </a:rPr>
              <a:t>(</a:t>
            </a:r>
            <a:r>
              <a:rPr sz="1850" i="0">
                <a:solidFill>
                  <a:srgbClr val="E6E9EF"/>
                </a:solidFill>
                <a:latin typeface="Courier New"/>
              </a:rPr>
              <a:t>Ticket</a:t>
            </a:r>
            <a:r>
              <a:rPr sz="1850" i="0">
                <a:solidFill>
                  <a:srgbClr val="C3CCDA"/>
                </a:solidFill>
                <a:latin typeface="Courier New"/>
              </a:rPr>
              <a:t>(</a:t>
            </a:r>
            <a:r>
              <a:rPr sz="1850" i="0">
                <a:solidFill>
                  <a:srgbClr val="A5E3A1"/>
                </a:solidFill>
                <a:latin typeface="Courier New"/>
              </a:rPr>
              <a:t>"</a:t>
            </a:r>
            <a:r>
              <a:rPr sz="1850" i="0">
                <a:solidFill>
                  <a:srgbClr val="A5E3A1"/>
                </a:solidFill>
                <a:latin typeface="Courier New"/>
              </a:rPr>
              <a:t>Rok</a:t>
            </a:r>
            <a:r>
              <a:rPr sz="1850" i="0">
                <a:solidFill>
                  <a:srgbClr val="A5E3A1"/>
                </a:solidFill>
                <a:latin typeface="Courier New"/>
              </a:rPr>
              <a:t>"</a:t>
            </a:r>
            <a:r>
              <a:rPr sz="1850" i="0">
                <a:solidFill>
                  <a:srgbClr val="C3CCDA"/>
                </a:solidFill>
                <a:latin typeface="Courier New"/>
              </a:rPr>
              <a:t>,</a:t>
            </a:r>
            <a:r>
              <a:rPr sz="1850" i="0">
                <a:solidFill>
                  <a:srgbClr val="E6E9EF"/>
                </a:solidFill>
                <a:latin typeface="Courier New"/>
              </a:rPr>
              <a:t> </a:t>
            </a:r>
            <a:r>
              <a:rPr sz="1850" i="0">
                <a:solidFill>
                  <a:srgbClr val="A5E3A1"/>
                </a:solidFill>
                <a:latin typeface="Courier New"/>
              </a:rPr>
              <a:t>"</a:t>
            </a:r>
            <a:r>
              <a:rPr sz="1850" i="0">
                <a:solidFill>
                  <a:srgbClr val="A5E3A1"/>
                </a:solidFill>
                <a:latin typeface="Courier New"/>
              </a:rPr>
              <a:t>abc</a:t>
            </a:r>
            <a:r>
              <a:rPr sz="1850" i="0">
                <a:solidFill>
                  <a:srgbClr val="A5E3A1"/>
                </a:solidFill>
                <a:latin typeface="Courier New"/>
              </a:rPr>
              <a:t>"</a:t>
            </a:r>
            <a:r>
              <a:rPr sz="1850" i="0">
                <a:solidFill>
                  <a:srgbClr val="C3CCDA"/>
                </a:solidFill>
                <a:latin typeface="Courier New"/>
              </a:rPr>
              <a:t>)</a:t>
            </a:r>
            <a:r>
              <a:rPr sz="1850" i="0">
                <a:solidFill>
                  <a:srgbClr val="C3CCDA"/>
                </a:solidFill>
                <a:latin typeface="Courier New"/>
              </a:rPr>
              <a:t>.</a:t>
            </a:r>
            <a:r>
              <a:rPr sz="1850" i="0">
                <a:solidFill>
                  <a:srgbClr val="E6E9EF"/>
                </a:solidFill>
                <a:latin typeface="Courier New"/>
              </a:rPr>
              <a:t>price</a:t>
            </a:r>
            <a:r>
              <a:rPr sz="1850" i="0">
                <a:solidFill>
                  <a:srgbClr val="C3CCDA"/>
                </a:solidFill>
                <a:latin typeface="Courier New"/>
              </a:rPr>
              <a:t>)</a:t>
            </a:r>
          </a:p>
          <a:p>
            <a:pPr>
              <a:lnSpc>
                <a:spcPts val="2257"/>
              </a:lnSpc>
              <a:spcBef>
                <a:spcPts val="0"/>
              </a:spcBef>
              <a:spcAft>
                <a:spcPts val="0"/>
              </a:spcAft>
            </a:pPr>
            <a:r>
              <a:rPr sz="1850" i="0">
                <a:solidFill>
                  <a:srgbClr val="C3CCDA"/>
                </a:solidFill>
                <a:latin typeface="Courier New"/>
              </a:rPr>
              <a:t>}</a:t>
            </a:r>
          </a:p>
        </p:txBody>
      </p:sp>
      <p:sp>
        <p:nvSpPr>
          <p:cNvPr id="7" name="Output"/>
          <p:cNvSpPr/>
          <p:nvPr/>
        </p:nvSpPr>
        <p:spPr>
          <a:xfrm>
            <a:off x="8991295" y="2148840"/>
            <a:ext cx="2560320" cy="12192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400" i="0">
                <a:solidFill>
                  <a:srgbClr val="111111"/>
                </a:solidFill>
                <a:latin typeface="Courier New"/>
              </a:rPr>
              <a:t>85000</a:t>
            </a:r>
          </a:p>
          <a:p>
            <a:pPr algn="l"/>
            <a:r>
              <a:rPr sz="2400" i="0">
                <a:solidFill>
                  <a:srgbClr val="111111"/>
                </a:solidFill>
                <a:latin typeface="Courier New"/>
              </a:rPr>
              <a:t>0</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IKKILAMCHI KONSTRUKTOR VA COMPANION OBJECT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Ikkilamchi konstruktor avval asosiy konstruktorga murojaat qiladi</a:t>
            </a:r>
          </a:p>
        </p:txBody>
      </p:sp>
      <p:sp>
        <p:nvSpPr>
          <p:cNvPr id="4" name="Points"/>
          <p:cNvSpPr txBox="1"/>
          <p:nvPr/>
        </p:nvSpPr>
        <p:spPr>
          <a:xfrm>
            <a:off x="640080" y="2148840"/>
            <a:ext cx="10911535"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600" b="0" i="0">
                <a:solidFill>
                  <a:srgbClr val="0052CC"/>
                </a:solidFill>
                <a:latin typeface="Courier New"/>
              </a:rPr>
              <a:t>: this(...)</a:t>
            </a:r>
            <a:r>
              <a:rPr sz="2600" b="0" i="0">
                <a:solidFill>
                  <a:srgbClr val="111111"/>
                </a:solidFill>
                <a:latin typeface="Arial"/>
              </a:rPr>
              <a:t> asosiy konstruktorni chaqiradi</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Avval asosiy konstruktor va </a:t>
            </a:r>
            <a:r>
              <a:rPr sz="2600" b="0" i="0">
                <a:solidFill>
                  <a:srgbClr val="0052CC"/>
                </a:solidFill>
                <a:latin typeface="Courier New"/>
              </a:rPr>
              <a:t>init</a:t>
            </a:r>
            <a:r>
              <a:rPr sz="2600" b="0" i="0">
                <a:solidFill>
                  <a:srgbClr val="111111"/>
                </a:solidFill>
                <a:latin typeface="Arial"/>
              </a:rPr>
              <a:t> ishlaydi</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Keyin ikkilamchi konstruktorning tanasi ishlaydi</a:t>
            </a:r>
          </a:p>
        </p:txBody>
      </p:sp>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NATIJANI TOPING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 kod nimani chiqaradi?</a:t>
            </a:r>
          </a:p>
        </p:txBody>
      </p:sp>
      <p:sp>
        <p:nvSpPr>
          <p:cNvPr id="4" name="Code panel"/>
          <p:cNvSpPr/>
          <p:nvPr/>
        </p:nvSpPr>
        <p:spPr>
          <a:xfrm>
            <a:off x="640080" y="2148840"/>
            <a:ext cx="6328690" cy="2424303"/>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331470" cy="2021967"/>
          </a:xfrm>
          <a:prstGeom prst="rect">
            <a:avLst/>
          </a:prstGeom>
          <a:noFill/>
        </p:spPr>
        <p:txBody>
          <a:bodyPr wrap="none" lIns="0" rIns="0" tIns="0" bIns="0">
            <a:noAutofit/>
          </a:bodyPr>
          <a:lstStyle/>
          <a:p>
            <a:pPr>
              <a:lnSpc>
                <a:spcPts val="1769"/>
              </a:lnSpc>
              <a:spcBef>
                <a:spcPts val="0"/>
              </a:spcBef>
              <a:spcAft>
                <a:spcPts val="0"/>
              </a:spcAft>
            </a:pPr>
            <a:r>
              <a:rPr sz="1450" i="0">
                <a:solidFill>
                  <a:srgbClr val="8792A8"/>
                </a:solidFill>
                <a:latin typeface="Courier New"/>
              </a:rPr>
              <a:t>1</a:t>
            </a:r>
          </a:p>
          <a:p>
            <a:pPr>
              <a:lnSpc>
                <a:spcPts val="1769"/>
              </a:lnSpc>
              <a:spcBef>
                <a:spcPts val="0"/>
              </a:spcBef>
              <a:spcAft>
                <a:spcPts val="0"/>
              </a:spcAft>
            </a:pPr>
            <a:r>
              <a:rPr sz="1450" i="0">
                <a:solidFill>
                  <a:srgbClr val="8792A8"/>
                </a:solidFill>
                <a:latin typeface="Courier New"/>
              </a:rPr>
              <a:t>2</a:t>
            </a:r>
          </a:p>
          <a:p>
            <a:pPr>
              <a:lnSpc>
                <a:spcPts val="1769"/>
              </a:lnSpc>
              <a:spcBef>
                <a:spcPts val="0"/>
              </a:spcBef>
              <a:spcAft>
                <a:spcPts val="0"/>
              </a:spcAft>
            </a:pPr>
            <a:r>
              <a:rPr sz="1450" i="0">
                <a:solidFill>
                  <a:srgbClr val="8792A8"/>
                </a:solidFill>
                <a:latin typeface="Courier New"/>
              </a:rPr>
              <a:t>3</a:t>
            </a:r>
          </a:p>
          <a:p>
            <a:pPr>
              <a:lnSpc>
                <a:spcPts val="1769"/>
              </a:lnSpc>
              <a:spcBef>
                <a:spcPts val="0"/>
              </a:spcBef>
              <a:spcAft>
                <a:spcPts val="0"/>
              </a:spcAft>
            </a:pPr>
            <a:r>
              <a:rPr sz="1450" i="0">
                <a:solidFill>
                  <a:srgbClr val="8792A8"/>
                </a:solidFill>
                <a:latin typeface="Courier New"/>
              </a:rPr>
              <a:t>4</a:t>
            </a:r>
          </a:p>
          <a:p>
            <a:pPr>
              <a:lnSpc>
                <a:spcPts val="1769"/>
              </a:lnSpc>
              <a:spcBef>
                <a:spcPts val="0"/>
              </a:spcBef>
              <a:spcAft>
                <a:spcPts val="0"/>
              </a:spcAft>
            </a:pPr>
            <a:r>
              <a:rPr sz="1450" i="0">
                <a:solidFill>
                  <a:srgbClr val="8792A8"/>
                </a:solidFill>
                <a:latin typeface="Courier New"/>
              </a:rPr>
              <a:t>5</a:t>
            </a:r>
          </a:p>
          <a:p>
            <a:pPr>
              <a:lnSpc>
                <a:spcPts val="1769"/>
              </a:lnSpc>
              <a:spcBef>
                <a:spcPts val="0"/>
              </a:spcBef>
              <a:spcAft>
                <a:spcPts val="0"/>
              </a:spcAft>
            </a:pPr>
            <a:r>
              <a:rPr sz="1450" i="0">
                <a:solidFill>
                  <a:srgbClr val="8792A8"/>
                </a:solidFill>
                <a:latin typeface="Courier New"/>
              </a:rPr>
              <a:t>6</a:t>
            </a:r>
          </a:p>
          <a:p>
            <a:pPr>
              <a:lnSpc>
                <a:spcPts val="1769"/>
              </a:lnSpc>
              <a:spcBef>
                <a:spcPts val="0"/>
              </a:spcBef>
              <a:spcAft>
                <a:spcPts val="0"/>
              </a:spcAft>
            </a:pPr>
            <a:r>
              <a:rPr sz="1450" i="0">
                <a:solidFill>
                  <a:srgbClr val="8792A8"/>
                </a:solidFill>
                <a:latin typeface="Courier New"/>
              </a:rPr>
              <a:t>7</a:t>
            </a:r>
          </a:p>
          <a:p>
            <a:pPr>
              <a:lnSpc>
                <a:spcPts val="1769"/>
              </a:lnSpc>
              <a:spcBef>
                <a:spcPts val="0"/>
              </a:spcBef>
              <a:spcAft>
                <a:spcPts val="0"/>
              </a:spcAft>
            </a:pPr>
            <a:r>
              <a:rPr sz="1450" i="0">
                <a:solidFill>
                  <a:srgbClr val="8792A8"/>
                </a:solidFill>
                <a:latin typeface="Courier New"/>
              </a:rPr>
              <a:t>8</a:t>
            </a:r>
          </a:p>
          <a:p>
            <a:pPr>
              <a:lnSpc>
                <a:spcPts val="1769"/>
              </a:lnSpc>
              <a:spcBef>
                <a:spcPts val="0"/>
              </a:spcBef>
              <a:spcAft>
                <a:spcPts val="0"/>
              </a:spcAft>
            </a:pPr>
            <a:r>
              <a:rPr sz="1450" i="0">
                <a:solidFill>
                  <a:srgbClr val="8792A8"/>
                </a:solidFill>
                <a:latin typeface="Courier New"/>
              </a:rPr>
              <a:t>9</a:t>
            </a:r>
          </a:p>
        </p:txBody>
      </p:sp>
      <p:sp>
        <p:nvSpPr>
          <p:cNvPr id="6" name="Code"/>
          <p:cNvSpPr txBox="1"/>
          <p:nvPr/>
        </p:nvSpPr>
        <p:spPr>
          <a:xfrm>
            <a:off x="1227582" y="2350008"/>
            <a:ext cx="5485156" cy="2021967"/>
          </a:xfrm>
          <a:prstGeom prst="rect">
            <a:avLst/>
          </a:prstGeom>
          <a:noFill/>
        </p:spPr>
        <p:txBody>
          <a:bodyPr wrap="none" lIns="0" rIns="0" tIns="0" bIns="0">
            <a:noAutofit/>
          </a:bodyPr>
          <a:lstStyle/>
          <a:p>
            <a:pPr>
              <a:lnSpc>
                <a:spcPts val="1769"/>
              </a:lnSpc>
              <a:spcBef>
                <a:spcPts val="0"/>
              </a:spcBef>
              <a:spcAft>
                <a:spcPts val="0"/>
              </a:spcAft>
            </a:pPr>
            <a:r>
              <a:rPr sz="1450" i="0">
                <a:solidFill>
                  <a:srgbClr val="C792EA"/>
                </a:solidFill>
                <a:latin typeface="Courier New"/>
              </a:rPr>
              <a:t>class</a:t>
            </a:r>
            <a:r>
              <a:rPr sz="1450" i="0">
                <a:solidFill>
                  <a:srgbClr val="E6E9EF"/>
                </a:solidFill>
                <a:latin typeface="Courier New"/>
              </a:rPr>
              <a:t> </a:t>
            </a:r>
            <a:r>
              <a:rPr sz="1450" i="0">
                <a:solidFill>
                  <a:srgbClr val="FFCB6B"/>
                </a:solidFill>
                <a:latin typeface="Courier New"/>
              </a:rPr>
              <a:t>Ticket</a:t>
            </a:r>
            <a:r>
              <a:rPr sz="1450" i="0">
                <a:solidFill>
                  <a:srgbClr val="C3CCDA"/>
                </a:solidFill>
                <a:latin typeface="Courier New"/>
              </a:rPr>
              <a:t>(</a:t>
            </a:r>
            <a:r>
              <a:rPr sz="1450" i="0">
                <a:solidFill>
                  <a:srgbClr val="C792EA"/>
                </a:solidFill>
                <a:latin typeface="Courier New"/>
              </a:rPr>
              <a:t>val</a:t>
            </a:r>
            <a:r>
              <a:rPr sz="1450" i="0">
                <a:solidFill>
                  <a:srgbClr val="E6E9EF"/>
                </a:solidFill>
                <a:latin typeface="Courier New"/>
              </a:rPr>
              <a:t> </a:t>
            </a:r>
            <a:r>
              <a:rPr sz="1450" i="0">
                <a:solidFill>
                  <a:srgbClr val="E6E9EF"/>
                </a:solidFill>
                <a:latin typeface="Courier New"/>
              </a:rPr>
              <a:t>event</a:t>
            </a:r>
            <a:r>
              <a:rPr sz="1450" i="0">
                <a:solidFill>
                  <a:srgbClr val="C3CCDA"/>
                </a:solidFill>
                <a:latin typeface="Courier New"/>
              </a:rPr>
              <a:t>:</a:t>
            </a:r>
            <a:r>
              <a:rPr sz="1450" i="0">
                <a:solidFill>
                  <a:srgbClr val="E6E9EF"/>
                </a:solidFill>
                <a:latin typeface="Courier New"/>
              </a:rPr>
              <a:t> </a:t>
            </a:r>
            <a:r>
              <a:rPr sz="1450" i="0">
                <a:solidFill>
                  <a:srgbClr val="C792EA"/>
                </a:solidFill>
                <a:latin typeface="Courier New"/>
              </a:rPr>
              <a:t>String</a:t>
            </a:r>
            <a:r>
              <a:rPr sz="1450" i="0">
                <a:solidFill>
                  <a:srgbClr val="C3CCDA"/>
                </a:solidFill>
                <a:latin typeface="Courier New"/>
              </a:rPr>
              <a:t>,</a:t>
            </a:r>
            <a:r>
              <a:rPr sz="1450" i="0">
                <a:solidFill>
                  <a:srgbClr val="E6E9EF"/>
                </a:solidFill>
                <a:latin typeface="Courier New"/>
              </a:rPr>
              <a:t> </a:t>
            </a:r>
            <a:r>
              <a:rPr sz="1450" i="0">
                <a:solidFill>
                  <a:srgbClr val="C792EA"/>
                </a:solidFill>
                <a:latin typeface="Courier New"/>
              </a:rPr>
              <a:t>var</a:t>
            </a:r>
            <a:r>
              <a:rPr sz="1450" i="0">
                <a:solidFill>
                  <a:srgbClr val="E6E9EF"/>
                </a:solidFill>
                <a:latin typeface="Courier New"/>
              </a:rPr>
              <a:t> </a:t>
            </a:r>
            <a:r>
              <a:rPr sz="1450" i="0">
                <a:solidFill>
                  <a:srgbClr val="E6E9EF"/>
                </a:solidFill>
                <a:latin typeface="Courier New"/>
              </a:rPr>
              <a:t>price</a:t>
            </a:r>
            <a:r>
              <a:rPr sz="1450" i="0">
                <a:solidFill>
                  <a:srgbClr val="C3CCDA"/>
                </a:solidFill>
                <a:latin typeface="Courier New"/>
              </a:rPr>
              <a:t>:</a:t>
            </a:r>
            <a:r>
              <a:rPr sz="1450" i="0">
                <a:solidFill>
                  <a:srgbClr val="E6E9EF"/>
                </a:solidFill>
                <a:latin typeface="Courier New"/>
              </a:rPr>
              <a:t> </a:t>
            </a:r>
            <a:r>
              <a:rPr sz="1450" i="0">
                <a:solidFill>
                  <a:srgbClr val="C792EA"/>
                </a:solidFill>
                <a:latin typeface="Courier New"/>
              </a:rPr>
              <a:t>Int</a:t>
            </a:r>
            <a:r>
              <a:rPr sz="1450" i="0">
                <a:solidFill>
                  <a:srgbClr val="C3CCDA"/>
                </a:solidFill>
                <a:latin typeface="Courier New"/>
              </a:rPr>
              <a:t>)</a:t>
            </a:r>
            <a:r>
              <a:rPr sz="1450" i="0">
                <a:solidFill>
                  <a:srgbClr val="E6E9EF"/>
                </a:solidFill>
                <a:latin typeface="Courier New"/>
              </a:rPr>
              <a:t> </a:t>
            </a:r>
            <a:r>
              <a:rPr sz="1450" i="0">
                <a:solidFill>
                  <a:srgbClr val="C3CCDA"/>
                </a:solidFill>
                <a:latin typeface="Courier New"/>
              </a:rPr>
              <a:t>{</a:t>
            </a:r>
          </a:p>
          <a:p>
            <a:pPr>
              <a:lnSpc>
                <a:spcPts val="1769"/>
              </a:lnSpc>
              <a:spcBef>
                <a:spcPts val="0"/>
              </a:spcBef>
              <a:spcAft>
                <a:spcPts val="0"/>
              </a:spcAft>
            </a:pPr>
            <a:r>
              <a:rPr sz="1450" i="0">
                <a:solidFill>
                  <a:srgbClr val="E6E9EF"/>
                </a:solidFill>
                <a:latin typeface="Courier New"/>
              </a:rPr>
              <a:t>    </a:t>
            </a:r>
            <a:r>
              <a:rPr sz="1450" i="0">
                <a:solidFill>
                  <a:srgbClr val="C792EA"/>
                </a:solidFill>
                <a:latin typeface="Courier New"/>
              </a:rPr>
              <a:t>init</a:t>
            </a:r>
            <a:r>
              <a:rPr sz="1450" i="0">
                <a:solidFill>
                  <a:srgbClr val="E6E9EF"/>
                </a:solidFill>
                <a:latin typeface="Courier New"/>
              </a:rPr>
              <a:t> </a:t>
            </a:r>
            <a:r>
              <a:rPr sz="1450" i="0">
                <a:solidFill>
                  <a:srgbClr val="C3CCDA"/>
                </a:solidFill>
                <a:latin typeface="Courier New"/>
              </a:rPr>
              <a:t>{</a:t>
            </a:r>
            <a:r>
              <a:rPr sz="1450" i="0">
                <a:solidFill>
                  <a:srgbClr val="E6E9EF"/>
                </a:solidFill>
                <a:latin typeface="Courier New"/>
              </a:rPr>
              <a:t> </a:t>
            </a:r>
            <a:r>
              <a:rPr sz="1450" i="0">
                <a:solidFill>
                  <a:srgbClr val="E6E9EF"/>
                </a:solidFill>
                <a:latin typeface="Courier New"/>
              </a:rPr>
              <a:t>println</a:t>
            </a:r>
            <a:r>
              <a:rPr sz="1450" i="0">
                <a:solidFill>
                  <a:srgbClr val="C3CCDA"/>
                </a:solidFill>
                <a:latin typeface="Courier New"/>
              </a:rPr>
              <a:t>(</a:t>
            </a:r>
            <a:r>
              <a:rPr sz="1450" i="0">
                <a:solidFill>
                  <a:srgbClr val="A5E3A1"/>
                </a:solidFill>
                <a:latin typeface="Courier New"/>
              </a:rPr>
              <a:t>"</a:t>
            </a:r>
            <a:r>
              <a:rPr sz="1450" i="0">
                <a:solidFill>
                  <a:srgbClr val="A5E3A1"/>
                </a:solidFill>
                <a:latin typeface="Courier New"/>
              </a:rPr>
              <a:t>init</a:t>
            </a:r>
            <a:r>
              <a:rPr sz="1450" i="0">
                <a:solidFill>
                  <a:srgbClr val="A5E3A1"/>
                </a:solidFill>
                <a:latin typeface="Courier New"/>
              </a:rPr>
              <a:t>"</a:t>
            </a:r>
            <a:r>
              <a:rPr sz="1450" i="0">
                <a:solidFill>
                  <a:srgbClr val="C3CCDA"/>
                </a:solidFill>
                <a:latin typeface="Courier New"/>
              </a:rPr>
              <a:t>)</a:t>
            </a:r>
            <a:r>
              <a:rPr sz="1450" i="0">
                <a:solidFill>
                  <a:srgbClr val="E6E9EF"/>
                </a:solidFill>
                <a:latin typeface="Courier New"/>
              </a:rPr>
              <a:t> </a:t>
            </a:r>
            <a:r>
              <a:rPr sz="1450" i="0">
                <a:solidFill>
                  <a:srgbClr val="C3CCDA"/>
                </a:solidFill>
                <a:latin typeface="Courier New"/>
              </a:rPr>
              <a:t>}</a:t>
            </a:r>
          </a:p>
          <a:p>
            <a:pPr>
              <a:lnSpc>
                <a:spcPts val="1769"/>
              </a:lnSpc>
              <a:spcBef>
                <a:spcPts val="0"/>
              </a:spcBef>
              <a:spcAft>
                <a:spcPts val="0"/>
              </a:spcAft>
            </a:pPr>
            <a:r>
              <a:rPr sz="1450" i="0">
                <a:solidFill>
                  <a:srgbClr val="E6E9EF"/>
                </a:solidFill>
                <a:latin typeface="Courier New"/>
              </a:rPr>
              <a:t>    </a:t>
            </a:r>
            <a:r>
              <a:rPr sz="1450" i="0">
                <a:solidFill>
                  <a:srgbClr val="C792EA"/>
                </a:solidFill>
                <a:latin typeface="Courier New"/>
              </a:rPr>
              <a:t>constructor</a:t>
            </a:r>
            <a:r>
              <a:rPr sz="1450" i="0">
                <a:solidFill>
                  <a:srgbClr val="C3CCDA"/>
                </a:solidFill>
                <a:latin typeface="Courier New"/>
              </a:rPr>
              <a:t>(</a:t>
            </a:r>
            <a:r>
              <a:rPr sz="1450" i="0">
                <a:solidFill>
                  <a:srgbClr val="E6E9EF"/>
                </a:solidFill>
                <a:latin typeface="Courier New"/>
              </a:rPr>
              <a:t>event</a:t>
            </a:r>
            <a:r>
              <a:rPr sz="1450" i="0">
                <a:solidFill>
                  <a:srgbClr val="C3CCDA"/>
                </a:solidFill>
                <a:latin typeface="Courier New"/>
              </a:rPr>
              <a:t>:</a:t>
            </a:r>
            <a:r>
              <a:rPr sz="1450" i="0">
                <a:solidFill>
                  <a:srgbClr val="E6E9EF"/>
                </a:solidFill>
                <a:latin typeface="Courier New"/>
              </a:rPr>
              <a:t> </a:t>
            </a:r>
            <a:r>
              <a:rPr sz="1450" i="0">
                <a:solidFill>
                  <a:srgbClr val="C792EA"/>
                </a:solidFill>
                <a:latin typeface="Courier New"/>
              </a:rPr>
              <a:t>String</a:t>
            </a:r>
            <a:r>
              <a:rPr sz="1450" i="0">
                <a:solidFill>
                  <a:srgbClr val="C3CCDA"/>
                </a:solidFill>
                <a:latin typeface="Courier New"/>
              </a:rPr>
              <a:t>)</a:t>
            </a:r>
            <a:r>
              <a:rPr sz="1450" i="0">
                <a:solidFill>
                  <a:srgbClr val="E6E9EF"/>
                </a:solidFill>
                <a:latin typeface="Courier New"/>
              </a:rPr>
              <a:t> </a:t>
            </a:r>
            <a:r>
              <a:rPr sz="1450" i="0">
                <a:solidFill>
                  <a:srgbClr val="C3CCDA"/>
                </a:solidFill>
                <a:latin typeface="Courier New"/>
              </a:rPr>
              <a:t>:</a:t>
            </a:r>
            <a:r>
              <a:rPr sz="1450" i="0">
                <a:solidFill>
                  <a:srgbClr val="E6E9EF"/>
                </a:solidFill>
                <a:latin typeface="Courier New"/>
              </a:rPr>
              <a:t> </a:t>
            </a:r>
            <a:r>
              <a:rPr sz="1450" i="0">
                <a:solidFill>
                  <a:srgbClr val="C792EA"/>
                </a:solidFill>
                <a:latin typeface="Courier New"/>
              </a:rPr>
              <a:t>this</a:t>
            </a:r>
            <a:r>
              <a:rPr sz="1450" i="0">
                <a:solidFill>
                  <a:srgbClr val="C3CCDA"/>
                </a:solidFill>
                <a:latin typeface="Courier New"/>
              </a:rPr>
              <a:t>(</a:t>
            </a:r>
            <a:r>
              <a:rPr sz="1450" i="0">
                <a:solidFill>
                  <a:srgbClr val="E6E9EF"/>
                </a:solidFill>
                <a:latin typeface="Courier New"/>
              </a:rPr>
              <a:t>event</a:t>
            </a:r>
            <a:r>
              <a:rPr sz="1450" i="0">
                <a:solidFill>
                  <a:srgbClr val="C3CCDA"/>
                </a:solidFill>
                <a:latin typeface="Courier New"/>
              </a:rPr>
              <a:t>,</a:t>
            </a:r>
            <a:r>
              <a:rPr sz="1450" i="0">
                <a:solidFill>
                  <a:srgbClr val="E6E9EF"/>
                </a:solidFill>
                <a:latin typeface="Courier New"/>
              </a:rPr>
              <a:t> </a:t>
            </a:r>
            <a:r>
              <a:rPr sz="1450" i="0">
                <a:solidFill>
                  <a:srgbClr val="F78C6C"/>
                </a:solidFill>
                <a:latin typeface="Courier New"/>
              </a:rPr>
              <a:t>0</a:t>
            </a:r>
            <a:r>
              <a:rPr sz="1450" i="0">
                <a:solidFill>
                  <a:srgbClr val="C3CCDA"/>
                </a:solidFill>
                <a:latin typeface="Courier New"/>
              </a:rPr>
              <a:t>)</a:t>
            </a:r>
            <a:r>
              <a:rPr sz="1450" i="0">
                <a:solidFill>
                  <a:srgbClr val="E6E9EF"/>
                </a:solidFill>
                <a:latin typeface="Courier New"/>
              </a:rPr>
              <a:t> </a:t>
            </a:r>
            <a:r>
              <a:rPr sz="1450" i="0">
                <a:solidFill>
                  <a:srgbClr val="C3CCDA"/>
                </a:solidFill>
                <a:latin typeface="Courier New"/>
              </a:rPr>
              <a:t>{</a:t>
            </a:r>
          </a:p>
          <a:p>
            <a:pPr>
              <a:lnSpc>
                <a:spcPts val="1769"/>
              </a:lnSpc>
              <a:spcBef>
                <a:spcPts val="0"/>
              </a:spcBef>
              <a:spcAft>
                <a:spcPts val="0"/>
              </a:spcAft>
            </a:pPr>
            <a:r>
              <a:rPr sz="1450" i="0">
                <a:solidFill>
                  <a:srgbClr val="E6E9EF"/>
                </a:solidFill>
                <a:latin typeface="Courier New"/>
              </a:rPr>
              <a:t>        </a:t>
            </a:r>
            <a:r>
              <a:rPr sz="1450" i="0">
                <a:solidFill>
                  <a:srgbClr val="E6E9EF"/>
                </a:solidFill>
                <a:latin typeface="Courier New"/>
              </a:rPr>
              <a:t>println</a:t>
            </a:r>
            <a:r>
              <a:rPr sz="1450" i="0">
                <a:solidFill>
                  <a:srgbClr val="C3CCDA"/>
                </a:solidFill>
                <a:latin typeface="Courier New"/>
              </a:rPr>
              <a:t>(</a:t>
            </a:r>
            <a:r>
              <a:rPr sz="1450" i="0">
                <a:solidFill>
                  <a:srgbClr val="A5E3A1"/>
                </a:solidFill>
                <a:latin typeface="Courier New"/>
              </a:rPr>
              <a:t>"</a:t>
            </a:r>
            <a:r>
              <a:rPr sz="1450" i="0">
                <a:solidFill>
                  <a:srgbClr val="A5E3A1"/>
                </a:solidFill>
                <a:latin typeface="Courier New"/>
              </a:rPr>
              <a:t>ikkilamchi</a:t>
            </a:r>
            <a:r>
              <a:rPr sz="1450" i="0">
                <a:solidFill>
                  <a:srgbClr val="A5E3A1"/>
                </a:solidFill>
                <a:latin typeface="Courier New"/>
              </a:rPr>
              <a:t>"</a:t>
            </a:r>
            <a:r>
              <a:rPr sz="1450" i="0">
                <a:solidFill>
                  <a:srgbClr val="C3CCDA"/>
                </a:solidFill>
                <a:latin typeface="Courier New"/>
              </a:rPr>
              <a:t>)</a:t>
            </a:r>
          </a:p>
          <a:p>
            <a:pPr>
              <a:lnSpc>
                <a:spcPts val="1769"/>
              </a:lnSpc>
              <a:spcBef>
                <a:spcPts val="0"/>
              </a:spcBef>
              <a:spcAft>
                <a:spcPts val="0"/>
              </a:spcAft>
            </a:pPr>
            <a:r>
              <a:rPr sz="1450" i="0">
                <a:solidFill>
                  <a:srgbClr val="E6E9EF"/>
                </a:solidFill>
                <a:latin typeface="Courier New"/>
              </a:rPr>
              <a:t>    </a:t>
            </a:r>
            <a:r>
              <a:rPr sz="1450" i="0">
                <a:solidFill>
                  <a:srgbClr val="C3CCDA"/>
                </a:solidFill>
                <a:latin typeface="Courier New"/>
              </a:rPr>
              <a:t>}</a:t>
            </a:r>
          </a:p>
          <a:p>
            <a:pPr>
              <a:lnSpc>
                <a:spcPts val="1769"/>
              </a:lnSpc>
              <a:spcBef>
                <a:spcPts val="0"/>
              </a:spcBef>
              <a:spcAft>
                <a:spcPts val="0"/>
              </a:spcAft>
            </a:pPr>
            <a:r>
              <a:rPr sz="1450" i="0">
                <a:solidFill>
                  <a:srgbClr val="C3CCDA"/>
                </a:solidFill>
                <a:latin typeface="Courier New"/>
              </a:rPr>
              <a:t>}</a:t>
            </a:r>
          </a:p>
          <a:p>
            <a:pPr>
              <a:lnSpc>
                <a:spcPts val="1769"/>
              </a:lnSpc>
              <a:spcBef>
                <a:spcPts val="0"/>
              </a:spcBef>
              <a:spcAft>
                <a:spcPts val="0"/>
              </a:spcAft>
            </a:pPr>
            <a:r>
              <a:rPr sz="1450" i="0">
                <a:solidFill>
                  <a:srgbClr val="C792EA"/>
                </a:solidFill>
                <a:latin typeface="Courier New"/>
              </a:rPr>
              <a:t>fun</a:t>
            </a:r>
            <a:r>
              <a:rPr sz="1450" i="0">
                <a:solidFill>
                  <a:srgbClr val="E6E9EF"/>
                </a:solidFill>
                <a:latin typeface="Courier New"/>
              </a:rPr>
              <a:t> </a:t>
            </a:r>
            <a:r>
              <a:rPr sz="1450" i="0">
                <a:solidFill>
                  <a:srgbClr val="82AAFF"/>
                </a:solidFill>
                <a:latin typeface="Courier New"/>
              </a:rPr>
              <a:t>main</a:t>
            </a:r>
            <a:r>
              <a:rPr sz="1450" i="0">
                <a:solidFill>
                  <a:srgbClr val="C3CCDA"/>
                </a:solidFill>
                <a:latin typeface="Courier New"/>
              </a:rPr>
              <a:t>(</a:t>
            </a:r>
            <a:r>
              <a:rPr sz="1450" i="0">
                <a:solidFill>
                  <a:srgbClr val="C3CCDA"/>
                </a:solidFill>
                <a:latin typeface="Courier New"/>
              </a:rPr>
              <a:t>)</a:t>
            </a:r>
            <a:r>
              <a:rPr sz="1450" i="0">
                <a:solidFill>
                  <a:srgbClr val="E6E9EF"/>
                </a:solidFill>
                <a:latin typeface="Courier New"/>
              </a:rPr>
              <a:t> </a:t>
            </a:r>
            <a:r>
              <a:rPr sz="1450" i="0">
                <a:solidFill>
                  <a:srgbClr val="C3CCDA"/>
                </a:solidFill>
                <a:latin typeface="Courier New"/>
              </a:rPr>
              <a:t>{</a:t>
            </a:r>
          </a:p>
          <a:p>
            <a:pPr>
              <a:lnSpc>
                <a:spcPts val="1769"/>
              </a:lnSpc>
              <a:spcBef>
                <a:spcPts val="0"/>
              </a:spcBef>
              <a:spcAft>
                <a:spcPts val="0"/>
              </a:spcAft>
            </a:pPr>
            <a:r>
              <a:rPr sz="1450" i="0">
                <a:solidFill>
                  <a:srgbClr val="E6E9EF"/>
                </a:solidFill>
                <a:latin typeface="Courier New"/>
              </a:rPr>
              <a:t>    </a:t>
            </a:r>
            <a:r>
              <a:rPr sz="1450" i="0">
                <a:solidFill>
                  <a:srgbClr val="E6E9EF"/>
                </a:solidFill>
                <a:latin typeface="Courier New"/>
              </a:rPr>
              <a:t>Ticket</a:t>
            </a:r>
            <a:r>
              <a:rPr sz="1450" i="0">
                <a:solidFill>
                  <a:srgbClr val="C3CCDA"/>
                </a:solidFill>
                <a:latin typeface="Courier New"/>
              </a:rPr>
              <a:t>(</a:t>
            </a:r>
            <a:r>
              <a:rPr sz="1450" i="0">
                <a:solidFill>
                  <a:srgbClr val="A5E3A1"/>
                </a:solidFill>
                <a:latin typeface="Courier New"/>
              </a:rPr>
              <a:t>"</a:t>
            </a:r>
            <a:r>
              <a:rPr sz="1450" i="0">
                <a:solidFill>
                  <a:srgbClr val="A5E3A1"/>
                </a:solidFill>
                <a:latin typeface="Courier New"/>
              </a:rPr>
              <a:t>Ochiq dars</a:t>
            </a:r>
            <a:r>
              <a:rPr sz="1450" i="0">
                <a:solidFill>
                  <a:srgbClr val="A5E3A1"/>
                </a:solidFill>
                <a:latin typeface="Courier New"/>
              </a:rPr>
              <a:t>"</a:t>
            </a:r>
            <a:r>
              <a:rPr sz="1450" i="0">
                <a:solidFill>
                  <a:srgbClr val="C3CCDA"/>
                </a:solidFill>
                <a:latin typeface="Courier New"/>
              </a:rPr>
              <a:t>)</a:t>
            </a:r>
          </a:p>
          <a:p>
            <a:pPr>
              <a:lnSpc>
                <a:spcPts val="1769"/>
              </a:lnSpc>
              <a:spcBef>
                <a:spcPts val="0"/>
              </a:spcBef>
              <a:spcAft>
                <a:spcPts val="0"/>
              </a:spcAft>
            </a:pPr>
            <a:r>
              <a:rPr sz="1450" i="0">
                <a:solidFill>
                  <a:srgbClr val="C3CCDA"/>
                </a:solidFill>
                <a:latin typeface="Courier New"/>
              </a:rPr>
              <a:t>}</a:t>
            </a:r>
          </a:p>
        </p:txBody>
      </p:sp>
      <p:sp>
        <p:nvSpPr>
          <p:cNvPr id="7" name="TextBox 6"/>
          <p:cNvSpPr txBox="1"/>
          <p:nvPr/>
        </p:nvSpPr>
        <p:spPr>
          <a:xfrm>
            <a:off x="7334530" y="2148840"/>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A</a:t>
            </a:r>
          </a:p>
        </p:txBody>
      </p:sp>
      <p:sp>
        <p:nvSpPr>
          <p:cNvPr id="8" name="Choice A"/>
          <p:cNvSpPr txBox="1"/>
          <p:nvPr/>
        </p:nvSpPr>
        <p:spPr>
          <a:xfrm>
            <a:off x="7883170" y="2148840"/>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300" b="0" i="0">
                <a:solidFill>
                  <a:srgbClr val="111111"/>
                </a:solidFill>
                <a:latin typeface="Arial"/>
              </a:rPr>
              <a:t>init, keyin ikkilamchi</a:t>
            </a:r>
          </a:p>
        </p:txBody>
      </p:sp>
      <p:sp>
        <p:nvSpPr>
          <p:cNvPr id="9" name="TextBox 8"/>
          <p:cNvSpPr txBox="1"/>
          <p:nvPr/>
        </p:nvSpPr>
        <p:spPr>
          <a:xfrm>
            <a:off x="7334530" y="2715768"/>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B</a:t>
            </a:r>
          </a:p>
        </p:txBody>
      </p:sp>
      <p:sp>
        <p:nvSpPr>
          <p:cNvPr id="10" name="Choice B"/>
          <p:cNvSpPr txBox="1"/>
          <p:nvPr/>
        </p:nvSpPr>
        <p:spPr>
          <a:xfrm>
            <a:off x="7883170" y="2715768"/>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300" b="0" i="0">
                <a:solidFill>
                  <a:srgbClr val="111111"/>
                </a:solidFill>
                <a:latin typeface="Arial"/>
              </a:rPr>
              <a:t>ikkilamchi, keyin init</a:t>
            </a:r>
          </a:p>
        </p:txBody>
      </p:sp>
      <p:sp>
        <p:nvSpPr>
          <p:cNvPr id="11" name="TextBox 10"/>
          <p:cNvSpPr txBox="1"/>
          <p:nvPr/>
        </p:nvSpPr>
        <p:spPr>
          <a:xfrm>
            <a:off x="7334530" y="3282696"/>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C</a:t>
            </a:r>
          </a:p>
        </p:txBody>
      </p:sp>
      <p:sp>
        <p:nvSpPr>
          <p:cNvPr id="12" name="Choice C"/>
          <p:cNvSpPr txBox="1"/>
          <p:nvPr/>
        </p:nvSpPr>
        <p:spPr>
          <a:xfrm>
            <a:off x="7883170" y="3282696"/>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Faqat ikkilamchi</a:t>
            </a:r>
          </a:p>
        </p:txBody>
      </p:sp>
      <p:sp>
        <p:nvSpPr>
          <p:cNvPr id="13" name="TextBox 12"/>
          <p:cNvSpPr txBox="1"/>
          <p:nvPr/>
        </p:nvSpPr>
        <p:spPr>
          <a:xfrm>
            <a:off x="7334530" y="3849624"/>
            <a:ext cx="502920" cy="457200"/>
          </a:xfrm>
          <a:prstGeom prst="rect">
            <a:avLst/>
          </a:prstGeom>
          <a:noFill/>
        </p:spPr>
        <p:txBody>
          <a:bodyPr wrap="square" anchor="t" lIns="0" rIns="0" tIns="0" bIns="0">
            <a:noAutofit/>
          </a:bodyPr>
          <a:lstStyle/>
          <a:p>
            <a:pPr algn="l">
              <a:lnSpc>
                <a:spcPct val="115000"/>
              </a:lnSpc>
              <a:spcBef>
                <a:spcPts val="0"/>
              </a:spcBef>
              <a:spcAft>
                <a:spcPts val="0"/>
              </a:spcAft>
            </a:pPr>
            <a:r>
              <a:rPr sz="2400" b="1" i="0">
                <a:solidFill>
                  <a:srgbClr val="0052CC"/>
                </a:solidFill>
                <a:latin typeface="Courier New"/>
              </a:rPr>
              <a:t>D</a:t>
            </a:r>
          </a:p>
        </p:txBody>
      </p:sp>
      <p:sp>
        <p:nvSpPr>
          <p:cNvPr id="14" name="Choice D"/>
          <p:cNvSpPr txBox="1"/>
          <p:nvPr/>
        </p:nvSpPr>
        <p:spPr>
          <a:xfrm>
            <a:off x="7883170" y="3849624"/>
            <a:ext cx="3668444" cy="5029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Faqat init</a:t>
            </a:r>
          </a:p>
        </p:txBody>
      </p:sp>
      <p:sp>
        <p:nvSpPr>
          <p:cNvPr id="15" name="Answer card"/>
          <p:cNvSpPr/>
          <p:nvPr/>
        </p:nvSpPr>
        <p:spPr>
          <a:xfrm>
            <a:off x="7334530" y="4507992"/>
            <a:ext cx="4217084" cy="1572768"/>
          </a:xfrm>
          <a:prstGeom prst="roundRect">
            <a:avLst>
              <a:gd name="adj" fmla="val 5000"/>
            </a:avLst>
          </a:prstGeom>
          <a:solidFill>
            <a:srgbClr val="EEF2F7"/>
          </a:solidFill>
          <a:ln>
            <a:noFill/>
          </a:ln>
        </p:spPr>
        <p:txBody>
          <a:bodyPr rtlCol="0" anchor="t" wrap="square" lIns="228600" rIns="228600" tIns="182880" bIns="182880">
            <a:noAutofit/>
          </a:bodyPr>
          <a:lstStyle/>
          <a:p>
            <a:pPr algn="l">
              <a:lnSpc>
                <a:spcPct val="115000"/>
              </a:lnSpc>
              <a:spcBef>
                <a:spcPts val="0"/>
              </a:spcBef>
              <a:spcAft>
                <a:spcPts val="800"/>
              </a:spcAft>
            </a:pPr>
            <a:r>
              <a:rPr sz="1800" b="1" i="0">
                <a:solidFill>
                  <a:srgbClr val="111111"/>
                </a:solidFill>
                <a:latin typeface="Arial"/>
              </a:rPr>
              <a:t>Javob:</a:t>
            </a:r>
            <a:r>
              <a:rPr sz="1800" b="0" i="0">
                <a:solidFill>
                  <a:srgbClr val="111111"/>
                </a:solidFill>
                <a:latin typeface="Arial"/>
              </a:rPr>
              <a:t> A — init, keyin ikkilamchi</a:t>
            </a:r>
          </a:p>
          <a:p>
            <a:pPr algn="l">
              <a:lnSpc>
                <a:spcPct val="115000"/>
              </a:lnSpc>
              <a:spcBef>
                <a:spcPts val="0"/>
              </a:spcBef>
              <a:spcAft>
                <a:spcPts val="800"/>
              </a:spcAft>
            </a:pPr>
            <a:r>
              <a:rPr sz="1800" b="0" i="0">
                <a:solidFill>
                  <a:srgbClr val="111111"/>
                </a:solidFill>
                <a:latin typeface="Arial"/>
              </a:rPr>
              <a:t>Avval asosiy konstruktor va </a:t>
            </a:r>
            <a:r>
              <a:rPr sz="1800" b="0" i="0">
                <a:solidFill>
                  <a:srgbClr val="0052CC"/>
                </a:solidFill>
                <a:latin typeface="Courier New"/>
              </a:rPr>
              <a:t>init</a:t>
            </a:r>
            <a:r>
              <a:rPr sz="1800" b="0" i="0">
                <a:solidFill>
                  <a:srgbClr val="111111"/>
                </a:solidFill>
                <a:latin typeface="Arial"/>
              </a:rPr>
              <a:t> ishlaydi.</a:t>
            </a:r>
          </a:p>
        </p:txBody>
      </p:sp>
      <p:sp>
        <p:nvSpPr>
          <p:cNvPr id="1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1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IKKILAMCHI KONSTRUKTOR VA COMPANION OBJECT</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Companion object funksiyasi sinf nomi bilan chaqiriladi</a:t>
            </a:r>
          </a:p>
        </p:txBody>
      </p:sp>
      <p:sp>
        <p:nvSpPr>
          <p:cNvPr id="4" name="Code panel"/>
          <p:cNvSpPr/>
          <p:nvPr/>
        </p:nvSpPr>
        <p:spPr>
          <a:xfrm>
            <a:off x="640080" y="2148840"/>
            <a:ext cx="7985455" cy="3470148"/>
          </a:xfrm>
          <a:prstGeom prst="roundRect">
            <a:avLst>
              <a:gd name="adj" fmla="val 3000"/>
            </a:avLst>
          </a:prstGeom>
          <a:solidFill>
            <a:srgbClr val="111827"/>
          </a:solidFill>
          <a:ln>
            <a:noFill/>
          </a:ln>
        </p:spPr>
        <p:txBody>
          <a:bodyPr rtlCol="0" anchor="ctr"/>
          <a:lstStyle/>
          <a:p>
            <a:pPr algn="ctr"/>
          </a:p>
        </p:txBody>
      </p:sp>
      <p:sp>
        <p:nvSpPr>
          <p:cNvPr id="5" name="Line numbers"/>
          <p:cNvSpPr txBox="1"/>
          <p:nvPr/>
        </p:nvSpPr>
        <p:spPr>
          <a:xfrm>
            <a:off x="896112" y="2350008"/>
            <a:ext cx="548640" cy="3067812"/>
          </a:xfrm>
          <a:prstGeom prst="rect">
            <a:avLst/>
          </a:prstGeom>
          <a:noFill/>
        </p:spPr>
        <p:txBody>
          <a:bodyPr wrap="none" lIns="0" rIns="0" tIns="0" bIns="0">
            <a:noAutofit/>
          </a:bodyPr>
          <a:lstStyle/>
          <a:p>
            <a:pPr>
              <a:lnSpc>
                <a:spcPts val="2196"/>
              </a:lnSpc>
              <a:spcBef>
                <a:spcPts val="0"/>
              </a:spcBef>
              <a:spcAft>
                <a:spcPts val="0"/>
              </a:spcAft>
            </a:pPr>
            <a:r>
              <a:rPr sz="1800" i="0">
                <a:solidFill>
                  <a:srgbClr val="8792A8"/>
                </a:solidFill>
                <a:latin typeface="Courier New"/>
              </a:rPr>
              <a:t> 1</a:t>
            </a:r>
          </a:p>
          <a:p>
            <a:pPr>
              <a:lnSpc>
                <a:spcPts val="2196"/>
              </a:lnSpc>
              <a:spcBef>
                <a:spcPts val="0"/>
              </a:spcBef>
              <a:spcAft>
                <a:spcPts val="0"/>
              </a:spcAft>
            </a:pPr>
            <a:r>
              <a:rPr sz="1800" i="0">
                <a:solidFill>
                  <a:srgbClr val="8792A8"/>
                </a:solidFill>
                <a:latin typeface="Courier New"/>
              </a:rPr>
              <a:t> 2</a:t>
            </a:r>
          </a:p>
          <a:p>
            <a:pPr>
              <a:lnSpc>
                <a:spcPts val="2196"/>
              </a:lnSpc>
              <a:spcBef>
                <a:spcPts val="0"/>
              </a:spcBef>
              <a:spcAft>
                <a:spcPts val="0"/>
              </a:spcAft>
            </a:pPr>
            <a:r>
              <a:rPr sz="1800" i="0">
                <a:solidFill>
                  <a:srgbClr val="8792A8"/>
                </a:solidFill>
                <a:latin typeface="Courier New"/>
              </a:rPr>
              <a:t> 3</a:t>
            </a:r>
          </a:p>
          <a:p>
            <a:pPr>
              <a:lnSpc>
                <a:spcPts val="2196"/>
              </a:lnSpc>
              <a:spcBef>
                <a:spcPts val="0"/>
              </a:spcBef>
              <a:spcAft>
                <a:spcPts val="0"/>
              </a:spcAft>
            </a:pPr>
            <a:r>
              <a:rPr sz="1800" i="0">
                <a:solidFill>
                  <a:srgbClr val="8792A8"/>
                </a:solidFill>
                <a:latin typeface="Courier New"/>
              </a:rPr>
              <a:t> 4</a:t>
            </a:r>
          </a:p>
          <a:p>
            <a:pPr>
              <a:lnSpc>
                <a:spcPts val="2196"/>
              </a:lnSpc>
              <a:spcBef>
                <a:spcPts val="0"/>
              </a:spcBef>
              <a:spcAft>
                <a:spcPts val="0"/>
              </a:spcAft>
            </a:pPr>
            <a:r>
              <a:rPr sz="1800" i="0">
                <a:solidFill>
                  <a:srgbClr val="8792A8"/>
                </a:solidFill>
                <a:latin typeface="Courier New"/>
              </a:rPr>
              <a:t> 5</a:t>
            </a:r>
          </a:p>
          <a:p>
            <a:pPr>
              <a:lnSpc>
                <a:spcPts val="2196"/>
              </a:lnSpc>
              <a:spcBef>
                <a:spcPts val="0"/>
              </a:spcBef>
              <a:spcAft>
                <a:spcPts val="0"/>
              </a:spcAft>
            </a:pPr>
            <a:r>
              <a:rPr sz="1800" i="0">
                <a:solidFill>
                  <a:srgbClr val="8792A8"/>
                </a:solidFill>
                <a:latin typeface="Courier New"/>
              </a:rPr>
              <a:t> 6</a:t>
            </a:r>
          </a:p>
          <a:p>
            <a:pPr>
              <a:lnSpc>
                <a:spcPts val="2196"/>
              </a:lnSpc>
              <a:spcBef>
                <a:spcPts val="0"/>
              </a:spcBef>
              <a:spcAft>
                <a:spcPts val="0"/>
              </a:spcAft>
            </a:pPr>
            <a:r>
              <a:rPr sz="1800" i="0">
                <a:solidFill>
                  <a:srgbClr val="8792A8"/>
                </a:solidFill>
                <a:latin typeface="Courier New"/>
              </a:rPr>
              <a:t> 7</a:t>
            </a:r>
          </a:p>
          <a:p>
            <a:pPr>
              <a:lnSpc>
                <a:spcPts val="2196"/>
              </a:lnSpc>
              <a:spcBef>
                <a:spcPts val="0"/>
              </a:spcBef>
              <a:spcAft>
                <a:spcPts val="0"/>
              </a:spcAft>
            </a:pPr>
            <a:r>
              <a:rPr sz="1800" i="0">
                <a:solidFill>
                  <a:srgbClr val="8792A8"/>
                </a:solidFill>
                <a:latin typeface="Courier New"/>
              </a:rPr>
              <a:t> 8</a:t>
            </a:r>
          </a:p>
          <a:p>
            <a:pPr>
              <a:lnSpc>
                <a:spcPts val="2196"/>
              </a:lnSpc>
              <a:spcBef>
                <a:spcPts val="0"/>
              </a:spcBef>
              <a:spcAft>
                <a:spcPts val="0"/>
              </a:spcAft>
            </a:pPr>
            <a:r>
              <a:rPr sz="1800" i="0">
                <a:solidFill>
                  <a:srgbClr val="8792A8"/>
                </a:solidFill>
                <a:latin typeface="Courier New"/>
              </a:rPr>
              <a:t> 9</a:t>
            </a:r>
          </a:p>
          <a:p>
            <a:pPr>
              <a:lnSpc>
                <a:spcPts val="2196"/>
              </a:lnSpc>
              <a:spcBef>
                <a:spcPts val="0"/>
              </a:spcBef>
              <a:spcAft>
                <a:spcPts val="0"/>
              </a:spcAft>
            </a:pPr>
            <a:r>
              <a:rPr sz="1800" i="0">
                <a:solidFill>
                  <a:srgbClr val="8792A8"/>
                </a:solidFill>
                <a:latin typeface="Courier New"/>
              </a:rPr>
              <a:t>10</a:t>
            </a:r>
          </a:p>
          <a:p>
            <a:pPr>
              <a:lnSpc>
                <a:spcPts val="2196"/>
              </a:lnSpc>
              <a:spcBef>
                <a:spcPts val="0"/>
              </a:spcBef>
              <a:spcAft>
                <a:spcPts val="0"/>
              </a:spcAft>
            </a:pPr>
            <a:r>
              <a:rPr sz="1800" i="0">
                <a:solidFill>
                  <a:srgbClr val="8792A8"/>
                </a:solidFill>
                <a:latin typeface="Courier New"/>
              </a:rPr>
              <a:t>11</a:t>
            </a:r>
          </a:p>
        </p:txBody>
      </p:sp>
      <p:sp>
        <p:nvSpPr>
          <p:cNvPr id="6" name="Code"/>
          <p:cNvSpPr txBox="1"/>
          <p:nvPr/>
        </p:nvSpPr>
        <p:spPr>
          <a:xfrm>
            <a:off x="1444752" y="2350008"/>
            <a:ext cx="6924751" cy="3067812"/>
          </a:xfrm>
          <a:prstGeom prst="rect">
            <a:avLst/>
          </a:prstGeom>
          <a:noFill/>
        </p:spPr>
        <p:txBody>
          <a:bodyPr wrap="none" lIns="0" rIns="0" tIns="0" bIns="0">
            <a:noAutofit/>
          </a:bodyPr>
          <a:lstStyle/>
          <a:p>
            <a:pPr>
              <a:lnSpc>
                <a:spcPts val="2196"/>
              </a:lnSpc>
              <a:spcBef>
                <a:spcPts val="0"/>
              </a:spcBef>
              <a:spcAft>
                <a:spcPts val="0"/>
              </a:spcAft>
            </a:pPr>
            <a:r>
              <a:rPr sz="1800" i="0">
                <a:solidFill>
                  <a:srgbClr val="C792EA"/>
                </a:solidFill>
                <a:latin typeface="Courier New"/>
              </a:rPr>
              <a:t>class</a:t>
            </a:r>
            <a:r>
              <a:rPr sz="1800" i="0">
                <a:solidFill>
                  <a:srgbClr val="E6E9EF"/>
                </a:solidFill>
                <a:latin typeface="Courier New"/>
              </a:rPr>
              <a:t> </a:t>
            </a:r>
            <a:r>
              <a:rPr sz="1800" i="0">
                <a:solidFill>
                  <a:srgbClr val="FFCB6B"/>
                </a:solidFill>
                <a:latin typeface="Courier New"/>
              </a:rPr>
              <a:t>Ticket</a:t>
            </a:r>
            <a:r>
              <a:rPr sz="1800" i="0">
                <a:solidFill>
                  <a:srgbClr val="C3CCDA"/>
                </a:solidFill>
                <a:latin typeface="Courier New"/>
              </a:rPr>
              <a:t>(</a:t>
            </a:r>
            <a:r>
              <a:rPr sz="1800" i="0">
                <a:solidFill>
                  <a:srgbClr val="C792EA"/>
                </a:solidFill>
                <a:latin typeface="Courier New"/>
              </a:rPr>
              <a:t>val</a:t>
            </a:r>
            <a:r>
              <a:rPr sz="1800" i="0">
                <a:solidFill>
                  <a:srgbClr val="E6E9EF"/>
                </a:solidFill>
                <a:latin typeface="Courier New"/>
              </a:rPr>
              <a:t> </a:t>
            </a:r>
            <a:r>
              <a:rPr sz="1800" i="0">
                <a:solidFill>
                  <a:srgbClr val="E6E9EF"/>
                </a:solidFill>
                <a:latin typeface="Courier New"/>
              </a:rPr>
              <a:t>event</a:t>
            </a:r>
            <a:r>
              <a:rPr sz="1800" i="0">
                <a:solidFill>
                  <a:srgbClr val="C3CCDA"/>
                </a:solidFill>
                <a:latin typeface="Courier New"/>
              </a:rPr>
              <a:t>:</a:t>
            </a:r>
            <a:r>
              <a:rPr sz="1800" i="0">
                <a:solidFill>
                  <a:srgbClr val="E6E9EF"/>
                </a:solidFill>
                <a:latin typeface="Courier New"/>
              </a:rPr>
              <a:t> </a:t>
            </a:r>
            <a:r>
              <a:rPr sz="1800" i="0">
                <a:solidFill>
                  <a:srgbClr val="C792EA"/>
                </a:solidFill>
                <a:latin typeface="Courier New"/>
              </a:rPr>
              <a:t>String</a:t>
            </a:r>
            <a:r>
              <a:rPr sz="1800" i="0">
                <a:solidFill>
                  <a:srgbClr val="C3CCDA"/>
                </a:solidFill>
                <a:latin typeface="Courier New"/>
              </a:rPr>
              <a:t>,</a:t>
            </a:r>
            <a:r>
              <a:rPr sz="1800" i="0">
                <a:solidFill>
                  <a:srgbClr val="E6E9EF"/>
                </a:solidFill>
                <a:latin typeface="Courier New"/>
              </a:rPr>
              <a:t> </a:t>
            </a:r>
            <a:r>
              <a:rPr sz="1800" i="0">
                <a:solidFill>
                  <a:srgbClr val="C792EA"/>
                </a:solidFill>
                <a:latin typeface="Courier New"/>
              </a:rPr>
              <a:t>var</a:t>
            </a:r>
            <a:r>
              <a:rPr sz="1800" i="0">
                <a:solidFill>
                  <a:srgbClr val="E6E9EF"/>
                </a:solidFill>
                <a:latin typeface="Courier New"/>
              </a:rPr>
              <a:t> </a:t>
            </a:r>
            <a:r>
              <a:rPr sz="1800" i="0">
                <a:solidFill>
                  <a:srgbClr val="E6E9EF"/>
                </a:solidFill>
                <a:latin typeface="Courier New"/>
              </a:rPr>
              <a:t>price</a:t>
            </a:r>
            <a:r>
              <a:rPr sz="1800" i="0">
                <a:solidFill>
                  <a:srgbClr val="C3CCDA"/>
                </a:solidFill>
                <a:latin typeface="Courier New"/>
              </a:rPr>
              <a:t>:</a:t>
            </a:r>
            <a:r>
              <a:rPr sz="1800" i="0">
                <a:solidFill>
                  <a:srgbClr val="E6E9EF"/>
                </a:solidFill>
                <a:latin typeface="Courier New"/>
              </a:rPr>
              <a:t> </a:t>
            </a:r>
            <a:r>
              <a:rPr sz="1800" i="0">
                <a:solidFill>
                  <a:srgbClr val="C792EA"/>
                </a:solidFill>
                <a:latin typeface="Courier New"/>
              </a:rPr>
              <a:t>Int</a:t>
            </a:r>
            <a:r>
              <a:rPr sz="1800" i="0">
                <a:solidFill>
                  <a:srgbClr val="C3CCDA"/>
                </a:solidFill>
                <a:latin typeface="Courier New"/>
              </a:rPr>
              <a:t>)</a:t>
            </a:r>
            <a:r>
              <a:rPr sz="1800" i="0">
                <a:solidFill>
                  <a:srgbClr val="E6E9EF"/>
                </a:solidFill>
                <a:latin typeface="Courier New"/>
              </a:rPr>
              <a:t> </a:t>
            </a: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r>
              <a:rPr sz="1800" i="0">
                <a:solidFill>
                  <a:srgbClr val="C792EA"/>
                </a:solidFill>
                <a:latin typeface="Courier New"/>
              </a:rPr>
              <a:t>companion</a:t>
            </a:r>
            <a:r>
              <a:rPr sz="1800" i="0">
                <a:solidFill>
                  <a:srgbClr val="E6E9EF"/>
                </a:solidFill>
                <a:latin typeface="Courier New"/>
              </a:rPr>
              <a:t> </a:t>
            </a:r>
            <a:r>
              <a:rPr sz="1800" i="0">
                <a:solidFill>
                  <a:srgbClr val="C792EA"/>
                </a:solidFill>
                <a:latin typeface="Courier New"/>
              </a:rPr>
              <a:t>object</a:t>
            </a:r>
            <a:r>
              <a:rPr sz="1800" i="0">
                <a:solidFill>
                  <a:srgbClr val="E6E9EF"/>
                </a:solidFill>
                <a:latin typeface="Courier New"/>
              </a:rPr>
              <a:t> </a:t>
            </a: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r>
              <a:rPr sz="1800" i="0">
                <a:solidFill>
                  <a:srgbClr val="C792EA"/>
                </a:solidFill>
                <a:latin typeface="Courier New"/>
              </a:rPr>
              <a:t>fun</a:t>
            </a:r>
            <a:r>
              <a:rPr sz="1800" i="0">
                <a:solidFill>
                  <a:srgbClr val="E6E9EF"/>
                </a:solidFill>
                <a:latin typeface="Courier New"/>
              </a:rPr>
              <a:t> </a:t>
            </a:r>
            <a:r>
              <a:rPr sz="1800" i="0">
                <a:solidFill>
                  <a:srgbClr val="82AAFF"/>
                </a:solidFill>
                <a:latin typeface="Courier New"/>
              </a:rPr>
              <a:t>free</a:t>
            </a:r>
            <a:r>
              <a:rPr sz="1800" i="0">
                <a:solidFill>
                  <a:srgbClr val="C3CCDA"/>
                </a:solidFill>
                <a:latin typeface="Courier New"/>
              </a:rPr>
              <a:t>(</a:t>
            </a:r>
            <a:r>
              <a:rPr sz="1800" i="0">
                <a:solidFill>
                  <a:srgbClr val="E6E9EF"/>
                </a:solidFill>
                <a:latin typeface="Courier New"/>
              </a:rPr>
              <a:t>event</a:t>
            </a:r>
            <a:r>
              <a:rPr sz="1800" i="0">
                <a:solidFill>
                  <a:srgbClr val="C3CCDA"/>
                </a:solidFill>
                <a:latin typeface="Courier New"/>
              </a:rPr>
              <a:t>:</a:t>
            </a:r>
            <a:r>
              <a:rPr sz="1800" i="0">
                <a:solidFill>
                  <a:srgbClr val="E6E9EF"/>
                </a:solidFill>
                <a:latin typeface="Courier New"/>
              </a:rPr>
              <a:t> </a:t>
            </a:r>
            <a:r>
              <a:rPr sz="1800" i="0">
                <a:solidFill>
                  <a:srgbClr val="C792EA"/>
                </a:solidFill>
                <a:latin typeface="Courier New"/>
              </a:rPr>
              <a:t>String</a:t>
            </a:r>
            <a:r>
              <a:rPr sz="1800" i="0">
                <a:solidFill>
                  <a:srgbClr val="C3CCDA"/>
                </a:solidFill>
                <a:latin typeface="Courier New"/>
              </a:rPr>
              <a:t>)</a:t>
            </a:r>
            <a:r>
              <a:rPr sz="1800" i="0">
                <a:solidFill>
                  <a:srgbClr val="E6E9EF"/>
                </a:solidFill>
                <a:latin typeface="Courier New"/>
              </a:rPr>
              <a:t> </a:t>
            </a:r>
            <a:r>
              <a:rPr sz="1800" i="0">
                <a:solidFill>
                  <a:srgbClr val="89DDFF"/>
                </a:solidFill>
                <a:latin typeface="Courier New"/>
              </a:rPr>
              <a:t>=</a:t>
            </a:r>
            <a:r>
              <a:rPr sz="1800" i="0">
                <a:solidFill>
                  <a:srgbClr val="E6E9EF"/>
                </a:solidFill>
                <a:latin typeface="Courier New"/>
              </a:rPr>
              <a:t> </a:t>
            </a:r>
            <a:r>
              <a:rPr sz="1800" i="0">
                <a:solidFill>
                  <a:srgbClr val="E6E9EF"/>
                </a:solidFill>
                <a:latin typeface="Courier New"/>
              </a:rPr>
              <a:t>Ticket</a:t>
            </a:r>
            <a:r>
              <a:rPr sz="1800" i="0">
                <a:solidFill>
                  <a:srgbClr val="C3CCDA"/>
                </a:solidFill>
                <a:latin typeface="Courier New"/>
              </a:rPr>
              <a:t>(</a:t>
            </a:r>
            <a:r>
              <a:rPr sz="1800" i="0">
                <a:solidFill>
                  <a:srgbClr val="E6E9EF"/>
                </a:solidFill>
                <a:latin typeface="Courier New"/>
              </a:rPr>
              <a:t>event</a:t>
            </a:r>
            <a:r>
              <a:rPr sz="1800" i="0">
                <a:solidFill>
                  <a:srgbClr val="C3CCDA"/>
                </a:solidFill>
                <a:latin typeface="Courier New"/>
              </a:rPr>
              <a:t>,</a:t>
            </a:r>
            <a:r>
              <a:rPr sz="1800" i="0">
                <a:solidFill>
                  <a:srgbClr val="E6E9EF"/>
                </a:solidFill>
                <a:latin typeface="Courier New"/>
              </a:rPr>
              <a:t> </a:t>
            </a:r>
            <a:r>
              <a:rPr sz="1800" i="0">
                <a:solidFill>
                  <a:srgbClr val="F78C6C"/>
                </a:solidFill>
                <a:latin typeface="Courier New"/>
              </a:rPr>
              <a:t>0</a:t>
            </a: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r>
              <a:rPr sz="1800" i="0">
                <a:solidFill>
                  <a:srgbClr val="C3CCDA"/>
                </a:solidFill>
                <a:latin typeface="Courier New"/>
              </a:rPr>
              <a:t>}</a:t>
            </a:r>
          </a:p>
          <a:p>
            <a:pPr>
              <a:lnSpc>
                <a:spcPts val="2196"/>
              </a:lnSpc>
              <a:spcBef>
                <a:spcPts val="0"/>
              </a:spcBef>
              <a:spcAft>
                <a:spcPts val="0"/>
              </a:spcAft>
            </a:pP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p>
          <a:p>
            <a:pPr>
              <a:lnSpc>
                <a:spcPts val="2196"/>
              </a:lnSpc>
              <a:spcBef>
                <a:spcPts val="0"/>
              </a:spcBef>
              <a:spcAft>
                <a:spcPts val="0"/>
              </a:spcAft>
            </a:pPr>
            <a:r>
              <a:rPr sz="1800" i="0">
                <a:solidFill>
                  <a:srgbClr val="C792EA"/>
                </a:solidFill>
                <a:latin typeface="Courier New"/>
              </a:rPr>
              <a:t>fun</a:t>
            </a:r>
            <a:r>
              <a:rPr sz="1800" i="0">
                <a:solidFill>
                  <a:srgbClr val="E6E9EF"/>
                </a:solidFill>
                <a:latin typeface="Courier New"/>
              </a:rPr>
              <a:t> </a:t>
            </a:r>
            <a:r>
              <a:rPr sz="1800" i="0">
                <a:solidFill>
                  <a:srgbClr val="82AAFF"/>
                </a:solidFill>
                <a:latin typeface="Courier New"/>
              </a:rPr>
              <a:t>main</a:t>
            </a:r>
            <a:r>
              <a:rPr sz="1800" i="0">
                <a:solidFill>
                  <a:srgbClr val="C3CCDA"/>
                </a:solidFill>
                <a:latin typeface="Courier New"/>
              </a:rPr>
              <a:t>(</a:t>
            </a:r>
            <a:r>
              <a:rPr sz="1800" i="0">
                <a:solidFill>
                  <a:srgbClr val="C3CCDA"/>
                </a:solidFill>
                <a:latin typeface="Courier New"/>
              </a:rPr>
              <a:t>)</a:t>
            </a:r>
            <a:r>
              <a:rPr sz="1800" i="0">
                <a:solidFill>
                  <a:srgbClr val="E6E9EF"/>
                </a:solidFill>
                <a:latin typeface="Courier New"/>
              </a:rPr>
              <a:t> </a:t>
            </a: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r>
              <a:rPr sz="1800" i="0">
                <a:solidFill>
                  <a:srgbClr val="C792EA"/>
                </a:solidFill>
                <a:latin typeface="Courier New"/>
              </a:rPr>
              <a:t>val</a:t>
            </a:r>
            <a:r>
              <a:rPr sz="1800" i="0">
                <a:solidFill>
                  <a:srgbClr val="E6E9EF"/>
                </a:solidFill>
                <a:latin typeface="Courier New"/>
              </a:rPr>
              <a:t> </a:t>
            </a:r>
            <a:r>
              <a:rPr sz="1800" i="0">
                <a:solidFill>
                  <a:srgbClr val="E6E9EF"/>
                </a:solidFill>
                <a:latin typeface="Courier New"/>
              </a:rPr>
              <a:t>ticket</a:t>
            </a:r>
            <a:r>
              <a:rPr sz="1800" i="0">
                <a:solidFill>
                  <a:srgbClr val="E6E9EF"/>
                </a:solidFill>
                <a:latin typeface="Courier New"/>
              </a:rPr>
              <a:t> </a:t>
            </a:r>
            <a:r>
              <a:rPr sz="1800" i="0">
                <a:solidFill>
                  <a:srgbClr val="89DDFF"/>
                </a:solidFill>
                <a:latin typeface="Courier New"/>
              </a:rPr>
              <a:t>=</a:t>
            </a:r>
            <a:r>
              <a:rPr sz="1800" i="0">
                <a:solidFill>
                  <a:srgbClr val="E6E9EF"/>
                </a:solidFill>
                <a:latin typeface="Courier New"/>
              </a:rPr>
              <a:t> </a:t>
            </a:r>
            <a:r>
              <a:rPr sz="1800" i="0">
                <a:solidFill>
                  <a:srgbClr val="E6E9EF"/>
                </a:solidFill>
                <a:latin typeface="Courier New"/>
              </a:rPr>
              <a:t>Ticket</a:t>
            </a:r>
            <a:r>
              <a:rPr sz="1800" i="0">
                <a:solidFill>
                  <a:srgbClr val="C3CCDA"/>
                </a:solidFill>
                <a:latin typeface="Courier New"/>
              </a:rPr>
              <a:t>.</a:t>
            </a:r>
            <a:r>
              <a:rPr sz="1800" i="0">
                <a:solidFill>
                  <a:srgbClr val="E6E9EF"/>
                </a:solidFill>
                <a:latin typeface="Courier New"/>
              </a:rPr>
              <a:t>free</a:t>
            </a:r>
            <a:r>
              <a:rPr sz="1800" i="0">
                <a:solidFill>
                  <a:srgbClr val="C3CCDA"/>
                </a:solidFill>
                <a:latin typeface="Courier New"/>
              </a:rPr>
              <a:t>(</a:t>
            </a:r>
            <a:r>
              <a:rPr sz="1800" i="0">
                <a:solidFill>
                  <a:srgbClr val="A5E3A1"/>
                </a:solidFill>
                <a:latin typeface="Courier New"/>
              </a:rPr>
              <a:t>"</a:t>
            </a:r>
            <a:r>
              <a:rPr sz="1800" i="0">
                <a:solidFill>
                  <a:srgbClr val="A5E3A1"/>
                </a:solidFill>
                <a:latin typeface="Courier New"/>
              </a:rPr>
              <a:t>Ochiq dars</a:t>
            </a:r>
            <a:r>
              <a:rPr sz="1800" i="0">
                <a:solidFill>
                  <a:srgbClr val="A5E3A1"/>
                </a:solidFill>
                <a:latin typeface="Courier New"/>
              </a:rPr>
              <a:t>"</a:t>
            </a: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r>
              <a:rPr sz="1800" i="0">
                <a:solidFill>
                  <a:srgbClr val="E6E9EF"/>
                </a:solidFill>
                <a:latin typeface="Courier New"/>
              </a:rPr>
              <a:t>println</a:t>
            </a:r>
            <a:r>
              <a:rPr sz="1800" i="0">
                <a:solidFill>
                  <a:srgbClr val="C3CCDA"/>
                </a:solidFill>
                <a:latin typeface="Courier New"/>
              </a:rPr>
              <a:t>(</a:t>
            </a:r>
            <a:r>
              <a:rPr sz="1800" i="0">
                <a:solidFill>
                  <a:srgbClr val="E6E9EF"/>
                </a:solidFill>
                <a:latin typeface="Courier New"/>
              </a:rPr>
              <a:t>ticket</a:t>
            </a:r>
            <a:r>
              <a:rPr sz="1800" i="0">
                <a:solidFill>
                  <a:srgbClr val="C3CCDA"/>
                </a:solidFill>
                <a:latin typeface="Courier New"/>
              </a:rPr>
              <a:t>.</a:t>
            </a:r>
            <a:r>
              <a:rPr sz="1800" i="0">
                <a:solidFill>
                  <a:srgbClr val="E6E9EF"/>
                </a:solidFill>
                <a:latin typeface="Courier New"/>
              </a:rPr>
              <a:t>event</a:t>
            </a:r>
            <a:r>
              <a:rPr sz="1800" i="0">
                <a:solidFill>
                  <a:srgbClr val="C3CCDA"/>
                </a:solidFill>
                <a:latin typeface="Courier New"/>
              </a:rPr>
              <a:t>)</a:t>
            </a:r>
          </a:p>
          <a:p>
            <a:pPr>
              <a:lnSpc>
                <a:spcPts val="2196"/>
              </a:lnSpc>
              <a:spcBef>
                <a:spcPts val="0"/>
              </a:spcBef>
              <a:spcAft>
                <a:spcPts val="0"/>
              </a:spcAft>
            </a:pPr>
            <a:r>
              <a:rPr sz="1800" i="0">
                <a:solidFill>
                  <a:srgbClr val="E6E9EF"/>
                </a:solidFill>
                <a:latin typeface="Courier New"/>
              </a:rPr>
              <a:t>    </a:t>
            </a:r>
            <a:r>
              <a:rPr sz="1800" i="0">
                <a:solidFill>
                  <a:srgbClr val="E6E9EF"/>
                </a:solidFill>
                <a:latin typeface="Courier New"/>
              </a:rPr>
              <a:t>println</a:t>
            </a:r>
            <a:r>
              <a:rPr sz="1800" i="0">
                <a:solidFill>
                  <a:srgbClr val="C3CCDA"/>
                </a:solidFill>
                <a:latin typeface="Courier New"/>
              </a:rPr>
              <a:t>(</a:t>
            </a:r>
            <a:r>
              <a:rPr sz="1800" i="0">
                <a:solidFill>
                  <a:srgbClr val="E6E9EF"/>
                </a:solidFill>
                <a:latin typeface="Courier New"/>
              </a:rPr>
              <a:t>ticket</a:t>
            </a:r>
            <a:r>
              <a:rPr sz="1800" i="0">
                <a:solidFill>
                  <a:srgbClr val="C3CCDA"/>
                </a:solidFill>
                <a:latin typeface="Courier New"/>
              </a:rPr>
              <a:t>.</a:t>
            </a:r>
            <a:r>
              <a:rPr sz="1800" i="0">
                <a:solidFill>
                  <a:srgbClr val="E6E9EF"/>
                </a:solidFill>
                <a:latin typeface="Courier New"/>
              </a:rPr>
              <a:t>price</a:t>
            </a:r>
            <a:r>
              <a:rPr sz="1800" i="0">
                <a:solidFill>
                  <a:srgbClr val="C3CCDA"/>
                </a:solidFill>
                <a:latin typeface="Courier New"/>
              </a:rPr>
              <a:t>)</a:t>
            </a:r>
          </a:p>
          <a:p>
            <a:pPr>
              <a:lnSpc>
                <a:spcPts val="2196"/>
              </a:lnSpc>
              <a:spcBef>
                <a:spcPts val="0"/>
              </a:spcBef>
              <a:spcAft>
                <a:spcPts val="0"/>
              </a:spcAft>
            </a:pPr>
            <a:r>
              <a:rPr sz="1800" i="0">
                <a:solidFill>
                  <a:srgbClr val="C3CCDA"/>
                </a:solidFill>
                <a:latin typeface="Courier New"/>
              </a:rPr>
              <a:t>}</a:t>
            </a:r>
          </a:p>
        </p:txBody>
      </p:sp>
      <p:sp>
        <p:nvSpPr>
          <p:cNvPr id="7" name="Output"/>
          <p:cNvSpPr/>
          <p:nvPr/>
        </p:nvSpPr>
        <p:spPr>
          <a:xfrm>
            <a:off x="8991295" y="2148840"/>
            <a:ext cx="2560320" cy="1155700"/>
          </a:xfrm>
          <a:prstGeom prst="roundRect">
            <a:avLst>
              <a:gd name="adj" fmla="val 4000"/>
            </a:avLst>
          </a:prstGeom>
          <a:solidFill>
            <a:srgbClr val="EEF2F7"/>
          </a:solidFill>
          <a:ln w="12700">
            <a:solidFill>
              <a:srgbClr val="4B5563"/>
            </a:solidFill>
          </a:ln>
        </p:spPr>
        <p:txBody>
          <a:bodyPr rtlCol="0" anchor="t" wrap="none" lIns="274320" rIns="274320" tIns="201168" bIns="201168"/>
          <a:lstStyle/>
          <a:p>
            <a:pPr algn="l"/>
            <a:r>
              <a:rPr sz="2200" i="0">
                <a:solidFill>
                  <a:srgbClr val="111111"/>
                </a:solidFill>
                <a:latin typeface="Courier New"/>
              </a:rPr>
              <a:t>Ochiq dars</a:t>
            </a:r>
          </a:p>
          <a:p>
            <a:pPr algn="l"/>
            <a:r>
              <a:rPr sz="2200" i="0">
                <a:solidFill>
                  <a:srgbClr val="111111"/>
                </a:solidFill>
                <a:latin typeface="Courier New"/>
              </a:rPr>
              <a:t>0</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Kotlin hujjatlari (kotlinlang.org/docs)</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XULOSA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Nimani eslab qolish kerak</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Sinf — qolip, obyekt — undan yasalgan haqiqiy narsa</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0052CC"/>
                </a:solidFill>
                <a:latin typeface="Courier New"/>
              </a:rPr>
              <a:t>val</a:t>
            </a:r>
            <a:r>
              <a:rPr sz="2600" b="0" i="0">
                <a:solidFill>
                  <a:srgbClr val="111111"/>
                </a:solidFill>
                <a:latin typeface="Arial"/>
              </a:rPr>
              <a:t> va </a:t>
            </a:r>
            <a:r>
              <a:rPr sz="2600" b="0" i="0">
                <a:solidFill>
                  <a:srgbClr val="0052CC"/>
                </a:solidFill>
                <a:latin typeface="Courier New"/>
              </a:rPr>
              <a:t>var</a:t>
            </a:r>
            <a:r>
              <a:rPr sz="2600" b="0" i="0">
                <a:solidFill>
                  <a:srgbClr val="111111"/>
                </a:solidFill>
                <a:latin typeface="Arial"/>
              </a:rPr>
              <a:t> parametrni xossaga aylantiradi, oddiy parametr aylantirmaydi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Standart qiymat, </a:t>
            </a:r>
            <a:r>
              <a:rPr sz="2600" b="0" i="0">
                <a:solidFill>
                  <a:srgbClr val="0052CC"/>
                </a:solidFill>
                <a:latin typeface="Courier New"/>
              </a:rPr>
              <a:t>init</a:t>
            </a:r>
            <a:r>
              <a:rPr sz="2600" b="0" i="0">
                <a:solidFill>
                  <a:srgbClr val="111111"/>
                </a:solidFill>
                <a:latin typeface="Arial"/>
              </a:rPr>
              <a:t> va </a:t>
            </a:r>
            <a:r>
              <a:rPr sz="2600" b="0" i="0">
                <a:solidFill>
                  <a:srgbClr val="0052CC"/>
                </a:solidFill>
                <a:latin typeface="Courier New"/>
              </a:rPr>
              <a:t>require</a:t>
            </a:r>
            <a:r>
              <a:rPr sz="2600" b="0" i="0">
                <a:solidFill>
                  <a:srgbClr val="111111"/>
                </a:solidFill>
                <a:latin typeface="Arial"/>
              </a:rPr>
              <a:t> obyektni to'g'ri yaratadi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Ikkilamchi konstruktor avval asosiy konstruktorni ishga tushiradi</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CHIQISH SAVOLI · 3 DAQIQA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Ketishdan oldin qog'ozga javob yozing</a:t>
            </a:r>
          </a:p>
        </p:txBody>
      </p:sp>
      <p:sp>
        <p:nvSpPr>
          <p:cNvPr id="4" name="Exit questions"/>
          <p:cNvSpPr txBox="1"/>
          <p:nvPr/>
        </p:nvSpPr>
        <p:spPr>
          <a:xfrm>
            <a:off x="640080" y="2148840"/>
            <a:ext cx="10911535" cy="30175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400"/>
              </a:spcAft>
              <a:buClr>
                <a:srgbClr val="0052CC"/>
              </a:buClr>
              <a:buFont typeface="Arial"/>
              <a:buAutoNum type="arabicPeriod"/>
            </a:pPr>
            <a:r>
              <a:rPr sz="2800" b="0" i="0">
                <a:solidFill>
                  <a:srgbClr val="0052CC"/>
                </a:solidFill>
                <a:latin typeface="Courier New"/>
              </a:rPr>
              <a:t>class Product(val name: String, price: Int)</a:t>
            </a:r>
            <a:r>
              <a:rPr sz="2800" b="0" i="0">
                <a:solidFill>
                  <a:srgbClr val="111111"/>
                </a:solidFill>
                <a:latin typeface="Arial"/>
              </a:rPr>
              <a:t> berilgan. </a:t>
            </a:r>
            <a:r>
              <a:rPr sz="2800" b="0" i="0">
                <a:solidFill>
                  <a:srgbClr val="0052CC"/>
                </a:solidFill>
                <a:latin typeface="Courier New"/>
              </a:rPr>
              <a:t>Product("Non", 5000).price</a:t>
            </a:r>
            <a:r>
              <a:rPr sz="2800" b="0" i="0">
                <a:solidFill>
                  <a:srgbClr val="111111"/>
                </a:solidFill>
                <a:latin typeface="Arial"/>
              </a:rPr>
              <a:t> ishlaydimi? Nima uchun?</a:t>
            </a:r>
          </a:p>
          <a:p>
            <a:pPr algn="l" marL="457200" indent="-457200">
              <a:lnSpc>
                <a:spcPct val="115000"/>
              </a:lnSpc>
              <a:spcBef>
                <a:spcPts val="0"/>
              </a:spcBef>
              <a:spcAft>
                <a:spcPts val="1400"/>
              </a:spcAft>
              <a:buClr>
                <a:srgbClr val="0052CC"/>
              </a:buClr>
              <a:buFont typeface="Arial"/>
              <a:buAutoNum type="arabicPeriod"/>
            </a:pPr>
            <a:r>
              <a:rPr sz="2800" b="0" i="0">
                <a:solidFill>
                  <a:srgbClr val="111111"/>
                </a:solidFill>
                <a:latin typeface="Arial"/>
              </a:rPr>
              <a:t>Bir gapda: ikkilamchi konstruktorda </a:t>
            </a:r>
            <a:r>
              <a:rPr sz="2800" b="0" i="0">
                <a:solidFill>
                  <a:srgbClr val="0052CC"/>
                </a:solidFill>
                <a:latin typeface="Courier New"/>
              </a:rPr>
              <a:t>: this(...)</a:t>
            </a:r>
            <a:r>
              <a:rPr sz="2800" b="0" i="0">
                <a:solidFill>
                  <a:srgbClr val="111111"/>
                </a:solidFill>
                <a:latin typeface="Arial"/>
              </a:rPr>
              <a:t> nima uchun kerak?</a:t>
            </a:r>
          </a:p>
        </p:txBody>
      </p:sp>
      <p:sp>
        <p:nvSpPr>
          <p:cNvPr id="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