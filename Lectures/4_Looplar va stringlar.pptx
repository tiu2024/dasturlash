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Dars rejasi, taxminan 80 daqiqa: takrorlash 5 daqiqa, muammo 5, while 15, for va range 12, stringlar 15, break/continue va ichma-ich looplar 10, live coding 8, juftlikdagi mashq 12, yakun va chiqish chiptasi 5. Har bir tushuncha bashorat savoli bilan tugaydi: talabalar avval jim ovoz beradi, keyin qo‘shnisi bilan 1 daqiqa bahslashadi, qayta ovoz beradi, so‘ng kodni birga ishga tushiramiz. 10–15 daqiqadan ortiq faqat tinglab o‘tirishmasin.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Takrorlash, 5 daqiqa. Avval jim javob bersin, keyin ovoz bersin. Javob: B. 72 ≥ 90 emas, 72 ≥ 70 — rost, shu bilan zanjir tugaydi. C variantini tanlaganlar «if/elif/else da bir nechta block ishlashi mumkin» degan xato tushunchaga ega — ulardan birini fikrini tushuntirishga taklif qiling. Bugungi loop shartlari ham xuddi shunday True/False ifodalar.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Maqsadlar talaba bajara oladigan fe’llar bilan yozilgan; har biri tekshiruv savoli, juftlikdagi mashq yoki chiqish chiptasida sinaladi. Tez o‘qib chiqing. Dars oxirida shu slaydga qaytib, talabalardan har bir maqsadni 1 dan 5 gacha baholashni so‘rang.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Muammo, 5 daqiqa. Talabalardan so‘rang: «Telefoningiz PIN kodni necha marta so‘raydi?» — javob: «to‘g‘ri kiritguningizcha». Shu ikki holat bugungi ikki asosiy loop turiga mos keladi: necha marta ekani noma’lum bo‘lsa — while, oldindan aniq bo‘lsa —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Gapni sekin ayting va bir oz to‘xtab turing. So‘rang: «Kundalik hayotda yana qanday takrorlanadigan ishlar bor?» — choy qaynaguncha kutish, zinadan pog‘onama-pog‘ona chiqish, davomatda ismlarni bittadan o‘qish. Keyingi slaydda budilnik qanday «o‘ylashini» ko‘ramiz.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Sintaksisdan oldin modelni quramiz. Doskada barmoq bilan aylanani chizing: boshlash bir marta bo‘ladi, shart esa HAR aylanish boshida tekshiriladi. Asosiy savol: «Shart block o‘rtasida False bo‘lib qolsa, loop darhol to‘xtaydimi?» Yo‘q — faqat keyingi tekshiruvda. Bu keyinroq «Telefon necha foiz?» savolida kerak bo‘ladi.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 kodning uchta qismini ko‘rsating. Dasturchilar odatda 0 dan sanaydi: i = 0 va i &lt; 3 — uch marta. i += 1 bu i = i + 1 ning qisqa yozilishi. Yangilash qismi alohida rangda — eng ko‘p unutiladigani shu.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Avval bo‘sh jadvalni qog‘ozda tarqating: juftliklar 3 daqiqada to‘ldirsin, keyin oching. So‘ng shu kodni Python Tutor’da (pythontutor.com) qadamma-qadam yurgizing — har aylanishda i qanday o‘zgarishini ekranda ko‘rishadi. Pastki qatordagi xulosa muhim: oxirgi tekshiruv False bo‘lgani uchun loop to‘xtaydi.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slaydidagi ikkinchi holat. Jonli ko‘rsating: noto‘g‘ri kodlarni kiriting, keyin to‘g‘risini. So‘rang: «break bo‘lmasa nima bo‘ladi?» — cheksiz loop, uni Ctrl + C bilan to‘xtatish mumkin. Yordamchi o‘zgaruvchi g‘oyasini shu yerda aytib o‘ting: urinishlarni sanash uchun urinish = 0 qo‘shsak, 3 ta urinishdan keyin bloklash mumkin — buni dars oxirida birga yozamiz.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Instruction: 30 soniya jim ovoz berish, 1 daqiqa qo‘shni bilan bahs, qayta ovoz, keyin ishga tushiramiz. Javob: B, 101. Qiymatlar: 85 → 89 → 93 → 97 → 101. 97 da shart hali True, shuning uchun yana 4 qo‘shiladi; shart faqat aylanish boshida tekshiriladi. A ni tanlaganlar «loop 100 da o‘zi to‘xtaydi» deb o‘ylaydi; C ni tanlaganlar esa oxirgi aylanishni unutgan.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Ikkala kodni jonli ishga tushiring va Ctrl + C bilan to‘xtating, shunda talabalar qo‘rqmaydi. Chap tomondagi xato eng ko‘p uchraydi. O‘ng tomondagi esa nozikroq: son 4 dan boshlansa, loop to‘xtaydi (4, 6, 8, 10) — bu keyingi tekshiruvlarda tuzoq bo‘lishi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Javob: B, 4950. i &lt; 100 bo‘lgani uchun 100 qo‘shilmay qoladi: 1 + 2 + … + 99 = 4950. To‘g‘ri yechim — i &lt;= 100, shunda 5050 chiqadi. Bu «off-by-one» xatosi: chegarani bittaga adashtirish. Ko‘pchilik A ni tanlaydi, chunki Gauss javobini yodlab olgan — kodni emas, maqsadni o‘qigan. Shuni alohida ta’kidlang.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Davomatga o‘xshatish: o‘qituvchi jurnaldagi har bir ismni bittadan o‘qiydi. Python Tutor’da shahar o‘zgaruvchisi har aylanishda qanday almashishini ko‘rsating. Ro‘yxatlar (list) haqida keyingi darslarda batafsil gaplashamiz — hozircha bu shunchaki elementlar ketma-ketligi.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qatorni ochishdan oldin talabalardan so‘rang: «Qaysi sonlar chiqadi?» Oxirgi qator — tuzoq: qadam yozilmasa +1, 5 dan oshib 1 ga yetib bo‘lmaydi, shuning uchun range bo‘sh. Xato bermaydi — shunchaki hech narsa qilmaydi, bu esa yanada xavfli. Python’da range(5) aynan 5 marta aylantiradi — sanab ko‘rish oson.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Tezkor mashq: bir nechta vaziyatni ayting, talabalar qo‘l ko‘tarib while yoki for ni tanlasin. Masalan: «sinfdagi har bir talabaga baho qo‘yish» (for), «foydalanuvchi to‘g‘ri yosh kiritguncha so‘rash» (while), «raketa uchun 10 dan sanash» (ikkalasi ham mumkin, lekin for qulayroq).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Javob: B — faqat «Start!». Qadam yozilmasa, u +1 bo‘ladi: 3 dan oshib borib 0 ga yetib bo‘lmaydi, shuning uchun range bo‘sh va loop bir marta ham aylanmaydi. Xato chiqmaydi. To‘g‘ri yozuv: range(3, 0, -1) — shunda 3 2 1 Start!. A ni tanlaganlar «Python o‘zi teskari sanaydi» deb o‘ylaydi.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Munchoq yoki poyezd vagonlari o‘xshatishi: har bir harfning o‘z o‘rni bor. shahar = "Buxoro" — 6 ta harf, lekin oxirgi index 5. So‘rang: «"Buxoro" da nechta o harfi bor va ularning indexlari qaysi?» (3 va 5). Shu rasmni doskada qoldiring — keyingi slaydlar shunga tayanadi.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len() bo‘sh joylarni ham sanaydi: len("Yangi yil") — 9. Oxirgi qatorni ishga tushiring va xato xabarini birga o‘qing: shahar[6] mavjud emas, chunki oxirgi index 5. Oxirgi harf uchun len(shahar) - 1 yoki shunchaki shahar[-1] yozing. Bo‘sh matnda shahar[0] ham xato beradi — shuning uchun avval len(s) &gt; 0 ni tekshirish foydali.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Indexlar rasmidan foydalaning: raqam[4:6] — 4 va 5-indexdagi belgilar, ya’ni «90». Uzunlik qoidasi: 6 − 4 = 2 ta belgi. So‘rang: «Raqamning oxirgi 4 ta belgisini qanday olamiz?» — raqam[-4:]. Bu «yarim ochiq oraliq» qoidasi range() bilan bir xil: stop hech qachon kirmaydi.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Oxirgi qator ikki g‘oyani birlashtiradi: find @ ning o‘rnini topadi (5), slice esa boshidan shu o‘ringacha kesadi — login chiqadi. find() — method: funksiyaga o‘xshaydi, lekin nuqta orqali obyektning o‘zida chaqiriladi (email.find). So‘rang: «Domenni (mail.uz) qanday ajratamiz?» — email[email.find("@") + 1:].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har bir harfni bittadan beradi — ro‘yxatdagidek. Jadvalni talabalar bilan birga to‘ldiring, oxirgi qatorni ular aytsin. Keyin so‘rang: «Qanday qilib so‘z palindrom ekanini tekshiramiz?» — teskari == soz. "kiyik" uchun True chiqadi. Bu juftlikdagi mashqning bir qismi bo‘ladi.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Javob: A, «iT». -1 — oxirgi harf z, -2 — undan oldingisi i. s[0] — T. + ularni yopishtiradi: "i" + "T". B ni tanlaganlar -2 ni «oxiridan ikkinchi» emas, «oxirgisi» deb o‘ylagan (manfiy index -1 dan boshlanishini unutgan). C esa s[-2] ni s[1] bilan adashtirish.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Jonli ko‘rsating, keyin continue o‘rniga break yozib, avval talabalardan natijani so‘rang: endi faqat 10, 11, 12-qavat chiqadi — 13 da loop tugaydi. f-string (f"...") qiymatlarni matn ichiga qo‘yishning qulay usuli: {qavat} o‘rniga uning qiymati yoziladi.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Javob: C. i 2 ga yetganda continue aylanishning qolganini, jumladan i += 1 ni ham tashlab o‘tadi. i 2 da qotib qoladi, shart doim True — loop hech qachon tugamaydi va print(i) ga navbat kelmaydi. Saboq: while ichida continue ishlatsangiz, yangilash continue dan OLDIN turishi kerak. B ni tanlaganlar «continue faqat 2 ni o‘tkazib yuboradi» deb o‘ylaydi — for’da shunday bo‘lardi, while’da esa yo‘q.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Tartibni so‘zlab bering: i = 1 da j 1, 2, 3 ni to‘liq o‘tadi; keyin i = 2 bo‘ladi va j yana 1 dan boshlanadi. end=" " yangi qatorga o‘tmaslikni bildiradi, bo‘sh print() esa qatorni tugatadi. Jami ichki aylanishlar soni 3 × 3 = 9. Keyingi tekshiruv break haqida.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Javob: B, 4 ta (****). Har bir tashqi aylanishda ichki loop j = 0 va j = 1 da yulduz chiqaradi, j = 2 da break bilan to‘xtaydi. break faqat ichki loopni tugatadi, tashqi loop esa 2 marta ishlaydi: 2 × 2 = 4. A ni tanlaganlar break butun dasturni to‘xtatadi deb o‘ylagan; C esa break’ni umuman hisobga olmagan.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 — yakuniy natija; kodni bo‘sh fayldan jonli yozing va 1–5 qadamlarni ovoz chiqarib ayting (talabalar bu qadamlarni mashqda qayta ishlatadi). Ataylab xato qiling: ikkala if’ning o‘rnini almashtiring va 3-urinishda to‘g‘ri kodni kiriting — telefon baribir bloklanadi! Debug print qo‘shing: print("urinish:", urinish) — sababini birga topamiz: shartlar tartibi muhim. Keyin to‘g‘ri tartibga qaytaring.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xatoni jadvaldan o‘qib emas, muharrirda haqiqiy ishga tushirib ko‘rsating. Cheksiz looplarni Ctrl + C bilan to‘xtatishni yana bir bor eslating. Xato xabarlarini pastdan yuqoriga o‘qishni o‘rgating: oxirgi qator — xato turi, undan yuqoridagisi — qaysi qatorda. Xato — mag‘lubiyat emas, kompyuterdan kelgan maslahat.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PRIMM ketma-ketligi: Bashorat → Ishga tushirish → Tekshirish → O‘zgartirish → Yaratish. Juftlikda biri yozadi, biri kuzatadi, «O‘zgartiring» bosqichida rollar almashadi. Javoblar: «Samarqand» — 3; «Andijon» — 0, chunki "A" va "a" har xil belgi. O‘zgartirish: if h == "a" or h == "A". Yaratish: teskari so‘zni yasab, soz bilan solishtirish (live coding’dagi g‘oya). Tez tugatganlar: unli harflar (a, e, i, o, u, o‘) sonini sanasin. Aylanib yuring va cheksiz loop yoki IndexError’ga duch kelganlarni kuzating.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Maqsadlar slaydiga qayting va talabalardan har bir maqsadni 1 dan 5 gacha baholashni so‘rang. Bu slaydni kurs sahifasiga bir varaqlik eslatma sifatida joylashtiring.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1) 2, 5, 8 — 11 kirmaydi, keyingi qadam 11 bo‘lardi. 2) continue shu aylanishni tashlab, loopni davom ettiradi; break loopni butunlay tugatadi. Keyingi darsgacha chiptalarni ko‘zdan kechiring va eng ko‘p uchragan xatoni keyingi darsning takrorlash savoliga aylantiring. Ayniqsa 11 ni ham yozganlarga e’tibor bering — off-by-one hali mustahkamlanmagan.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8FB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ASOSLARI · [N]-MA’RUZA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69580"/>
            <a:ext cx="1088339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Looplar va stringlar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372616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not</a:t>
            </a:r>
            <a:r>
              <a:rPr lang="en-US" sz="2200" dirty="0">
                <a:solidFill>
                  <a:srgbClr val="C9D3D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tushundim: </a:t>
            </a:r>
            <a:r>
              <a:rPr lang="en-US" sz="22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takrorla</a:t>
            </a:r>
            <a:r>
              <a:rPr lang="en-US" sz="2200" dirty="0">
                <a:solidFill>
                  <a:srgbClr val="C9D3D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7607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EB9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[O‘qituvchi ismi] · [Kurs kodi] · [Sana]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TAKRORLASH · O‘TGAN DARS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Talaba qaysi bahoni oladi?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207000" cy="2937371"/>
          </a:xfrm>
          <a:prstGeom prst="roundRect">
            <a:avLst>
              <a:gd name="adj" fmla="val 4324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473532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ball 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518271"/>
            <a:ext cx="473532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ball &gt;=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90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872581"/>
            <a:ext cx="473532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7600" y="3226891"/>
            <a:ext cx="473532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elif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ball &gt;=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70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3581202"/>
            <a:ext cx="473532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"B"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7600" y="3935512"/>
            <a:ext cx="473532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4289822"/>
            <a:ext cx="473532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"C"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29375" y="1938536"/>
            <a:ext cx="4946650" cy="702270"/>
          </a:xfrm>
          <a:prstGeom prst="roundRect">
            <a:avLst>
              <a:gd name="adj" fmla="val 1401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5750" y="2094111"/>
            <a:ext cx="2475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10301" y="2129631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29375" y="2774156"/>
            <a:ext cx="4946650" cy="702270"/>
          </a:xfrm>
          <a:prstGeom prst="roundRect">
            <a:avLst>
              <a:gd name="adj" fmla="val 1401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5750" y="2929731"/>
            <a:ext cx="2450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07820" y="2965252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29375" y="3609777"/>
            <a:ext cx="4946650" cy="702270"/>
          </a:xfrm>
          <a:prstGeom prst="roundRect">
            <a:avLst>
              <a:gd name="adj" fmla="val 14015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5750" y="3765352"/>
            <a:ext cx="2444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07225" y="3800872"/>
            <a:ext cx="16459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B, keyin C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BUGUNGI MAQSADLAR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Dars oxirida siz…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86161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97000" y="2021681"/>
            <a:ext cx="620053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while</a:t>
            </a: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loop yozasiz va uni o‘z vaqtida to‘xtata olasiz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555081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97000" y="2590602"/>
            <a:ext cx="616255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</a:t>
            </a: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 </a:t>
            </a:r>
            <a:r>
              <a:rPr lang="en-US" sz="18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range()</a:t>
            </a: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bilan ishni kerakli marta takrorlaysiz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3124002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97000" y="3159522"/>
            <a:ext cx="649021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Stringdan </a:t>
            </a:r>
            <a:r>
              <a:rPr lang="en-US" sz="18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</a:t>
            </a: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 </a:t>
            </a:r>
            <a:r>
              <a:rPr lang="en-US" sz="18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slice</a:t>
            </a: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bilan kerakli qismni ajratasiz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3692922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3728442"/>
            <a:ext cx="519791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</a:t>
            </a: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 </a:t>
            </a:r>
            <a:r>
              <a:rPr lang="en-US" sz="18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</a:t>
            </a: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farqini tushuntira olasiz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4261842"/>
            <a:ext cx="4064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97000" y="4297363"/>
            <a:ext cx="639044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 natijasini ishga tushirmasdan </a:t>
            </a:r>
            <a:r>
              <a:rPr lang="en-US" sz="18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oldindan aytasiz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MUAMMO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Bir ishni qayta-qayta qilish kerak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4826000" cy="1874441"/>
          </a:xfrm>
          <a:prstGeom prst="roundRect">
            <a:avLst>
              <a:gd name="adj" fmla="val 6775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43428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518271"/>
            <a:ext cx="43428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872581"/>
            <a:ext cx="43428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7600" y="3226891"/>
            <a:ext cx="434289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… yana 97 ta qator?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97575" y="1938536"/>
            <a:ext cx="5378450" cy="926405"/>
          </a:xfrm>
          <a:prstGeom prst="roundRect">
            <a:avLst>
              <a:gd name="adj" fmla="val 1062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3950" y="2119511"/>
            <a:ext cx="511467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dan 100 gacha sonlarni chiqaring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03950" y="2426791"/>
            <a:ext cx="511467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 ta print yozamizmi? 1000 ta bo‘lsa-chi?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97575" y="3049091"/>
            <a:ext cx="5378450" cy="926405"/>
          </a:xfrm>
          <a:prstGeom prst="roundRect">
            <a:avLst>
              <a:gd name="adj" fmla="val 1062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3950" y="3230066"/>
            <a:ext cx="511467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PIN to‘g‘ri kiritilguncha so‘rang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03950" y="3537347"/>
            <a:ext cx="51689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Necha marta so‘rash kerak? Oldindan hech kim bilmaydi.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1727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CE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ASOSIY G‘OYA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49848"/>
            <a:ext cx="10883392" cy="1276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28"/>
              </a:lnSpc>
              <a:buNone/>
            </a:pPr>
            <a:r>
              <a:rPr lang="en-US" sz="44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Loop — bir ishni kodni ko‘chirmasdan, kerakli marta takrorlatish usuli.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06193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3EA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Budilnik kabi: siz «o‘chirish»ni bosmaguncha u qayta-qayta jiringlayveradi.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Loop har aylanishda nima qiladi?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657277" y="2810570"/>
            <a:ext cx="1472109" cy="1150541"/>
          </a:xfrm>
          <a:prstGeom prst="roundRect">
            <a:avLst>
              <a:gd name="adj" fmla="val 10486"/>
            </a:avLst>
          </a:prstGeom>
          <a:solidFill>
            <a:srgbClr val="FFFFFF"/>
          </a:solidFill>
          <a:ln w="12700">
            <a:solidFill>
              <a:srgbClr val="2F6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43027" y="3045520"/>
            <a:ext cx="1080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BOSHLASH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90361" y="3335040"/>
            <a:ext cx="100584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= 0</a:t>
            </a:r>
            <a:endParaRPr lang="en-US" sz="2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38935" y="3227090"/>
            <a:ext cx="635000" cy="317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77135" y="2816920"/>
            <a:ext cx="1732359" cy="1137841"/>
          </a:xfrm>
          <a:prstGeom prst="roundRect">
            <a:avLst>
              <a:gd name="adj" fmla="val 11161"/>
            </a:avLst>
          </a:prstGeom>
          <a:solidFill>
            <a:srgbClr val="1B2430"/>
          </a:solidFill>
          <a:ln/>
        </p:spPr>
      </p:sp>
      <p:sp>
        <p:nvSpPr>
          <p:cNvPr id="9" name="Text 6"/>
          <p:cNvSpPr/>
          <p:nvPr/>
        </p:nvSpPr>
        <p:spPr>
          <a:xfrm>
            <a:off x="5710545" y="3045520"/>
            <a:ext cx="665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B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56535" y="3335040"/>
            <a:ext cx="140827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&lt; 3 ?</a:t>
            </a:r>
            <a:endParaRPr lang="en-US" sz="2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12695" y="3227090"/>
            <a:ext cx="635000" cy="317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957245" y="2810570"/>
            <a:ext cx="1577380" cy="1150541"/>
          </a:xfrm>
          <a:prstGeom prst="roundRect">
            <a:avLst>
              <a:gd name="adj" fmla="val 10486"/>
            </a:avLst>
          </a:prstGeom>
          <a:solidFill>
            <a:srgbClr val="FFFFFF"/>
          </a:solidFill>
          <a:ln w="12700">
            <a:solidFill>
              <a:srgbClr val="2F62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7094" y="3045520"/>
            <a:ext cx="6575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242995" y="3335040"/>
            <a:ext cx="120705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+= 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12800" y="5141119"/>
            <a:ext cx="5181600" cy="904081"/>
          </a:xfrm>
          <a:prstGeom prst="roundRect">
            <a:avLst>
              <a:gd name="adj" fmla="val 11238"/>
            </a:avLst>
          </a:prstGeom>
          <a:solidFill>
            <a:srgbClr val="E7EEFC"/>
          </a:solidFill>
          <a:ln/>
        </p:spPr>
        <p:txBody>
          <a:bodyPr wrap="square" lIns="198842" tIns="148042" rIns="57110" bIns="12264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True</a:t>
            </a: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bo‘lsa: block bajariladi, keyin yana shartga qaytamiz ↺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197600" y="5141119"/>
            <a:ext cx="5181600" cy="904081"/>
          </a:xfrm>
          <a:prstGeom prst="roundRect">
            <a:avLst>
              <a:gd name="adj" fmla="val 11238"/>
            </a:avLst>
          </a:prstGeom>
          <a:solidFill>
            <a:srgbClr val="FBEDE3"/>
          </a:solidFill>
          <a:ln/>
        </p:spPr>
        <p:txBody>
          <a:bodyPr wrap="square" lIns="198842" tIns="148042" rIns="57110" bIns="12264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False</a:t>
            </a: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bo‘lsa: loop tugaydi, loopdan keyingi qatorga o‘tamiz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1-TUSHUNCHA · WHILE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Har bir loopning uch qismi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10566400" cy="1981200"/>
          </a:xfrm>
          <a:prstGeom prst="roundRect">
            <a:avLst>
              <a:gd name="adj" fmla="val 6410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163961"/>
            <a:ext cx="1015085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= </a:t>
            </a:r>
            <a:r>
              <a:rPr lang="en-US" sz="20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</a:t>
            </a:r>
            <a:r>
              <a:rPr lang="en-US" sz="20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1. boshlash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68400" y="2544961"/>
            <a:ext cx="1015085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&lt; </a:t>
            </a:r>
            <a:r>
              <a:rPr lang="en-US" sz="20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         </a:t>
            </a:r>
            <a:r>
              <a:rPr lang="en-US" sz="20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2. shart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8400" y="2925961"/>
            <a:ext cx="1015085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20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0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"Salom!"</a:t>
            </a: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68400" y="3306961"/>
            <a:ext cx="1015085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 += </a:t>
            </a:r>
            <a:r>
              <a:rPr lang="en-US" sz="20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20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</a:t>
            </a:r>
            <a:r>
              <a:rPr lang="en-US" sz="20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3. yangilash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15975" y="4224536"/>
            <a:ext cx="3397250" cy="1226741"/>
          </a:xfrm>
          <a:prstGeom prst="roundRect">
            <a:avLst>
              <a:gd name="adj" fmla="val 8023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2350" y="4405511"/>
            <a:ext cx="307403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1. Boshlash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2350" y="4755952"/>
            <a:ext cx="307403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Loopdan oldin, faqat bir marta.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97375" y="4224536"/>
            <a:ext cx="3397250" cy="1226741"/>
          </a:xfrm>
          <a:prstGeom prst="roundRect">
            <a:avLst>
              <a:gd name="adj" fmla="val 8023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3750" y="4405511"/>
            <a:ext cx="307403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2. Shart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3750" y="4755952"/>
            <a:ext cx="307403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 aylanish boshida tekshiriladi.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78775" y="4224536"/>
            <a:ext cx="3397250" cy="1226741"/>
          </a:xfrm>
          <a:prstGeom prst="roundRect">
            <a:avLst>
              <a:gd name="adj" fmla="val 8023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5150" y="4405511"/>
            <a:ext cx="307403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3. Yangilash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5150" y="4755952"/>
            <a:ext cx="30740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Loopni tugashga yaqinlashtiradi. Unutilsa — cheksiz loop.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1-TUSHUNCHA · TRACE QILISH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Qadamma-qadam kuzatamiz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10566400" cy="2215257"/>
          </a:xfrm>
          <a:prstGeom prst="roundRect">
            <a:avLst>
              <a:gd name="adj" fmla="val 45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35361"/>
            <a:ext cx="10566400" cy="2215257"/>
          </a:xfrm>
          <a:custGeom>
            <a:avLst/>
            <a:gdLst/>
            <a:ahLst/>
            <a:cxnLst/>
            <a:rect l="l" t="t" r="r" b="b"/>
            <a:pathLst>
              <a:path w="10566400" h="2215257">
                <a:moveTo>
                  <a:pt x="104648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2113657"/>
                </a:lnTo>
                <a:arcTo hR="101600" wR="101600" stAng="0" swAng="5400000"/>
                <a:lnTo>
                  <a:pt x="101600" y="2215257"/>
                </a:lnTo>
                <a:arcTo hR="101600" wR="101600" stAng="5400000" swAng="5400000"/>
                <a:lnTo>
                  <a:pt x="0" y="2113657"/>
                </a:lnTo>
                <a:arcTo hR="95250" wR="101600" stAng="10800000" swAng="-5400000"/>
                <a:lnTo>
                  <a:pt x="10464800" y="2208907"/>
                </a:lnTo>
                <a:arcTo hR="95250" wR="95250" stAng="5400000" swAng="-5400000"/>
                <a:lnTo>
                  <a:pt x="10560050" y="101600"/>
                </a:lnTo>
                <a:arcTo hR="101600" wR="95250" stAng="0" swAng="-5400000"/>
                <a:close/>
              </a:path>
            </a:pathLst>
          </a:custGeom>
          <a:solidFill>
            <a:srgbClr val="DAD5C8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935361"/>
            <a:ext cx="10566400" cy="2215257"/>
          </a:xfrm>
          <a:custGeom>
            <a:avLst/>
            <a:gdLst/>
            <a:ahLst/>
            <a:cxnLst/>
            <a:rect l="l" t="t" r="r" b="b"/>
            <a:pathLst>
              <a:path w="10566400" h="2215257">
                <a:moveTo>
                  <a:pt x="101600" y="2215257"/>
                </a:moveTo>
                <a:lnTo>
                  <a:pt x="101600" y="2215257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2113657"/>
                </a:lnTo>
                <a:arcTo hR="101600" w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1948061"/>
            <a:ext cx="10547350" cy="439241"/>
          </a:xfrm>
          <a:custGeom>
            <a:avLst/>
            <a:gdLst/>
            <a:ahLst/>
            <a:cxnLst/>
            <a:rect l="l" t="t" r="r" b="b"/>
            <a:pathLst>
              <a:path w="10547350" h="439241">
                <a:moveTo>
                  <a:pt x="0" y="88900"/>
                </a:moveTo>
                <a:arcTo hR="88900" wR="88900" stAng="10800000" swAng="5400000"/>
                <a:lnTo>
                  <a:pt x="10452100" y="0"/>
                </a:lnTo>
                <a:arcTo hR="95250" wR="95250" stAng="16200000" swAng="5400000"/>
                <a:lnTo>
                  <a:pt x="10547350" y="439241"/>
                </a:lnTo>
                <a:lnTo>
                  <a:pt x="0" y="439241"/>
                </a:lnTo>
                <a:close/>
              </a:path>
            </a:pathLst>
          </a:custGeom>
          <a:solidFill>
            <a:srgbClr val="ECECE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061"/>
          <a:ext cx="10547350" cy="2196207"/>
        </p:xfrm>
        <a:graphic>
          <a:graphicData uri="http://schemas.openxmlformats.org/drawingml/2006/table">
            <a:tbl>
              <a:tblPr/>
              <a:tblGrid>
                <a:gridCol w="2320417"/>
                <a:gridCol w="1687576"/>
                <a:gridCol w="2320417"/>
                <a:gridCol w="4218940"/>
              </a:tblGrid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Tekshiruv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 &lt; 3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Natija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True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«Salom!», i → 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True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«Salom!», i → 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True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«Salom!», i → 3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False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loop tugaydi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3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4455418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Shart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marta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tekshirildi, block esa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marta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bajarildi.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1-TUSHUNCHA · WHILE TRUE VA BREAK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Necha marta ekani noma’lum bo‘lsa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715000" cy="2583061"/>
          </a:xfrm>
          <a:prstGeom prst="roundRect">
            <a:avLst>
              <a:gd name="adj" fmla="val 4917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True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51827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kod = 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"PIN: 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87258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kod ==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"1234"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3226891"/>
            <a:ext cx="5715000" cy="354310"/>
          </a:xfrm>
          <a:prstGeom prst="rect">
            <a:avLst/>
          </a:prstGeom>
          <a:solidFill>
            <a:srgbClr val="2E4560"/>
          </a:solidFill>
          <a:ln/>
        </p:spPr>
        <p:txBody>
          <a:bodyPr wrap="none" lIns="304800" tIns="0" rIns="151638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</a:t>
            </a:r>
            <a:r>
              <a:rPr lang="en-US" sz="18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loopdan chiqish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" y="3226891"/>
            <a:ext cx="0" cy="354310"/>
          </a:xfrm>
          <a:prstGeom prst="line">
            <a:avLst/>
          </a:prstGeom>
          <a:noFill/>
          <a:ln w="38100">
            <a:solidFill>
              <a:srgbClr val="F0A3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7600" y="3581202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"Noto‘g‘ri, qayta urining"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3935512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"Telefon ochildi!"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35775" y="1938536"/>
            <a:ext cx="4540250" cy="1769070"/>
          </a:xfrm>
          <a:prstGeom prst="roundRect">
            <a:avLst>
              <a:gd name="adj" fmla="val 6999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7550" y="2119511"/>
            <a:ext cx="4199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A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EKRANDA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67550" y="2383631"/>
            <a:ext cx="4199001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PIN: 0000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Noto‘g‘ri, qayta urining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PIN: 1234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Telefon ochildi!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35775" y="3866356"/>
            <a:ext cx="4540250" cy="568325"/>
          </a:xfrm>
          <a:prstGeom prst="roundRect">
            <a:avLst>
              <a:gd name="adj" fmla="val 17318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  <p:txBody>
          <a:bodyPr wrap="square" lIns="177547" tIns="126747" rIns="53722" bIns="101347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Shart doim True — loopni faqat </a:t>
            </a: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to‘xtatadi.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A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TEKSHIRUV 1 · BASHORAT QILING, KEYIN OVOZ BERING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Telefon necha foiz bo‘ladi?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36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Telefon 85% da, har daqiqada 4% quvvat oladi.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527796"/>
            <a:ext cx="4819650" cy="1880791"/>
          </a:xfrm>
          <a:prstGeom prst="roundRect">
            <a:avLst>
              <a:gd name="adj" fmla="val 6584"/>
            </a:avLst>
          </a:prstGeom>
          <a:solidFill>
            <a:srgbClr val="0F1620"/>
          </a:solidFill>
          <a:ln w="6350">
            <a:solidFill>
              <a:srgbClr val="334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275957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foiz 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" y="311388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foiz &lt;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3950" y="346819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foiz +=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3950" y="3822502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(foiz)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48375" y="252779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750" y="2670671"/>
            <a:ext cx="2475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301" y="2706191"/>
            <a:ext cx="49387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48375" y="333801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750" y="3480891"/>
            <a:ext cx="2450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6820" y="3516412"/>
            <a:ext cx="493871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48375" y="4148237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750" y="4291112"/>
            <a:ext cx="2444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6225" y="4326632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97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1-TUSHUNCHA · XAVF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Loop to‘xtamasa: ikki sabab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09961"/>
            <a:ext cx="525856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554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Yangilash unutildi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2311202"/>
            <a:ext cx="5105400" cy="1744663"/>
          </a:xfrm>
          <a:prstGeom prst="roundRect">
            <a:avLst>
              <a:gd name="adj" fmla="val 7279"/>
            </a:avLst>
          </a:prstGeom>
          <a:solidFill>
            <a:srgbClr val="1E2A36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514402"/>
            <a:ext cx="4682998" cy="3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son = </a:t>
            </a:r>
            <a:r>
              <a:rPr lang="en-US" sz="17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2200" y="2848967"/>
            <a:ext cx="4682998" cy="3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son &lt; </a:t>
            </a:r>
            <a:r>
              <a:rPr lang="en-US" sz="17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2200" y="3183533"/>
            <a:ext cx="4682998" cy="3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7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(son)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518098"/>
            <a:ext cx="5105400" cy="334566"/>
          </a:xfrm>
          <a:prstGeom prst="rect">
            <a:avLst/>
          </a:prstGeom>
          <a:solidFill>
            <a:srgbClr val="2E4560"/>
          </a:solidFill>
          <a:ln/>
        </p:spPr>
        <p:txBody>
          <a:bodyPr wrap="none" lIns="279400" tIns="0" rIns="103759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# son += 1 yo‘q!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31850" y="3518098"/>
            <a:ext cx="0" cy="334566"/>
          </a:xfrm>
          <a:prstGeom prst="line">
            <a:avLst/>
          </a:prstGeom>
          <a:noFill/>
          <a:ln w="38100">
            <a:solidFill>
              <a:srgbClr val="F0A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4182864"/>
            <a:ext cx="52585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Ekranda: 1, 1, 1, 1 … abadiy.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73800" y="1909961"/>
            <a:ext cx="525856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554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Chegara sakrab o‘tildi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73800" y="2311202"/>
            <a:ext cx="5105400" cy="1744663"/>
          </a:xfrm>
          <a:prstGeom prst="roundRect">
            <a:avLst>
              <a:gd name="adj" fmla="val 7279"/>
            </a:avLst>
          </a:prstGeom>
          <a:solidFill>
            <a:srgbClr val="1E2A36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200" y="2514402"/>
            <a:ext cx="4682998" cy="3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son = </a:t>
            </a:r>
            <a:r>
              <a:rPr lang="en-US" sz="17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73800" y="2848967"/>
            <a:ext cx="5105400" cy="334566"/>
          </a:xfrm>
          <a:prstGeom prst="rect">
            <a:avLst/>
          </a:prstGeom>
          <a:solidFill>
            <a:srgbClr val="2E4560"/>
          </a:solidFill>
          <a:ln/>
        </p:spPr>
        <p:txBody>
          <a:bodyPr wrap="none" lIns="279400" tIns="0" rIns="103759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son != </a:t>
            </a:r>
            <a:r>
              <a:rPr lang="en-US" sz="17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92850" y="2848967"/>
            <a:ext cx="0" cy="334566"/>
          </a:xfrm>
          <a:prstGeom prst="line">
            <a:avLst/>
          </a:prstGeom>
          <a:noFill/>
          <a:ln w="38100">
            <a:solidFill>
              <a:srgbClr val="F0A3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3200" y="3183533"/>
            <a:ext cx="4682998" cy="3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son += </a:t>
            </a:r>
            <a:r>
              <a:rPr lang="en-US" sz="17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73800" y="4182864"/>
            <a:ext cx="52585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5, 7, 9, 11, 13 … — 10 ga hech qachon teng bo‘lmaydi.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4728964"/>
            <a:ext cx="10566400" cy="553641"/>
          </a:xfrm>
          <a:prstGeom prst="roundRect">
            <a:avLst>
              <a:gd name="adj" fmla="val 16057"/>
            </a:avLst>
          </a:prstGeom>
          <a:solidFill>
            <a:srgbClr val="E7EEFC"/>
          </a:solidFill>
          <a:ln/>
        </p:spPr>
        <p:txBody>
          <a:bodyPr wrap="square" lIns="177162" tIns="113662" rIns="0" bIns="8826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To‘xtatish: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Ctrl + C</a:t>
            </a: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Xavfsizroq shart: != o‘rniga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&lt;</a:t>
            </a: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yoki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&lt;=</a:t>
            </a: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A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TEKSHIRUV 2 · BASHORAT QILING, KEYIN OVOZ BERING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Gauss xato qildimi?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36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Maqsad: 1 dan 100 gacha bo‘lgan sonlar yig‘indisi.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527796"/>
            <a:ext cx="4819650" cy="2520950"/>
          </a:xfrm>
          <a:prstGeom prst="roundRect">
            <a:avLst>
              <a:gd name="adj" fmla="val 4912"/>
            </a:avLst>
          </a:prstGeom>
          <a:solidFill>
            <a:srgbClr val="0F1620"/>
          </a:solidFill>
          <a:ln w="6350">
            <a:solidFill>
              <a:srgbClr val="334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2759571"/>
            <a:ext cx="432981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" y="3102471"/>
            <a:ext cx="432981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 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3950" y="3445371"/>
            <a:ext cx="432981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&lt;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3950" y="3788271"/>
            <a:ext cx="432981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 += 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3950" y="4131171"/>
            <a:ext cx="432981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 +=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23950" y="4474071"/>
            <a:ext cx="432981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48375" y="252779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750" y="2670671"/>
            <a:ext cx="2475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9301" y="2706191"/>
            <a:ext cx="65841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5050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48375" y="333801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750" y="3480891"/>
            <a:ext cx="2450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6820" y="3516412"/>
            <a:ext cx="65841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4950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48375" y="4148237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750" y="4291112"/>
            <a:ext cx="2444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6225" y="4326632"/>
            <a:ext cx="65841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5150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2-TUSHUNCHA · FOR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for — har bir element uchun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10566400" cy="1520130"/>
          </a:xfrm>
          <a:prstGeom prst="roundRect">
            <a:avLst>
              <a:gd name="adj" fmla="val 8355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163961"/>
            <a:ext cx="10150856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shaharlar = [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"Toshkent"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"Samarqand"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"Buxoro"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518271"/>
            <a:ext cx="10566400" cy="354310"/>
          </a:xfrm>
          <a:prstGeom prst="rect">
            <a:avLst/>
          </a:prstGeom>
          <a:solidFill>
            <a:srgbClr val="2E4560"/>
          </a:solidFill>
          <a:ln/>
        </p:spPr>
        <p:txBody>
          <a:bodyPr wrap="none" lIns="355600" tIns="0" rIns="20701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shahar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shaharlar: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1850" y="2518271"/>
            <a:ext cx="0" cy="354310"/>
          </a:xfrm>
          <a:prstGeom prst="line">
            <a:avLst/>
          </a:prstGeom>
          <a:noFill/>
          <a:ln w="38100">
            <a:solidFill>
              <a:srgbClr val="F0A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8400" y="2872581"/>
            <a:ext cx="10150856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(shahar)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5975" y="3763466"/>
            <a:ext cx="3295650" cy="1597620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944441"/>
            <a:ext cx="28647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A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EKRANDA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3150" y="4208562"/>
            <a:ext cx="2864739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Toshkent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Samarqand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Buxoro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71975" y="3763466"/>
            <a:ext cx="7004050" cy="610791"/>
          </a:xfrm>
          <a:prstGeom prst="roundRect">
            <a:avLst>
              <a:gd name="adj" fmla="val 1611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  <p:txBody>
          <a:bodyPr wrap="square" lIns="177547" tIns="139447" rIns="0" bIns="114047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 aylanishda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shahar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navbatdagi elementga teng bo‘ladi.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71975" y="4507607"/>
            <a:ext cx="7004050" cy="610791"/>
          </a:xfrm>
          <a:prstGeom prst="roundRect">
            <a:avLst>
              <a:gd name="adj" fmla="val 1611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  <p:txBody>
          <a:bodyPr wrap="square" lIns="177547" tIns="139447" rIns="0" bIns="114047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Boshlash, shart, yangilash — barchasini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o‘zi bajaradi.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2-TUSHUNCHA · RANGE()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range(start, stop, qadam) — stop kirmaydi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9961"/>
            <a:ext cx="10566400" cy="2495550"/>
          </a:xfrm>
          <a:prstGeom prst="roundRect">
            <a:avLst>
              <a:gd name="adj" fmla="val 407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09961"/>
            <a:ext cx="10566400" cy="2495550"/>
          </a:xfrm>
          <a:custGeom>
            <a:avLst/>
            <a:gdLst/>
            <a:ahLst/>
            <a:cxnLst/>
            <a:rect l="l" t="t" r="r" b="b"/>
            <a:pathLst>
              <a:path w="10566400" h="2495550">
                <a:moveTo>
                  <a:pt x="104648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2393950"/>
                </a:lnTo>
                <a:arcTo hR="101600" wR="101600" stAng="0" swAng="5400000"/>
                <a:lnTo>
                  <a:pt x="101600" y="2495550"/>
                </a:lnTo>
                <a:arcTo hR="101600" wR="101600" stAng="5400000" swAng="5400000"/>
                <a:lnTo>
                  <a:pt x="0" y="2393950"/>
                </a:lnTo>
                <a:arcTo hR="95250" wR="101600" stAng="10800000" swAng="-5400000"/>
                <a:lnTo>
                  <a:pt x="10464800" y="2489200"/>
                </a:lnTo>
                <a:arcTo hR="95250" wR="95250" stAng="5400000" swAng="-5400000"/>
                <a:lnTo>
                  <a:pt x="10560050" y="101600"/>
                </a:lnTo>
                <a:arcTo hR="101600" wR="95250" stAng="0" swAng="-5400000"/>
                <a:close/>
              </a:path>
            </a:pathLst>
          </a:custGeom>
          <a:solidFill>
            <a:srgbClr val="DAD5C8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909961"/>
            <a:ext cx="10566400" cy="2495550"/>
          </a:xfrm>
          <a:custGeom>
            <a:avLst/>
            <a:gdLst/>
            <a:ahLst/>
            <a:cxnLst/>
            <a:rect l="l" t="t" r="r" b="b"/>
            <a:pathLst>
              <a:path w="10566400" h="2495550">
                <a:moveTo>
                  <a:pt x="101600" y="2495550"/>
                </a:moveTo>
                <a:lnTo>
                  <a:pt x="101600" y="249555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2393950"/>
                </a:lnTo>
                <a:arcTo hR="101600" w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1922661"/>
            <a:ext cx="10547350" cy="412750"/>
          </a:xfrm>
          <a:custGeom>
            <a:avLst/>
            <a:gdLst/>
            <a:ahLst/>
            <a:cxnLst/>
            <a:rect l="l" t="t" r="r" b="b"/>
            <a:pathLst>
              <a:path w="10547350" h="412750">
                <a:moveTo>
                  <a:pt x="0" y="88900"/>
                </a:moveTo>
                <a:arcTo hR="88900" wR="88900" stAng="10800000" swAng="5400000"/>
                <a:lnTo>
                  <a:pt x="10452100" y="0"/>
                </a:lnTo>
                <a:arcTo hR="95250" wR="95250" stAng="16200000" swAng="5400000"/>
                <a:lnTo>
                  <a:pt x="10547350" y="412750"/>
                </a:lnTo>
                <a:lnTo>
                  <a:pt x="0" y="412750"/>
                </a:lnTo>
                <a:close/>
              </a:path>
            </a:pathLst>
          </a:custGeom>
          <a:solidFill>
            <a:srgbClr val="ECECE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22661"/>
          <a:ext cx="10547350" cy="2476500"/>
        </p:xfrm>
        <a:graphic>
          <a:graphicData uri="http://schemas.openxmlformats.org/drawingml/2006/table">
            <a:tbl>
              <a:tblPr/>
              <a:tblGrid>
                <a:gridCol w="3586099"/>
                <a:gridCol w="3164205"/>
                <a:gridCol w="3797046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Yozuv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Sonlar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Izoh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range(5)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0 1 2 3 4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 dan boshlanadi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range(1, 6)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1 2 3 4 5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start va stop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range(0, 10, 2)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0 2 4 6 8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qadam 2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range(5, 0, -1)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5 4 3 2 1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teskari sanoq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range(5, 1)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(bo‘sh)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hech narsa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3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4684911"/>
            <a:ext cx="10566400" cy="553641"/>
          </a:xfrm>
          <a:prstGeom prst="roundRect">
            <a:avLst>
              <a:gd name="adj" fmla="val 16057"/>
            </a:avLst>
          </a:prstGeom>
          <a:solidFill>
            <a:srgbClr val="E7EEFC"/>
          </a:solidFill>
          <a:ln/>
        </p:spPr>
        <p:txBody>
          <a:bodyPr wrap="square" lIns="177162" tIns="113662" rIns="0" bIns="8826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_ in range(3):</a:t>
            </a: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sanoq raqami kerak bo‘lmasa, o‘zgaruvchi o‘rniga _ yoziladi.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2-TUSHUNCHA · TANLOV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while yoki for?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5124450" cy="26624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195711"/>
            <a:ext cx="469607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8550" y="2744291"/>
            <a:ext cx="4696079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Necha marta — oldindan noma’lum.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8550" y="3188097"/>
            <a:ext cx="469607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 to‘g‘ri kiritilguncha · −1 kiritilguncha · pul yetguncha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8550" y="3873897"/>
            <a:ext cx="4559300" cy="469900"/>
          </a:xfrm>
          <a:prstGeom prst="roundRect">
            <a:avLst>
              <a:gd name="adj" fmla="val 16216"/>
            </a:avLst>
          </a:prstGeom>
          <a:solidFill>
            <a:srgbClr val="1E2A36"/>
          </a:solidFill>
          <a:ln/>
        </p:spPr>
        <p:txBody>
          <a:bodyPr wrap="square" lIns="130082" tIns="79282" rIns="2447" bIns="538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pul &lt; narx: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51575" y="1938536"/>
            <a:ext cx="5124450" cy="26624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4150" y="2195711"/>
            <a:ext cx="4696079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34150" y="2744291"/>
            <a:ext cx="4696079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Ketma-ketlik yoki aniq son.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4150" y="3188097"/>
            <a:ext cx="469607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 bir shahar · har bir harf · roppa-rosa 10 marta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4150" y="3607197"/>
            <a:ext cx="4559300" cy="469900"/>
          </a:xfrm>
          <a:prstGeom prst="roundRect">
            <a:avLst>
              <a:gd name="adj" fmla="val 16216"/>
            </a:avLst>
          </a:prstGeom>
          <a:solidFill>
            <a:srgbClr val="1E2A36"/>
          </a:solidFill>
          <a:ln/>
        </p:spPr>
        <p:txBody>
          <a:bodyPr wrap="square" lIns="130082" tIns="79282" rIns="2447" bIns="538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_ </a:t>
            </a:r>
            <a:r>
              <a:rPr lang="en-US" sz="15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5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5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A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TEKSHIRUV 3 · BASHORAT QILING, KEYIN OVOZ BERING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Raketa uchadimi?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4819650" cy="1526480"/>
          </a:xfrm>
          <a:prstGeom prst="roundRect">
            <a:avLst>
              <a:gd name="adj" fmla="val 8112"/>
            </a:avLst>
          </a:prstGeom>
          <a:solidFill>
            <a:srgbClr val="0F1620"/>
          </a:solidFill>
          <a:ln w="6350">
            <a:solidFill>
              <a:srgbClr val="334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17031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252462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" y="287893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"Start!"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48375" y="193853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4750" y="2081411"/>
            <a:ext cx="2475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301" y="2125861"/>
            <a:ext cx="186547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2 1 Start!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48375" y="274875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750" y="2891631"/>
            <a:ext cx="2450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6820" y="2936081"/>
            <a:ext cx="93273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Start!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48375" y="3558977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750" y="3701852"/>
            <a:ext cx="2444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26225" y="3746302"/>
            <a:ext cx="133064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Xato beradi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3-TUSHUNCHA · STRINGLAR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String — tizilgan harflar, har birining o‘z raqami bor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31691" y="2762845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2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22500" y="3159026"/>
            <a:ext cx="1206500" cy="1066800"/>
          </a:xfrm>
          <a:custGeom>
            <a:avLst/>
            <a:gdLst/>
            <a:ahLst/>
            <a:cxnLst/>
            <a:rect l="l" t="t" r="r" b="b"/>
            <a:pathLst>
              <a:path w="1206500" h="1066800">
                <a:moveTo>
                  <a:pt x="101600" y="0"/>
                </a:moveTo>
                <a:lnTo>
                  <a:pt x="1104900" y="0"/>
                </a:lnTo>
                <a:arcTo hR="101600" wR="101600" stAng="16200000" swAng="5400000"/>
                <a:lnTo>
                  <a:pt x="1206500" y="965200"/>
                </a:lnTo>
                <a:arcTo hR="101600" wR="101600" stAng="0" swAng="5400000"/>
                <a:lnTo>
                  <a:pt x="101600" y="10668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E2A36"/>
          </a:solidFill>
          <a:ln/>
        </p:spPr>
        <p:txBody>
          <a:bodyPr wrap="square" lIns="0" tIns="177800" rIns="0" bIns="15240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661096" y="4302026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54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39791" y="2762845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2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30600" y="3159026"/>
            <a:ext cx="1206500" cy="1066800"/>
          </a:xfrm>
          <a:custGeom>
            <a:avLst/>
            <a:gdLst/>
            <a:ahLst/>
            <a:cxnLst/>
            <a:rect l="l" t="t" r="r" b="b"/>
            <a:pathLst>
              <a:path w="1206500" h="1066800">
                <a:moveTo>
                  <a:pt x="101600" y="0"/>
                </a:moveTo>
                <a:lnTo>
                  <a:pt x="1104900" y="0"/>
                </a:lnTo>
                <a:arcTo hR="101600" wR="101600" stAng="16200000" swAng="5400000"/>
                <a:lnTo>
                  <a:pt x="1206500" y="965200"/>
                </a:lnTo>
                <a:arcTo hR="101600" wR="101600" stAng="0" swAng="5400000"/>
                <a:lnTo>
                  <a:pt x="101600" y="10668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E2A36"/>
          </a:solidFill>
          <a:ln/>
        </p:spPr>
        <p:txBody>
          <a:bodyPr wrap="square" lIns="0" tIns="177800" rIns="0" bIns="15240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969196" y="4302026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54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7891" y="2762845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2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38700" y="3159026"/>
            <a:ext cx="1206500" cy="1066800"/>
          </a:xfrm>
          <a:custGeom>
            <a:avLst/>
            <a:gdLst/>
            <a:ahLst/>
            <a:cxnLst/>
            <a:rect l="l" t="t" r="r" b="b"/>
            <a:pathLst>
              <a:path w="1206500" h="1066800">
                <a:moveTo>
                  <a:pt x="101600" y="0"/>
                </a:moveTo>
                <a:lnTo>
                  <a:pt x="1104900" y="0"/>
                </a:lnTo>
                <a:arcTo hR="101600" wR="101600" stAng="16200000" swAng="5400000"/>
                <a:lnTo>
                  <a:pt x="1206500" y="965200"/>
                </a:lnTo>
                <a:arcTo hR="101600" wR="101600" stAng="0" swAng="5400000"/>
                <a:lnTo>
                  <a:pt x="101600" y="10668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E2A36"/>
          </a:solidFill>
          <a:ln/>
        </p:spPr>
        <p:txBody>
          <a:bodyPr wrap="square" lIns="0" tIns="177800" rIns="0" bIns="15240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277296" y="4302026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54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55991" y="2762845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2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46800" y="3159026"/>
            <a:ext cx="1206500" cy="1066800"/>
          </a:xfrm>
          <a:custGeom>
            <a:avLst/>
            <a:gdLst/>
            <a:ahLst/>
            <a:cxnLst/>
            <a:rect l="l" t="t" r="r" b="b"/>
            <a:pathLst>
              <a:path w="1206500" h="1066800">
                <a:moveTo>
                  <a:pt x="101600" y="0"/>
                </a:moveTo>
                <a:lnTo>
                  <a:pt x="1104900" y="0"/>
                </a:lnTo>
                <a:arcTo hR="101600" wR="101600" stAng="16200000" swAng="5400000"/>
                <a:lnTo>
                  <a:pt x="1206500" y="965200"/>
                </a:lnTo>
                <a:arcTo hR="101600" wR="101600" stAng="0" swAng="5400000"/>
                <a:lnTo>
                  <a:pt x="101600" y="10668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E2A36"/>
          </a:solidFill>
          <a:ln/>
        </p:spPr>
        <p:txBody>
          <a:bodyPr wrap="square" lIns="0" tIns="177800" rIns="0" bIns="15240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85396" y="4302026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54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64091" y="2762845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2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54900" y="3159026"/>
            <a:ext cx="1206500" cy="1066800"/>
          </a:xfrm>
          <a:custGeom>
            <a:avLst/>
            <a:gdLst/>
            <a:ahLst/>
            <a:cxnLst/>
            <a:rect l="l" t="t" r="r" b="b"/>
            <a:pathLst>
              <a:path w="1206500" h="1066800">
                <a:moveTo>
                  <a:pt x="101600" y="0"/>
                </a:moveTo>
                <a:lnTo>
                  <a:pt x="1104900" y="0"/>
                </a:lnTo>
                <a:arcTo hR="101600" wR="101600" stAng="16200000" swAng="5400000"/>
                <a:lnTo>
                  <a:pt x="1206500" y="965200"/>
                </a:lnTo>
                <a:arcTo hR="101600" wR="101600" stAng="0" swAng="5400000"/>
                <a:lnTo>
                  <a:pt x="101600" y="10668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E2A36"/>
          </a:solidFill>
          <a:ln/>
        </p:spPr>
        <p:txBody>
          <a:bodyPr wrap="square" lIns="0" tIns="177800" rIns="0" bIns="15240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893496" y="4302026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54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72191" y="2762845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F62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63000" y="3159026"/>
            <a:ext cx="1206500" cy="1066800"/>
          </a:xfrm>
          <a:custGeom>
            <a:avLst/>
            <a:gdLst/>
            <a:ahLst/>
            <a:cxnLst/>
            <a:rect l="l" t="t" r="r" b="b"/>
            <a:pathLst>
              <a:path w="1206500" h="1066800">
                <a:moveTo>
                  <a:pt x="101600" y="0"/>
                </a:moveTo>
                <a:lnTo>
                  <a:pt x="1104900" y="0"/>
                </a:lnTo>
                <a:arcTo hR="101600" wR="101600" stAng="16200000" swAng="5400000"/>
                <a:lnTo>
                  <a:pt x="1206500" y="965200"/>
                </a:lnTo>
                <a:arcTo hR="101600" wR="101600" stAng="0" swAng="5400000"/>
                <a:lnTo>
                  <a:pt x="101600" y="10668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1E2A36"/>
          </a:solidFill>
          <a:ln/>
        </p:spPr>
        <p:txBody>
          <a:bodyPr wrap="square" lIns="0" tIns="177800" rIns="0" bIns="152400" rtlCol="0" anchor="t">
            <a:normAutofit/>
          </a:bodyPr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201596" y="4302026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5541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800" y="5251450"/>
            <a:ext cx="5181600" cy="793750"/>
          </a:xfrm>
          <a:prstGeom prst="roundRect">
            <a:avLst>
              <a:gd name="adj" fmla="val 11200"/>
            </a:avLst>
          </a:prstGeom>
          <a:solidFill>
            <a:srgbClr val="E7EEFC"/>
          </a:solidFill>
          <a:ln/>
        </p:spPr>
        <p:txBody>
          <a:bodyPr wrap="square" lIns="177162" tIns="113662" rIns="33906" bIns="88262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Yuqorida:</a:t>
            </a:r>
            <a:r>
              <a:rPr lang="en-US" sz="15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index chapdan, 0 dan boshlanadi. Oxirgisi — len − 1.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97600" y="5251450"/>
            <a:ext cx="5181600" cy="793750"/>
          </a:xfrm>
          <a:prstGeom prst="roundRect">
            <a:avLst>
              <a:gd name="adj" fmla="val 11200"/>
            </a:avLst>
          </a:prstGeom>
          <a:solidFill>
            <a:srgbClr val="FBEDE3"/>
          </a:solidFill>
          <a:ln/>
        </p:spPr>
        <p:txBody>
          <a:bodyPr wrap="square" lIns="177162" tIns="113662" rIns="33906" bIns="88262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Pastda:</a:t>
            </a:r>
            <a:r>
              <a:rPr lang="en-US" sz="15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manfiy index o‘ngdan sanaydi. −1 — doim oxirgi harf.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3-TUSHUNCHA · LEN() VA INDEX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Harfni raqami bo‘yicha olamiz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715000" cy="2228751"/>
          </a:xfrm>
          <a:prstGeom prst="roundRect">
            <a:avLst>
              <a:gd name="adj" fmla="val 5698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shahar =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"Buxoro"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51827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(shahar))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87258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(shahar[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7600" y="322689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(shahar[-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3581202"/>
            <a:ext cx="5715000" cy="354310"/>
          </a:xfrm>
          <a:prstGeom prst="rect">
            <a:avLst/>
          </a:prstGeom>
          <a:solidFill>
            <a:srgbClr val="2E4560"/>
          </a:solidFill>
          <a:ln/>
        </p:spPr>
        <p:txBody>
          <a:bodyPr wrap="none" lIns="304800" tIns="0" rIns="112395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(shahar[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(shahar)])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1850" y="3581202"/>
            <a:ext cx="0" cy="354310"/>
          </a:xfrm>
          <a:prstGeom prst="line">
            <a:avLst/>
          </a:prstGeom>
          <a:noFill/>
          <a:ln w="38100">
            <a:solidFill>
              <a:srgbClr val="F0A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5775" y="1938536"/>
            <a:ext cx="4540250" cy="1597620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67550" y="2119511"/>
            <a:ext cx="4199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A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EKRANDA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7550" y="2383631"/>
            <a:ext cx="4199001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32600" y="3691731"/>
            <a:ext cx="4546600" cy="774601"/>
          </a:xfrm>
          <a:prstGeom prst="roundRect">
            <a:avLst>
              <a:gd name="adj" fmla="val 9837"/>
            </a:avLst>
          </a:prstGeom>
          <a:solidFill>
            <a:srgbClr val="FBEDE3"/>
          </a:solidFill>
          <a:ln/>
        </p:spPr>
      </p:sp>
      <p:sp>
        <p:nvSpPr>
          <p:cNvPr id="15" name="Shape 13"/>
          <p:cNvSpPr/>
          <p:nvPr/>
        </p:nvSpPr>
        <p:spPr>
          <a:xfrm>
            <a:off x="6832600" y="3691731"/>
            <a:ext cx="4546600" cy="774601"/>
          </a:xfrm>
          <a:custGeom>
            <a:avLst/>
            <a:gdLst/>
            <a:ahLst/>
            <a:cxnLst/>
            <a:rect l="l" t="t" r="r" b="b"/>
            <a:pathLst>
              <a:path w="4546600" h="774601">
                <a:moveTo>
                  <a:pt x="76200" y="774601"/>
                </a:moveTo>
                <a:lnTo>
                  <a:pt x="76200" y="774601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698401"/>
                </a:lnTo>
                <a:arcTo hR="76200" wR="25400" stAng="10800000" swAng="-5400000"/>
                <a:close/>
              </a:path>
            </a:pathLst>
          </a:custGeom>
          <a:solidFill>
            <a:srgbClr val="B5541C"/>
          </a:solidFill>
          <a:ln/>
        </p:spPr>
      </p:sp>
      <p:sp>
        <p:nvSpPr>
          <p:cNvPr id="16" name="Text 14"/>
          <p:cNvSpPr/>
          <p:nvPr/>
        </p:nvSpPr>
        <p:spPr>
          <a:xfrm>
            <a:off x="7073900" y="3831431"/>
            <a:ext cx="42382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43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OXIRGI QATOR — XATO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73900" y="4095552"/>
            <a:ext cx="423824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IndexError: string index out of range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3-TUSHUNCHA · SLICE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s[a:b] — a kiradi, b kirmaydi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715000" cy="1874441"/>
          </a:xfrm>
          <a:prstGeom prst="roundRect">
            <a:avLst>
              <a:gd name="adj" fmla="val 6775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raqam =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"+998901234567"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51827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(raqam[: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    </a:t>
            </a:r>
            <a:r>
              <a:rPr lang="en-US" sz="18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davlat kodi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87258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(raqam[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   </a:t>
            </a:r>
            <a:r>
              <a:rPr lang="en-US" sz="18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operator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7600" y="322689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(raqam[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:])    </a:t>
            </a:r>
            <a:r>
              <a:rPr lang="en-US" sz="18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raqamning o‘zi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35775" y="1938536"/>
            <a:ext cx="4540250" cy="1597620"/>
          </a:xfrm>
          <a:prstGeom prst="roundRect">
            <a:avLst>
              <a:gd name="adj" fmla="val 7751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67550" y="2119511"/>
            <a:ext cx="4199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A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EKRANDA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67550" y="2383631"/>
            <a:ext cx="4199001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+998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90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1234567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35775" y="3694906"/>
            <a:ext cx="4540250" cy="1146175"/>
          </a:xfrm>
          <a:prstGeom prst="roundRect">
            <a:avLst>
              <a:gd name="adj" fmla="val 8587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2150" y="3850481"/>
            <a:ext cx="425132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yozilmasa — boshidan.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yozilmasa — oxirigacha.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2150" y="4428331"/>
            <a:ext cx="425132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Bo‘lak uzunligi: </a:t>
            </a: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− a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3-TUSHUNCHA · IN VA FIND()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Bormi? Bo‘lsa, qayerda?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715000" cy="2228751"/>
          </a:xfrm>
          <a:prstGeom prst="roundRect">
            <a:avLst>
              <a:gd name="adj" fmla="val 5698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email =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"anora@mail.uz"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51827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"@"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email)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87258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(email.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"@"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7600" y="322689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(email.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"#"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3581202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(email[:email.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"@"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)])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5975" y="4319687"/>
            <a:ext cx="5708650" cy="613370"/>
          </a:xfrm>
          <a:prstGeom prst="roundRect">
            <a:avLst>
              <a:gd name="adj" fmla="val 20188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4519712"/>
            <a:ext cx="9597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A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EKRANDA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0752" y="4475262"/>
            <a:ext cx="326445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True · 5 · -1 · anora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35775" y="1938536"/>
            <a:ext cx="4540250" cy="916285"/>
          </a:xfrm>
          <a:prstGeom prst="roundRect">
            <a:avLst>
              <a:gd name="adj" fmla="val 1074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2150" y="2106811"/>
            <a:ext cx="425132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in 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42150" y="2429371"/>
            <a:ext cx="425132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Faqat True yoki False. Joyini aytmaydi.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35775" y="3013571"/>
            <a:ext cx="4540250" cy="916285"/>
          </a:xfrm>
          <a:prstGeom prst="roundRect">
            <a:avLst>
              <a:gd name="adj" fmla="val 10742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2150" y="3181846"/>
            <a:ext cx="425132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s.find(a)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42150" y="3504406"/>
            <a:ext cx="425132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Birinchi uchragan index. Topilmasa — −1.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32600" y="4085431"/>
            <a:ext cx="4546600" cy="819150"/>
          </a:xfrm>
          <a:prstGeom prst="roundRect">
            <a:avLst>
              <a:gd name="adj" fmla="val 12403"/>
            </a:avLst>
          </a:prstGeom>
          <a:solidFill>
            <a:srgbClr val="FBEDE3"/>
          </a:solidFill>
          <a:ln/>
        </p:spPr>
        <p:txBody>
          <a:bodyPr wrap="square" lIns="173442" tIns="122642" rIns="49236" bIns="97242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Ikkalasi ham katta-kichik harfni farqlaydi: "Dars" ≠ "dars".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3-TUSHUNCHA · STRING USTIDA LOOP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So‘zni teskari yozamiz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461000" cy="2228751"/>
          </a:xfrm>
          <a:prstGeom prst="roundRect">
            <a:avLst>
              <a:gd name="adj" fmla="val 5698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499694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soz =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"kitob"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518271"/>
            <a:ext cx="499694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teskari =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</a:t>
            </a:r>
            <a:r>
              <a:rPr lang="en-US" sz="18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bo‘sh string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872581"/>
            <a:ext cx="499694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soz: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3226891"/>
            <a:ext cx="5461000" cy="354310"/>
          </a:xfrm>
          <a:prstGeom prst="rect">
            <a:avLst/>
          </a:prstGeom>
          <a:solidFill>
            <a:srgbClr val="2E4560"/>
          </a:solidFill>
          <a:ln/>
        </p:spPr>
        <p:txBody>
          <a:bodyPr wrap="none" lIns="304800" tIns="0" rIns="120015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teskari = h + teskari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" y="3226891"/>
            <a:ext cx="0" cy="354310"/>
          </a:xfrm>
          <a:prstGeom prst="line">
            <a:avLst/>
          </a:prstGeom>
          <a:noFill/>
          <a:ln w="38100">
            <a:solidFill>
              <a:srgbClr val="F0A3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7600" y="3581202"/>
            <a:ext cx="499694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(teskari)     </a:t>
            </a:r>
            <a:r>
              <a:rPr lang="en-US" sz="18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botik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800" y="4316512"/>
            <a:ext cx="56248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 bir yangi harf </a:t>
            </a: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oldinga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yopishtiriladi. teskari + h yozilsa — so‘z o‘zgarmay qoladi.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29400" y="1935361"/>
            <a:ext cx="4749800" cy="2654498"/>
          </a:xfrm>
          <a:prstGeom prst="roundRect">
            <a:avLst>
              <a:gd name="adj" fmla="val 382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1935361"/>
            <a:ext cx="4749800" cy="2654498"/>
          </a:xfrm>
          <a:custGeom>
            <a:avLst/>
            <a:gdLst/>
            <a:ahLst/>
            <a:cxnLst/>
            <a:rect l="l" t="t" r="r" b="b"/>
            <a:pathLst>
              <a:path w="4749800" h="2654498">
                <a:moveTo>
                  <a:pt x="4648200" y="0"/>
                </a:moveTo>
                <a:lnTo>
                  <a:pt x="4648200" y="0"/>
                </a:lnTo>
                <a:arcTo hR="101600" wR="101600" stAng="16200000" swAng="5400000"/>
                <a:lnTo>
                  <a:pt x="4749800" y="2552898"/>
                </a:lnTo>
                <a:arcTo hR="101600" wR="101600" stAng="0" swAng="5400000"/>
                <a:lnTo>
                  <a:pt x="101600" y="2654498"/>
                </a:lnTo>
                <a:arcTo hR="101600" wR="101600" stAng="5400000" swAng="5400000"/>
                <a:lnTo>
                  <a:pt x="0" y="2552898"/>
                </a:lnTo>
                <a:arcTo hR="95250" wR="101600" stAng="10800000" swAng="-5400000"/>
                <a:lnTo>
                  <a:pt x="4648200" y="2648148"/>
                </a:lnTo>
                <a:arcTo hR="95250" wR="95250" stAng="5400000" swAng="-5400000"/>
                <a:lnTo>
                  <a:pt x="4743450" y="101600"/>
                </a:lnTo>
                <a:arcTo hR="101600" wR="95250" stAng="0" swAng="-5400000"/>
                <a:close/>
              </a:path>
            </a:pathLst>
          </a:custGeom>
          <a:solidFill>
            <a:srgbClr val="DAD5C8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1935361"/>
            <a:ext cx="4749800" cy="2654498"/>
          </a:xfrm>
          <a:custGeom>
            <a:avLst/>
            <a:gdLst/>
            <a:ahLst/>
            <a:cxnLst/>
            <a:rect l="l" t="t" r="r" b="b"/>
            <a:pathLst>
              <a:path w="4749800" h="2654498">
                <a:moveTo>
                  <a:pt x="101600" y="2654498"/>
                </a:moveTo>
                <a:lnTo>
                  <a:pt x="101600" y="2654498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4648200" y="0"/>
                </a:lnTo>
                <a:arcTo hR="101600" wR="101600" stAng="16200000" swAng="5400000"/>
                <a:lnTo>
                  <a:pt x="47498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2552898"/>
                </a:lnTo>
                <a:arcTo hR="101600" w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42100" y="1948061"/>
            <a:ext cx="4730750" cy="439241"/>
          </a:xfrm>
          <a:custGeom>
            <a:avLst/>
            <a:gdLst/>
            <a:ahLst/>
            <a:cxnLst/>
            <a:rect l="l" t="t" r="r" b="b"/>
            <a:pathLst>
              <a:path w="4730750" h="439241">
                <a:moveTo>
                  <a:pt x="0" y="88900"/>
                </a:moveTo>
                <a:arcTo hR="88900" wR="88900" stAng="10800000" swAng="5400000"/>
                <a:lnTo>
                  <a:pt x="4635500" y="0"/>
                </a:lnTo>
                <a:arcTo hR="95250" wR="95250" stAng="16200000" swAng="5400000"/>
                <a:lnTo>
                  <a:pt x="4730750" y="439241"/>
                </a:lnTo>
                <a:lnTo>
                  <a:pt x="0" y="439241"/>
                </a:lnTo>
                <a:close/>
              </a:path>
            </a:pathLst>
          </a:custGeom>
          <a:solidFill>
            <a:srgbClr val="ECECEC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42100" y="1948061"/>
          <a:ext cx="4730750" cy="2635448"/>
        </p:xfrm>
        <a:graphic>
          <a:graphicData uri="http://schemas.openxmlformats.org/drawingml/2006/table">
            <a:tbl>
              <a:tblPr/>
              <a:tblGrid>
                <a:gridCol w="1419225"/>
                <a:gridCol w="3311525"/>
              </a:tblGrid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h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teskari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k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k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ik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tik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o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otik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9B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JetBrains Mono" pitchFamily="49" charset="0"/>
                          <a:ea typeface="JetBrains Mono" pitchFamily="49" charset="-122"/>
                          <a:cs typeface="JetBrains Mono" pitchFamily="49" charset="-120"/>
                        </a:rPr>
                        <a:t>botik</a:t>
                      </a:r>
                      <a:endParaRPr lang="en-US" sz="16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A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TEKSHIRUV 4 · BASHORAT QILING, KEYIN OVOZ BERING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Qaysi ikki harf chiqadi?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4819650" cy="1172170"/>
          </a:xfrm>
          <a:prstGeom prst="roundRect">
            <a:avLst>
              <a:gd name="adj" fmla="val 10564"/>
            </a:avLst>
          </a:prstGeom>
          <a:solidFill>
            <a:srgbClr val="0F1620"/>
          </a:solidFill>
          <a:ln w="6350">
            <a:solidFill>
              <a:srgbClr val="334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17031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 = 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"Termiz"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252462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(s[-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 + s[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48375" y="193853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54750" y="2081411"/>
            <a:ext cx="2475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301" y="2116931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48375" y="274875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750" y="2891631"/>
            <a:ext cx="2450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6820" y="2927152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zT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48375" y="3558977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750" y="3701852"/>
            <a:ext cx="2444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6225" y="3737372"/>
            <a:ext cx="329208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4-TUSHUNCHA · BREAK VA CONTINUE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Lift 13-qavatda to‘xtamaydi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715000" cy="1874441"/>
          </a:xfrm>
          <a:prstGeom prst="roundRect">
            <a:avLst>
              <a:gd name="adj" fmla="val 6775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qavat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16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51827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qavat ==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13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2872581"/>
            <a:ext cx="5715000" cy="354310"/>
          </a:xfrm>
          <a:prstGeom prst="rect">
            <a:avLst/>
          </a:prstGeom>
          <a:solidFill>
            <a:srgbClr val="2E4560"/>
          </a:solidFill>
          <a:ln/>
        </p:spPr>
        <p:txBody>
          <a:bodyPr wrap="none" lIns="304800" tIns="0" rIns="112395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continue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1850" y="2872581"/>
            <a:ext cx="0" cy="354310"/>
          </a:xfrm>
          <a:prstGeom prst="line">
            <a:avLst/>
          </a:prstGeom>
          <a:noFill/>
          <a:ln w="38100">
            <a:solidFill>
              <a:srgbClr val="F0A3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600" y="322689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"{qavat}-qavat"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5975" y="3965377"/>
            <a:ext cx="5708650" cy="1184870"/>
          </a:xfrm>
          <a:prstGeom prst="roundRect">
            <a:avLst>
              <a:gd name="adj" fmla="val 10451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4120952"/>
            <a:ext cx="54024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A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EKRANDA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7750" y="4385072"/>
            <a:ext cx="540245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10-qavat · 11-qavat · 12-qavat · 14-qavat · 15-qavat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35775" y="1938536"/>
            <a:ext cx="4540250" cy="1188641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2150" y="2106811"/>
            <a:ext cx="425132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continue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2150" y="2444552"/>
            <a:ext cx="425132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Shu aylanishning qolganini tashlaydi. Loop </a:t>
            </a: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davom etadi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35775" y="3285927"/>
            <a:ext cx="4540250" cy="1188641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2150" y="3454202"/>
            <a:ext cx="425132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2150" y="3791942"/>
            <a:ext cx="425132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Loopni </a:t>
            </a: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butunlay tugatadi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keyingi qatorga o‘tiladi.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A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TEKSHIRUV 5 · BASHORAT QILING, KEYIN OVOZ BERING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Nima chiqadi?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4819650" cy="2589411"/>
          </a:xfrm>
          <a:prstGeom prst="roundRect">
            <a:avLst>
              <a:gd name="adj" fmla="val 4782"/>
            </a:avLst>
          </a:prstGeom>
          <a:solidFill>
            <a:srgbClr val="0F1620"/>
          </a:solidFill>
          <a:ln w="6350">
            <a:solidFill>
              <a:srgbClr val="334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17031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 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252462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&lt;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" y="287893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==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3950" y="3233241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continue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3950" y="3587552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 +=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3950" y="3941862"/>
            <a:ext cx="432981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48375" y="193853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750" y="2081411"/>
            <a:ext cx="2475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29301" y="2116931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48375" y="2748756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750" y="2891631"/>
            <a:ext cx="2450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26820" y="2927152"/>
            <a:ext cx="1880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48375" y="3558977"/>
            <a:ext cx="5327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750" y="3701852"/>
            <a:ext cx="2444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6225" y="3746302"/>
            <a:ext cx="307038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Hech narsa — cheksiz loop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4-TUSHUNCHA · ICHMA-ICH LOOPLAR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Loop ichida loop: soat millari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715000" cy="1874441"/>
          </a:xfrm>
          <a:prstGeom prst="roundRect">
            <a:avLst>
              <a:gd name="adj" fmla="val 6775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6396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518271"/>
            <a:ext cx="5715000" cy="354310"/>
          </a:xfrm>
          <a:prstGeom prst="rect">
            <a:avLst/>
          </a:prstGeom>
          <a:solidFill>
            <a:srgbClr val="2E4560"/>
          </a:solidFill>
          <a:ln/>
        </p:spPr>
        <p:txBody>
          <a:bodyPr wrap="none" lIns="304800" tIns="0" rIns="112395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1850" y="2518271"/>
            <a:ext cx="0" cy="354310"/>
          </a:xfrm>
          <a:prstGeom prst="line">
            <a:avLst/>
          </a:prstGeom>
          <a:noFill/>
          <a:ln w="38100">
            <a:solidFill>
              <a:srgbClr val="F0A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7600" y="287258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 * j, end=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 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3226891"/>
            <a:ext cx="525856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    </a:t>
            </a:r>
            <a:r>
              <a:rPr lang="en-US" sz="18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qator tugadi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35775" y="1938536"/>
            <a:ext cx="4540250" cy="1769070"/>
          </a:xfrm>
          <a:prstGeom prst="roundRect">
            <a:avLst>
              <a:gd name="adj" fmla="val 6999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7550" y="2119511"/>
            <a:ext cx="4199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A74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EKRANDA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67550" y="2383631"/>
            <a:ext cx="4199001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1 2 3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2 4 6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3 6 9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35775" y="3866356"/>
            <a:ext cx="4540250" cy="825500"/>
          </a:xfrm>
          <a:prstGeom prst="roundRect">
            <a:avLst>
              <a:gd name="adj" fmla="val 11923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  <p:txBody>
          <a:bodyPr wrap="square" lIns="177547" tIns="126747" rIns="53722" bIns="101347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Daqiqa mili (j) to‘liq aylangandan keyin soat mili (i) bir qadam yuradi.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999831"/>
            <a:ext cx="10566400" cy="553641"/>
          </a:xfrm>
          <a:prstGeom prst="roundRect">
            <a:avLst>
              <a:gd name="adj" fmla="val 16057"/>
            </a:avLst>
          </a:prstGeom>
          <a:solidFill>
            <a:srgbClr val="E7EEFC"/>
          </a:solidFill>
          <a:ln/>
        </p:spPr>
        <p:txBody>
          <a:bodyPr wrap="square" lIns="177162" tIns="113662" rIns="0" bIns="88262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Ichki loopdagi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</a:t>
            </a:r>
            <a:r>
              <a:rPr lang="en-US" sz="16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faqat ichki loopni to‘xtatadi — tashqi loop davom etadi.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A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TEKSHIRUV 6 · BASHORAT QILING, KEYIN OVOZ BERING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Nechta yulduz chiqadi?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5200650" cy="2235101"/>
          </a:xfrm>
          <a:prstGeom prst="roundRect">
            <a:avLst>
              <a:gd name="adj" fmla="val 5540"/>
            </a:avLst>
          </a:prstGeom>
          <a:solidFill>
            <a:srgbClr val="0F1620"/>
          </a:solidFill>
          <a:ln w="6350">
            <a:solidFill>
              <a:srgbClr val="334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170311"/>
            <a:ext cx="472224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3950" y="2524621"/>
            <a:ext cx="472224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 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" y="2878931"/>
            <a:ext cx="472224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 == </a:t>
            </a:r>
            <a:r>
              <a:rPr lang="en-US" sz="18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23950" y="3233241"/>
            <a:ext cx="472224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</a:t>
            </a:r>
            <a:r>
              <a:rPr lang="en-US" sz="18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3950" y="3587552"/>
            <a:ext cx="472224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8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"*"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end=</a:t>
            </a:r>
            <a:r>
              <a:rPr lang="en-US" sz="18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""</a:t>
            </a:r>
            <a:r>
              <a:rPr lang="en-US" sz="18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29375" y="1938536"/>
            <a:ext cx="4946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5750" y="2081411"/>
            <a:ext cx="24755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10301" y="2116931"/>
            <a:ext cx="65841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29375" y="2748756"/>
            <a:ext cx="4946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5750" y="2891631"/>
            <a:ext cx="2450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07820" y="2927152"/>
            <a:ext cx="65841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 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29375" y="3558977"/>
            <a:ext cx="4946650" cy="676870"/>
          </a:xfrm>
          <a:prstGeom prst="roundRect">
            <a:avLst>
              <a:gd name="adj" fmla="val 14541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5750" y="3701852"/>
            <a:ext cx="2444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07225" y="3737372"/>
            <a:ext cx="82296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ta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CODING · BIRGA YOZAMIZ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Telefon: 3 ta urinishdan keyin bloklanadi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3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44600" y="1984573"/>
            <a:ext cx="217705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Sanagich: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urinish = 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4306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44600" y="2479873"/>
            <a:ext cx="231445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Takrorlash: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while True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29259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44600" y="2975173"/>
            <a:ext cx="183439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Kiritish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 sanash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4212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4600" y="3470473"/>
            <a:ext cx="195262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To‘g‘ri kod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break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9165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44600" y="3965773"/>
            <a:ext cx="235136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Urinish tugadi</a:t>
            </a:r>
            <a:r>
              <a:rPr lang="en-US" sz="15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break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18200" y="1935361"/>
            <a:ext cx="5461000" cy="3454400"/>
          </a:xfrm>
          <a:prstGeom prst="roundRect">
            <a:avLst>
              <a:gd name="adj" fmla="val 3676"/>
            </a:avLst>
          </a:prstGeom>
          <a:solidFill>
            <a:srgbClr val="1E2A3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1385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urinish = </a:t>
            </a:r>
            <a:r>
              <a:rPr lang="en-US" sz="16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24433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True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27481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kod = </a:t>
            </a:r>
            <a:r>
              <a:rPr lang="en-US" sz="16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6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"PIN: "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30529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urinish += </a:t>
            </a:r>
            <a:r>
              <a:rPr lang="en-US" sz="16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33577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kod == </a:t>
            </a:r>
            <a:r>
              <a:rPr lang="en-US" sz="16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"1234"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6625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6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6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"Ochildi!"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72200" y="39673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42721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urinish == </a:t>
            </a:r>
            <a:r>
              <a:rPr lang="en-US" sz="16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45769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6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6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"Telefon bloklandi"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4881761"/>
            <a:ext cx="51015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KO‘P UCHRAYDIGAN XATOLAR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Shu hafta duch keladigan buglar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10566400" cy="2334816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35361"/>
            <a:ext cx="10566400" cy="2334816"/>
          </a:xfrm>
          <a:custGeom>
            <a:avLst/>
            <a:gdLst/>
            <a:ahLst/>
            <a:cxnLst/>
            <a:rect l="l" t="t" r="r" b="b"/>
            <a:pathLst>
              <a:path w="10566400" h="2334816">
                <a:moveTo>
                  <a:pt x="10464800" y="0"/>
                </a:moveTo>
                <a:lnTo>
                  <a:pt x="10464800" y="0"/>
                </a:lnTo>
                <a:arcTo hR="101600" wR="101600" stAng="16200000" swAng="5400000"/>
                <a:lnTo>
                  <a:pt x="10566400" y="2233216"/>
                </a:lnTo>
                <a:arcTo hR="101600" wR="101600" stAng="0" swAng="5400000"/>
                <a:lnTo>
                  <a:pt x="101600" y="2334816"/>
                </a:lnTo>
                <a:arcTo hR="101600" wR="101600" stAng="5400000" swAng="5400000"/>
                <a:lnTo>
                  <a:pt x="0" y="2233216"/>
                </a:lnTo>
                <a:arcTo hR="95250" wR="101600" stAng="10800000" swAng="-5400000"/>
                <a:lnTo>
                  <a:pt x="10464800" y="2328466"/>
                </a:lnTo>
                <a:arcTo hR="95250" wR="95250" stAng="5400000" swAng="-5400000"/>
                <a:lnTo>
                  <a:pt x="10560050" y="101600"/>
                </a:lnTo>
                <a:arcTo hR="101600" wR="95250" stAng="0" swAng="-5400000"/>
                <a:close/>
              </a:path>
            </a:pathLst>
          </a:custGeom>
          <a:solidFill>
            <a:srgbClr val="DAD5C8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935361"/>
            <a:ext cx="10566400" cy="2334816"/>
          </a:xfrm>
          <a:custGeom>
            <a:avLst/>
            <a:gdLst/>
            <a:ahLst/>
            <a:cxnLst/>
            <a:rect l="l" t="t" r="r" b="b"/>
            <a:pathLst>
              <a:path w="10566400" h="2334816">
                <a:moveTo>
                  <a:pt x="101600" y="2334816"/>
                </a:moveTo>
                <a:lnTo>
                  <a:pt x="101600" y="2334816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464800" y="0"/>
                </a:lnTo>
                <a:arcTo hR="101600" wR="101600" stAng="16200000" swAng="5400000"/>
                <a:lnTo>
                  <a:pt x="10566400" y="101600"/>
                </a:lnTo>
                <a:arcTo hR="88900" wR="101600" stAng="0" swAng="-5400000"/>
                <a:lnTo>
                  <a:pt x="101600" y="12700"/>
                </a:lnTo>
                <a:arcTo hR="88900" wR="88900" stAng="16200000" swAng="-5400000"/>
                <a:lnTo>
                  <a:pt x="12700" y="2233216"/>
                </a:lnTo>
                <a:arcTo hR="101600" w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1948061"/>
            <a:ext cx="10547350" cy="385961"/>
          </a:xfrm>
          <a:custGeom>
            <a:avLst/>
            <a:gdLst/>
            <a:ahLst/>
            <a:cxnLst/>
            <a:rect l="l" t="t" r="r" b="b"/>
            <a:pathLst>
              <a:path w="10547350" h="385961">
                <a:moveTo>
                  <a:pt x="0" y="88900"/>
                </a:moveTo>
                <a:arcTo hR="88900" wR="88900" stAng="10800000" swAng="5400000"/>
                <a:lnTo>
                  <a:pt x="10452100" y="0"/>
                </a:lnTo>
                <a:arcTo hR="95250" wR="95250" stAng="16200000" swAng="5400000"/>
                <a:lnTo>
                  <a:pt x="10547350" y="385961"/>
                </a:lnTo>
                <a:lnTo>
                  <a:pt x="0" y="385961"/>
                </a:lnTo>
                <a:close/>
              </a:path>
            </a:pathLst>
          </a:custGeom>
          <a:solidFill>
            <a:srgbClr val="ECECE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061"/>
          <a:ext cx="10547350" cy="2315766"/>
        </p:xfrm>
        <a:graphic>
          <a:graphicData uri="http://schemas.openxmlformats.org/drawingml/2006/table">
            <a:tbl>
              <a:tblPr/>
              <a:tblGrid>
                <a:gridCol w="3586099"/>
                <a:gridCol w="3164205"/>
                <a:gridCol w="3797046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Xato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Belgisi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Tuzatish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Yangilash unutildi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Cheksiz loop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Block oxirida i += 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input() loopdan tashqarida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Cheksiz loop, qayta so‘ramaydi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input() ni loop ichiga oling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range(1, 10) da 10 bor deb o‘ylash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Oxirgi son chiqmaydi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stop’ni bittaga oshiring: range(1, 11)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s[len(s)]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IndexError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s[-1] yoki s[len(s) - 1]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while ichida continue yangilashdan oldin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Cheksiz loop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Yangilashni continue’dan oldinga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AMALIYOT · JUFTLIKDA · 12 DAQIQA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Navbat sizda: so‘zdagi «a» harflari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09961"/>
            <a:ext cx="4826000" cy="2184400"/>
          </a:xfrm>
          <a:prstGeom prst="roundRect">
            <a:avLst>
              <a:gd name="adj" fmla="val 5814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87761"/>
            <a:ext cx="44475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soz = </a:t>
            </a:r>
            <a:r>
              <a:rPr lang="en-US" sz="16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6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"So‘z: "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392561"/>
            <a:ext cx="44475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soni = </a:t>
            </a:r>
            <a:r>
              <a:rPr lang="en-US" sz="16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697361"/>
            <a:ext cx="44475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 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soz: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002161"/>
            <a:ext cx="44475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 == </a:t>
            </a:r>
            <a:r>
              <a:rPr lang="en-US" sz="16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"a"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306961"/>
            <a:ext cx="44475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soni += </a:t>
            </a:r>
            <a:r>
              <a:rPr lang="en-US" sz="16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3611761"/>
            <a:ext cx="44475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(soni)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2717701"/>
            <a:ext cx="559866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Avval bashorat.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Javobingizni qog‘ozga yozing, keyingina ishga tushiring.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975" y="4376936"/>
            <a:ext cx="1984970" cy="1087041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4250" y="4532511"/>
            <a:ext cx="16992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Bashorat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4250" y="4862711"/>
            <a:ext cx="169922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«Samarqand» uchun nima chiqadi?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59695" y="4376936"/>
            <a:ext cx="1984970" cy="1087041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970" y="4532511"/>
            <a:ext cx="16992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Ishga tushiring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27970" y="4862711"/>
            <a:ext cx="169922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To‘g‘ri topdingizmi?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03416" y="4376936"/>
            <a:ext cx="1985070" cy="1087041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1691" y="4532511"/>
            <a:ext cx="16993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Tekshiring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71691" y="4862711"/>
            <a:ext cx="169932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«Andijon» uchun nega 0 chiqdi?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47235" y="4376936"/>
            <a:ext cx="1984970" cy="1087041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15510" y="4532511"/>
            <a:ext cx="16992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O‘zgartiring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15510" y="4862711"/>
            <a:ext cx="169922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Katta «A» ni ham sanang.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90955" y="4376936"/>
            <a:ext cx="1985070" cy="1087041"/>
          </a:xfrm>
          <a:prstGeom prst="roundRect">
            <a:avLst>
              <a:gd name="adj" fmla="val 9054"/>
            </a:avLst>
          </a:prstGeom>
          <a:solidFill>
            <a:srgbClr val="FFFFFF"/>
          </a:solidFill>
          <a:ln w="6350">
            <a:solidFill>
              <a:srgbClr val="DAD5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9230" y="4532511"/>
            <a:ext cx="16993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Yarating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59230" y="4862711"/>
            <a:ext cx="169932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So‘z palindrommi? («kiyik»)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2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XULOSA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Bugungi dars bitta slaydda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461000" cy="2925763"/>
          </a:xfrm>
          <a:prstGeom prst="roundRect">
            <a:avLst>
              <a:gd name="adj" fmla="val 4341"/>
            </a:avLst>
          </a:prstGeom>
          <a:solidFill>
            <a:srgbClr val="1E2A36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38561"/>
            <a:ext cx="510159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shart:    </a:t>
            </a:r>
            <a:r>
              <a:rPr lang="en-US" sz="16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necha marta — noma’lum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453481"/>
            <a:ext cx="510159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...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768402"/>
            <a:ext cx="510159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x 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6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(a, b, qadam):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083322"/>
            <a:ext cx="510159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...          </a:t>
            </a:r>
            <a:r>
              <a:rPr lang="en-US" sz="1600" dirty="0">
                <a:solidFill>
                  <a:srgbClr val="8B9A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b kirmaydi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713163"/>
            <a:ext cx="510159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s[</a:t>
            </a:r>
            <a:r>
              <a:rPr lang="en-US" sz="16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  s[-</a:t>
            </a:r>
            <a:r>
              <a:rPr lang="en-US" sz="16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  s[a:b]  </a:t>
            </a:r>
            <a:r>
              <a:rPr lang="en-US" sz="16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len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4028083"/>
            <a:ext cx="510159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"a"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   s.</a:t>
            </a:r>
            <a:r>
              <a:rPr lang="en-US" sz="16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600" dirty="0">
                <a:solidFill>
                  <a:srgbClr val="9FD49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"a"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4343003"/>
            <a:ext cx="510159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r>
              <a:rPr lang="en-US" sz="16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</a:t>
            </a:r>
            <a:r>
              <a:rPr lang="en-US" sz="16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continue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19353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0" y="1935361"/>
            <a:ext cx="413551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Loop: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boshlash → shart → yangilash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4687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2468761"/>
            <a:ext cx="346317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range va slice’da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kirmaydi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30021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86600" y="3002161"/>
            <a:ext cx="419195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dan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oxirgisi — len − 1 yoki −1.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535561"/>
            <a:ext cx="330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62D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86600" y="3535561"/>
            <a:ext cx="442137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keyingi aylanish, </a:t>
            </a:r>
            <a:r>
              <a:rPr lang="en-US" sz="16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</a:t>
            </a:r>
            <a:r>
              <a:rPr lang="en-US" sz="1600" dirty="0">
                <a:solidFill>
                  <a:srgbClr val="4A52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loopdan chiqish.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A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CHIQISH CHIPTASI · 3 DAQIQA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Ketishdan oldin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5149850" cy="2198291"/>
          </a:xfrm>
          <a:prstGeom prst="roundRect">
            <a:avLst>
              <a:gd name="adj" fmla="val 5633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195711"/>
            <a:ext cx="472224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8550" y="2713831"/>
            <a:ext cx="472224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 kod nimani chiqaradi?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8550" y="3143052"/>
            <a:ext cx="4584700" cy="736600"/>
          </a:xfrm>
          <a:prstGeom prst="roundRect">
            <a:avLst>
              <a:gd name="adj" fmla="val 10345"/>
            </a:avLst>
          </a:prstGeom>
          <a:solidFill>
            <a:srgbClr val="0F1620"/>
          </a:solidFill>
          <a:ln/>
        </p:spPr>
        <p:txBody>
          <a:bodyPr wrap="square" lIns="130082" tIns="79282" rIns="1685" bIns="538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</a:t>
            </a:r>
            <a:r>
              <a:rPr lang="en-US" sz="1500" dirty="0">
                <a:solidFill>
                  <a:srgbClr val="7AB0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5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range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5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5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11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500" dirty="0">
                <a:solidFill>
                  <a:srgbClr val="F5A97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):</a:t>
            </a:r>
            <a:endParaRPr lang="en-US" sz="15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F2C46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</a:t>
            </a:r>
            <a:r>
              <a:rPr lang="en-US" sz="15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6175" y="1938536"/>
            <a:ext cx="5149850" cy="2198291"/>
          </a:xfrm>
          <a:prstGeom prst="roundRect">
            <a:avLst>
              <a:gd name="adj" fmla="val 5633"/>
            </a:avLst>
          </a:prstGeom>
          <a:solidFill>
            <a:srgbClr val="26323F"/>
          </a:solidFill>
          <a:ln w="6350">
            <a:solidFill>
              <a:srgbClr val="3A47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750" y="2195711"/>
            <a:ext cx="4722241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36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08750" y="2713831"/>
            <a:ext cx="472224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Bir gap bilan: </a:t>
            </a:r>
            <a:r>
              <a:rPr lang="en-US" sz="17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</a:t>
            </a:r>
            <a:r>
              <a:rPr lang="en-US" sz="17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va </a:t>
            </a:r>
            <a:r>
              <a:rPr lang="en-US" sz="17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</a:t>
            </a:r>
            <a:r>
              <a:rPr lang="en-US" sz="17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nimasi bilan farq qiladi?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5778500"/>
            <a:ext cx="39724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9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Javobni [kurs platformasi] ga yuboring.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64757" y="5778500"/>
            <a:ext cx="221444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9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Keyingi dars: </a:t>
            </a:r>
            <a:r>
              <a:rPr lang="en-US" sz="15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[mavzu]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oplar va stringlar">
  <a:themeElements>
    <a:clrScheme name="Looplar va stringlar">
      <a:dk1>
        <a:srgbClr val="1B2430"/>
      </a:dk1>
      <a:lt1>
        <a:srgbClr val="F6F4EE"/>
      </a:lt1>
      <a:dk2>
        <a:srgbClr val="525860"/>
      </a:dk2>
      <a:lt2>
        <a:srgbClr val="E0DFDB"/>
      </a:lt2>
      <a:accent1>
        <a:srgbClr val="2F62D0"/>
      </a:accent1>
      <a:accent2>
        <a:srgbClr val="F0A36B"/>
      </a:accent2>
      <a:accent3>
        <a:srgbClr val="2E4560"/>
      </a:accent3>
      <a:accent4>
        <a:srgbClr val="B5541C"/>
      </a:accent4>
      <a:accent5>
        <a:srgbClr val="F2C46D"/>
      </a:accent5>
      <a:accent6>
        <a:srgbClr val="8FB3FF"/>
      </a:accent6>
      <a:hlink>
        <a:srgbClr val="0563C1"/>
      </a:hlink>
      <a:folHlink>
        <a:srgbClr val="954F72"/>
      </a:folHlink>
    </a:clrScheme>
    <a:fontScheme name="Looplar va stringlar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Looplar va stringlar</dc:title>
  <dc:subject/>
  <dc:creator/>
  <cp:lastModifiedBy/>
  <cp:revision>1</cp:revision>
  <dcterms:created xsi:type="dcterms:W3CDTF">2026-10-19T12:46:00Z</dcterms:created>
  <dcterms:modified xsi:type="dcterms:W3CDTF">2026-10-19T12:46:00Z</dcterms:modified>
</cp:coreProperties>
</file>