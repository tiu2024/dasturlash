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71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Avval kod emas, kundalik hayotdan misol bilan boshlaymiz.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Blenderga olma solamiz, u o‘z ishini qiladi, sharbat chiqadi. Blender ichida nima bo‘layotganini bilishimiz shart emas — faqat nima kiritib, nima olishimizni bilamiz. Banan solsak — banan sharbati. Mashina bitta, kirish har xil.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Kirish — argument, mashina — funksiya, chiqish — qaytgan qiymat (return value). Talabalardan so‘rang: round(2.2) nima beradi?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Bular Python’da tayyor bo‘lgan funksiyalar. Hammasining shakli bir xil: nom, qavs, qavs ichida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Misol: taksi ilovasi narxni hisoblaydi. Talabalardan so‘rang: 3 km qancha turadi? (11 000)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xil formula uch marta yozildi. Faqat km o‘zgaryapti.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Bitta joyni unutib qo‘ysak — xato (bug). Funksiya shu muammoni hal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 bir marta yozildi. Tarif o‘zgarsa — faqat bitta qatorni o‘zgartiramiz.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Chekinish (indentation) muhim: Python funksiya qayerda tugashini shu orqali biladi.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ning qiymati to parametriga uzatiladi.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main() ni oxirida chaqirmasak, dastur hech narsa qilmaydi.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— ekranga chiqaradi. return — qiymatni chaqirgan joyga qaytaradi.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Shart — dastur qaror qabul qiladi: chapga yoki o‘ngga.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doim 3 ta savol beriladi, garchi faqat bittasi True bo‘lishi mumkin bo‘lsa ham.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Bittasi True bo‘lsa, qolganlari tekshirilmaydi.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Kichik ham emas, katta ham emas — demak teng. Savol berish shart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Bitta savol — bitta tekshiruv.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operatorlarni zanjir qilib yozishga ruxsat beradi — boshqa tillarda kam uchraydi.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Kamroq savol — o‘qish va o‘zgartirish osonroq.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Modulo — bo‘lishdagi qoldiq.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is_even True yoki False qaytaradi, shuning uchun if yonida operator kerak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Deyarli ingliz tilidagi gapdek o‘qiladi.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% 2 == 0 ning o‘zi True yoki False. Shuni to‘g‘ridan-to‘g‘ri qaytaramiz.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uchta shart bir xil javob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_ — hech biri mos kelmasa ishlaydi, xuddi else kabi.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 belgisi — or kabi: bir nechta qiymatni bitta case’da tekshiradi.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8515"/>
            <a:ext cx="10883392" cy="2025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Funksiyalar</a:t>
            </a:r>
            <a:endParaRPr lang="en-US" sz="7500" dirty="0"/>
          </a:p>
          <a:p>
            <a:pPr marL="0" indent="0" algn="l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shartlar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812800" y="4342765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 nima?</a:t>
            </a:r>
            <a:endParaRPr lang="en-US" sz="7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 — bu mashina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31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28022" y="2481580"/>
            <a:ext cx="123655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olma</a:t>
            </a:r>
            <a:endParaRPr lang="en-US" sz="4000" dirty="0"/>
          </a:p>
        </p:txBody>
      </p:sp>
      <p:pic>
        <p:nvPicPr>
          <p:cNvPr id="5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3300" y="2608580"/>
            <a:ext cx="8890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14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000000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84307" y="2481580"/>
            <a:ext cx="188998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blender</a:t>
            </a:r>
            <a:endParaRPr lang="en-US" sz="40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6300" y="2608580"/>
            <a:ext cx="8890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97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567198" y="2481580"/>
            <a:ext cx="1890204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sharbat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772795" y="3906520"/>
            <a:ext cx="274701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kirish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295900" y="3817620"/>
            <a:ext cx="10668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197850" y="3906520"/>
            <a:ext cx="274701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Python’da ham xuddi shunday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31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63700" y="2481580"/>
            <a:ext cx="965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</a:t>
            </a:r>
            <a:endParaRPr lang="en-US" sz="4000" dirty="0"/>
          </a:p>
        </p:txBody>
      </p:sp>
      <p:pic>
        <p:nvPicPr>
          <p:cNvPr id="5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43300" y="2608580"/>
            <a:ext cx="8890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14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000000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41900" y="2481580"/>
            <a:ext cx="1574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endParaRPr lang="en-US" sz="40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6300" y="2608580"/>
            <a:ext cx="8890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97850" y="1967230"/>
            <a:ext cx="2628900" cy="1739900"/>
          </a:xfrm>
          <a:prstGeom prst="roundRect">
            <a:avLst>
              <a:gd name="adj" fmla="val 7664"/>
            </a:avLst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334500" y="2481580"/>
            <a:ext cx="355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772795" y="3878580"/>
            <a:ext cx="274701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325427" y="3878580"/>
            <a:ext cx="10668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197850" y="3906520"/>
            <a:ext cx="274701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qaytgan qiymat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 allaqachon bilasiz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61"/>
            <a:ext cx="10883392" cy="1981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print("salom")</a:t>
            </a:r>
            <a:r>
              <a:rPr lang="en-US" sz="27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ekranga chiqaradi</a:t>
            </a:r>
            <a:endParaRPr lang="en-US" sz="2750" dirty="0"/>
          </a:p>
          <a:p>
            <a:pPr marL="0" indent="0" algn="l">
              <a:lnSpc>
                <a:spcPts val="38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input("Ismingiz? ")</a:t>
            </a:r>
            <a:r>
              <a:rPr lang="en-US" sz="27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foydalanuvchidan so‘raydi</a:t>
            </a:r>
            <a:endParaRPr lang="en-US" sz="2750" dirty="0"/>
          </a:p>
          <a:p>
            <a:pPr marL="0" indent="0" algn="l">
              <a:lnSpc>
                <a:spcPts val="38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int("5")</a:t>
            </a:r>
            <a:r>
              <a:rPr lang="en-US" sz="27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matnni songa aylantiradi</a:t>
            </a:r>
            <a:endParaRPr lang="en-US" sz="2750" dirty="0"/>
          </a:p>
          <a:p>
            <a:pPr marL="0" indent="0" algn="l">
              <a:lnSpc>
                <a:spcPts val="38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round(3.7)</a:t>
            </a:r>
            <a:r>
              <a:rPr lang="en-US" sz="27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yaxlitlaydi</a:t>
            </a:r>
            <a:endParaRPr lang="en-US" sz="2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Funksiyani chaqirish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44979"/>
            <a:ext cx="10883392" cy="665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round(3.7)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814321"/>
            <a:ext cx="19621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17800" y="2791461"/>
            <a:ext cx="89212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 nomi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3263900"/>
            <a:ext cx="19621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17800" y="3241039"/>
            <a:ext cx="89212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qavslar — “ishga tushir”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800" y="3713479"/>
            <a:ext cx="19621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17800" y="3690621"/>
            <a:ext cx="892124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— funksiyaga beriladigan qiymat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</a:t>
            </a:r>
            <a:r>
              <a:rPr lang="en-US" sz="7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o‘z</a:t>
            </a: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</a:t>
            </a: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kerak</a:t>
            </a: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7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2239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Taksi narxi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713479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so‘m + har km uchun 2 000 so‘m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Funksiyasiz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4363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narx1 = 5000 + </a:t>
            </a:r>
            <a:r>
              <a:rPr lang="en-US" sz="30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2000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print(narx1)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narx2 = 5000 + </a:t>
            </a:r>
            <a:r>
              <a:rPr lang="en-US" sz="30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2000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print(narx2)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narx3 = 5000 + </a:t>
            </a:r>
            <a:r>
              <a:rPr lang="en-US" sz="30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2000</a:t>
            </a:r>
            <a:endParaRPr lang="en-US" sz="3050" dirty="0"/>
          </a:p>
          <a:p>
            <a:pPr marL="0" indent="0" algn="l">
              <a:lnSpc>
                <a:spcPts val="427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print(narx3)</a:t>
            </a:r>
            <a:endParaRPr lang="en-US" sz="3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7879"/>
            <a:ext cx="10883392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 o‘zgardi:</a:t>
            </a:r>
            <a:endParaRPr lang="en-US" sz="5200" dirty="0"/>
          </a:p>
          <a:p>
            <a:pPr marL="0" indent="0" algn="l">
              <a:lnSpc>
                <a:spcPts val="572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→ 2 500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800" y="3845558"/>
            <a:ext cx="1088339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 3 ta joyni tuzatish kerak.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ta joy bo‘lsa-chi?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 bilan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40081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taksi_narxi(km):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5000 + km * 2000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print(taksi_narxi(3))</a:t>
            </a:r>
            <a:r>
              <a:rPr lang="en-US" sz="32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11000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print(taksi_narxi(7))</a:t>
            </a:r>
            <a:r>
              <a:rPr lang="en-US" sz="32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19000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print(taksi_narxi(12))</a:t>
            </a:r>
            <a:r>
              <a:rPr lang="en-US" sz="32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29000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305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taksi_narxi(km):</a:t>
            </a:r>
            <a:endParaRPr lang="en-US" sz="3600" dirty="0"/>
          </a:p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5000 + km * 2000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520317"/>
            <a:ext cx="28778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06800" y="2499358"/>
            <a:ext cx="80055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funksiya yaratamiz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2932429"/>
            <a:ext cx="28778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taksi_narxi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06800" y="2911475"/>
            <a:ext cx="80055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funksiya nomi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3344546"/>
            <a:ext cx="28778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06800" y="3323592"/>
            <a:ext cx="80055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 — kiruvchi qiymat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2800" y="3756658"/>
            <a:ext cx="28778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06800" y="3735704"/>
            <a:ext cx="80055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natijani qaytaradi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2800" y="4168775"/>
            <a:ext cx="28778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····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06800" y="4147821"/>
            <a:ext cx="80055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ta bo‘sh joy — funksiya tanasi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Chaqirilganda nima bo‘ladi?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44979"/>
            <a:ext cx="10883392" cy="665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narx = taksi_narxi(10)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812417"/>
            <a:ext cx="41859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= 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876800" y="2791458"/>
            <a:ext cx="66974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 parametrga tushadi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3224529"/>
            <a:ext cx="41859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 + 10 * 2000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76800" y="3203575"/>
            <a:ext cx="66974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hisoblanadi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3636646"/>
            <a:ext cx="418592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76800" y="3615692"/>
            <a:ext cx="669747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qaytariladi va narx’ga yoziladi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funksiya?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973579"/>
            <a:ext cx="32512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2800" y="2251708"/>
            <a:ext cx="334873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166108"/>
            <a:ext cx="3348736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Takrorlanmaydi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3756658"/>
            <a:ext cx="334873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marta yozib, ko‘p marta ishlatamiz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70400" y="1973579"/>
            <a:ext cx="32512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70400" y="2251708"/>
            <a:ext cx="334873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470400" y="3166108"/>
            <a:ext cx="3348736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Oson o‘zgaradi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70400" y="3756658"/>
            <a:ext cx="334873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tuzatish faqat bitta joyda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8000" y="1973579"/>
            <a:ext cx="32512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28000" y="2251708"/>
            <a:ext cx="334873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128000" y="3166108"/>
            <a:ext cx="3348736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Oson o‘qiladi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28000" y="3756658"/>
            <a:ext cx="334873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 nima qilishini aytadi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</a:t>
            </a:r>
            <a:endParaRPr lang="en-US" sz="7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439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hello(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print("salom,", 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hello(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Standart qiymat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45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hello(to</a:t>
            </a:r>
            <a:r>
              <a:rPr lang="en-US" sz="31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=“</a:t>
            </a:r>
            <a:r>
              <a:rPr lang="en-US" sz="3150" dirty="0" err="1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Jigarlar</a:t>
            </a:r>
            <a:r>
              <a:rPr lang="en-US" sz="31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print("salom,", to)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hello(name)</a:t>
            </a:r>
            <a:r>
              <a:rPr lang="en-US" sz="31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salom, Aziz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hello()</a:t>
            </a:r>
            <a:r>
              <a:rPr lang="en-US" sz="31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# salom, </a:t>
            </a:r>
            <a:r>
              <a:rPr lang="en-US" sz="3150" dirty="0" err="1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Jigarlar</a:t>
            </a:r>
            <a:endParaRPr lang="en-US" sz="3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37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 = input("Ismingiz? 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hello(name)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hello(to=“</a:t>
            </a:r>
            <a:r>
              <a:rPr lang="en-US" sz="22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Jigralar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print("salom,", to)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37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x = int(input("x ni kiriting: "))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ning kvadrati:", square(x))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square(n):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n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Shartlar</a:t>
            </a:r>
            <a:endParaRPr lang="en-US" sz="7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Taqqoslash operatorlari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7165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82800" y="174498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226060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82800" y="223393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kichik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12800" y="274955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82800" y="272288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katta yoki teng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12800" y="323850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82800" y="321183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kichik yoki teng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12800" y="372745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82800" y="370078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12800" y="4216400"/>
            <a:ext cx="132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82800" y="4189735"/>
            <a:ext cx="95752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 emas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va ==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77367"/>
            <a:ext cx="30086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733800" y="1744985"/>
            <a:ext cx="78747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qiymat beradi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2378708"/>
            <a:ext cx="30086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== 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733800" y="2346325"/>
            <a:ext cx="78747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taqqoslaydi → True yoki False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287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&lt; y: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kichik")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459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y: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kichik")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&gt; y: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katta")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== y: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teng")</a:t>
            </a:r>
            <a:endParaRPr lang="en-US" sz="2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45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y: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kichik")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&gt; y: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katta")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== y: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teng")</a:t>
            </a:r>
            <a:endParaRPr lang="en-US" sz="2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45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y: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kichik")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x &gt; y: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dan katta")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450" dirty="0"/>
          </a:p>
          <a:p>
            <a:pPr marL="0" indent="0" algn="l">
              <a:lnSpc>
                <a:spcPts val="343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teng")</a:t>
            </a:r>
            <a:endParaRPr lang="en-US" sz="2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45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&lt; y </a:t>
            </a:r>
            <a:r>
              <a:rPr lang="en-US" sz="31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&gt; y: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 emas")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teng")</a:t>
            </a:r>
            <a:endParaRPr lang="en-US" sz="3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!=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45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int(input("y ni kiriting: "))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</a:t>
            </a:r>
            <a:r>
              <a:rPr lang="en-US" sz="31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y: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 emas")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3150" dirty="0"/>
          </a:p>
          <a:p>
            <a:pPr marL="0" indent="0" algn="l">
              <a:lnSpc>
                <a:spcPts val="441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print("x y ga teng")</a:t>
            </a:r>
            <a:endParaRPr lang="en-US" sz="3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58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42"/>
            <a:ext cx="10883392" cy="39725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int(input("Ball: "))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90 </a:t>
            </a:r>
            <a:r>
              <a:rPr lang="en-US" sz="18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&lt;= 100: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A")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80 </a:t>
            </a:r>
            <a:r>
              <a:rPr lang="en-US" sz="18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&lt; 90: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B")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70 </a:t>
            </a:r>
            <a:r>
              <a:rPr lang="en-US" sz="18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&lt; 80: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C")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60 </a:t>
            </a:r>
            <a:r>
              <a:rPr lang="en-US" sz="18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&lt; 70: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D")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850" dirty="0"/>
          </a:p>
          <a:p>
            <a:pPr marL="0" indent="0" algn="l">
              <a:lnSpc>
                <a:spcPts val="259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F")</a:t>
            </a:r>
            <a:endParaRPr lang="en-US" sz="1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19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int(input("Ball: "))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&lt;= score &lt;= 100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A")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&lt;= score &lt; 90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B")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&lt;= score &lt; 80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C")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&lt;= score &lt; 70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D")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F")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19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int(input("Ball: "))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90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A")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80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B")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70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C")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</a:t>
            </a:r>
            <a:r>
              <a:rPr lang="en-US" sz="2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60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D")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print("Baho: F")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Qoldiq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83085"/>
            <a:ext cx="235458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4 %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98800" y="1744985"/>
            <a:ext cx="852881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juft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2461270"/>
            <a:ext cx="235458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3 % 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098800" y="2423170"/>
            <a:ext cx="852881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toq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2800" y="3139430"/>
            <a:ext cx="235458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098800" y="3101330"/>
            <a:ext cx="852881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3439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int(input("x ni kiriting: "))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2 == 0</a:t>
            </a: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print("Juft")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print("Toq")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548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x = int(input("x ni kiriting: "))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</a:t>
            </a:r>
            <a:r>
              <a:rPr lang="en-US" sz="19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is_even(x)</a:t>
            </a: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print("Juft")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else: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print("Toq")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is_even(n):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n % 2 == 0: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return True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else: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return False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900" dirty="0"/>
          </a:p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70"/>
            <a:ext cx="10883392" cy="1163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is_even(n):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if n % 2 == 0 else False</a:t>
            </a:r>
            <a:endParaRPr 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70"/>
            <a:ext cx="10883392" cy="1163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is_even(n):</a:t>
            </a:r>
            <a:endParaRPr lang="en-US" sz="3200" dirty="0"/>
          </a:p>
          <a:p>
            <a:pPr marL="0" indent="0" algn="l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</a:t>
            </a:r>
            <a:r>
              <a:rPr lang="en-US" sz="32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% 2 == 0</a:t>
            </a:r>
            <a:endParaRPr lang="en-US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96227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5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7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19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 == “Sardor":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print("Gryffindor")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name == “Anora":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print("Gryffindor")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name == “Jahongir":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print("Gryffindor")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name == “Iskandar":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print("Slytherin")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200" dirty="0"/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print("Kim?")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32969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 == “Sardor" </a:t>
            </a:r>
            <a:r>
              <a:rPr lang="en-US" sz="23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== “Anora" </a:t>
            </a:r>
            <a:r>
              <a:rPr lang="en-US" sz="23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== “Jahongir":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print("Gryffindor")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name == “Iskandar":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print("Slytherin")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2300" dirty="0"/>
          </a:p>
          <a:p>
            <a:pPr marL="0" indent="0" algn="l">
              <a:lnSpc>
                <a:spcPts val="322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print("Kim?")</a:t>
            </a:r>
            <a:endParaRPr lang="en-US" sz="2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8497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021830"/>
            <a:ext cx="10883392" cy="39547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“Sardor":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print("Gryffindor")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“Anora":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print("Gryffindor")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“Jahongir":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print("Gryffindor")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“Iskandar":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print("Slytherin")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70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_</a:t>
            </a: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7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print("Kim?")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house.py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1249685"/>
            <a:ext cx="10883392" cy="47459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input("Ismingiz? ")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name: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case “Sardor" </a:t>
            </a:r>
            <a:r>
              <a:rPr lang="en-US" sz="29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“Anora" </a:t>
            </a:r>
            <a:r>
              <a:rPr lang="en-US" sz="2950" dirty="0">
                <a:solidFill>
                  <a:srgbClr val="FFD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“Jahongir":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print("Gryffindor")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case “Iskandar":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print("Slytherin")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case _:</a:t>
            </a:r>
            <a:endParaRPr lang="en-US" sz="2950" dirty="0"/>
          </a:p>
          <a:p>
            <a:pPr marL="0" indent="0" algn="l">
              <a:lnSpc>
                <a:spcPts val="413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print("Kim?")</a:t>
            </a:r>
            <a:endParaRPr lang="en-US" sz="2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1906</Words>
  <Application>Microsoft Office PowerPoint</Application>
  <PresentationFormat>Widescreen</PresentationFormat>
  <Paragraphs>394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Funksiyalar va shartlar</dc:title>
  <dc:subject>PptxGenJS Presentation</dc:subject>
  <dc:creator>PptxGenJS</dc:creator>
  <cp:lastModifiedBy>rbanana</cp:lastModifiedBy>
  <cp:revision>2</cp:revision>
  <dcterms:created xsi:type="dcterms:W3CDTF">2026-09-21T12:05:30Z</dcterms:created>
  <dcterms:modified xsi:type="dcterms:W3CDTF">2026-09-21T12:14:07Z</dcterms:modified>
</cp:coreProperties>
</file>